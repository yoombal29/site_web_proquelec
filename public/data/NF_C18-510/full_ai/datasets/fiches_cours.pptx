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NF C18-510 - Fiches Cours</a:t>
            </a:r>
          </a:p>
        </p:txBody>
      </p:sp>
      <p:sp>
        <p:nvSpPr>
          <p:cNvPr id="3" name="Subtitle 2"/>
          <p:cNvSpPr>
            <a:spLocks noGrp="1"/>
          </p:cNvSpPr>
          <p:nvPr>
            <p:ph type="subTitle" idx="1"/>
          </p:nvPr>
        </p:nvSpPr>
        <p:spPr/>
        <p:txBody>
          <a:bodyPr/>
          <a:lstStyle/>
          <a:p>
            <a:r>
              <a:t>Generation automatique - format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INCENDIE ET ACCIDENTS SUR OU PRES DES OUVRAGES ET INSTALLATIONS</a:t>
            </a:r>
          </a:p>
        </p:txBody>
      </p:sp>
      <p:sp>
        <p:nvSpPr>
          <p:cNvPr id="3" name="Content Placeholder 2"/>
          <p:cNvSpPr>
            <a:spLocks noGrp="1"/>
          </p:cNvSpPr>
          <p:nvPr>
            <p:ph idx="1"/>
          </p:nvPr>
        </p:nvSpPr>
        <p:spPr/>
        <p:txBody>
          <a:bodyPr/>
          <a:lstStyle/>
          <a:p>
            <a:pPr>
              <a:defRPr sz="1600"/>
            </a:pPr>
            <a:r>
              <a:t>ELECTRIQUES 159  13.</a:t>
            </a:r>
          </a:p>
          <a:p>
            <a:pPr>
              <a:defRPr sz="1600"/>
            </a:pPr>
            <a:r>
              <a:t>1 Généralités 159  13.</a:t>
            </a:r>
          </a:p>
          <a:p>
            <a:pPr>
              <a:defRPr sz="1600"/>
            </a:pPr>
            <a:r>
              <a:t>2 Incendie sur ou près des ouvrages ou des installations électriques 159  13.</a:t>
            </a:r>
          </a:p>
          <a:p>
            <a:pPr>
              <a:defRPr sz="1600"/>
            </a:pPr>
            <a:r>
              <a:t>2.</a:t>
            </a:r>
          </a:p>
          <a:p>
            <a:pPr>
              <a:defRPr sz="1600"/>
            </a:pPr>
            <a:r>
              <a:t>1 Prescriptions générales 159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Domaine d'application du présent document</a:t>
            </a:r>
          </a:p>
        </p:txBody>
      </p:sp>
      <p:sp>
        <p:nvSpPr>
          <p:cNvPr id="3" name="Content Placeholder 2"/>
          <p:cNvSpPr>
            <a:spLocks noGrp="1"/>
          </p:cNvSpPr>
          <p:nvPr>
            <p:ph idx="1"/>
          </p:nvPr>
        </p:nvSpPr>
        <p:spPr/>
        <p:txBody>
          <a:bodyPr/>
          <a:lstStyle/>
          <a:p>
            <a:pPr>
              <a:defRPr sz="1600"/>
            </a:pPr>
            <a:r>
              <a:t>Les prescriptions du présent document sont établies en vue d'assurer la sécurité des personnes contre les dangers d'origine électrique lorsqu'elles effectuent des OPERATIONS d'ORDRE ELECTRIQUE ou d'ORDRE NON ELECTRIQUE, sur des OUVRAGES ou des INSTALLATIONS de toute tension inférieure ou égale à 500 KV en courant alternatif ou en courant continu, et ce, quelle que soit la nature des activites (construction, realisation, EXPLOITATION, démantèlement, etc.</a:t>
            </a:r>
          </a:p>
          <a:p>
            <a:pPr>
              <a:defRPr sz="1600"/>
            </a:pPr>
            <a:r>
              <a:t>en présence du risque électrique).</a:t>
            </a:r>
          </a:p>
          <a:p>
            <a:pPr>
              <a:defRPr sz="1600"/>
            </a:pPr>
            <a:r>
              <a:t>Les prescriptions du présent document s'appliquent a toute OPERATION d'ORDRE ELECTRIQUE ou d'ORDRE NON ELECTRIQUE sur ou dans l'ENVIRONNEMENT des OUVRAGES ou des INSTALLATIONS, dès que ces derniers sont en situation d'être alimentes ou, au plus tard, dès leur première mise sous tension totale ou partielle, même pour ESSAI.</a:t>
            </a:r>
          </a:p>
          <a:p>
            <a:pPr>
              <a:defRPr sz="1600"/>
            </a:pPr>
            <a:r>
              <a:t>NOTE Elles peuvent s'appliquer aussi à tout moment en fonction de l'évaluation du risque électrique faite par L'EMPLOYEUR.</a:t>
            </a:r>
          </a:p>
          <a:p>
            <a:pPr>
              <a:defRPr sz="1600"/>
            </a:pPr>
            <a:r>
              <a:t>Le présent document ne concerne pas :  • l'utilisation normale d'appareils électriques ;  · les activités en dehors des activités professionnelles.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Lien entre la norme et la réglementation</a:t>
            </a:r>
          </a:p>
        </p:txBody>
      </p:sp>
      <p:sp>
        <p:nvSpPr>
          <p:cNvPr id="3" name="Content Placeholder 2"/>
          <p:cNvSpPr>
            <a:spLocks noGrp="1"/>
          </p:cNvSpPr>
          <p:nvPr>
            <p:ph idx="1"/>
          </p:nvPr>
        </p:nvSpPr>
        <p:spPr/>
        <p:txBody>
          <a:bodyPr/>
          <a:lstStyle/>
          <a:p>
            <a:pPr>
              <a:defRPr sz="1600"/>
            </a:pPr>
            <a:r>
              <a:t>Les prescriptions du présent document prennent en compte les exigences contenues dans les textes réglementaires en vigueur en matière de risque électrique.</a:t>
            </a:r>
          </a:p>
          <a:p>
            <a:pPr>
              <a:defRPr sz="1600"/>
            </a:pPr>
            <a:r>
              <a:t>Leur mise en œuvre, dans le respect des principes généraux de prévention, répond à un ensemble de prescriptions issues de la règlementation du travail visant à garantir et améliorer la sécurité des travailleurs et la protection de leur santé.</a:t>
            </a:r>
          </a:p>
          <a:p>
            <a:pPr>
              <a:defRPr sz="1600"/>
            </a:pPr>
            <a:r>
              <a:t>Parmi ces prescriptions, on peut citer, de façon non exhaustive, celles qui concernent :  · la protection des travailleurs contre le risque d'origine électrique  ;.</a:t>
            </a:r>
          </a:p>
          <a:p>
            <a:pPr>
              <a:defRPr sz="1600"/>
            </a:pPr>
            <a:r>
              <a:t>les conditions de mise en œuvre et d'utilisation des équipements de travail et EQUIPEMENTS DE PROTECTION INDIVIDUELLE ;  · la démarche générale d'évaluation du risque ;  • la formation à la sécurité électrique ;  · la protection des travailleurs susceptibles d'être exposés à une atmosphère explosible ;  NF C 18-510  -  14  -  UTE  · les prescriptions particulières d'hygiène et de sécurité applicables aux travaux effectués dans un établissement par une ENTREPRISE EXTERIEURE ;  · l'intégration de la sécurité et la coordination en matière de sécurité et de protection de la santé lors des OPERATIONS de bâtiment et de génie civil ;  · les mesures particulières de protection et de salubrité applicables aux EMPLOYEURS ;.</a:t>
            </a:r>
          </a:p>
          <a:p>
            <a:pPr>
              <a:defRPr sz="1600"/>
            </a:pPr>
            <a:r>
              <a:t>les mesures relatives à l'exécution des travaux en hauteur lorsqu'il y a concomitance avec des OPERATIONS ;  · les travaux d'élagage.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REFERENCES NORMATIVES</a:t>
            </a:r>
          </a:p>
        </p:txBody>
      </p:sp>
      <p:sp>
        <p:nvSpPr>
          <p:cNvPr id="3" name="Content Placeholder 2"/>
          <p:cNvSpPr>
            <a:spLocks noGrp="1"/>
          </p:cNvSpPr>
          <p:nvPr>
            <p:ph idx="1"/>
          </p:nvPr>
        </p:nvSpPr>
        <p:spPr/>
        <p:txBody>
          <a:bodyPr/>
          <a:lstStyle/>
          <a:p>
            <a:pPr>
              <a:defRPr sz="1600"/>
            </a:pPr>
            <a:r>
              <a:t>Les documents normatifs suivants sont indispensables pour l'application du present document.</a:t>
            </a:r>
          </a:p>
          <a:p>
            <a:pPr>
              <a:defRPr sz="1600"/>
            </a:pPr>
            <a:r>
              <a:t>Pour les références datées, seule l'édition citée s'applique.</a:t>
            </a:r>
          </a:p>
          <a:p>
            <a:pPr>
              <a:defRPr sz="1600"/>
            </a:pPr>
            <a:r>
              <a:t>Pour les références non datées, la dernière édition du document de référence s'applique (y compris les éventuels amendements).</a:t>
            </a:r>
          </a:p>
          <a:p>
            <a:pPr>
              <a:defRPr sz="1600"/>
            </a:pPr>
            <a:r>
              <a:t>NF C 15-100 Installations électriques à basse tension  NF C 17-200 Installations d'éclairage extérieur - Règles  NF EN 3 (toutes les parties) (S 61-9XX) Extincteurs d'incendie portatifs  NF EN 166 (S 77-101) Protection individuelle de l'œil - Spécifications  NF EN 397 (S 72-501) Casques de protection pour l'industrie  NF EN 671 (toutes les parties) (S 61-20X) Installations fixes de lutte contre l'incendie - Systèmes équipés de tuyaux  NF EN 15182-1 (S 61-820-1) Lances à main destinées aux services d'incendie et de secours - Partie 1 : Prescriptions communes  NF EN 15182-2 (S 61-820-2) Lances à main destinées aux services d'incendie et de secours - Partie 2 : Lances mixtes à débit et jet réglables PN 16  NF EN 15182-3 (S 61-820-3) Lances à main destinées aux services d'incendie et de secours - Partie 3 : Lances à jet plein et/ou une diffusion à angle fixe PN 16  NF EN 50110-1 (C 18-501) Exploitation des installations électriques  NF EN 50191 (C 18-191) Installation et exploitation des équipements électriques d'essais  NF EN 50286 (C 18-286) Vêtements de protection isolants pour installations basse tension  NF EN 50321 (C 18-461) Chaussures électriquement isolantes pour travaux sur installations à basse tension  NF EN 50365 (C 18-465) Casques électriquement isolants pour utilisation sur installations à basse tension  NF EN 50508 (C 18-407) Perches isolantes à usage multiple pour les opérations électriques sur les installations hautes tension  NF EN 50521 (C 57-339) Connecteurs pour systèmes photovoltaïques - Exigences de sécurité et essais  NF EN 50272-3 (C 58-272-3) Règles de sécurité pour les batteries et les installations de batteries - Partie 3 : batteries de traction  NF EN 60900 (C 18-400) Travaux sous tension - Outils à main pour usage jusqu'à 1 000 V en courant alternatif et 1 500 V en courant continu  NF EN 60903 (C 18-415) Travaux sous tension - Gants en matériau isolant  NF EN 61111 (C 18-421) Travaux sous tension - Tapis isolants électriques  NF EN 61112 (C 18-422) Travaux sous tension - Nappes isolantes électriques  NF EN 61230 (C 18-446) Travaux sous tension - Equipements portables de mise à la terre ou de mise à la terre et en court-circuit  NF C 18-510  -  16  -  UTE  NF EN 61243-1 (C 18-313) Travaux sous tension - Détecteurs de tension - Partie 1: Type capacitif pour usage sur des tensions alternatives de plus de 1 kV  NF EN 61243-2 (C 18-314-2) Travaux sous tension - Détecteurs de tension - Partie 2: Type résistif pour usage sur des tensions alternatives de 1 kV à 36 kV  NF EN 61243-3 (C 18-314-3) Travaux sous tension - Détecteurs de tension - Partie 3: Type bipolaire basse tension  NF EN 61243-5 (C 18-310) Travaux sous tension - Détecteurs de tension - Partie 5: Systèmes détecteurs de tension (VDS)  NF EN 61479 (C 18-479) Travaux sous tension - Protecteurs de conducteurs flexibles en matériau isolant  NF EN 61958 (C 42-958) Ensembles préfabriqués d'appareillages haute tension - Systèmes indicateurs de présence de tension  NF EN 62193 (C 18-193) Travaux sous tension - Perches télescopiques et perches de mesure télescopiques  NF EN 62271-102 (C 64-471-102) Appareillage à haute tension - Partie 102: Sectionneurs et sectionneurs de terre à courant alternatif  UTE  -  17  -  NF C 18-510.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TERMES ET DEFINITIONS</a:t>
            </a:r>
          </a:p>
        </p:txBody>
      </p:sp>
      <p:sp>
        <p:nvSpPr>
          <p:cNvPr id="3" name="Content Placeholder 2"/>
          <p:cNvSpPr>
            <a:spLocks noGrp="1"/>
          </p:cNvSpPr>
          <p:nvPr>
            <p:ph idx="1"/>
          </p:nvPr>
        </p:nvSpPr>
        <p:spPr/>
        <p:txBody>
          <a:bodyPr/>
          <a:lstStyle/>
          <a:p>
            <a:pPr>
              <a:defRPr sz="1600"/>
            </a:pPr>
            <a:r>
              <a:t>Les termes génériques suivants sont définis pour les besoins du présent document.</a:t>
            </a:r>
          </a:p>
          <a:p>
            <a:pPr>
              <a:defRPr sz="1600"/>
            </a:pPr>
            <a:r>
              <a:t>Dans d'autres règlements ou documents, ils peuvent avoir des sens différents et ne doivent pas être confondus.</a:t>
            </a:r>
          </a:p>
          <a:p>
            <a:pPr>
              <a:defRPr sz="1600"/>
            </a:pPr>
            <a:r>
              <a:t>Ces définitions ne contiennent pas de prescriptions.</a:t>
            </a:r>
          </a:p>
          <a:p>
            <a:pPr>
              <a:defRPr sz="1600"/>
            </a:pPr>
            <a:r>
              <a:t>D'autres définitions spécifiques relatives à des OPERATIONS sont incluses dans les articles respectifs et en Annexe A.</a:t>
            </a:r>
          </a:p>
          <a:p>
            <a:pPr>
              <a:defRPr sz="1600"/>
            </a:pPr>
            <a:r>
              <a:t>Les termes définis dans le présent document sont rédigés en PETITES MAJUSCULES, qu'il s'agisse de termes génériques définis à l'Article 3 ou de termes particuliers définis dans les autres articles et en Annexe 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 Entreprise exploitante</a:t>
            </a:r>
          </a:p>
        </p:txBody>
      </p:sp>
      <p:sp>
        <p:nvSpPr>
          <p:cNvPr id="3" name="Content Placeholder 2"/>
          <p:cNvSpPr>
            <a:spLocks noGrp="1"/>
          </p:cNvSpPr>
          <p:nvPr>
            <p:ph idx="1"/>
          </p:nvPr>
        </p:nvSpPr>
        <p:spPr/>
        <p:txBody>
          <a:bodyPr/>
          <a:lstStyle/>
          <a:p>
            <a:pPr>
              <a:defRPr sz="1600"/>
            </a:pPr>
            <a:r>
              <a:t>entreprise qui utilise les INSTALLATIONS ou qui exploite les OUVRAGES en tant que propriétaire, ou par délégation, ou par contrat.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3.1.2 Entreprise extérieure</a:t>
            </a:r>
          </a:p>
        </p:txBody>
      </p:sp>
      <p:sp>
        <p:nvSpPr>
          <p:cNvPr id="3" name="Content Placeholder 2"/>
          <p:cNvSpPr>
            <a:spLocks noGrp="1"/>
          </p:cNvSpPr>
          <p:nvPr>
            <p:ph idx="1"/>
          </p:nvPr>
        </p:nvSpPr>
        <p:spPr/>
        <p:txBody>
          <a:bodyPr/>
          <a:lstStyle/>
          <a:p>
            <a:pPr>
              <a:defRPr sz="1600"/>
            </a:pPr>
            <a:r>
              <a:t>entreprise qui intervient pour réaliser des OPERATIONS au profit du DONNEUR D'ORDRE (convention, contrat, etc.</a:t>
            </a:r>
          </a:p>
          <a:p>
            <a:pPr>
              <a:defRPr sz="1600"/>
            </a:pP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3.1.3 Donneur d'ordre</a:t>
            </a:r>
          </a:p>
        </p:txBody>
      </p:sp>
      <p:sp>
        <p:nvSpPr>
          <p:cNvPr id="3" name="Content Placeholder 2"/>
          <p:cNvSpPr>
            <a:spLocks noGrp="1"/>
          </p:cNvSpPr>
          <p:nvPr>
            <p:ph idx="1"/>
          </p:nvPr>
        </p:nvSpPr>
        <p:spPr/>
        <p:txBody>
          <a:bodyPr/>
          <a:lstStyle/>
          <a:p>
            <a:pPr>
              <a:defRPr sz="1600"/>
            </a:pPr>
            <a:r>
              <a:t>personne physique ou morale, en général entreprise utilisatrice, qui décide de faire réaliser des OPERATIONS par une entreprise operant soit sur un OUVRAGE ou une INSTALLATION ELECTRIQUE, soit dans leur ENVIRONNEMENT  NOTE Cette personne est souvent appelée maître d'ouvrage.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3.1.4 Employeur</a:t>
            </a:r>
          </a:p>
        </p:txBody>
      </p:sp>
      <p:sp>
        <p:nvSpPr>
          <p:cNvPr id="3" name="Content Placeholder 2"/>
          <p:cNvSpPr>
            <a:spLocks noGrp="1"/>
          </p:cNvSpPr>
          <p:nvPr>
            <p:ph idx="1"/>
          </p:nvPr>
        </p:nvSpPr>
        <p:spPr/>
        <p:txBody>
          <a:bodyPr/>
          <a:lstStyle/>
          <a:p>
            <a:pPr>
              <a:defRPr sz="1600"/>
            </a:pPr>
            <a:r>
              <a:t>personne physique qui emploie du personnel et a autorité sur lui.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3.1.5 Chef d'établissement</a:t>
            </a:r>
          </a:p>
        </p:txBody>
      </p:sp>
      <p:sp>
        <p:nvSpPr>
          <p:cNvPr id="3" name="Content Placeholder 2"/>
          <p:cNvSpPr>
            <a:spLocks noGrp="1"/>
          </p:cNvSpPr>
          <p:nvPr>
            <p:ph idx="1"/>
          </p:nvPr>
        </p:nvSpPr>
        <p:spPr/>
        <p:txBody>
          <a:bodyPr/>
          <a:lstStyle/>
          <a:p>
            <a:pPr>
              <a:defRPr sz="1600"/>
            </a:pPr>
            <a:r>
              <a:t>personne physique qui assume la responsabilité d'une entreprise exploitante.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3.1.6 Chargé d'exploitation électrique</a:t>
            </a:r>
          </a:p>
        </p:txBody>
      </p:sp>
      <p:sp>
        <p:nvSpPr>
          <p:cNvPr id="3" name="Content Placeholder 2"/>
          <p:cNvSpPr>
            <a:spLocks noGrp="1"/>
          </p:cNvSpPr>
          <p:nvPr>
            <p:ph idx="1"/>
          </p:nvPr>
        </p:nvSpPr>
        <p:spPr/>
        <p:txBody>
          <a:bodyPr/>
          <a:lstStyle/>
          <a:p>
            <a:pPr>
              <a:defRPr sz="1600"/>
            </a:pPr>
            <a:r>
              <a:t>personne chargée d'assurer les opérations d'EXPLOITATION (conduite, utilisation, entretien, maintenance, dépannage, surveillance, accès, etc.</a:t>
            </a:r>
          </a:p>
          <a:p>
            <a:pPr>
              <a:defRPr sz="1600"/>
            </a:pPr>
            <a:r>
              <a:t>) d'un OUVRAGE ou d'une INSTALLATION électrique.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3.1.7 Personne qualifiée (en électricité)</a:t>
            </a:r>
          </a:p>
        </p:txBody>
      </p:sp>
      <p:sp>
        <p:nvSpPr>
          <p:cNvPr id="3" name="Content Placeholder 2"/>
          <p:cNvSpPr>
            <a:spLocks noGrp="1"/>
          </p:cNvSpPr>
          <p:nvPr>
            <p:ph idx="1"/>
          </p:nvPr>
        </p:nvSpPr>
        <p:spPr/>
        <p:txBody>
          <a:bodyPr/>
          <a:lstStyle/>
          <a:p>
            <a:pPr>
              <a:defRPr sz="1600"/>
            </a:pPr>
            <a:r>
              <a:t>personne ayant une formation, une connaissance et une expérience appropriées en électricité pour lui permettre d'analyser le risque électrique et d'éviter les dangers que peut présenter l'électricité  [3.</a:t>
            </a:r>
          </a:p>
          <a:p>
            <a:pPr>
              <a:defRPr sz="1600"/>
            </a:pPr>
            <a:r>
              <a:t>2.</a:t>
            </a:r>
          </a:p>
          <a:p>
            <a:pPr>
              <a:defRPr sz="1600"/>
            </a:pPr>
            <a:r>
              <a:t>3, NF EN 50110-1 modifiée]  NOTE Dans le présent document, la notion de qualification intègre à la fois le domaine technique électrique et la sécurité électrique.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3.1.8 Personne avertie</a:t>
            </a:r>
          </a:p>
        </p:txBody>
      </p:sp>
      <p:sp>
        <p:nvSpPr>
          <p:cNvPr id="3" name="Content Placeholder 2"/>
          <p:cNvSpPr>
            <a:spLocks noGrp="1"/>
          </p:cNvSpPr>
          <p:nvPr>
            <p:ph idx="1"/>
          </p:nvPr>
        </p:nvSpPr>
        <p:spPr/>
        <p:txBody>
          <a:bodyPr/>
          <a:lstStyle/>
          <a:p>
            <a:pPr>
              <a:defRPr sz="1600"/>
            </a:pPr>
            <a:r>
              <a:t>personne suffisamment informée par des PERSONNES QUALIFIEES pour lui permettre d'éviter les dangers que peut présenter l'électricité [3.</a:t>
            </a:r>
          </a:p>
          <a:p>
            <a:pPr>
              <a:defRPr sz="1600"/>
            </a:pPr>
            <a:r>
              <a:t>2.</a:t>
            </a:r>
          </a:p>
          <a:p>
            <a:pPr>
              <a:defRPr sz="1600"/>
            </a:pPr>
            <a:r>
              <a:t>4, NF EN 50110-1].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3.1.9 Personne ordinaire</a:t>
            </a:r>
          </a:p>
        </p:txBody>
      </p:sp>
      <p:sp>
        <p:nvSpPr>
          <p:cNvPr id="3" name="Content Placeholder 2"/>
          <p:cNvSpPr>
            <a:spLocks noGrp="1"/>
          </p:cNvSpPr>
          <p:nvPr>
            <p:ph idx="1"/>
          </p:nvPr>
        </p:nvSpPr>
        <p:spPr/>
        <p:txBody>
          <a:bodyPr/>
          <a:lstStyle/>
          <a:p>
            <a:pPr>
              <a:defRPr sz="1600"/>
            </a:pPr>
            <a:r>
              <a:t>personne qui n'est ni une PERSONNE QUALIFIEE, ni une PERSONNE AVERTIE [3.</a:t>
            </a:r>
          </a:p>
          <a:p>
            <a:pPr>
              <a:defRPr sz="1600"/>
            </a:pPr>
            <a:r>
              <a:t>2.</a:t>
            </a:r>
          </a:p>
          <a:p>
            <a:pPr>
              <a:defRPr sz="1600"/>
            </a:pPr>
            <a:r>
              <a:t>5, NF EN 50110-1]  NF C 18-510  -  18  -  UTE.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3.1.10 Opérateur</a:t>
            </a:r>
          </a:p>
        </p:txBody>
      </p:sp>
      <p:sp>
        <p:nvSpPr>
          <p:cNvPr id="3" name="Content Placeholder 2"/>
          <p:cNvSpPr>
            <a:spLocks noGrp="1"/>
          </p:cNvSpPr>
          <p:nvPr>
            <p:ph idx="1"/>
          </p:nvPr>
        </p:nvSpPr>
        <p:spPr/>
        <p:txBody>
          <a:bodyPr/>
          <a:lstStyle/>
          <a:p>
            <a:pPr>
              <a:defRPr sz="1600"/>
            </a:pPr>
            <a:r>
              <a:t>personne réalisant, ou participant à, ou assurant la direction des OPERATIONS d'ORDRE ELECTRIQUE ou d'ORDRE NON ELECTRIQUE soit sur des OUVRAGES ou des INSTALLATIONS, soit dans leur ENVIRONNEMENT.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3.1.11 Charge de consignation</a:t>
            </a:r>
          </a:p>
        </p:txBody>
      </p:sp>
      <p:sp>
        <p:nvSpPr>
          <p:cNvPr id="3" name="Content Placeholder 2"/>
          <p:cNvSpPr>
            <a:spLocks noGrp="1"/>
          </p:cNvSpPr>
          <p:nvPr>
            <p:ph idx="1"/>
          </p:nvPr>
        </p:nvSpPr>
        <p:spPr/>
        <p:txBody>
          <a:bodyPr/>
          <a:lstStyle/>
          <a:p>
            <a:pPr>
              <a:defRPr sz="1600"/>
            </a:pPr>
            <a:r>
              <a:t>personne chargée d'effectuer ou de faire effectuer les opérations de la CONSIGNATION électrique.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3.1.12 Charge de travaux</a:t>
            </a:r>
          </a:p>
        </p:txBody>
      </p:sp>
      <p:sp>
        <p:nvSpPr>
          <p:cNvPr id="3" name="Content Placeholder 2"/>
          <p:cNvSpPr>
            <a:spLocks noGrp="1"/>
          </p:cNvSpPr>
          <p:nvPr>
            <p:ph idx="1"/>
          </p:nvPr>
        </p:nvSpPr>
        <p:spPr/>
        <p:txBody>
          <a:bodyPr/>
          <a:lstStyle/>
          <a:p>
            <a:pPr>
              <a:defRPr sz="1600"/>
            </a:pPr>
            <a:r>
              <a:t>personne chargee d'assurer la direction effective des TRAVAUX d'ORDRE ELECTRIQUE OU d'ORDRE NON ELECTRIQUE.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3.1.13 Chargé d'intervention</a:t>
            </a:r>
          </a:p>
        </p:txBody>
      </p:sp>
      <p:sp>
        <p:nvSpPr>
          <p:cNvPr id="3" name="Content Placeholder 2"/>
          <p:cNvSpPr>
            <a:spLocks noGrp="1"/>
          </p:cNvSpPr>
          <p:nvPr>
            <p:ph idx="1"/>
          </p:nvPr>
        </p:nvSpPr>
        <p:spPr/>
        <p:txBody>
          <a:bodyPr/>
          <a:lstStyle/>
          <a:p>
            <a:pPr>
              <a:defRPr sz="1600"/>
            </a:pPr>
            <a:r>
              <a:t>personne chargée d'assurer la réalisation des INTERVENTIONS BT en Basse Tension  NOTE Le terme « CHARGE D'INTERVENTION &gt;&gt; utilisé seul indique qu'il s'agit de l'un des deux chargés d'intervention : CHARGE D'INTERVENTION GENERALE OU CHARGE D'INTERVENTION ELEMENTAIRE.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3.1.14 Chargé d'opérations spécifiques</a:t>
            </a:r>
          </a:p>
        </p:txBody>
      </p:sp>
      <p:sp>
        <p:nvSpPr>
          <p:cNvPr id="3" name="Content Placeholder 2"/>
          <p:cNvSpPr>
            <a:spLocks noGrp="1"/>
          </p:cNvSpPr>
          <p:nvPr>
            <p:ph idx="1"/>
          </p:nvPr>
        </p:nvSpPr>
        <p:spPr/>
        <p:txBody>
          <a:bodyPr/>
          <a:lstStyle/>
          <a:p>
            <a:pPr>
              <a:defRPr sz="1600"/>
            </a:pPr>
            <a:r>
              <a:t>terme désignant indistinctement la personne chargée d'assurer la direction des ESSAIS, MESURAGES, VERIFICATIONS OU MANŒUVRES ou de proceder elle-même a des ESSAIS, MESURAGES, VERIFICATIONS OU MANŒUVRES.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3.1.15 Charge de chantier</a:t>
            </a:r>
          </a:p>
        </p:txBody>
      </p:sp>
      <p:sp>
        <p:nvSpPr>
          <p:cNvPr id="3" name="Content Placeholder 2"/>
          <p:cNvSpPr>
            <a:spLocks noGrp="1"/>
          </p:cNvSpPr>
          <p:nvPr>
            <p:ph idx="1"/>
          </p:nvPr>
        </p:nvSpPr>
        <p:spPr/>
        <p:txBody>
          <a:bodyPr/>
          <a:lstStyle/>
          <a:p>
            <a:pPr>
              <a:defRPr sz="1600"/>
            </a:pPr>
            <a:r>
              <a:t>personne chargée d'assurer la direction des TRAVAUX d'ORDRE NON ELECTRIQUE  NOTE Ne pas confondre avec le « chef de chantier &gt; défini par les conventions collectives.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3.1.16 Exécutant</a:t>
            </a:r>
          </a:p>
        </p:txBody>
      </p:sp>
      <p:sp>
        <p:nvSpPr>
          <p:cNvPr id="3" name="Content Placeholder 2"/>
          <p:cNvSpPr>
            <a:spLocks noGrp="1"/>
          </p:cNvSpPr>
          <p:nvPr>
            <p:ph idx="1"/>
          </p:nvPr>
        </p:nvSpPr>
        <p:spPr/>
        <p:txBody>
          <a:bodyPr/>
          <a:lstStyle/>
          <a:p>
            <a:pPr>
              <a:defRPr sz="1600"/>
            </a:pPr>
            <a:r>
              <a:t>personne assurant l'exécution des OPERATIONS.</a:t>
            </a:r>
          </a:p>
          <a:p>
            <a:pPr>
              <a:defRPr sz="1600"/>
            </a:pPr>
            <a:r>
              <a:t>Cette personne opère sous la conduite d'un CHARGE DE TRAVAUX, d'un CHARGE D'INTERVENTION GENERALE, d'un CHARGE D'OPERATIONS SPECIFIQUES ou d'un CHARGE DE CHANTIER.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3.1.17 Surveillant de sécurité électrique</a:t>
            </a:r>
          </a:p>
        </p:txBody>
      </p:sp>
      <p:sp>
        <p:nvSpPr>
          <p:cNvPr id="3" name="Content Placeholder 2"/>
          <p:cNvSpPr>
            <a:spLocks noGrp="1"/>
          </p:cNvSpPr>
          <p:nvPr>
            <p:ph idx="1"/>
          </p:nvPr>
        </p:nvSpPr>
        <p:spPr/>
        <p:txBody>
          <a:bodyPr/>
          <a:lstStyle/>
          <a:p>
            <a:pPr>
              <a:defRPr sz="1600"/>
            </a:pPr>
            <a:r>
              <a:t>personne possédant la connaissance nécessaire pour surveiller une ou plusieurs personnes pendant le déroulement d'une OPERATION déterminée conformément à des instructions reçues  Dans le présent document, le SURVEILLANT DE SECURITE ELECTRIQUE est nommé, selon la nature de la surveillance, SURVEILLANT DE SECURITE ELECTRIQUE D'OPERATION et D'ACCOMPAGNEMENT, OU SURVEILLANT DE SECURITE ELECTRIQUE DE LIMITE.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3.1.18 Habilitation - personne habilitée</a:t>
            </a:r>
          </a:p>
        </p:txBody>
      </p:sp>
      <p:sp>
        <p:nvSpPr>
          <p:cNvPr id="3" name="Content Placeholder 2"/>
          <p:cNvSpPr>
            <a:spLocks noGrp="1"/>
          </p:cNvSpPr>
          <p:nvPr>
            <p:ph idx="1"/>
          </p:nvPr>
        </p:nvSpPr>
        <p:spPr/>
        <p:txBody>
          <a:bodyPr/>
          <a:lstStyle/>
          <a:p>
            <a:pPr>
              <a:defRPr sz="1600"/>
            </a:pPr>
            <a:r>
              <a:t>reconnaissance par l'EMPLOYEUR de la capacité d'une personne placée sous son autorité à accomplir les tâches qui lui sont confiées en sécurité vis-à-vis du risque électrique NOTE Une personne est dite habilitée lorsqu'elle est titulaire d'un titre d'habilitation.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3.2.1 Installation électrique - ouvrage électrique</a:t>
            </a:r>
          </a:p>
        </p:txBody>
      </p:sp>
      <p:sp>
        <p:nvSpPr>
          <p:cNvPr id="3" name="Content Placeholder 2"/>
          <p:cNvSpPr>
            <a:spLocks noGrp="1"/>
          </p:cNvSpPr>
          <p:nvPr>
            <p:ph idx="1"/>
          </p:nvPr>
        </p:nvSpPr>
        <p:spPr/>
        <p:txBody>
          <a:bodyPr/>
          <a:lstStyle/>
          <a:p>
            <a:pPr>
              <a:defRPr sz="1600"/>
            </a:pPr>
            <a:r>
              <a:t>ensemble des MATERIELS électriques mis en œuvre pour la production, la conversion, la distribution ou l'utilisation de l'énergie électrique  Dans le présent document, le qualificatif électrique est omis lorsqu'il n'y a pas d'ambiguïté.</a:t>
            </a:r>
          </a:p>
          <a:p>
            <a:pPr>
              <a:defRPr sz="1600"/>
            </a:pPr>
            <a:r>
              <a:t>Le terme « OUVRAGE &gt; est exclusivement réservé, dans le présent document, aux réseaux publics de transport et de distribution d'électricité et à leurs annexes.</a:t>
            </a:r>
          </a:p>
          <a:p>
            <a:pPr>
              <a:defRPr sz="1600"/>
            </a:pPr>
            <a:r>
              <a:t>Le terme « INSTALLATION &gt; s'applique, dans le présent document, à toute INSTALLATION électrique à l'exclusion des OUVRAGES.</a:t>
            </a:r>
          </a:p>
          <a:p>
            <a:pPr>
              <a:defRPr sz="1600"/>
            </a:pPr>
            <a:r>
              <a:t>UTE  -  19  -  NF C 18-510.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3.2.2 Matériel électrique</a:t>
            </a:r>
          </a:p>
        </p:txBody>
      </p:sp>
      <p:sp>
        <p:nvSpPr>
          <p:cNvPr id="3" name="Content Placeholder 2"/>
          <p:cNvSpPr>
            <a:spLocks noGrp="1"/>
          </p:cNvSpPr>
          <p:nvPr>
            <p:ph idx="1"/>
          </p:nvPr>
        </p:nvSpPr>
        <p:spPr/>
        <p:txBody>
          <a:bodyPr/>
          <a:lstStyle/>
          <a:p>
            <a:pPr>
              <a:defRPr sz="1600"/>
            </a:pPr>
            <a:r>
              <a:t>matériel utilisé pour la production, la transformation, la distribution ou l'utilisation de l'énergie électrique, tel que machine, transformateur, appareillage électrique, appareil de mesure, dispositif de protection, canalisation électrique, matériels d'utilisation [VEI 826-16-01].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3.2.3 Ligne électrique aérienne</a:t>
            </a:r>
          </a:p>
        </p:txBody>
      </p:sp>
      <p:sp>
        <p:nvSpPr>
          <p:cNvPr id="3" name="Content Placeholder 2"/>
          <p:cNvSpPr>
            <a:spLocks noGrp="1"/>
          </p:cNvSpPr>
          <p:nvPr>
            <p:ph idx="1"/>
          </p:nvPr>
        </p:nvSpPr>
        <p:spPr/>
        <p:txBody>
          <a:bodyPr/>
          <a:lstStyle/>
          <a:p>
            <a:pPr>
              <a:defRPr sz="1600"/>
            </a:pPr>
            <a:r>
              <a:t>ensemble de conducteurs nus ou isolés, fixes en élévation sur des supports (poteaux, pylônes, potelets, façades d'immeuble, etc.</a:t>
            </a:r>
          </a:p>
          <a:p>
            <a:pPr>
              <a:defRPr sz="1600"/>
            </a:pPr>
            <a:r>
              <a:t>) au moyen d'isolateurs ou de systèmes de suspension adéquats.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3.2.4 Canalisation électrique isolée - Canalisation isolée</a:t>
            </a:r>
          </a:p>
        </p:txBody>
      </p:sp>
      <p:sp>
        <p:nvSpPr>
          <p:cNvPr id="3" name="Content Placeholder 2"/>
          <p:cNvSpPr>
            <a:spLocks noGrp="1"/>
          </p:cNvSpPr>
          <p:nvPr>
            <p:ph idx="1"/>
          </p:nvPr>
        </p:nvSpPr>
        <p:spPr/>
        <p:txBody>
          <a:bodyPr/>
          <a:lstStyle/>
          <a:p>
            <a:pPr>
              <a:defRPr sz="1600"/>
            </a:pPr>
            <a:r>
              <a:t>ensemble constitué par un ou plusieurs conducteurs électriques isolés et les éléments assurant leur fixation et leur protection mécanique  NOTE Les CANALISATIONS ISOLEES comprennent les câbles électriques et les conducteurs isolés posés sous conduit ou sous goulotte.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3.2.5 Canalisation encastrée</a:t>
            </a:r>
          </a:p>
        </p:txBody>
      </p:sp>
      <p:sp>
        <p:nvSpPr>
          <p:cNvPr id="3" name="Content Placeholder 2"/>
          <p:cNvSpPr>
            <a:spLocks noGrp="1"/>
          </p:cNvSpPr>
          <p:nvPr>
            <p:ph idx="1"/>
          </p:nvPr>
        </p:nvSpPr>
        <p:spPr/>
        <p:txBody>
          <a:bodyPr/>
          <a:lstStyle/>
          <a:p>
            <a:pPr>
              <a:defRPr sz="1600"/>
            </a:pPr>
            <a:r>
              <a:t>le terme encastré signifie présence d'un côté affleurant.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3.2.6 Canalisation noyée</a:t>
            </a:r>
          </a:p>
        </p:txBody>
      </p:sp>
      <p:sp>
        <p:nvSpPr>
          <p:cNvPr id="3" name="Content Placeholder 2"/>
          <p:cNvSpPr>
            <a:spLocks noGrp="1"/>
          </p:cNvSpPr>
          <p:nvPr>
            <p:ph idx="1"/>
          </p:nvPr>
        </p:nvSpPr>
        <p:spPr/>
        <p:txBody>
          <a:bodyPr/>
          <a:lstStyle/>
          <a:p>
            <a:pPr>
              <a:defRPr sz="1600"/>
            </a:pPr>
            <a:r>
              <a:t>le terme noyé signifie complètement enrobé  NOTE Une saignée rebouchée est assimilée à un mode de pose noyé.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3.2.7 Partie active</a:t>
            </a:r>
          </a:p>
        </p:txBody>
      </p:sp>
      <p:sp>
        <p:nvSpPr>
          <p:cNvPr id="3" name="Content Placeholder 2"/>
          <p:cNvSpPr>
            <a:spLocks noGrp="1"/>
          </p:cNvSpPr>
          <p:nvPr>
            <p:ph idx="1"/>
          </p:nvPr>
        </p:nvSpPr>
        <p:spPr/>
        <p:txBody>
          <a:bodyPr/>
          <a:lstStyle/>
          <a:p>
            <a:pPr>
              <a:defRPr sz="1600"/>
            </a:pPr>
            <a:r>
              <a:t>conducteur ou partie conductrice destiné à être mis sous tension en service normal, y compris le conducteur neutre.</a:t>
            </a:r>
          </a:p>
          <a:p>
            <a:pPr>
              <a:defRPr sz="1600"/>
            </a:pPr>
            <a:r>
              <a:t>Par convention, le conducteur PEN n'est pas considéré comme un conducteur actif  NOTE Cette notion n'implique pas nécessairement un risque de choc électrique.</a:t>
            </a:r>
          </a:p>
          <a:p>
            <a:pPr>
              <a:defRPr sz="1600"/>
            </a:pPr>
            <a:r>
              <a:t>[VEI 826-12-08 modifié] [VEI 195-02-19 modifié].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3.2.8 Conducteur PEN</a:t>
            </a:r>
          </a:p>
        </p:txBody>
      </p:sp>
      <p:sp>
        <p:nvSpPr>
          <p:cNvPr id="3" name="Content Placeholder 2"/>
          <p:cNvSpPr>
            <a:spLocks noGrp="1"/>
          </p:cNvSpPr>
          <p:nvPr>
            <p:ph idx="1"/>
          </p:nvPr>
        </p:nvSpPr>
        <p:spPr/>
        <p:txBody>
          <a:bodyPr/>
          <a:lstStyle/>
          <a:p>
            <a:pPr>
              <a:defRPr sz="1600"/>
            </a:pPr>
            <a:r>
              <a:t>conducteur assurant à la fois les fonctions de conducteur de protection et de conducteur neutre  NOTE La désignation PEN résulte de la combinaison des deux symboles : PE pour le conducteur de protection et N pour le conducteur neutre.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3.2.9 Elément (d'accumulateur)</a:t>
            </a:r>
          </a:p>
        </p:txBody>
      </p:sp>
      <p:sp>
        <p:nvSpPr>
          <p:cNvPr id="3" name="Content Placeholder 2"/>
          <p:cNvSpPr>
            <a:spLocks noGrp="1"/>
          </p:cNvSpPr>
          <p:nvPr>
            <p:ph idx="1"/>
          </p:nvPr>
        </p:nvSpPr>
        <p:spPr/>
        <p:txBody>
          <a:bodyPr/>
          <a:lstStyle/>
          <a:p>
            <a:pPr>
              <a:defRPr sz="1600"/>
            </a:pPr>
            <a:r>
              <a:t>unité fonctionnelle de base, consistant en un assemblage d'électrodes, d'électrolyte, de conteneur, de bornes et généralement de séparateurs, qui est une source d'énergie électrique obtenue par transformation directe d'énergie chimique [VEI 482-01-01].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3.2.10 Accumulateur</a:t>
            </a:r>
          </a:p>
        </p:txBody>
      </p:sp>
      <p:sp>
        <p:nvSpPr>
          <p:cNvPr id="3" name="Content Placeholder 2"/>
          <p:cNvSpPr>
            <a:spLocks noGrp="1"/>
          </p:cNvSpPr>
          <p:nvPr>
            <p:ph idx="1"/>
          </p:nvPr>
        </p:nvSpPr>
        <p:spPr/>
        <p:txBody>
          <a:bodyPr/>
          <a:lstStyle/>
          <a:p>
            <a:pPr>
              <a:defRPr sz="1600"/>
            </a:pPr>
            <a:r>
              <a:t>élément qui est conçu pour être rechargé électriquement [VEI 482-01-03]  NOTE La recharge est accomplie au moyen d'une réaction chimique réversible.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3.2.11 Batterie d'accumulateurs</a:t>
            </a:r>
          </a:p>
        </p:txBody>
      </p:sp>
      <p:sp>
        <p:nvSpPr>
          <p:cNvPr id="3" name="Content Placeholder 2"/>
          <p:cNvSpPr>
            <a:spLocks noGrp="1"/>
          </p:cNvSpPr>
          <p:nvPr>
            <p:ph idx="1"/>
          </p:nvPr>
        </p:nvSpPr>
        <p:spPr/>
        <p:txBody>
          <a:bodyPr/>
          <a:lstStyle/>
          <a:p>
            <a:pPr>
              <a:defRPr sz="1600"/>
            </a:pPr>
            <a:r>
              <a:t>un ou plusieurs éléments équipés des dispositifs nécessaires pour l'emploi, par exemple boîtier, bornes, marquage et dispositifs de protection [VEI 482-01-04 Modifié]  NOTE Dans le document, le mot BATTERIE signifie, pour une installation donnée, l'ensemble des ACCUMULATEURS accouplés pour générer un courant donné sous une tension donnée.</a:t>
            </a:r>
          </a:p>
          <a:p>
            <a:pPr>
              <a:defRPr sz="1600"/>
            </a:pPr>
            <a:r>
              <a:t>NF C 18-510  -  20  -  UTE.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3.3.1 Tension nominale</a:t>
            </a:r>
          </a:p>
        </p:txBody>
      </p:sp>
      <p:sp>
        <p:nvSpPr>
          <p:cNvPr id="3" name="Content Placeholder 2"/>
          <p:cNvSpPr>
            <a:spLocks noGrp="1"/>
          </p:cNvSpPr>
          <p:nvPr>
            <p:ph idx="1"/>
          </p:nvPr>
        </p:nvSpPr>
        <p:spPr/>
        <p:txBody>
          <a:bodyPr/>
          <a:lstStyle/>
          <a:p>
            <a:pPr>
              <a:defRPr sz="1600"/>
            </a:pPr>
            <a:r>
              <a:t>valeur de la tension par laquelle l'installation électrique ou une partie de l'installation électrique est désignée et identifiée [VEI 826-11-01].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3.3.2 Domaines de tension</a:t>
            </a:r>
          </a:p>
        </p:txBody>
      </p:sp>
      <p:sp>
        <p:nvSpPr>
          <p:cNvPr id="3" name="Content Placeholder 2"/>
          <p:cNvSpPr>
            <a:spLocks noGrp="1"/>
          </p:cNvSpPr>
          <p:nvPr>
            <p:ph idx="1"/>
          </p:nvPr>
        </p:nvSpPr>
        <p:spPr/>
        <p:txBody>
          <a:bodyPr/>
          <a:lstStyle/>
          <a:p>
            <a:pPr>
              <a:defRPr sz="1600"/>
            </a:pPr>
            <a:r>
              <a:t>le classement des tensions nominales est effectué, dans ce présent document, par domaine de tension (voir Tableau 1)  En basse tension et en exploitation normale, la tension réelle d'un OUVRAGE ou d'une partie d'OUVRAGE peut excéder de 10 % au maximum sa valeur nominale, sans que cela entraîne une modification du domaine de tension.</a:t>
            </a:r>
          </a:p>
          <a:p>
            <a:pPr>
              <a:defRPr sz="1600"/>
            </a:pPr>
            <a:r>
              <a:t>Tableau 1 - Tableau des domaines de tensions  Domaines de tension Valeur de la tension nominale Un exprimée en volts en courant alternatif en courant continu lisse (1) Très basse tension Un ≤ 50 Un ≤ 120 (domaine TBT) Basse tension 50 &lt; Un ≤ 1 000 120 &lt; Un ≤ 1 500 (domaine BT) Haute Domaine HTA 1 000 &lt; Un ≤ 50 000 1 500 &lt; Un ≤ 75 000 Tension Domaine HTB Un &gt; 50 000 Un &gt; 75 000 (1) Le courant continu lisse est celui défini conventionnellement par un taux d'ondulation non supérieur à 10 % en valeur efficace, la valeur maximale de crête ne devant pas être supérieure à 15 %.</a:t>
            </a:r>
          </a:p>
          <a:p>
            <a:pPr>
              <a:defRPr sz="1600"/>
            </a:pPr>
            <a:r>
              <a:t>Pour les autres courants continus, les valeurs des tensions nominales sont les mêmes que pour le courant alternatif.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3.3.3 Très basse tension de sécurité (TBTS)</a:t>
            </a:r>
          </a:p>
        </p:txBody>
      </p:sp>
      <p:sp>
        <p:nvSpPr>
          <p:cNvPr id="3" name="Content Placeholder 2"/>
          <p:cNvSpPr>
            <a:spLocks noGrp="1"/>
          </p:cNvSpPr>
          <p:nvPr>
            <p:ph idx="1"/>
          </p:nvPr>
        </p:nvSpPr>
        <p:spPr/>
        <p:txBody>
          <a:bodyPr/>
          <a:lstStyle/>
          <a:p>
            <a:pPr>
              <a:defRPr sz="1600"/>
            </a:pPr>
            <a:r>
              <a:t>caractéristiques techniques des INSTALLATIONS du domaine TBT dont :.</a:t>
            </a:r>
          </a:p>
          <a:p>
            <a:pPr>
              <a:defRPr sz="1600"/>
            </a:pPr>
            <a:r>
              <a:t>toutes les PARTIES ACTIVES sont séparées des PARTIES ACTIVES de toute autre INSTALLATION par une isolation double ou renforcée ;.</a:t>
            </a:r>
          </a:p>
          <a:p>
            <a:pPr>
              <a:defRPr sz="1600"/>
            </a:pPr>
            <a:r>
              <a:t>toutes les PARTIES ACTIVES sont isolées de la terre et de tout conducteur de protection appartenant à toute autre INSTALLATION.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3.3.4 Très Basse Tension de Protection (TBTP)</a:t>
            </a:r>
          </a:p>
        </p:txBody>
      </p:sp>
      <p:sp>
        <p:nvSpPr>
          <p:cNvPr id="3" name="Content Placeholder 2"/>
          <p:cNvSpPr>
            <a:spLocks noGrp="1"/>
          </p:cNvSpPr>
          <p:nvPr>
            <p:ph idx="1"/>
          </p:nvPr>
        </p:nvSpPr>
        <p:spPr/>
        <p:txBody>
          <a:bodyPr/>
          <a:lstStyle/>
          <a:p>
            <a:pPr>
              <a:defRPr sz="1600"/>
            </a:pPr>
            <a:r>
              <a:t>caractéristiques techniques des INSTALLATIONS du domaine TBT qui répondent à la première condition de la TBTS, mais pas à la seconde condition.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3.3.5 Très Basse Tension Fonctionnelle (TBTF)</a:t>
            </a:r>
          </a:p>
        </p:txBody>
      </p:sp>
      <p:sp>
        <p:nvSpPr>
          <p:cNvPr id="3" name="Content Placeholder 2"/>
          <p:cNvSpPr>
            <a:spLocks noGrp="1"/>
          </p:cNvSpPr>
          <p:nvPr>
            <p:ph idx="1"/>
          </p:nvPr>
        </p:nvSpPr>
        <p:spPr/>
        <p:txBody>
          <a:bodyPr/>
          <a:lstStyle/>
          <a:p>
            <a:pPr>
              <a:defRPr sz="1600"/>
            </a:pPr>
            <a:r>
              <a:t>caractéristiques techniques des INSTALLATIONS du domaine TBT qui ne sont ni TBTS, ni TBTP.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3.4.1 Exploitation</a:t>
            </a:r>
          </a:p>
        </p:txBody>
      </p:sp>
      <p:sp>
        <p:nvSpPr>
          <p:cNvPr id="3" name="Content Placeholder 2"/>
          <p:cNvSpPr>
            <a:spLocks noGrp="1"/>
          </p:cNvSpPr>
          <p:nvPr>
            <p:ph idx="1"/>
          </p:nvPr>
        </p:nvSpPr>
        <p:spPr/>
        <p:txBody>
          <a:bodyPr/>
          <a:lstStyle/>
          <a:p>
            <a:pPr>
              <a:defRPr sz="1600"/>
            </a:pPr>
            <a:r>
              <a:t>toutes les activités nécessaires pour permettre le fonctionnement d'un OUVRAGE ou d'une INSTALLATION électriques.</a:t>
            </a:r>
          </a:p>
          <a:p>
            <a:pPr>
              <a:defRPr sz="1600"/>
            </a:pPr>
            <a:r>
              <a:t>Ces activités comprennent notamment les travaux, les MANŒUVRES, les commandes, la surveillance et la maintenance  NOTE La maintenance est définie dans la norme NF EN 13306 (X 60-319).</a:t>
            </a:r>
          </a:p>
          <a:p>
            <a:pPr>
              <a:defRPr sz="1600"/>
            </a:pPr>
            <a:r>
              <a:t>UTE  -  21  -  NF C 18-510.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3.4.2 Opération</a:t>
            </a:r>
          </a:p>
        </p:txBody>
      </p:sp>
      <p:sp>
        <p:nvSpPr>
          <p:cNvPr id="3" name="Content Placeholder 2"/>
          <p:cNvSpPr>
            <a:spLocks noGrp="1"/>
          </p:cNvSpPr>
          <p:nvPr>
            <p:ph idx="1"/>
          </p:nvPr>
        </p:nvSpPr>
        <p:spPr/>
        <p:txBody>
          <a:bodyPr/>
          <a:lstStyle/>
          <a:p>
            <a:pPr>
              <a:defRPr sz="1600"/>
            </a:pPr>
            <a:r>
              <a:t>activité exercée, soit directement sur les OUVRAGES ou les INSTALLATIONS électriques, soit dans un ENVIRONNEMENT électrique.</a:t>
            </a:r>
          </a:p>
          <a:p>
            <a:pPr>
              <a:defRPr sz="1600"/>
            </a:pPr>
            <a:r>
              <a:t>Elle peut être de deux natures :  · OPERATION d'ORDRE ELECTRIQUE ;.</a:t>
            </a:r>
          </a:p>
          <a:p>
            <a:pPr>
              <a:defRPr sz="1600"/>
            </a:pPr>
            <a:r>
              <a:t>OPERATION d'ORDRE NON ELECTRIQUE.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3.4.3 Opération d'ordre électrique</a:t>
            </a:r>
          </a:p>
        </p:txBody>
      </p:sp>
      <p:sp>
        <p:nvSpPr>
          <p:cNvPr id="3" name="Content Placeholder 2"/>
          <p:cNvSpPr>
            <a:spLocks noGrp="1"/>
          </p:cNvSpPr>
          <p:nvPr>
            <p:ph idx="1"/>
          </p:nvPr>
        </p:nvSpPr>
        <p:spPr/>
        <p:txBody>
          <a:bodyPr/>
          <a:lstStyle/>
          <a:p>
            <a:pPr>
              <a:defRPr sz="1600"/>
            </a:pPr>
            <a:r>
              <a:t>OPERATION qui, pour un OUVRAGE ou une INSTALLATION en exploitation électrique, concerne les PARTIES ACTIVES, leurs isolants, la continuité des masses et autres parties conductrices des MATERIELS (les circuits magnétiques, etc.</a:t>
            </a:r>
          </a:p>
          <a:p>
            <a:pPr>
              <a:defRPr sz="1600"/>
            </a:pPr>
            <a:r>
              <a:t>) ainsi que les conducteurs de protection.</a:t>
            </a:r>
          </a:p>
          <a:p>
            <a:pPr>
              <a:defRPr sz="1600"/>
            </a:pPr>
            <a:r>
              <a:t>NOTE Dans le présent document, les OPERATIONS d'ORDRE ELECTRIQUE concernent plusieurs types d'OPERATIONS effectuées soit sur les OUVRAGES ou les INSTALLATIONS électriques, soit dans l'ENVIRONNEMENT de pièces nues sous tension.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3.4.4 Type d'opérations d'ordre électrique</a:t>
            </a:r>
          </a:p>
        </p:txBody>
      </p:sp>
      <p:sp>
        <p:nvSpPr>
          <p:cNvPr id="3" name="Content Placeholder 2"/>
          <p:cNvSpPr>
            <a:spLocks noGrp="1"/>
          </p:cNvSpPr>
          <p:nvPr>
            <p:ph idx="1"/>
          </p:nvPr>
        </p:nvSpPr>
        <p:spPr/>
        <p:txBody>
          <a:bodyPr/>
          <a:lstStyle/>
          <a:p>
            <a:pPr>
              <a:defRPr sz="1600"/>
            </a:pPr>
            <a:r>
              <a:t>On distingue les types d'OPERATIONS d'ORDRE ELECTRIQUE suivants :.</a:t>
            </a:r>
          </a:p>
          <a:p>
            <a:pPr>
              <a:defRPr sz="1600"/>
            </a:pPr>
            <a:r>
              <a:t>TRAVAIL HORS TENSION ;  · TRAVAIL SOUS TENSION ;  • TRAVAIL AU VOISINAGE SIMPLE ;  · TRAVAIL AU VOISINAGE RENFORCE ;  · INTERVENTION EN BASSE TENSION ;  · OPERATIONS SPECIFIQUES comprenant les ESSAIS, les MESURAGES, les VERIFICATIONS et les MANŒUVRES.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3.4.5 Essai</a:t>
            </a:r>
          </a:p>
        </p:txBody>
      </p:sp>
      <p:sp>
        <p:nvSpPr>
          <p:cNvPr id="3" name="Content Placeholder 2"/>
          <p:cNvSpPr>
            <a:spLocks noGrp="1"/>
          </p:cNvSpPr>
          <p:nvPr>
            <p:ph idx="1"/>
          </p:nvPr>
        </p:nvSpPr>
        <p:spPr/>
        <p:txBody>
          <a:bodyPr/>
          <a:lstStyle/>
          <a:p>
            <a:pPr>
              <a:defRPr sz="1600"/>
            </a:pPr>
            <a:r>
              <a:t>OPERATION destinée à s'assurer du bon fonctionnement ou de l'état électrique, mécanique ou autre d'un OUVRAGE ou d'une INSTALLATION électrique.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3.4.6 Mesurage</a:t>
            </a:r>
          </a:p>
        </p:txBody>
      </p:sp>
      <p:sp>
        <p:nvSpPr>
          <p:cNvPr id="3" name="Content Placeholder 2"/>
          <p:cNvSpPr>
            <a:spLocks noGrp="1"/>
          </p:cNvSpPr>
          <p:nvPr>
            <p:ph idx="1"/>
          </p:nvPr>
        </p:nvSpPr>
        <p:spPr/>
        <p:txBody>
          <a:bodyPr/>
          <a:lstStyle/>
          <a:p>
            <a:pPr>
              <a:defRPr sz="1600"/>
            </a:pPr>
            <a:r>
              <a:t>OPERATION destinée à mesurer des grandeurs électriques, ou des grandeurs physiques (distance, température ou autres)  3.</a:t>
            </a:r>
          </a:p>
          <a:p>
            <a:pPr>
              <a:defRPr sz="1600"/>
            </a:pPr>
            <a:r>
              <a:t>4.</a:t>
            </a:r>
          </a:p>
          <a:p>
            <a:pPr>
              <a:defRPr sz="1600"/>
            </a:pPr>
            <a:r>
              <a:t>7  Vérification  OPERATION destinée à s'assurer qu'un OUVRAGE ou une INSTALLATION est conforme à un référentiel.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3.4.8 Manœuvre</a:t>
            </a:r>
          </a:p>
        </p:txBody>
      </p:sp>
      <p:sp>
        <p:nvSpPr>
          <p:cNvPr id="3" name="Content Placeholder 2"/>
          <p:cNvSpPr>
            <a:spLocks noGrp="1"/>
          </p:cNvSpPr>
          <p:nvPr>
            <p:ph idx="1"/>
          </p:nvPr>
        </p:nvSpPr>
        <p:spPr/>
        <p:txBody>
          <a:bodyPr/>
          <a:lstStyle/>
          <a:p>
            <a:pPr>
              <a:defRPr sz="1600"/>
            </a:pPr>
            <a:r>
              <a:t>OPERATION conduisant à un changement de la configuration électrique d'un OUVRAGE, d'une INSTALLATION ou de l'alimentation électrique d'un MATERIEL.</a:t>
            </a:r>
          </a:p>
          <a:p>
            <a:pPr>
              <a:defRPr sz="1600"/>
            </a:pPr>
            <a:r>
              <a:t>Les MANŒUVRES sont effectuées au moyen d'appareillages spécialement prévus à cet effet, tels qu'interrupteurs, disjoncteurs, sectionneurs, ponts, etc.</a:t>
            </a:r>
          </a:p>
          <a:p>
            <a:pPr>
              <a:defRPr sz="1600"/>
            </a:pPr>
            <a:r>
              <a:t>NOTE Les manœuvres comprennent les manœuvres d'exploitation, les manœuvres de consignation, et les manœuvres d'urgence.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3.4.9 Opération d'ordre non électrique</a:t>
            </a:r>
          </a:p>
        </p:txBody>
      </p:sp>
      <p:sp>
        <p:nvSpPr>
          <p:cNvPr id="3" name="Content Placeholder 2"/>
          <p:cNvSpPr>
            <a:spLocks noGrp="1"/>
          </p:cNvSpPr>
          <p:nvPr>
            <p:ph idx="1"/>
          </p:nvPr>
        </p:nvSpPr>
        <p:spPr/>
        <p:txBody>
          <a:bodyPr/>
          <a:lstStyle/>
          <a:p>
            <a:pPr>
              <a:defRPr sz="1600"/>
            </a:pPr>
            <a:r>
              <a:t>OPERATION qui ne répond pas à la définition d'une OPERATION d'ORDRE ELECTRIQUE, telle que :  · celle liée à la construction, à la réalisation, au démantèlement ou à la maintenance dans le VOISINAGE ou sur un OUVRAGE ou une INSTALLATION électrique, tels que les travaux du BTP, de nettoyage, de désherbage, etc.</a:t>
            </a:r>
          </a:p>
          <a:p>
            <a:pPr>
              <a:defRPr sz="1600"/>
            </a:pPr>
            <a:r>
              <a:t>;  • celle liee a une OPERATION ne concernant pas directement un OUVRAGE ou une INSTALLATION électrique, mais effectuée dans l'ENVIRONNEMENT de cet OUVRAGE ou cette INSTALLATION, tels que les travaux du BTP, les activités de livraison, de déménagement etc.</a:t>
            </a:r>
          </a:p>
          <a:p>
            <a:pPr>
              <a:defRPr sz="1600"/>
            </a:pPr>
            <a:r>
              <a:t>NF C 18-510  -  22  -  UTE  Peut également être considérée comme une OPERATION d'ORDRE NON ELECTRIQUE au VOISINAGE d'un OUVRAGE ou d'une INSTALLATION d'un domaine de tension basse tension ou haute tension, toute OPERATION d'ORDRE ELECTRIQUE effectuée sur un OUVRAGE ou sur une INSTALLATION d'un autre domaine de tension, respectivement haute tension ou basse tension.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3.4.10 Consignation</a:t>
            </a:r>
          </a:p>
        </p:txBody>
      </p:sp>
      <p:sp>
        <p:nvSpPr>
          <p:cNvPr id="3" name="Content Placeholder 2"/>
          <p:cNvSpPr>
            <a:spLocks noGrp="1"/>
          </p:cNvSpPr>
          <p:nvPr>
            <p:ph idx="1"/>
          </p:nvPr>
        </p:nvSpPr>
        <p:spPr/>
        <p:txBody>
          <a:bodyPr/>
          <a:lstStyle/>
          <a:p>
            <a:pPr>
              <a:defRPr sz="1600"/>
            </a:pPr>
            <a:r>
              <a:t>procédure d'ordre électrique destinée à assurer la protection des personnes et des OUVRAGES ou des INSTALLATIONS contre les conséquences de tout maintien accidentel ou de toute apparition ou réapparition intempestive de tension sur ces OUVRAGES ou ces INSTALLATIONS.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3.4.11 Déconsignation</a:t>
            </a:r>
          </a:p>
        </p:txBody>
      </p:sp>
      <p:sp>
        <p:nvSpPr>
          <p:cNvPr id="3" name="Content Placeholder 2"/>
          <p:cNvSpPr>
            <a:spLocks noGrp="1"/>
          </p:cNvSpPr>
          <p:nvPr>
            <p:ph idx="1"/>
          </p:nvPr>
        </p:nvSpPr>
        <p:spPr/>
        <p:txBody>
          <a:bodyPr/>
          <a:lstStyle/>
          <a:p>
            <a:pPr>
              <a:defRPr sz="1600"/>
            </a:pPr>
            <a:r>
              <a:t>procédure d'ordre électrique destinée à remettre un OUVRAGE ou une INSTALLATION précédemment consigné dans un état qui permet sa remise en service.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3.4.12 Mise hors tension</a:t>
            </a:r>
          </a:p>
        </p:txBody>
      </p:sp>
      <p:sp>
        <p:nvSpPr>
          <p:cNvPr id="3" name="Content Placeholder 2"/>
          <p:cNvSpPr>
            <a:spLocks noGrp="1"/>
          </p:cNvSpPr>
          <p:nvPr>
            <p:ph idx="1"/>
          </p:nvPr>
        </p:nvSpPr>
        <p:spPr/>
        <p:txBody>
          <a:bodyPr/>
          <a:lstStyle/>
          <a:p>
            <a:pPr>
              <a:defRPr sz="1600"/>
            </a:pPr>
            <a:r>
              <a:t>procédure d'ordre électrique destinée à réduire le risque électrique en supprimant la tension sur un OUVRAGE ou une INSTALLATION  NOTE Cette procédure ne garantit pas contre les conséquences de tout maintien accidentel ou toute apparition ou réapparition intempestive de tension.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3.4.13 Mise hors de portée</a:t>
            </a:r>
          </a:p>
        </p:txBody>
      </p:sp>
      <p:sp>
        <p:nvSpPr>
          <p:cNvPr id="3" name="Content Placeholder 2"/>
          <p:cNvSpPr>
            <a:spLocks noGrp="1"/>
          </p:cNvSpPr>
          <p:nvPr>
            <p:ph idx="1"/>
          </p:nvPr>
        </p:nvSpPr>
        <p:spPr/>
        <p:txBody>
          <a:bodyPr/>
          <a:lstStyle/>
          <a:p>
            <a:pPr>
              <a:defRPr sz="1600"/>
            </a:pPr>
            <a:r>
              <a:t>moyen de protection des personnes vis-à-vis d'un contact avec une pièce nue sous tension réalisé, soit par ELOIGNEMENT, soit par interposition d'un OBSTACLE, soit par ISOLATION de la pièce nue sous tension.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3.4.14 Réquisition ou essai sous alimentation autonome</a:t>
            </a:r>
          </a:p>
        </p:txBody>
      </p:sp>
      <p:sp>
        <p:nvSpPr>
          <p:cNvPr id="3" name="Content Placeholder 2"/>
          <p:cNvSpPr>
            <a:spLocks noGrp="1"/>
          </p:cNvSpPr>
          <p:nvPr>
            <p:ph idx="1"/>
          </p:nvPr>
        </p:nvSpPr>
        <p:spPr/>
        <p:txBody>
          <a:bodyPr/>
          <a:lstStyle/>
          <a:p>
            <a:pPr>
              <a:defRPr sz="1600"/>
            </a:pPr>
            <a:r>
              <a:t>procédure qui permet, après une CONSIGNATION ou une première étape de CONSIGNATION d'un OUVRAGE ou d'une INSTALLATION, de réalimenter l'OUVRAGE ou l'INSTALLATION par une ou des sources autonomes.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3.4.15 Situation de travail</a:t>
            </a:r>
          </a:p>
        </p:txBody>
      </p:sp>
      <p:sp>
        <p:nvSpPr>
          <p:cNvPr id="3" name="Content Placeholder 2"/>
          <p:cNvSpPr>
            <a:spLocks noGrp="1"/>
          </p:cNvSpPr>
          <p:nvPr>
            <p:ph idx="1"/>
          </p:nvPr>
        </p:nvSpPr>
        <p:spPr/>
        <p:txBody>
          <a:bodyPr/>
          <a:lstStyle/>
          <a:p>
            <a:pPr>
              <a:defRPr sz="1600"/>
            </a:pPr>
            <a:r>
              <a:t>combinaison du type d'OPERATIONS avec l'une ou plusieurs des conditions d'ENVIRONNEMENT électrique suivantes :  · présence ou non d'induction ou de couplage capacitif ;  · présence ou non d'atmosphère explosive ;  · situation météorologique.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3.4.16 Phase de travail</a:t>
            </a:r>
          </a:p>
        </p:txBody>
      </p:sp>
      <p:sp>
        <p:nvSpPr>
          <p:cNvPr id="3" name="Content Placeholder 2"/>
          <p:cNvSpPr>
            <a:spLocks noGrp="1"/>
          </p:cNvSpPr>
          <p:nvPr>
            <p:ph idx="1"/>
          </p:nvPr>
        </p:nvSpPr>
        <p:spPr/>
        <p:txBody>
          <a:bodyPr/>
          <a:lstStyle/>
          <a:p>
            <a:pPr>
              <a:defRPr sz="1600"/>
            </a:pPr>
            <a:r>
              <a:t>enchaînement des gestes élémentaires nécessaires à la mise en œuvre des outils et des matériels sur l'OUVRAGE ou l'INSTALLATION ou dans son ENVIRONNEMENT.</a:t>
            </a:r>
          </a:p>
          <a:p>
            <a:pPr>
              <a:defRPr sz="1600"/>
            </a:pPr>
            <a:r>
              <a:t>Elle a un objectif prédéfini et s'achève sur un état stable.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 Définitions relatives aux distances, zones et locaux</a:t>
            </a:r>
          </a:p>
        </p:txBody>
      </p:sp>
      <p:sp>
        <p:nvSpPr>
          <p:cNvPr id="3" name="Content Placeholder 2"/>
          <p:cNvSpPr>
            <a:spLocks noGrp="1"/>
          </p:cNvSpPr>
          <p:nvPr>
            <p:ph idx="1"/>
          </p:nvPr>
        </p:nvSpPr>
        <p:spPr/>
        <p:txBody>
          <a:bodyPr/>
          <a:lstStyle/>
          <a:p>
            <a:pPr>
              <a:defRPr sz="1600"/>
            </a:pPr>
            <a:r>
              <a:t>NOTE Les distances limites utilisées ci-dessous sont définies à l'Article 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3.5.1 Environnement électrique</a:t>
            </a:r>
          </a:p>
        </p:txBody>
      </p:sp>
      <p:sp>
        <p:nvSpPr>
          <p:cNvPr id="3" name="Content Placeholder 2"/>
          <p:cNvSpPr>
            <a:spLocks noGrp="1"/>
          </p:cNvSpPr>
          <p:nvPr>
            <p:ph idx="1"/>
          </p:nvPr>
        </p:nvSpPr>
        <p:spPr/>
        <p:txBody>
          <a:bodyPr/>
          <a:lstStyle/>
          <a:p>
            <a:pPr>
              <a:defRPr sz="1600"/>
            </a:pPr>
            <a:r>
              <a:t>volume géographique autour d'une pièce nue sous tension ou d'une CANALISATION ISOLEE, limite par la DISTANCE LIMITE D'INVESTIGATION (50 m), utilisé dans le cadre des OPERATIONS d'ORDRE ELECTRIQUE ou d'ORDRE NON ELECTRIQUE.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3.5.2 Voisinage</a:t>
            </a:r>
          </a:p>
        </p:txBody>
      </p:sp>
      <p:sp>
        <p:nvSpPr>
          <p:cNvPr id="3" name="Content Placeholder 2"/>
          <p:cNvSpPr>
            <a:spLocks noGrp="1"/>
          </p:cNvSpPr>
          <p:nvPr>
            <p:ph idx="1"/>
          </p:nvPr>
        </p:nvSpPr>
        <p:spPr/>
        <p:txBody>
          <a:bodyPr/>
          <a:lstStyle/>
          <a:p>
            <a:pPr>
              <a:defRPr sz="1600"/>
            </a:pPr>
            <a:r>
              <a:t>en présence de pièces nues sous tension, le VOISINAGE est l'espace compris en haute tension entre la DISTANCE LIMITE DE VOISINAGE SIMPLE (DLVS) et la DISTANCE MINIMALE D'APPROCHE (DMA) et en basse tension entre la DISTANCE LIMITE DE VOISINAGE SIMPLE (DLVS) et la pièce nue.</a:t>
            </a:r>
          </a:p>
          <a:p>
            <a:pPr>
              <a:defRPr sz="1600"/>
            </a:pPr>
            <a:r>
              <a:t>Le VOISINAGE comprend deux zones : le VOISINAGE SIMPLE et le VOISINAGE RENFORCE  UTE  -  23  -  NF C 18-510.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3.5.3 Champ libre</a:t>
            </a:r>
          </a:p>
        </p:txBody>
      </p:sp>
      <p:sp>
        <p:nvSpPr>
          <p:cNvPr id="3" name="Content Placeholder 2"/>
          <p:cNvSpPr>
            <a:spLocks noGrp="1"/>
          </p:cNvSpPr>
          <p:nvPr>
            <p:ph idx="1"/>
          </p:nvPr>
        </p:nvSpPr>
        <p:spPr/>
        <p:txBody>
          <a:bodyPr/>
          <a:lstStyle/>
          <a:p>
            <a:pPr>
              <a:defRPr sz="1600"/>
            </a:pPr>
            <a:r>
              <a:t>espace sans OBSTACLE entourant une pièce nue sous tension.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3.5.4 Zone de travail</a:t>
            </a:r>
          </a:p>
        </p:txBody>
      </p:sp>
      <p:sp>
        <p:nvSpPr>
          <p:cNvPr id="3" name="Content Placeholder 2"/>
          <p:cNvSpPr>
            <a:spLocks noGrp="1"/>
          </p:cNvSpPr>
          <p:nvPr>
            <p:ph idx="1"/>
          </p:nvPr>
        </p:nvSpPr>
        <p:spPr/>
        <p:txBody>
          <a:bodyPr/>
          <a:lstStyle/>
          <a:p>
            <a:pPr>
              <a:defRPr sz="1600"/>
            </a:pPr>
            <a:r>
              <a:t>zone située sur un OUVRAGE, une INSTALLATION ou dans leur ENVIRONNEMENT, dans laquelle le ou les OPERATEURS sont amenés à évoluer avec les outils, équipements et matériels.</a:t>
            </a:r>
          </a:p>
          <a:p>
            <a:pPr>
              <a:defRPr sz="1600"/>
            </a:pPr>
            <a:r>
              <a:t>Cette zone est définie lors de la préparation du travail et délimitée.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3.5.5 Poste de travail</a:t>
            </a:r>
          </a:p>
        </p:txBody>
      </p:sp>
      <p:sp>
        <p:nvSpPr>
          <p:cNvPr id="3" name="Content Placeholder 2"/>
          <p:cNvSpPr>
            <a:spLocks noGrp="1"/>
          </p:cNvSpPr>
          <p:nvPr>
            <p:ph idx="1"/>
          </p:nvPr>
        </p:nvSpPr>
        <p:spPr/>
        <p:txBody>
          <a:bodyPr/>
          <a:lstStyle/>
          <a:p>
            <a:pPr>
              <a:defRPr sz="1600"/>
            </a:pPr>
            <a:r>
              <a:t>emplacement occupé par un OPERATEUR dans la ZONE DE TRAVAIL pendant l'exécution d'une PHASE DE TRAVAIL.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3.5.6 Zone d'évolution</a:t>
            </a:r>
          </a:p>
        </p:txBody>
      </p:sp>
      <p:sp>
        <p:nvSpPr>
          <p:cNvPr id="3" name="Content Placeholder 2"/>
          <p:cNvSpPr>
            <a:spLocks noGrp="1"/>
          </p:cNvSpPr>
          <p:nvPr>
            <p:ph idx="1"/>
          </p:nvPr>
        </p:nvSpPr>
        <p:spPr/>
        <p:txBody>
          <a:bodyPr/>
          <a:lstStyle/>
          <a:p>
            <a:pPr>
              <a:defRPr sz="1600"/>
            </a:pPr>
            <a:r>
              <a:t>volume autour du POSTE DE TRAVAIL de chaque OPERATEUR dans lequel celui-ci est susceptible d'évoluer avec ses outils, équipements et matériels.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3.5.7 Local ou emplacement d'accès reserve aux électriciens (local ou emplacement</a:t>
            </a:r>
          </a:p>
        </p:txBody>
      </p:sp>
      <p:sp>
        <p:nvSpPr>
          <p:cNvPr id="3" name="Content Placeholder 2"/>
          <p:cNvSpPr>
            <a:spLocks noGrp="1"/>
          </p:cNvSpPr>
          <p:nvPr>
            <p:ph idx="1"/>
          </p:nvPr>
        </p:nvSpPr>
        <p:spPr/>
        <p:txBody>
          <a:bodyPr/>
          <a:lstStyle/>
          <a:p>
            <a:pPr>
              <a:defRPr sz="1600"/>
            </a:pPr>
            <a:r>
              <a:t>à risque spécifique électrique)  local ou emplacement contenant des parties d'OUVRAGE ou d'INSTALLATION comportant des pièces nues susceptibles d'être sous tension et accessibles dans lequel au moins l'une des conditions ci-après existe :  · la protection contre les contacts directs n'est pas assurée par construction (en basse tension seulement) ;  · la protection contre les contacts directs est assurée par ELOIGNEMENT, ce mode de protection pouvant être annule par une personne ignorant le risque ;.</a:t>
            </a:r>
          </a:p>
          <a:p>
            <a:pPr>
              <a:defRPr sz="1600"/>
            </a:pPr>
            <a:r>
              <a:t>la protection contre les contacts directs est assurée par OBSTACLE, ce mode de protection pouvant être contourne par une personne ignorant le risque.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 Définitions relatives aux équipements de travail et aux eQUIPEMENTS de protection</a:t>
            </a:r>
          </a:p>
        </p:txBody>
      </p:sp>
      <p:sp>
        <p:nvSpPr>
          <p:cNvPr id="3" name="Content Placeholder 2"/>
          <p:cNvSpPr>
            <a:spLocks noGrp="1"/>
          </p:cNvSpPr>
          <p:nvPr>
            <p:ph idx="1"/>
          </p:nvPr>
        </p:nvSpPr>
        <p:spPr/>
        <p:txBody>
          <a:bodyPr/>
          <a:lstStyle/>
          <a:p>
            <a:pPr>
              <a:defRPr sz="1600"/>
            </a:pPr>
            <a:r>
              <a:t>individuelle.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3.6.1 Equipement de protection individuelle (EPI)</a:t>
            </a:r>
          </a:p>
        </p:txBody>
      </p:sp>
      <p:sp>
        <p:nvSpPr>
          <p:cNvPr id="3" name="Content Placeholder 2"/>
          <p:cNvSpPr>
            <a:spLocks noGrp="1"/>
          </p:cNvSpPr>
          <p:nvPr>
            <p:ph idx="1"/>
          </p:nvPr>
        </p:nvSpPr>
        <p:spPr/>
        <p:txBody>
          <a:bodyPr/>
          <a:lstStyle/>
          <a:p>
            <a:pPr>
              <a:defRPr sz="1600"/>
            </a:pPr>
            <a:r>
              <a:t>dispositif ou moyen destiné à être porté par une personne en vue de la protéger contre un ou plusieurs risques susceptibles de menacer sa sécurité ou sa santé.</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3.6.2 Pavé de terre</a:t>
            </a:r>
          </a:p>
        </p:txBody>
      </p:sp>
      <p:sp>
        <p:nvSpPr>
          <p:cNvPr id="3" name="Content Placeholder 2"/>
          <p:cNvSpPr>
            <a:spLocks noGrp="1"/>
          </p:cNvSpPr>
          <p:nvPr>
            <p:ph idx="1"/>
          </p:nvPr>
        </p:nvSpPr>
        <p:spPr/>
        <p:txBody>
          <a:bodyPr/>
          <a:lstStyle/>
          <a:p>
            <a:pPr>
              <a:defRPr sz="1600"/>
            </a:pPr>
            <a:r>
              <a:t>dispositif limiteur de tension, destiné à protéger le personnel contre les remises sous tension intempestives lors d'ESSAIS ou de TRAVAUX.</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3.6.3 Dispositif de vérification d'absence de tension (VAT)</a:t>
            </a:r>
          </a:p>
        </p:txBody>
      </p:sp>
      <p:sp>
        <p:nvSpPr>
          <p:cNvPr id="3" name="Content Placeholder 2"/>
          <p:cNvSpPr>
            <a:spLocks noGrp="1"/>
          </p:cNvSpPr>
          <p:nvPr>
            <p:ph idx="1"/>
          </p:nvPr>
        </p:nvSpPr>
        <p:spPr/>
        <p:txBody>
          <a:bodyPr/>
          <a:lstStyle/>
          <a:p>
            <a:pPr>
              <a:defRPr sz="1600"/>
            </a:pPr>
            <a:r>
              <a:t>dispositif conçu spécifiquement à cet effet, destiné à fournir la preuve indiscutable de l'absence de tension nominale.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3.6.4 Equipement portable de mise à la terre et en court-circuit (MALT/CC)</a:t>
            </a:r>
          </a:p>
        </p:txBody>
      </p:sp>
      <p:sp>
        <p:nvSpPr>
          <p:cNvPr id="3" name="Content Placeholder 2"/>
          <p:cNvSpPr>
            <a:spLocks noGrp="1"/>
          </p:cNvSpPr>
          <p:nvPr>
            <p:ph idx="1"/>
          </p:nvPr>
        </p:nvSpPr>
        <p:spPr/>
        <p:txBody>
          <a:bodyPr/>
          <a:lstStyle/>
          <a:p>
            <a:pPr>
              <a:defRPr sz="1600"/>
            </a:pPr>
            <a:r>
              <a:t>équipement portable conçu à cet effet, raccordé aux parties électriques d'un OUVRAGE ou d'une INSTALLATION, en vue de réaliser la mise à la terre, la mise en court-circuit ou la mise à la terre et en court-circuit.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3.6.5 Outil isolant</a:t>
            </a:r>
          </a:p>
        </p:txBody>
      </p:sp>
      <p:sp>
        <p:nvSpPr>
          <p:cNvPr id="3" name="Content Placeholder 2"/>
          <p:cNvSpPr>
            <a:spLocks noGrp="1"/>
          </p:cNvSpPr>
          <p:nvPr>
            <p:ph idx="1"/>
          </p:nvPr>
        </p:nvSpPr>
        <p:spPr/>
        <p:txBody>
          <a:bodyPr/>
          <a:lstStyle/>
          <a:p>
            <a:pPr>
              <a:defRPr sz="1600"/>
            </a:pPr>
            <a:r>
              <a:t>outil essentiellement ou totalement réalisé en matériau(x) isolant(s) [VEI 651-01-26 modifié].</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3.6.6 Outil isolé</a:t>
            </a:r>
          </a:p>
        </p:txBody>
      </p:sp>
      <p:sp>
        <p:nvSpPr>
          <p:cNvPr id="3" name="Content Placeholder 2"/>
          <p:cNvSpPr>
            <a:spLocks noGrp="1"/>
          </p:cNvSpPr>
          <p:nvPr>
            <p:ph idx="1"/>
          </p:nvPr>
        </p:nvSpPr>
        <p:spPr/>
        <p:txBody>
          <a:bodyPr/>
          <a:lstStyle/>
          <a:p>
            <a:pPr>
              <a:defRPr sz="1600"/>
            </a:pPr>
            <a:r>
              <a:t>outil en matériau(x) conducteur(s) partiellement ou complètement recouvert(s) de matériau(x) isolant(s) [VEI 651-01-25 modifié]  NF C 18-510  -  24  -  UTE.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3.6.7 Enveloppe</a:t>
            </a:r>
          </a:p>
        </p:txBody>
      </p:sp>
      <p:sp>
        <p:nvSpPr>
          <p:cNvPr id="3" name="Content Placeholder 2"/>
          <p:cNvSpPr>
            <a:spLocks noGrp="1"/>
          </p:cNvSpPr>
          <p:nvPr>
            <p:ph idx="1"/>
          </p:nvPr>
        </p:nvSpPr>
        <p:spPr/>
        <p:txBody>
          <a:bodyPr/>
          <a:lstStyle/>
          <a:p>
            <a:pPr>
              <a:defRPr sz="1600"/>
            </a:pPr>
            <a:r>
              <a:t>élément assurant la protection des MATERIELS électriques contre certaines influences externes (chocs, intempéries, corrosions, etc.</a:t>
            </a:r>
          </a:p>
          <a:p>
            <a:pPr>
              <a:defRPr sz="1600"/>
            </a:pPr>
            <a:r>
              <a:t>) et la protection des personnes contre le risque de contacts directs.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3.6.8 Nappage</a:t>
            </a:r>
          </a:p>
        </p:txBody>
      </p:sp>
      <p:sp>
        <p:nvSpPr>
          <p:cNvPr id="3" name="Content Placeholder 2"/>
          <p:cNvSpPr>
            <a:spLocks noGrp="1"/>
          </p:cNvSpPr>
          <p:nvPr>
            <p:ph idx="1"/>
          </p:nvPr>
        </p:nvSpPr>
        <p:spPr/>
        <p:txBody>
          <a:bodyPr/>
          <a:lstStyle/>
          <a:p>
            <a:pPr>
              <a:defRPr sz="1600"/>
            </a:pPr>
            <a:r>
              <a:t>action qui consiste à mettre en place ou a tendre une NAPPE ISOLANTE souple, sans contact direct avec les pièces nues sous tension, pour éviter aux OPERATEURS tout risque de contact fortuit  NOTE Un NAPPAGE est, dans la plupart des cas, vertical.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3.6.9 Habillage</a:t>
            </a:r>
          </a:p>
        </p:txBody>
      </p:sp>
      <p:sp>
        <p:nvSpPr>
          <p:cNvPr id="3" name="Content Placeholder 2"/>
          <p:cNvSpPr>
            <a:spLocks noGrp="1"/>
          </p:cNvSpPr>
          <p:nvPr>
            <p:ph idx="1"/>
          </p:nvPr>
        </p:nvSpPr>
        <p:spPr/>
        <p:txBody>
          <a:bodyPr/>
          <a:lstStyle/>
          <a:p>
            <a:pPr>
              <a:defRPr sz="1600"/>
            </a:pPr>
            <a:r>
              <a:t>action qui consiste à recouvrir une pièce nue sous tension par contact direct de façon à rendre impossible tout contact avec un OPERATEUR  NOTE Un HABILLAGE peut être réalisé dans l'espace autour d'un volume.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3.6.10 Nappe isolante</a:t>
            </a:r>
          </a:p>
        </p:txBody>
      </p:sp>
      <p:sp>
        <p:nvSpPr>
          <p:cNvPr id="3" name="Content Placeholder 2"/>
          <p:cNvSpPr>
            <a:spLocks noGrp="1"/>
          </p:cNvSpPr>
          <p:nvPr>
            <p:ph idx="1"/>
          </p:nvPr>
        </p:nvSpPr>
        <p:spPr/>
        <p:txBody>
          <a:bodyPr/>
          <a:lstStyle/>
          <a:p>
            <a:pPr>
              <a:defRPr sz="1600"/>
            </a:pPr>
            <a:r>
              <a:t>dispositif de protection isolant souple dispose sur ou devant les pièces nues sous tension.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3.6.11 Ecran</a:t>
            </a:r>
          </a:p>
        </p:txBody>
      </p:sp>
      <p:sp>
        <p:nvSpPr>
          <p:cNvPr id="3" name="Content Placeholder 2"/>
          <p:cNvSpPr>
            <a:spLocks noGrp="1"/>
          </p:cNvSpPr>
          <p:nvPr>
            <p:ph idx="1"/>
          </p:nvPr>
        </p:nvSpPr>
        <p:spPr/>
        <p:txBody>
          <a:bodyPr/>
          <a:lstStyle/>
          <a:p>
            <a:pPr>
              <a:defRPr sz="1600"/>
            </a:pPr>
            <a:r>
              <a:t>dispositif de protection isolant ou conducteur, disposé à distance des pièces nues sous tension.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3.6.12 Protecteur</a:t>
            </a:r>
          </a:p>
        </p:txBody>
      </p:sp>
      <p:sp>
        <p:nvSpPr>
          <p:cNvPr id="3" name="Content Placeholder 2"/>
          <p:cNvSpPr>
            <a:spLocks noGrp="1"/>
          </p:cNvSpPr>
          <p:nvPr>
            <p:ph idx="1"/>
          </p:nvPr>
        </p:nvSpPr>
        <p:spPr/>
        <p:txBody>
          <a:bodyPr/>
          <a:lstStyle/>
          <a:p>
            <a:pPr>
              <a:defRPr sz="1600"/>
            </a:pPr>
            <a:r>
              <a:t>dispositif rigide ou souple, réalisé en matériau isolant et utilisé pour recouvrir de façon amovible les pièces nues sous tension, de manière a prevenir tout risque de contact fortuit avec celles-ci.</a:t>
            </a:r>
          </a:p>
          <a:p>
            <a:pPr>
              <a:defRPr sz="1600"/>
            </a:pPr>
            <a:r>
              <a:t>Il concerne des produits divers, tels que profilés, capuchons, etc.</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3.6.13 Isolation</a:t>
            </a:r>
          </a:p>
        </p:txBody>
      </p:sp>
      <p:sp>
        <p:nvSpPr>
          <p:cNvPr id="3" name="Content Placeholder 2"/>
          <p:cNvSpPr>
            <a:spLocks noGrp="1"/>
          </p:cNvSpPr>
          <p:nvPr>
            <p:ph idx="1"/>
          </p:nvPr>
        </p:nvSpPr>
        <p:spPr/>
        <p:txBody>
          <a:bodyPr/>
          <a:lstStyle/>
          <a:p>
            <a:pPr>
              <a:defRPr sz="1600"/>
            </a:pPr>
            <a:r>
              <a:t>moyen permettant de protéger les personnes contre un risque électrique à l'aide de matériau isolant ou de dispositif en matériau isolant.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3.6.14 Balisage</a:t>
            </a:r>
          </a:p>
        </p:txBody>
      </p:sp>
      <p:sp>
        <p:nvSpPr>
          <p:cNvPr id="3" name="Content Placeholder 2"/>
          <p:cNvSpPr>
            <a:spLocks noGrp="1"/>
          </p:cNvSpPr>
          <p:nvPr>
            <p:ph idx="1"/>
          </p:nvPr>
        </p:nvSpPr>
        <p:spPr/>
        <p:txBody>
          <a:bodyPr/>
          <a:lstStyle/>
          <a:p>
            <a:pPr>
              <a:defRPr sz="1600"/>
            </a:pPr>
            <a:r>
              <a:t>moyen permettant de délimiter et de signaler une zone définie.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3.7 Liste des documents écrits (voir Annexe A)</a:t>
            </a:r>
          </a:p>
        </p:txBody>
      </p:sp>
      <p:sp>
        <p:nvSpPr>
          <p:cNvPr id="3" name="Content Placeholder 2"/>
          <p:cNvSpPr>
            <a:spLocks noGrp="1"/>
          </p:cNvSpPr>
          <p:nvPr>
            <p:ph idx="1"/>
          </p:nvPr>
        </p:nvSpPr>
        <p:spPr/>
        <p:txBody>
          <a:bodyPr/>
          <a:lstStyle/>
          <a:p>
            <a:pPr>
              <a:defRPr sz="1600"/>
            </a:pPr>
            <a:r>
              <a:t>NOTE L'ensemble de ces définitions est renvoyé à l'Annexe A qui présente les modèles de documents.</a:t>
            </a:r>
          </a:p>
          <a:p>
            <a:pPr>
              <a:defRPr sz="1600"/>
            </a:pPr>
            <a:r>
              <a:t>UTE  -  25  -  NF C 18-510.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DISPOSITIONS GENERALES</a:t>
            </a:r>
          </a:p>
        </p:txBody>
      </p:sp>
      <p:sp>
        <p:nvSpPr>
          <p:cNvPr id="3" name="Content Placeholder 2"/>
          <p:cNvSpPr>
            <a:spLocks noGrp="1"/>
          </p:cNvSpPr>
          <p:nvPr>
            <p:ph idx="1"/>
          </p:nvPr>
        </p:nvSpPr>
        <p:spPr/>
        <p:txBody>
          <a:bodyPr/>
          <a:lstStyle/>
          <a:p>
            <a:pPr>
              <a:defRPr sz="1600"/>
            </a:pPr>
            <a:r>
              <a:t>Cet article énonce les prescriptions générales de prévention du risque électrique applicables à tous les acteurs, de l'EMPLOYEUR à l'EXECUTANT, en précisant les fonctions de chacun et le périmètre des tâches qui lui incombent.</a:t>
            </a:r>
          </a:p>
          <a:p>
            <a:pPr>
              <a:defRPr sz="1600"/>
            </a:pPr>
            <a:r>
              <a:t>Leurs mises en œuvre sont précisées et complétées dans les articles spécifiques (Articles 7 à 13).</a:t>
            </a:r>
          </a:p>
          <a:p>
            <a:pPr>
              <a:defRPr sz="1600"/>
            </a:pPr>
            <a:r>
              <a:t>Le présent article traite :  · de l'évaluation et de l'analyse du risque électrique ;  · des différents types d'ENVIRONNEMENT autour des OUVRAGES et des INSTALLATIONS ;.</a:t>
            </a:r>
          </a:p>
          <a:p>
            <a:pPr>
              <a:defRPr sz="1600"/>
            </a:pPr>
            <a:r>
              <a:t>des principes de prévention à appliquer (organisation, formation, HABILITATION, matériel, équipement, etc.</a:t>
            </a:r>
          </a:p>
          <a:p>
            <a:pPr>
              <a:defRPr sz="1600"/>
            </a:pPr>
            <a:r>
              <a:t>) ;  · de la réalisation et de la mise en œuvre des OPERATIONS ;  · des acteurs concernés.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 Analyse du risque élecTRIQUE</a:t>
            </a:r>
          </a:p>
        </p:txBody>
      </p:sp>
      <p:sp>
        <p:nvSpPr>
          <p:cNvPr id="3" name="Content Placeholder 2"/>
          <p:cNvSpPr>
            <a:spLocks noGrp="1"/>
          </p:cNvSpPr>
          <p:nvPr>
            <p:ph idx="1"/>
          </p:nvPr>
        </p:nvSpPr>
        <p:spPr/>
        <p:txBody>
          <a:bodyPr/>
          <a:lstStyle/>
          <a:p>
            <a:pPr>
              <a:defRPr sz="1600"/>
            </a:pPr>
            <a:r>
              <a:t>L'ANAlyse du RISQUE ELECTrique doit preceder TOUTE OPERATION d'ORDRE ELECTRIQUE OU d'ORDRE NON ELECTRIQUE afin de définir et de mettre en place, lors des OPERATIONS, les mesures de prévention appropriées pour la protection des personnes et des biens.</a:t>
            </a:r>
          </a:p>
          <a:p>
            <a:pPr>
              <a:defRPr sz="1600"/>
            </a:pPr>
            <a:r>
              <a:t>Cette analyse doit être menée en prenant en compte notamment les risques présentés par :  · les caractéristiques de l'OUVRAGE ou de l'INSTALLATION ;  · les modes opératoires envisageables.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 Le risque électrique et ses conséquences</a:t>
            </a:r>
          </a:p>
        </p:txBody>
      </p:sp>
      <p:sp>
        <p:nvSpPr>
          <p:cNvPr id="3" name="Content Placeholder 2"/>
          <p:cNvSpPr>
            <a:spLocks noGrp="1"/>
          </p:cNvSpPr>
          <p:nvPr>
            <p:ph idx="1"/>
          </p:nvPr>
        </p:nvSpPr>
        <p:spPr/>
        <p:txBody>
          <a:bodyPr/>
          <a:lstStyle/>
          <a:p>
            <a:pPr>
              <a:defRPr sz="1600"/>
            </a:pPr>
            <a:r>
              <a:t>Le risque électrique dépend de nombreux facteurs parmi lesquels :  · la présence, dans l'ENVIRONNEMENT, d'un OUVRAGE ou d'une INSTALLATION électrique de toute nature ;  · les caractéristiques des OUVRAGES et des INSTALLATIONS électriques, leur nature (aérien, souterrain, encastré), les paramètres électriques (tension, intensité, puissance, courant alternatif ou continu), le degré de protection des MATERIELS électriques ;  · l'objet et la nature des OPERATIONS à réaliser : maintenance, dépannage, MESURAGE, TRAVAUX d'ORDRE ELECTRIQUE ou d'ORDRE NON ELECTRIQUE, etc.</a:t>
            </a:r>
          </a:p>
          <a:p>
            <a:pPr>
              <a:defRPr sz="1600"/>
            </a:pPr>
            <a:r>
              <a:t>;  · les dimensions des outils, des matériels et équipements de travail ;  · la configuration physique des lieux de travail ;  · les défectuosités des OUVRAGES et des INSTALLATIONS ;  · l'induction magnétique et le couplage capacitif ;  · les phénomènes météorologiques (foudre, humidité, vent, givre, neige collante, etc.</a:t>
            </a:r>
          </a:p>
          <a:p>
            <a:pPr>
              <a:defRPr sz="1600"/>
            </a:pPr>
            <a:r>
              <a:t>) ;  · les surtensions ;  · les erreurs de conduite ou d'exploitation ;  · la confusion due à la similitude des MATERIELS et des INSTALLATIONS.</a:t>
            </a:r>
          </a:p>
          <a:p>
            <a:pPr>
              <a:defRPr sz="1600"/>
            </a:pPr>
            <a:r>
              <a:t>Le risque électrique provient :  · des contacts avec une pièce conductrice portée à un potentiel différent de celui de la personne exposée ;  · des amorçages qui provoquent, selon la puissance électrique en jeu, des étincelles ou des arcs électriques (projection de particules en fusion) ;  NF C 18-510  -  26  -  UTE  · des courts-circuits dont les effets (effet de souffle et thermique) sont également liés à la puissance électrique en jeu ;  · de la tension de pas.</a:t>
            </a:r>
          </a:p>
          <a:p>
            <a:pPr>
              <a:defRPr sz="1600"/>
            </a:pPr>
            <a:r>
              <a:t>Ce risque peut être à l'origine :  · de chocs électriques (électrisations ou électrocutions) ;  · de brûlures corporelles externes ou internes ;  · d'atteintes du système optique ;  · d'atteintes du système auditif ;  · d'effets indirects (chutes, etc.</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4.1.2.1 A quel moment doit-on analyser le risque électrique ?</a:t>
            </a:r>
          </a:p>
        </p:txBody>
      </p:sp>
      <p:sp>
        <p:nvSpPr>
          <p:cNvPr id="3" name="Content Placeholder 2"/>
          <p:cNvSpPr>
            <a:spLocks noGrp="1"/>
          </p:cNvSpPr>
          <p:nvPr>
            <p:ph idx="1"/>
          </p:nvPr>
        </p:nvSpPr>
        <p:spPr/>
        <p:txBody>
          <a:bodyPr/>
          <a:lstStyle/>
          <a:p>
            <a:pPr>
              <a:defRPr sz="1600"/>
            </a:pPr>
            <a:r>
              <a:t>L'analyse du risque électrique doit être conduite avant chaque PHASE DE TRAVAIL et s'appliquer à la ZONE D'EVOLUTION des personnes et des outils pendant le travail.</a:t>
            </a:r>
          </a:p>
          <a:p>
            <a:pPr>
              <a:defRPr sz="1600"/>
            </a:pPr>
            <a:r>
              <a:t>Cette zone doit être parfaitement délimitée dans l'espace et définie dans le temps (voir Annexe B).</a:t>
            </a:r>
          </a:p>
          <a:p>
            <a:pPr>
              <a:defRPr sz="1600"/>
            </a:pPr>
            <a:r>
              <a:t>Au-delà de l'étude préalable, l'analyse du risque électrique doit être poursuivie dans les mêmes conditions tout au long des OPERATIONS.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4.1.2.2 Qui a mission d'effectuer l'analyse du risque électrique ?</a:t>
            </a:r>
          </a:p>
        </p:txBody>
      </p:sp>
      <p:sp>
        <p:nvSpPr>
          <p:cNvPr id="3" name="Content Placeholder 2"/>
          <p:cNvSpPr>
            <a:spLocks noGrp="1"/>
          </p:cNvSpPr>
          <p:nvPr>
            <p:ph idx="1"/>
          </p:nvPr>
        </p:nvSpPr>
        <p:spPr/>
        <p:txBody>
          <a:bodyPr/>
          <a:lstStyle/>
          <a:p>
            <a:pPr>
              <a:defRPr sz="1600"/>
            </a:pPr>
            <a:r>
              <a:t>L'analyse du risque électrique et la préparation du travail sont de la responsabilité de L'EMPLOYEUR.</a:t>
            </a:r>
          </a:p>
          <a:p>
            <a:pPr>
              <a:defRPr sz="1600"/>
            </a:pPr>
            <a:r>
              <a:t>L'analyse du risque électrique entre dans la mission confiée à chaque acteur dans la limite de ses attributions et de ses responsabilités.</a:t>
            </a:r>
          </a:p>
          <a:p>
            <a:pPr>
              <a:defRPr sz="1600"/>
            </a:pPr>
            <a:r>
              <a:t>Elle nécessite une coordination entre tous les acteurs concernés.</a:t>
            </a:r>
          </a:p>
          <a:p>
            <a:pPr>
              <a:defRPr sz="1600"/>
            </a:pPr>
            <a:r>
              <a:t>Au stade de la conception, de la préparation d'un projet ou de la préparation du travail, elle doit être conduite par la personne désignée par l'EMPLOYEUR telle que : le chargé d'affaires, le chef de projet ou par un DONNEUR D'ORDRE.</a:t>
            </a:r>
          </a:p>
          <a:p>
            <a:pPr>
              <a:defRPr sz="1600"/>
            </a:pPr>
            <a:r>
              <a:t>Au stade de la réalisation, conformément aux instructions reçues, elle doit être conduite par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4.1.2.3 Eléments à prendre en compte pour l'analyse du risque électrique</a:t>
            </a:r>
          </a:p>
        </p:txBody>
      </p:sp>
      <p:sp>
        <p:nvSpPr>
          <p:cNvPr id="3" name="Content Placeholder 2"/>
          <p:cNvSpPr>
            <a:spLocks noGrp="1"/>
          </p:cNvSpPr>
          <p:nvPr>
            <p:ph idx="1"/>
          </p:nvPr>
        </p:nvSpPr>
        <p:spPr/>
        <p:txBody>
          <a:bodyPr/>
          <a:lstStyle/>
          <a:p>
            <a:pPr>
              <a:defRPr sz="1600"/>
            </a:pPr>
            <a:r>
              <a:t>L'appréciation des distances auxquelles les OPERATEURS, les objets et outils, les équipements de travail (engins, échafaudages roulants, etc.</a:t>
            </a:r>
          </a:p>
          <a:p>
            <a:pPr>
              <a:defRPr sz="1600"/>
            </a:pPr>
            <a:r>
              <a:t>) susceptibles, durant l'OPERATION, de s'approcher des OUVRAGES ou des INSTALLATIONS engendrant un risque d'origine électrique, doit tenir compte :  · du volume effectivement occupé par les OPERATEURS, y compris dans leurs déplacements ;  · de tous les gestes normaux et réflexes des OPERATEURS ;  · de tous les mouvements possibles des pièces conductrices nues sous tension, des OUVRAGES ou des INSTALLATIONS électriques, et notamment, des lignes aériennes (balancements, fouettements, rupture éventuelle d'un organe) ;  · de l'incertitude de positionnement des CANALISATIONS ISOLEES invisibles ;  · de tous les mouvements possibles et notamment, des chutes d'outils, matériels, pièces ou engins utilisés pour les OPERATIONS envisagées.</a:t>
            </a:r>
          </a:p>
          <a:p>
            <a:pPr>
              <a:defRPr sz="1600"/>
            </a:pPr>
            <a:r>
              <a:t>L'importance du risque dû à l'ENVIRONNEMENT électrique des OUVRAGES ou des INSTALLATIONS est appréciée au regard de la dimension des volumes conventionnels (appelés ZONES et définis à l'Article 6), autour des OUVRAGES ou des INSTALLATIONS en fonction des caractéristiques physiques de ces derniers.</a:t>
            </a:r>
          </a:p>
          <a:p>
            <a:pPr>
              <a:defRPr sz="1600"/>
            </a:pPr>
            <a:r>
              <a:t>La présence de pièces nues sous tension présente un risque majeur qui doit être examiné dans les phases d'analyse du risque électrique, de préparation et d'exécution du travail.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4.1.2.4 Risques liés à l'induction magnétique et au couplage capacitif</a:t>
            </a:r>
          </a:p>
        </p:txBody>
      </p:sp>
      <p:sp>
        <p:nvSpPr>
          <p:cNvPr id="3" name="Content Placeholder 2"/>
          <p:cNvSpPr>
            <a:spLocks noGrp="1"/>
          </p:cNvSpPr>
          <p:nvPr>
            <p:ph idx="1"/>
          </p:nvPr>
        </p:nvSpPr>
        <p:spPr/>
        <p:txBody>
          <a:bodyPr/>
          <a:lstStyle/>
          <a:p>
            <a:pPr>
              <a:defRPr sz="1600"/>
            </a:pPr>
            <a:r>
              <a:t>L'induction magnétique et le couplage capacitif sont des phénomènes insidieux.</a:t>
            </a:r>
          </a:p>
          <a:p>
            <a:pPr>
              <a:defRPr sz="1600"/>
            </a:pPr>
            <a:r>
              <a:t>Ils sont capables de faire apparaître sur des OUVRAGES ou des INSTALLATIONS non raccordés à des sources d'énergie électrique des tensions dangereuses, voire mortelles, par rapport à la terre.</a:t>
            </a:r>
          </a:p>
          <a:p>
            <a:pPr>
              <a:defRPr sz="1600"/>
            </a:pPr>
            <a:r>
              <a:t>Ils peuvent, de même, engendrer sur toute construction en matériaux conducteurs tels que barrières de sécurité routière, tendeurs de vignes, fils barbelés, clôtures, véhicules, etc.</a:t>
            </a:r>
          </a:p>
          <a:p>
            <a:pPr>
              <a:defRPr sz="1600"/>
            </a:pPr>
            <a:r>
              <a:t>des tensions suffisantes pour provoquer des décharges électriques gênantes, voire dangereuses quand elles sont associées à d'autres facteurs de risque comme le travail en hauteur.</a:t>
            </a:r>
          </a:p>
          <a:p>
            <a:pPr>
              <a:defRPr sz="1600"/>
            </a:pPr>
            <a:r>
              <a:t>Ces phénomènes se manifestent conjointement dans l'ENVIRONNEMENT des OUVRAGES ou des INSTALLATIONS en service sur d'autres OUVRAGES, INSTALLATIONS ou constructions métalliques présentant un parallélisme avec les premiers.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4.1.2.4.1 Couplage capacitif</a:t>
            </a:r>
          </a:p>
        </p:txBody>
      </p:sp>
      <p:sp>
        <p:nvSpPr>
          <p:cNvPr id="3" name="Content Placeholder 2"/>
          <p:cNvSpPr>
            <a:spLocks noGrp="1"/>
          </p:cNvSpPr>
          <p:nvPr>
            <p:ph idx="1"/>
          </p:nvPr>
        </p:nvSpPr>
        <p:spPr/>
        <p:txBody>
          <a:bodyPr/>
          <a:lstStyle/>
          <a:p>
            <a:pPr>
              <a:defRPr sz="1600"/>
            </a:pPr>
            <a:r>
              <a:t>Le couplage capacitif fait apparaître une tension électrique entre un conducteur électrique et la terre, entre toutes les masses métalliques presentes sur le chantier et la terre ou entre deux conducteurs par la seule présence à une distance, pouvant aller jusqu'à plusieurs centaines de mètres, d'un ou plusieurs autres OUVRAGES OU INSTALLATIONS électriques sous tension.</a:t>
            </a:r>
          </a:p>
          <a:p>
            <a:pPr>
              <a:defRPr sz="1600"/>
            </a:pPr>
            <a:r>
              <a:t>Cette tension est uniforme le long du conducteur qui subit le couplage capacitif.</a:t>
            </a:r>
          </a:p>
          <a:p>
            <a:pPr>
              <a:defRPr sz="1600"/>
            </a:pPr>
            <a:r>
              <a:t>NF C 18-510  -  28  -  UTE  Dans le cas d'un chantier sous l'influence d'un OUVRAGE HTB, tous les objets et engins conducteurs (échelles, haubans, camions, etc.</a:t>
            </a:r>
          </a:p>
          <a:p>
            <a:pPr>
              <a:defRPr sz="1600"/>
            </a:pPr>
            <a:r>
              <a:t>), ainsi que les OPERATEURS, sont soumis au phénomène de couplage capacitif.</a:t>
            </a:r>
          </a:p>
          <a:p>
            <a:pPr>
              <a:defRPr sz="1600"/>
            </a:pPr>
            <a:r>
              <a:t>Le couplage capacitif se comporte comme un « générateur de courant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4.1.2.4.2 Induction magnétique</a:t>
            </a:r>
          </a:p>
        </p:txBody>
      </p:sp>
      <p:sp>
        <p:nvSpPr>
          <p:cNvPr id="3" name="Content Placeholder 2"/>
          <p:cNvSpPr>
            <a:spLocks noGrp="1"/>
          </p:cNvSpPr>
          <p:nvPr>
            <p:ph idx="1"/>
          </p:nvPr>
        </p:nvSpPr>
        <p:spPr/>
        <p:txBody>
          <a:bodyPr/>
          <a:lstStyle/>
          <a:p>
            <a:pPr>
              <a:defRPr sz="1600"/>
            </a:pPr>
            <a:r>
              <a:t>Un conducteur sous tension, parcouru par un courant électrique, induit une force électromotrice dans tout conducteur parallèle et proche.</a:t>
            </a:r>
          </a:p>
          <a:p>
            <a:pPr>
              <a:defRPr sz="1600"/>
            </a:pPr>
            <a:r>
              <a:t>Cette force électromotrice peut être élevée si le parallélisme des deux conducteurs est suffisamment long ou si l'intensité du courant dans le circuit inducteur est forte.</a:t>
            </a:r>
          </a:p>
          <a:p>
            <a:pPr>
              <a:defRPr sz="1600"/>
            </a:pPr>
            <a:r>
              <a:t>Cette dernière propriété explique l'amplification du phénomène d'induction quand le circuit inducteur est affecté par un défaut ou un court-circuit, ou encore, dans le cas d'une induction créée par un ouvrage de traction, quand une motrice électrique circule.</a:t>
            </a:r>
          </a:p>
          <a:p>
            <a:pPr>
              <a:defRPr sz="1600"/>
            </a:pPr>
            <a:r>
              <a:t>L'induction magnétique se comporte comme un « générateur de tension ».</a:t>
            </a:r>
          </a:p>
          <a:p>
            <a:pPr>
              <a:defRPr sz="1600"/>
            </a:pPr>
            <a:r>
              <a:t>Toute personne en contact avec une partie active soumise à une induction magnétique est susceptible de former une liaison conductrice refermant un circuit électrique constitué de l'OUVRAGE ou de l'INSTALLATION soumis à induction, des dispositifs de mise à la terre, du sol et éventuellement des masses conductrices en liaison avec le sol.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4.1.2.5 Risques liés à la Très Basse Tension</a:t>
            </a:r>
          </a:p>
        </p:txBody>
      </p:sp>
      <p:sp>
        <p:nvSpPr>
          <p:cNvPr id="3" name="Content Placeholder 2"/>
          <p:cNvSpPr>
            <a:spLocks noGrp="1"/>
          </p:cNvSpPr>
          <p:nvPr>
            <p:ph idx="1"/>
          </p:nvPr>
        </p:nvSpPr>
        <p:spPr/>
        <p:txBody>
          <a:bodyPr/>
          <a:lstStyle/>
          <a:p>
            <a:pPr>
              <a:defRPr sz="1600"/>
            </a:pPr>
            <a:r>
              <a:t>Les OUVRAGES ou les INSTALLATIONS en Très Basse Tension (TBT), ne sont pas exempts de risque électrique.</a:t>
            </a:r>
          </a:p>
          <a:p>
            <a:pPr>
              <a:defRPr sz="1600"/>
            </a:pPr>
            <a:r>
              <a:t>Dans le présent document, la Très Basse Tension (TBT) est assimilée à la Basse Tension (BT) avec les particularités suivantes :.</a:t>
            </a:r>
          </a:p>
          <a:p>
            <a:pPr>
              <a:defRPr sz="1600"/>
            </a:pPr>
            <a:r>
              <a:t>le risque de court-circuit est pris en compte dans tous les cas ;  · le risque de choc électrique est pris en compte dans les cas suivants :  ο en Très Basse Tension Fonctionnelle (TBTF), quelle que soit la tension ;  o en Très Basse Tension de Protection (TBTP), lorsque la tension est supérieure à 12 V en courant alternatif ou supérieure à 30 V en courant continu ;  ο en Très Basse Tension de Sécurité (TBTS), lorsque la tension est supérieure à 25 V en courant alternatif ou supérieure à 60 V en courant continu.</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Environnement des ouvrages ou des installations</a:t>
            </a:r>
          </a:p>
        </p:txBody>
      </p:sp>
      <p:sp>
        <p:nvSpPr>
          <p:cNvPr id="3" name="Content Placeholder 2"/>
          <p:cNvSpPr>
            <a:spLocks noGrp="1"/>
          </p:cNvSpPr>
          <p:nvPr>
            <p:ph idx="1"/>
          </p:nvPr>
        </p:nvSpPr>
        <p:spPr/>
        <p:txBody>
          <a:bodyPr/>
          <a:lstStyle/>
          <a:p>
            <a:pPr>
              <a:defRPr sz="1600"/>
            </a:pPr>
            <a:r>
              <a:t>Le présent document considère que l'ENVIRONNEMENT dans lequel peut exister le risque électrique se répartit selon les trois types distincts présentés ci-après :.</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4.2.1 Environnement des pièces nues en champ libre</a:t>
            </a:r>
          </a:p>
        </p:txBody>
      </p:sp>
      <p:sp>
        <p:nvSpPr>
          <p:cNvPr id="3" name="Content Placeholder 2"/>
          <p:cNvSpPr>
            <a:spLocks noGrp="1"/>
          </p:cNvSpPr>
          <p:nvPr>
            <p:ph idx="1"/>
          </p:nvPr>
        </p:nvSpPr>
        <p:spPr/>
        <p:txBody>
          <a:bodyPr/>
          <a:lstStyle/>
          <a:p>
            <a:pPr>
              <a:defRPr sz="1600"/>
            </a:pPr>
            <a:r>
              <a:t>L'ENVIRONNEMENT DES PIECES NUES EN CHAMP LIBRE (tels les OUVRAGES de distribution d'énergie électrique) est à considérer dès que l'on s'en approche à moins de 50 m.</a:t>
            </a:r>
          </a:p>
          <a:p>
            <a:pPr>
              <a:defRPr sz="1600"/>
            </a:pPr>
            <a:r>
              <a:t>Sont également considérées comme pièces nues créant un risque de choc électrique :.</a:t>
            </a:r>
          </a:p>
          <a:p>
            <a:pPr>
              <a:defRPr sz="1600"/>
            </a:pPr>
            <a:r>
              <a:t>les PARTIES ACTIVES dont le degré de protection de l'enveloppe est inférieur au code IP2X ou IPXXB pour la basse tension et IP3X ou IPXXC pour la haute tension ;  · les CANALISATIONS ISOLEES quand leur isolation présente une dégradation apparente de l'enveloppe.</a:t>
            </a:r>
          </a:p>
          <a:p>
            <a:pPr>
              <a:defRPr sz="1600"/>
            </a:pPr>
            <a:r>
              <a:t>NF C 18-510  -  30  -  UTE  L'organisation de l'espace pour la prévention du risque électrique autour de ces OUVRAGES ou Ces INSTALLATIONS est précisée à l'Article 6.</a:t>
            </a:r>
          </a:p>
          <a:p>
            <a:pPr>
              <a:defRPr sz="1600"/>
            </a:pPr>
            <a:r>
              <a:t>NOTE Les PIECES NUES EN CHAMP LIBRE des INSTALLATIONS de traction électrique (par exemple, les caténaires) relèvent d'une règlementation spécifique.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 Locaux et emplacements d'accès réservé aux électriciens</a:t>
            </a:r>
          </a:p>
        </p:txBody>
      </p:sp>
      <p:sp>
        <p:nvSpPr>
          <p:cNvPr id="3" name="Content Placeholder 2"/>
          <p:cNvSpPr>
            <a:spLocks noGrp="1"/>
          </p:cNvSpPr>
          <p:nvPr>
            <p:ph idx="1"/>
          </p:nvPr>
        </p:nvSpPr>
        <p:spPr/>
        <p:txBody>
          <a:bodyPr/>
          <a:lstStyle/>
          <a:p>
            <a:pPr>
              <a:defRPr sz="1600"/>
            </a:pPr>
            <a:r>
              <a:t>Les LOCAUX ET EMPLACEMENTS D'ACCES RESERVE AUX ELECTRICIENS présentent des risques qui nécessitent, dès leur accès, l'application des prescriptions décrites à l'Article 9.</a:t>
            </a:r>
          </a:p>
          <a:p>
            <a:pPr>
              <a:defRPr sz="1600"/>
            </a:pPr>
            <a:r>
              <a:t>Les locaux sans risque électrique ne sont pas des LOCAUX ET EMPLACEMENTS D'ACCES RESERVE AUX ELECTRICIENS au sens du présent document même si, pour des raisons d'exploitation, l'EMPLOYEUR a décidé d'en réserver l'accès aux seules personnes autorisées.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4.2.3 Environnement des canalisations isolées</a:t>
            </a:r>
          </a:p>
        </p:txBody>
      </p:sp>
      <p:sp>
        <p:nvSpPr>
          <p:cNvPr id="3" name="Content Placeholder 2"/>
          <p:cNvSpPr>
            <a:spLocks noGrp="1"/>
          </p:cNvSpPr>
          <p:nvPr>
            <p:ph idx="1"/>
          </p:nvPr>
        </p:nvSpPr>
        <p:spPr/>
        <p:txBody>
          <a:bodyPr/>
          <a:lstStyle/>
          <a:p>
            <a:pPr>
              <a:defRPr sz="1600"/>
            </a:pPr>
            <a:r>
              <a:t>Les CANALISATIONS ISOLEES comprennent les câbles électriques et les conducteurs isolés poses sous conduit ou sous goulotte.</a:t>
            </a:r>
          </a:p>
          <a:p>
            <a:pPr>
              <a:defRPr sz="1600"/>
            </a:pPr>
            <a:r>
              <a:t>Le facteur de risque spécifique que constitue l'incertitude sur la position des canalisations invisibles conduit à distinguer une organisation conventionnelle de l'espace pour la prévention du risque électrique propre aux CANALISATIONS ISOLEES invisibles et une organisation conventionnelle propre aux CANALISATIONS ISOLEES visibles.</a:t>
            </a:r>
          </a:p>
          <a:p>
            <a:pPr>
              <a:defRPr sz="1600"/>
            </a:pPr>
            <a:r>
              <a:t>Chacune de ces organisations est définie à l'Article 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 Prévention du risque électrique</a:t>
            </a:r>
          </a:p>
        </p:txBody>
      </p:sp>
      <p:sp>
        <p:nvSpPr>
          <p:cNvPr id="3" name="Content Placeholder 2"/>
          <p:cNvSpPr>
            <a:spLocks noGrp="1"/>
          </p:cNvSpPr>
          <p:nvPr>
            <p:ph idx="1"/>
          </p:nvPr>
        </p:nvSpPr>
        <p:spPr/>
        <p:txBody>
          <a:bodyPr/>
          <a:lstStyle/>
          <a:p>
            <a:pPr>
              <a:defRPr sz="1600"/>
            </a:pPr>
            <a:r>
              <a:t>Dans le cadre de la préparation du travail, suivant le type d'OPERATION choisi et après analyse, les principes mis en œuvre pour prévenir le risque électrique sont :  · la suppression du risque par la CONSIGNATION ou à défaut la MISE HORS DE PORTEE par ELOIGNEMENT, OBSTACLE OU ISOLATION ;.</a:t>
            </a:r>
          </a:p>
          <a:p>
            <a:pPr>
              <a:defRPr sz="1600"/>
            </a:pPr>
            <a:r>
              <a:t>le choix et l'utilisation des équipements de protection collective, des EQUIPEMENTS DE PROTECTION INDIVIDUELLE (EPI) et des vêtements de travail ;.</a:t>
            </a:r>
          </a:p>
          <a:p>
            <a:pPr>
              <a:defRPr sz="1600"/>
            </a:pPr>
            <a:r>
              <a:t>le choix et l'utilisation des outils, matériels et équipements de travail ;  · la délimitation et le BALISAGE de la ZONE DE TRAVAIL et, si nécessaire, la surveillance ;  en tenant compte des conditions ambiantes (éclairage, orage, vent, etc.</a:t>
            </a:r>
          </a:p>
          <a:p>
            <a:pPr>
              <a:defRPr sz="1600"/>
            </a:pPr>
            <a:r>
              <a: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 Principes de prévention du risque électrique</a:t>
            </a:r>
          </a:p>
        </p:txBody>
      </p:sp>
      <p:sp>
        <p:nvSpPr>
          <p:cNvPr id="3" name="Content Placeholder 2"/>
          <p:cNvSpPr>
            <a:spLocks noGrp="1"/>
          </p:cNvSpPr>
          <p:nvPr>
            <p:ph idx="1"/>
          </p:nvPr>
        </p:nvSpPr>
        <p:spPr/>
        <p:txBody>
          <a:bodyPr/>
          <a:lstStyle/>
          <a:p>
            <a:pPr>
              <a:defRPr sz="1600"/>
            </a:pPr>
            <a:r>
              <a:t>De l'application des principes ci-dessous doit découler la méthode de travail qui sera mise en œuvre.</a:t>
            </a:r>
          </a:p>
          <a:p>
            <a:pPr>
              <a:defRPr sz="1600"/>
            </a:pPr>
            <a:r>
              <a:t>Une méthode est proposée à titre informatif dans l'Annexe B.</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4.3.1.1 Eléments d'analyse des opérations</a:t>
            </a:r>
          </a:p>
        </p:txBody>
      </p:sp>
      <p:sp>
        <p:nvSpPr>
          <p:cNvPr id="3" name="Content Placeholder 2"/>
          <p:cNvSpPr>
            <a:spLocks noGrp="1"/>
          </p:cNvSpPr>
          <p:nvPr>
            <p:ph idx="1"/>
          </p:nvPr>
        </p:nvSpPr>
        <p:spPr/>
        <p:txBody>
          <a:bodyPr/>
          <a:lstStyle/>
          <a:p>
            <a:pPr>
              <a:defRPr sz="1600"/>
            </a:pPr>
            <a:r>
              <a:t>L'EMPLOYEUR doit mettre en place une organisation de façon à ce que chaque OPERATEUR sache en permanence :  ·  reconnaître sur quelle partie de l'OUVRAGE ou de l'INSTALLATION il opère ;  · dans quelle SITUATION DE TRAVAIL il se trouve et, en particulier, s'il est en présence de pièces nues sous tension d'un OUVRAGE ou d'une INSTALLATION ;  · les caractéristiques particulières de l'OUVRAGE ou de l'INSTALLATION électrique :  ο ordre de grandeur du courant de court-circuit,  o induction magnétique ou couplage capacitif,  o conditions ambiantes de travail.</a:t>
            </a:r>
          </a:p>
          <a:p>
            <a:pPr>
              <a:defRPr sz="1600"/>
            </a:pPr>
            <a:r>
              <a:t>UTE  -  31  -  NF C 18-510.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4.3.1.2 Principes de mise en œuvre</a:t>
            </a:r>
          </a:p>
        </p:txBody>
      </p:sp>
      <p:sp>
        <p:nvSpPr>
          <p:cNvPr id="3" name="Content Placeholder 2"/>
          <p:cNvSpPr>
            <a:spLocks noGrp="1"/>
          </p:cNvSpPr>
          <p:nvPr>
            <p:ph idx="1"/>
          </p:nvPr>
        </p:nvSpPr>
        <p:spPr/>
        <p:txBody>
          <a:bodyPr/>
          <a:lstStyle/>
          <a:p>
            <a:pPr>
              <a:defRPr sz="1600"/>
            </a:pPr>
            <a:r>
              <a:t>Le type d'OPERATION retenu pour tout le chantier ou toute PHASE DE TRAVAIL doit résulter de la démarche logique suivante :  · chercher, en priorité, à consigner les OUVRAGES ou les INSTALLATIONS concernés ;.</a:t>
            </a:r>
          </a:p>
          <a:p>
            <a:pPr>
              <a:defRPr sz="1600"/>
            </a:pPr>
            <a:r>
              <a:t>si les conditions d'exploitation ou si la nature même de l'OPERATION ne permettent pas la CONSIGNATION ou, dans certains cas, la MISE HORS TENSION, operer après MISE HORS DE PORTEE par ELOIGNEMENT, par OBSTACLE ou par ISOLATION ;  · à défaut, opérer sous tension dans le respect du présent document.</a:t>
            </a:r>
          </a:p>
          <a:p>
            <a:pPr>
              <a:defRPr sz="1600"/>
            </a:pPr>
            <a:r>
              <a:t>Si, au cours de l'OPERATION, un élément non pris en compte dans l'analyse préalable du risque électrique dégrade les conditions de sécurité, l'OPERATION doit être suspendue et le mode opératoire doit être remis en question.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4.3.1.2.1 Les opérations après consignation ou mise hors tension</a:t>
            </a:r>
          </a:p>
        </p:txBody>
      </p:sp>
      <p:sp>
        <p:nvSpPr>
          <p:cNvPr id="3" name="Content Placeholder 2"/>
          <p:cNvSpPr>
            <a:spLocks noGrp="1"/>
          </p:cNvSpPr>
          <p:nvPr>
            <p:ph idx="1"/>
          </p:nvPr>
        </p:nvSpPr>
        <p:spPr/>
        <p:txBody>
          <a:bodyPr/>
          <a:lstStyle/>
          <a:p>
            <a:pPr>
              <a:defRPr sz="1600"/>
            </a:pPr>
            <a:r>
              <a:t>La mise en sécurité électrique consiste à supprimer toutes les sources de tension qui alimentent l'OUVRAGE ou l'INSTALLATION concernés.</a:t>
            </a:r>
          </a:p>
          <a:p>
            <a:pPr>
              <a:defRPr sz="1600"/>
            </a:pPr>
            <a:r>
              <a:t>Elle peut être réalisée :  · soit dans le cadre d'une CONSIGNATION pour réaliser des TRAVAUX HORS TENSION ;  · soit, dans certains cas, dans le cadre d'une MISE HORS TENSION, c'est-à-dire après séparation et condamnation, accompagnée de mesures complémentaires.</a:t>
            </a:r>
          </a:p>
          <a:p>
            <a:pPr>
              <a:defRPr sz="1600"/>
            </a:pPr>
            <a:r>
              <a:t>La MISE HORS TENSION seule n'est pas suffisante pour protéger les OPERATEURS et doit faire l'objet de mesures complémentaires.</a:t>
            </a:r>
          </a:p>
          <a:p>
            <a:pPr>
              <a:defRPr sz="1600"/>
            </a:pPr>
            <a:r>
              <a:t>Cette disposition est mise en œuvre, par exemple, pour certains travaux exécutés dans L'ENVIRONNEMENT des OUVRAGES ou des INSTALLATIONS électriques.</a:t>
            </a:r>
          </a:p>
          <a:p>
            <a:pPr>
              <a:defRPr sz="1600"/>
            </a:pPr>
            <a:r>
              <a:t>La mise en œuvre de la CONSIGNATION et de la MISE HORS TENSION est développée à l'Article 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4.3.1.2.2 Les opérations après mise hors de portée</a:t>
            </a:r>
          </a:p>
        </p:txBody>
      </p:sp>
      <p:sp>
        <p:nvSpPr>
          <p:cNvPr id="3" name="Content Placeholder 2"/>
          <p:cNvSpPr>
            <a:spLocks noGrp="1"/>
          </p:cNvSpPr>
          <p:nvPr>
            <p:ph idx="1"/>
          </p:nvPr>
        </p:nvSpPr>
        <p:spPr/>
        <p:txBody>
          <a:bodyPr/>
          <a:lstStyle/>
          <a:p>
            <a:pPr>
              <a:defRPr sz="1600"/>
            </a:pPr>
            <a:r>
              <a:t>Lorsqu'il n'est pas possible de réaliser la CONSIGNATION ou la MISE HORS TENSION, la MISE HORS DE PORTEE doit être assurée :  · soit par ELOIGNEMENT ;  · soit par OBSTACLE ;  · soit par ISOLATION.</a:t>
            </a:r>
          </a:p>
          <a:p>
            <a:pPr>
              <a:defRPr sz="1600"/>
            </a:pPr>
            <a:r>
              <a:t>La mise en œuvre de la MISE HORS DE PORTEE est développée à l'Article 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4.3.1.2.3 Les opérations sous tension</a:t>
            </a:r>
          </a:p>
        </p:txBody>
      </p:sp>
      <p:sp>
        <p:nvSpPr>
          <p:cNvPr id="3" name="Content Placeholder 2"/>
          <p:cNvSpPr>
            <a:spLocks noGrp="1"/>
          </p:cNvSpPr>
          <p:nvPr>
            <p:ph idx="1"/>
          </p:nvPr>
        </p:nvSpPr>
        <p:spPr/>
        <p:txBody>
          <a:bodyPr/>
          <a:lstStyle/>
          <a:p>
            <a:pPr>
              <a:defRPr sz="1600"/>
            </a:pPr>
            <a:r>
              <a:t>S'il n'a pas été possible de mettre en œuvre une des dispositions précédentes, l'OPERATEUR peut, dans certains cas, opérer sous tension.</a:t>
            </a:r>
          </a:p>
          <a:p>
            <a:pPr>
              <a:defRPr sz="1600"/>
            </a:pPr>
            <a:r>
              <a:t>L'Article 8 précise les modalités d'exécution des TRAVAUX SOUS TENSION sur l'OUVRAGE ou L'INSTALLATION au sens du present document.</a:t>
            </a:r>
          </a:p>
          <a:p>
            <a:pPr>
              <a:defRPr sz="1600"/>
            </a:pPr>
            <a:r>
              <a:t>L'Article 10 precise les modalités d'exécution des INTERVENTIONS BT GENERALES sur L'INSTALLATION au sens du présent document.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4.3.1.3 Délimitation et balisage de la zone de travail</a:t>
            </a:r>
          </a:p>
        </p:txBody>
      </p:sp>
      <p:sp>
        <p:nvSpPr>
          <p:cNvPr id="3" name="Content Placeholder 2"/>
          <p:cNvSpPr>
            <a:spLocks noGrp="1"/>
          </p:cNvSpPr>
          <p:nvPr>
            <p:ph idx="1"/>
          </p:nvPr>
        </p:nvSpPr>
        <p:spPr/>
        <p:txBody>
          <a:bodyPr/>
          <a:lstStyle/>
          <a:p>
            <a:pPr>
              <a:defRPr sz="1600"/>
            </a:pPr>
            <a:r>
              <a:t>La délimitation de la ZONE DE TRAVAIL consiste à définir le volume dans lequel les mesures de prévention nécessaires sont arrêtées et mises en œuvre.</a:t>
            </a:r>
          </a:p>
          <a:p>
            <a:pPr>
              <a:defRPr sz="1600"/>
            </a:pPr>
            <a:r>
              <a:t>Elle est materialisée par un BALISAGE qui vise à :  · interdire l'accès des tiers à la ZONE DE TRAVAIL ;  · identifier le volume pour empêcher les risques de confusion par les OPERATEURS ;  · matérialiser la limite des espaces électriquement dangereux.</a:t>
            </a:r>
          </a:p>
          <a:p>
            <a:pPr>
              <a:defRPr sz="1600"/>
            </a:pPr>
            <a:r>
              <a:t>Ce BALISAGE doit être défini dans le cadre de la préparation du travail.</a:t>
            </a:r>
          </a:p>
          <a:p>
            <a:pPr>
              <a:defRPr sz="1600"/>
            </a:pPr>
            <a:r>
              <a:t>Tous les moyens appropriés peuvent être utilisés : limite physique des OUVRAGES ou des INSTALLATIONS,  NF C 18-510  -  32  -  UTE  ECRANS ou tous autres moyens de BALISAGE (pancartes, rubans, barrières, portiques, etc.</a:t>
            </a:r>
          </a:p>
          <a:p>
            <a:pPr>
              <a:defRPr sz="1600"/>
            </a:pPr>
            <a:r>
              <a: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4.3.1.4 Mise à la terre et en court-circuit</a:t>
            </a:r>
          </a:p>
        </p:txBody>
      </p:sp>
      <p:sp>
        <p:nvSpPr>
          <p:cNvPr id="3" name="Content Placeholder 2"/>
          <p:cNvSpPr>
            <a:spLocks noGrp="1"/>
          </p:cNvSpPr>
          <p:nvPr>
            <p:ph idx="1"/>
          </p:nvPr>
        </p:nvSpPr>
        <p:spPr/>
        <p:txBody>
          <a:bodyPr/>
          <a:lstStyle/>
          <a:p>
            <a:pPr>
              <a:defRPr sz="1600"/>
            </a:pPr>
            <a:r>
              <a:t>La MISE A LA TERRE ET EN COURT-CIRCUIT (MALT/CC) des OUVRAGES ou des INSTALLATIONS situés dans la ZONE DE TRAVAIL vise a proteger les OPERATEURS contre tout retour ou apparition intempestifs de tension (par exemple, erreur d'exploitation, dégradation de l'OUVRAGE ou de l'INSTALLATION, plan errone ou mal interprete, identification incertaine, contact avec un autre OUVRAGE ou une autre INSTALLATION, présence d'autres sources d'alimentation, etc.</a:t>
            </a:r>
          </a:p>
          <a:p>
            <a:pPr>
              <a:defRPr sz="1600"/>
            </a:pPr>
            <a:r>
              <a:t>).</a:t>
            </a:r>
          </a:p>
          <a:p>
            <a:pPr>
              <a:defRPr sz="1600"/>
            </a:pPr>
            <a:r>
              <a:t>Cette mesure consiste à relier à la terre les circuits d'alimentation électrique de la partie de l'OUVRAGE ou de l'INSTALLATION située dans la ZONE DE TRAVAIL à l'aide de dispositifs conducteurs appropriés, afin d'écouler à la terre tout courant imprévu.</a:t>
            </a:r>
          </a:p>
          <a:p>
            <a:pPr>
              <a:defRPr sz="1600"/>
            </a:pPr>
            <a:r>
              <a:t>La MISE A LA TERRE ET EN COURT-CIRCUIT, prévue dans le cadre d'une CONSIGNATION électrique, est traitée à l'Article 7.</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4.3.1.5 Mise en équipotentialité du poste de travail</a:t>
            </a:r>
          </a:p>
        </p:txBody>
      </p:sp>
      <p:sp>
        <p:nvSpPr>
          <p:cNvPr id="3" name="Content Placeholder 2"/>
          <p:cNvSpPr>
            <a:spLocks noGrp="1"/>
          </p:cNvSpPr>
          <p:nvPr>
            <p:ph idx="1"/>
          </p:nvPr>
        </p:nvSpPr>
        <p:spPr/>
        <p:txBody>
          <a:bodyPr/>
          <a:lstStyle/>
          <a:p>
            <a:pPr>
              <a:defRPr sz="1600"/>
            </a:pPr>
            <a:r>
              <a:t>L'équipotentialité vise à éviter d'exposer le personnel à des différences de potentiel dangereuses dans la ZONE DE TRAVAIL, dont les principales causes sont le couplage capacitif ou l'induction magnétique.</a:t>
            </a:r>
          </a:p>
          <a:p>
            <a:pPr>
              <a:defRPr sz="1600"/>
            </a:pPr>
            <a:r>
              <a:t>Elle est réalisée à l'aide de dispositifs conducteurs appropriés reliant entre elles toutes les pièces conductrices situées dans le POSTE DE TRAVAIL de l'OPERATEUR et susceptibles d'être portées à des potentiels différents.</a:t>
            </a:r>
          </a:p>
          <a:p>
            <a:pPr>
              <a:defRPr sz="1600"/>
            </a:pPr>
            <a:r>
              <a:t>Les applications correspondantes sont développées au 7.</a:t>
            </a:r>
          </a:p>
          <a:p>
            <a:pPr>
              <a:defRPr sz="1600"/>
            </a:pPr>
            <a:r>
              <a:t>1.</a:t>
            </a:r>
          </a:p>
          <a:p>
            <a:pPr>
              <a:defRPr sz="1600"/>
            </a:pPr>
            <a:r>
              <a:t>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4.3.1.6 Surveillance</a:t>
            </a:r>
          </a:p>
        </p:txBody>
      </p:sp>
      <p:sp>
        <p:nvSpPr>
          <p:cNvPr id="3" name="Content Placeholder 2"/>
          <p:cNvSpPr>
            <a:spLocks noGrp="1"/>
          </p:cNvSpPr>
          <p:nvPr>
            <p:ph idx="1"/>
          </p:nvPr>
        </p:nvSpPr>
        <p:spPr/>
        <p:txBody>
          <a:bodyPr/>
          <a:lstStyle/>
          <a:p>
            <a:pPr>
              <a:defRPr sz="1600"/>
            </a:pPr>
            <a:r>
              <a:t>La surveillance de sécurité électrique est mise en œuvre chaque fois que les mesures de prévention doivent être renforcées par la surveillance effective des OPERATEURS ou des personnes non habilitées mais autorisées à pénétrer dans une zone à risque électrique.</a:t>
            </a:r>
          </a:p>
          <a:p>
            <a:pPr>
              <a:defRPr sz="1600"/>
            </a:pPr>
            <a:r>
              <a:t>La surveillance confiée à un SURVEILLANT DE SECURITE ELECTRIQUE consiste à guider les actions d'une tierce personne et à s'assurer que cette dernière respecte les mesures de prévention et les instructions de sécurité.</a:t>
            </a:r>
          </a:p>
          <a:p>
            <a:pPr>
              <a:defRPr sz="1600"/>
            </a:pPr>
            <a:r>
              <a:t>Lorsqu'une surveillance spécifique est nécessaire, elle doit être clairement définie en lieu et en temps, et de préférence lors de la préparation du travail.</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4.3.2 Protection collective</a:t>
            </a:r>
          </a:p>
        </p:txBody>
      </p:sp>
      <p:sp>
        <p:nvSpPr>
          <p:cNvPr id="3" name="Content Placeholder 2"/>
          <p:cNvSpPr>
            <a:spLocks noGrp="1"/>
          </p:cNvSpPr>
          <p:nvPr>
            <p:ph idx="1"/>
          </p:nvPr>
        </p:nvSpPr>
        <p:spPr/>
        <p:txBody>
          <a:bodyPr/>
          <a:lstStyle/>
          <a:p>
            <a:pPr>
              <a:defRPr sz="1600"/>
            </a:pPr>
            <a:r>
              <a:t>Lorsque le risque n'a pas pu être supprime par CONSIGNATION OU MISE HORS TENSION, des mesures de protection collective doivent être envisagées en leur donnant la priorité sur les mesures de protection individuelle.</a:t>
            </a:r>
          </a:p>
          <a:p>
            <a:pPr>
              <a:defRPr sz="1600"/>
            </a:pPr>
            <a:r>
              <a:t>Par mesure de protection collective on entend toute mesure destinée à mettre HORS DE PORTEE par ELOIGNEMENT, par OBSTACLE ou par ISOLATION.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4.3.3 Protection individuelle</a:t>
            </a:r>
          </a:p>
        </p:txBody>
      </p:sp>
      <p:sp>
        <p:nvSpPr>
          <p:cNvPr id="3" name="Content Placeholder 2"/>
          <p:cNvSpPr>
            <a:spLocks noGrp="1"/>
          </p:cNvSpPr>
          <p:nvPr>
            <p:ph idx="1"/>
          </p:nvPr>
        </p:nvSpPr>
        <p:spPr/>
        <p:txBody>
          <a:bodyPr/>
          <a:lstStyle/>
          <a:p>
            <a:pPr>
              <a:defRPr sz="1600"/>
            </a:pPr>
            <a:r>
              <a:t>La protection individuelle ne peut être envisagée que lorsque toutes les autres mesures d'élimination ou de réduction du risque électrique s'avèrent insuffisantes ou impossibles à mettre en œuvre.</a:t>
            </a:r>
          </a:p>
          <a:p>
            <a:pPr>
              <a:defRPr sz="1600"/>
            </a:pPr>
            <a:r>
              <a:t>UTE  -  33  -  NF C 18-510  Les conditions de mise en œuvre, le choix et l'utilisation des EQUIPEMENTS DE PROTECTION INDIVIDUELLE (EPI) sont définis par l'EMPLOYEUR après analyse du risque, en suivant les principes généraux de prévention.</a:t>
            </a:r>
          </a:p>
          <a:p>
            <a:pPr>
              <a:defRPr sz="1600"/>
            </a:pPr>
            <a:r>
              <a:t>Les EPI et les vêtements de travail doivent être appropriés au risque, ainsi qu'aux conditions et caractéristiques particulières du travail, compte tenu de l'état de la technique et des possibilités existant sur le marché.</a:t>
            </a:r>
          </a:p>
          <a:p>
            <a:pPr>
              <a:defRPr sz="1600"/>
            </a:pPr>
            <a:r>
              <a:t>NOTE La technologie actuelle ne permet pas aux EPI de couvrir tous les domaines de tension et tous les niveaux de puissance de court-circuit (voir Annexe C).</a:t>
            </a:r>
          </a:p>
          <a:p>
            <a:pPr>
              <a:defRPr sz="1600"/>
            </a:pPr>
            <a:r>
              <a:t>Si la protection individuelle ne peut répondre totalement aux exigences, il faut revoir l'ensemble du mode opératoire pour assurer la protection du personnel.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 Outil, matériel et équipement de travail</a:t>
            </a:r>
          </a:p>
        </p:txBody>
      </p:sp>
      <p:sp>
        <p:nvSpPr>
          <p:cNvPr id="3" name="Content Placeholder 2"/>
          <p:cNvSpPr>
            <a:spLocks noGrp="1"/>
          </p:cNvSpPr>
          <p:nvPr>
            <p:ph idx="1"/>
          </p:nvPr>
        </p:nvSpPr>
        <p:spPr/>
        <p:txBody>
          <a:bodyPr/>
          <a:lstStyle/>
          <a:p>
            <a:pPr>
              <a:defRPr sz="1600"/>
            </a:pPr>
            <a:r>
              <a:t>Les outils, le matériel, les équipements de travail et les vêtements de travail mis à la disposition du personnel par l'EMPLOYEUR doivent :  · respecter la règlementation et l'état de l'art qui les concernent (marquage CE, conformité aux normes, prescriptions de conception) ;  · être adaptés aux OPERATIONS à réaliser ;  · être utilisés en respectant les notices d'instructions de leurs fabricants ;  · être entretenus conformément aux notices d'instructions de leurs fabricants et aux INSTRUCTIONS DE SECURITE de l'établissement ;  · être vérifiés conformément aux exigences réglementaires en vigueur, aux notices d'instructions de leurs fabricants et aux INSTRUCTIONS DE SECURITE de l'établissement,  Des dispositions générales concernant les outils, les matériels, les équipements de travail et les vêtements de travail sont précisées en Annexe C.</a:t>
            </a:r>
          </a:p>
          <a:p>
            <a:pPr>
              <a:defRPr sz="1600"/>
            </a:pPr>
            <a:r>
              <a:t>Les articles concernés donnent les prescriptions complémentaires propres à chaque SITUATION DE TRAVAIL.</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4.3.5 Conditions ambiantes de travail</a:t>
            </a:r>
          </a:p>
        </p:txBody>
      </p:sp>
      <p:sp>
        <p:nvSpPr>
          <p:cNvPr id="3" name="Content Placeholder 2"/>
          <p:cNvSpPr>
            <a:spLocks noGrp="1"/>
          </p:cNvSpPr>
          <p:nvPr>
            <p:ph idx="1"/>
          </p:nvPr>
        </p:nvSpPr>
        <p:spPr/>
        <p:txBody>
          <a:bodyPr/>
          <a:lstStyle/>
          <a:p>
            <a:pPr>
              <a:defRPr sz="1600"/>
            </a:pPr>
            <a:r>
              <a:t>Lorsque les conditions atmosphériques ou l'éclairage gênent la vue des OPERATEURS ou que les mouvements ne sont plus sûrs, ou que les conditions d'éclairage sont insuffisantes, aucune OPERATION ne peut être entreprise ni poursuivie.</a:t>
            </a:r>
          </a:p>
          <a:p>
            <a:pPr>
              <a:defRPr sz="1600"/>
            </a:pPr>
            <a:r>
              <a:t>De plus, en cas d'orage ou de manifestations orageuses, les OPERATIONS ne doivent pas être entreprises ou doivent être suspendues sur tout OUVRAGE ou toute INSTALLATION aériens.</a:t>
            </a:r>
          </a:p>
          <a:p>
            <a:pPr>
              <a:defRPr sz="1600"/>
            </a:pPr>
            <a:r>
              <a:t>Ces restrictions s'appliquent aussi aux OUVRAGES ou aux INSTALLATIONS situés à l'intérieur des  NF C 18-510  -  34  -  UTE  bâtiments directement alimentés par des OUVRAGES ou des INSTALLATIONS aériens.</a:t>
            </a:r>
          </a:p>
          <a:p>
            <a:pPr>
              <a:defRPr sz="1600"/>
            </a:pPr>
            <a:r>
              <a:t>L'origine des surtensions provoquées par un orage peut se trouver éloignée et hors de vue de la ZONE DE TRAVAIL.</a:t>
            </a:r>
          </a:p>
          <a:p>
            <a:pPr>
              <a:defRPr sz="1600"/>
            </a:pPr>
            <a:r>
              <a:t>Des prescriptions particulières sont développées dans les articles correspondant aux OPERATIONS (voir Articles 7 à 12).</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4.3.6 Opérations dans les zones présentant un risque d'explosion</a:t>
            </a:r>
          </a:p>
        </p:txBody>
      </p:sp>
      <p:sp>
        <p:nvSpPr>
          <p:cNvPr id="3" name="Content Placeholder 2"/>
          <p:cNvSpPr>
            <a:spLocks noGrp="1"/>
          </p:cNvSpPr>
          <p:nvPr>
            <p:ph idx="1"/>
          </p:nvPr>
        </p:nvSpPr>
        <p:spPr/>
        <p:txBody>
          <a:bodyPr/>
          <a:lstStyle/>
          <a:p>
            <a:pPr>
              <a:defRPr sz="1600"/>
            </a:pPr>
            <a:r>
              <a:t>Dans les emplacements qui présentent un risque d'atmosphère explosive, les OPERATIONS d'ORDRE ELECTRIQUE ne peuvent être entreprises qu'après délivrance d'une autorisation et selon les instructions écrites du CHEF D'ETABLISSEMENT.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 Réalisation et mise en œuvre des opérations</a:t>
            </a:r>
          </a:p>
        </p:txBody>
      </p:sp>
      <p:sp>
        <p:nvSpPr>
          <p:cNvPr id="3" name="Content Placeholder 2"/>
          <p:cNvSpPr>
            <a:spLocks noGrp="1"/>
          </p:cNvSpPr>
          <p:nvPr>
            <p:ph idx="1"/>
          </p:nvPr>
        </p:nvSpPr>
        <p:spPr/>
        <p:txBody>
          <a:bodyPr/>
          <a:lstStyle/>
          <a:p>
            <a:pPr>
              <a:defRPr sz="1600"/>
            </a:pPr>
            <a:r>
              <a:t>Les OPERATIONS d'ORDRE ELECTRIQUE ou d'ORDRE NON ELECTRIQUE sont déterminées, organisées et exécutées en suivant les prescriptions du présent document, qui explicite les moyens de prévention à mettre en œuvre à partir de l'analyse du risque électrique.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4.4.1 Procédures d'accès, de suivi et de contrôle</a:t>
            </a:r>
          </a:p>
        </p:txBody>
      </p:sp>
      <p:sp>
        <p:nvSpPr>
          <p:cNvPr id="3" name="Content Placeholder 2"/>
          <p:cNvSpPr>
            <a:spLocks noGrp="1"/>
          </p:cNvSpPr>
          <p:nvPr>
            <p:ph idx="1"/>
          </p:nvPr>
        </p:nvSpPr>
        <p:spPr/>
        <p:txBody>
          <a:bodyPr/>
          <a:lstStyle/>
          <a:p>
            <a:pPr>
              <a:defRPr sz="1600"/>
            </a:pPr>
            <a:r>
              <a:t>Les PROCEDURES D'ACCES, DE SUIVI ET DE CONTROLE, en vue d'exécuter des OPERATIONS, visent à assurer la coordination et le fonctionnement de la chaîne d'acteurs participant à la prévention du risque électrique.</a:t>
            </a:r>
          </a:p>
          <a:p>
            <a:pPr>
              <a:defRPr sz="1600"/>
            </a:pPr>
            <a:r>
              <a:t>Le CHEF D'ETABLISSEMENT est responsable de l'accès aux OUVRAGES ou aux INSTALLATIONS de son établissement, du suivi et du contrôle de l'exécution des OPERATIONS.</a:t>
            </a:r>
          </a:p>
          <a:p>
            <a:pPr>
              <a:defRPr sz="1600"/>
            </a:pPr>
            <a:r>
              <a:t>Il lui appartient de définir les procédures concernant ses OUVRAGES ou ses INSTALLATIONS, en s'attachant à ce que les désignations et délégations des différents acteurs soient assurées.</a:t>
            </a:r>
          </a:p>
          <a:p>
            <a:pPr>
              <a:defRPr sz="1600"/>
            </a:pPr>
            <a:r>
              <a:t>L'EMPLOYEUR notifie a ses salaries les procedures applicables aux OPERATIONS qu'il leur confie.</a:t>
            </a:r>
          </a:p>
          <a:p>
            <a:pPr>
              <a:defRPr sz="1600"/>
            </a:pPr>
            <a:r>
              <a:t>Les procédures nécessitent des échanges de documents définis dans l'Annexe A.</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 Instruction de sécurité</a:t>
            </a:r>
          </a:p>
        </p:txBody>
      </p:sp>
      <p:sp>
        <p:nvSpPr>
          <p:cNvPr id="3" name="Content Placeholder 2"/>
          <p:cNvSpPr>
            <a:spLocks noGrp="1"/>
          </p:cNvSpPr>
          <p:nvPr>
            <p:ph idx="1"/>
          </p:nvPr>
        </p:nvSpPr>
        <p:spPr/>
        <p:txBody>
          <a:bodyPr/>
          <a:lstStyle/>
          <a:p>
            <a:pPr>
              <a:defRPr sz="1600"/>
            </a:pPr>
            <a:r>
              <a:t>L'INSTRUCTION DE SECURITE doit être communiquée aux intéressés d'une manière appropriée, sous une forme écrite ou orale, et commentée.</a:t>
            </a:r>
          </a:p>
          <a:p>
            <a:pPr>
              <a:defRPr sz="1600"/>
            </a:pPr>
            <a:r>
              <a:t>Lorsqu'elle est permanente, elle doit être écrite.</a:t>
            </a:r>
          </a:p>
          <a:p>
            <a:pPr>
              <a:defRPr sz="1600"/>
            </a:pPr>
            <a:r>
              <a:t>Elle est élaborée sous l'autorité de l'EMPLOYEUR et prend en compte les prescriptions du CHEF D'ETABLISSEMENT (Voir Annexe A).</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4.5.1 Les acteurs économiques (entreprises et autres)</a:t>
            </a:r>
          </a:p>
        </p:txBody>
      </p:sp>
      <p:sp>
        <p:nvSpPr>
          <p:cNvPr id="3" name="Content Placeholder 2"/>
          <p:cNvSpPr>
            <a:spLocks noGrp="1"/>
          </p:cNvSpPr>
          <p:nvPr>
            <p:ph idx="1"/>
          </p:nvPr>
        </p:nvSpPr>
        <p:spPr/>
        <p:txBody>
          <a:bodyPr/>
          <a:lstStyle/>
          <a:p>
            <a:pPr>
              <a:defRPr sz="1600"/>
            </a:pPr>
            <a:r>
              <a:t>Les acteurs économiques (entreprises, personnes physiques ou morales concernées) sont ceux qui effectuent ou font effectuer des OPERATIONS relevant du présent document dans L'ENVIRONNEMENT ou sur des OUVRAGES ou des INSTALLATIONS électriques.</a:t>
            </a:r>
          </a:p>
          <a:p>
            <a:pPr>
              <a:defRPr sz="1600"/>
            </a:pPr>
            <a:r>
              <a:t>Ces acteurs économiques appartiennent à des secteurs d'activités très variés, tels que l'installation électrique, l'électromécanique, la construction BTP, la maintenance, le transport et la distribution d'énergie électrique.</a:t>
            </a:r>
          </a:p>
          <a:p>
            <a:pPr>
              <a:defRPr sz="1600"/>
            </a:pPr>
            <a:r>
              <a:t>Tout acteur économique doit remplir ses obligations en respectant les prescriptions du présent document.</a:t>
            </a:r>
          </a:p>
          <a:p>
            <a:pPr>
              <a:defRPr sz="1600"/>
            </a:pPr>
            <a:r>
              <a:t>S'il ne dispose pas en interne des compétences requises, il doit s'entourer des compétences externes nécessaires.</a:t>
            </a:r>
          </a:p>
          <a:p>
            <a:pPr>
              <a:defRPr sz="1600"/>
            </a:pPr>
            <a:r>
              <a:t>Des missions d'EXPLOITATION peuvent être confiées à une ou plusieurs entreprises.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4.5.1.1 Entreprise exploitante</a:t>
            </a:r>
          </a:p>
        </p:txBody>
      </p:sp>
      <p:sp>
        <p:nvSpPr>
          <p:cNvPr id="3" name="Content Placeholder 2"/>
          <p:cNvSpPr>
            <a:spLocks noGrp="1"/>
          </p:cNvSpPr>
          <p:nvPr>
            <p:ph idx="1"/>
          </p:nvPr>
        </p:nvSpPr>
        <p:spPr/>
        <p:txBody>
          <a:bodyPr/>
          <a:lstStyle/>
          <a:p>
            <a:pPr>
              <a:defRPr sz="1600"/>
            </a:pPr>
            <a:r>
              <a:t>L'ENTREPRISE EXPLOITANTE, pour les OUVRAGES ou les INSTALLATIONS dont elle a la charge, doit :  · organiser et mettre en œuvre la prévention du risque, notamment celle concernant le risque électrique, pour son propre personnel ;  · appliquer les mesures de coordination réglementaires en cas de travaux d'une ENTREPRISE EXTERIEURE dans l'ENVIRONNEMENT de ses OUVRAGES ou ses INSTALLATIONS ;  · définir ses prescriptions de sécurité à respecter et les transmettre au DONNEUR D'ORDRE.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4.5.1.2 Entreprise extérieure</a:t>
            </a:r>
          </a:p>
        </p:txBody>
      </p:sp>
      <p:sp>
        <p:nvSpPr>
          <p:cNvPr id="3" name="Content Placeholder 2"/>
          <p:cNvSpPr>
            <a:spLocks noGrp="1"/>
          </p:cNvSpPr>
          <p:nvPr>
            <p:ph idx="1"/>
          </p:nvPr>
        </p:nvSpPr>
        <p:spPr/>
        <p:txBody>
          <a:bodyPr/>
          <a:lstStyle/>
          <a:p>
            <a:pPr>
              <a:defRPr sz="1600"/>
            </a:pPr>
            <a:r>
              <a:t>Pour les OPERATIONS d'ORDRE ELECTRIQUE, L'ENTREPRISE EXTERIEURE doit être competente dans le domaine de l'électricité et garantir la mise en œuvre par son personnel des prescriptions de sécurité définies par les normes et les règlements de sécurité.</a:t>
            </a:r>
          </a:p>
          <a:p>
            <a:pPr>
              <a:defRPr sz="1600"/>
            </a:pPr>
            <a:r>
              <a:t>Elle doit :  · organiser et mettre en œuvre les mesures de prévention pour son propre personnel et désigner le personnel pour une opération donnée ;  · prendre en compte les prescriptions de sécurité édictées par l'ENTREPRISE EXPLOITANTE, qui sont remises par le DONNEUR D'ORDRE ;  · appliquer les mesures de coordination réglementaires dans le cas où le DONNEUR D'ORDRE est une ENTREPRISE EXPLOITANTE;  · être compétente dans le domaine de l'électricité pour les OPERATIONS d'ORDRE ELECTRIQUE.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4.5.1.3 Entreprise de travail temporaire et prêt de main d'œuvre a but non lucratif</a:t>
            </a:r>
          </a:p>
        </p:txBody>
      </p:sp>
      <p:sp>
        <p:nvSpPr>
          <p:cNvPr id="3" name="Content Placeholder 2"/>
          <p:cNvSpPr>
            <a:spLocks noGrp="1"/>
          </p:cNvSpPr>
          <p:nvPr>
            <p:ph idx="1"/>
          </p:nvPr>
        </p:nvSpPr>
        <p:spPr/>
        <p:txBody>
          <a:bodyPr/>
          <a:lstStyle/>
          <a:p>
            <a:pPr>
              <a:defRPr sz="1600"/>
            </a:pPr>
            <a:r>
              <a:t>Dans le cas de personnel d'une ENTREPRISE DE TRAVAIL TEMPORAIRE utilisé par une ENTREPRISE EXPLOITANTE ou une ENTREPRISE EXTERIEURE, ces dernières doivent définir la qualification et la compétence du personnel auquel elles souhaitent recourir.</a:t>
            </a:r>
          </a:p>
          <a:p>
            <a:pPr>
              <a:defRPr sz="1600"/>
            </a:pPr>
            <a:r>
              <a:t>Il appartient à l'EMPLOYEUR du personnel de l'ENTREPRISE EXPLOITANTE ou de l'ENTREPRISE EXTERIEURE d'habiliter, le cas échéant, le personnel de l'ENTREPRISE DE TRAVAIL TEMPORAIRE, en fonction du risque électrique encouru, après avoir évalué les compétences du personnel et éventuellement complété sa formation.</a:t>
            </a:r>
          </a:p>
          <a:p>
            <a:pPr>
              <a:defRPr sz="1600"/>
            </a:pPr>
            <a:r>
              <a:t>Il en est de même pour le personnel mis à disposition dans le cadre d'une opération de prêt de main d'œuvre à but non lucratif.</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4.5.1.4 Donneur d'ordre ou maître d'ouvrage</a:t>
            </a:r>
          </a:p>
        </p:txBody>
      </p:sp>
      <p:sp>
        <p:nvSpPr>
          <p:cNvPr id="3" name="Content Placeholder 2"/>
          <p:cNvSpPr>
            <a:spLocks noGrp="1"/>
          </p:cNvSpPr>
          <p:nvPr>
            <p:ph idx="1"/>
          </p:nvPr>
        </p:nvSpPr>
        <p:spPr/>
        <p:txBody>
          <a:bodyPr/>
          <a:lstStyle/>
          <a:p>
            <a:pPr>
              <a:defRPr sz="1600"/>
            </a:pPr>
            <a:r>
              <a:t>Le DONNEUR D'ORDRE ou le maître d'ouvrage doit prendre en compte le risque électrique lie aux OPERATIONS prévues des le stade du projet, notamment dans le cadre des TRAVAUX d'ORDRE NON ELECTRIQUE réalisés dans l'ENVIRONNEMENT des OUVRAGES ou des INSTALLATIONS électriques ; il s'assure de l'existence ou non du risque électrique et en tire les conséquences en matière de prévention.</a:t>
            </a:r>
          </a:p>
          <a:p>
            <a:pPr>
              <a:defRPr sz="1600"/>
            </a:pPr>
            <a:r>
              <a:t>Sur cette base :.</a:t>
            </a:r>
          </a:p>
          <a:p>
            <a:pPr>
              <a:defRPr sz="1600"/>
            </a:pPr>
            <a:r>
              <a:t>il privilégie l'exécution de TRAVAUX HORS TENSION après CONSIGNATION et d'OPERATIONS hors de la ZONE DE VOISINAGE, lorsqu'il s'agit d'INSTALLATIONS électriques ;  · il se rapproche de l'ENTREPRISE EXPLOITANTE pour connaître les prescriptions de sécurité à respecter et pour valider les modalités de prise en compte de la prévention du risque électrique lors des OPERATIONS ;  · le cas échéant, il transmet ces modalités à l'ENTREPRISE EXTERIEURE.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4.5.1.5 Travailleur indépendant, employeur ou auto-entrepreneur participant à une</a:t>
            </a:r>
          </a:p>
        </p:txBody>
      </p:sp>
      <p:sp>
        <p:nvSpPr>
          <p:cNvPr id="3" name="Content Placeholder 2"/>
          <p:cNvSpPr>
            <a:spLocks noGrp="1"/>
          </p:cNvSpPr>
          <p:nvPr>
            <p:ph idx="1"/>
          </p:nvPr>
        </p:nvSpPr>
        <p:spPr/>
        <p:txBody>
          <a:bodyPr/>
          <a:lstStyle/>
          <a:p>
            <a:pPr>
              <a:defRPr sz="1600"/>
            </a:pPr>
            <a:r>
              <a:t>opération  Un travailleur indépendant, un EMPLOYEUR ou un auto-entrepreneur participant à une OPERATION ne doit pas mettre en danger les personnes et les biens dans son environnement de travail.</a:t>
            </a:r>
          </a:p>
          <a:p>
            <a:pPr>
              <a:defRPr sz="1600"/>
            </a:pPr>
            <a:r>
              <a:t>Il doit respecter les prescriptions du présent document.</a:t>
            </a:r>
          </a:p>
          <a:p>
            <a:pPr>
              <a:defRPr sz="1600"/>
            </a:pPr>
            <a:r>
              <a:t>NF C 18-510  -  36  -  UTE  Il doit pouvoir faire la preuve de ses connaissances en matière de prévention du risque électrique.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4.5.1.6 Professionnel intervenant chez un particulier</a:t>
            </a:r>
          </a:p>
        </p:txBody>
      </p:sp>
      <p:sp>
        <p:nvSpPr>
          <p:cNvPr id="3" name="Content Placeholder 2"/>
          <p:cNvSpPr>
            <a:spLocks noGrp="1"/>
          </p:cNvSpPr>
          <p:nvPr>
            <p:ph idx="1"/>
          </p:nvPr>
        </p:nvSpPr>
        <p:spPr/>
        <p:txBody>
          <a:bodyPr/>
          <a:lstStyle/>
          <a:p>
            <a:pPr>
              <a:defRPr sz="1600"/>
            </a:pPr>
            <a:r>
              <a:t>L'entreprise qui intervient chez un particulier doit, pour les OPERATIONS d'ORDRE ELECTRIQUE, être compétente en matière électrique et avoir du personnel forme et habilité.</a:t>
            </a:r>
          </a:p>
          <a:p>
            <a:pPr>
              <a:defRPr sz="1600"/>
            </a:pPr>
            <a:r>
              <a:t>Pour des TRAVAUX d'ORDRE NON ELECTRIQUE dans l'ENVIRONNEMENT électrique, cette entreprise doit faire intervenir a minima du personnel forme à la prévention du risque électrique.</a:t>
            </a:r>
          </a:p>
          <a:p>
            <a:pPr>
              <a:defRPr sz="1600"/>
            </a:pPr>
            <a:r>
              <a:t>Elle doit definir et veiller à la mise en œuvre des INSTRUCTIONS DE SECURITE relatives aux OPERATIONS à effectuer vis-à-vis du risque électrique.</a:t>
            </a:r>
          </a:p>
          <a:p>
            <a:pPr>
              <a:defRPr sz="1600"/>
            </a:pPr>
            <a:r>
              <a:t>Elle doit organiser et conduire les travaux en liaison avec l'occupant des lieux, dans le respect du présent document.</a:t>
            </a:r>
          </a:p>
          <a:p>
            <a:pPr>
              <a:defRPr sz="1600"/>
            </a:pPr>
            <a:r>
              <a:t>Le rôle du particulier se limite à autoriser l'accès et la mise en sécurité de l'INSTALLATION par les moyens jugés appropriés par le professionnel.</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4.5.1.7 Etablissements sans personnel compétent en électricité</a:t>
            </a:r>
          </a:p>
        </p:txBody>
      </p:sp>
      <p:sp>
        <p:nvSpPr>
          <p:cNvPr id="3" name="Content Placeholder 2"/>
          <p:cNvSpPr>
            <a:spLocks noGrp="1"/>
          </p:cNvSpPr>
          <p:nvPr>
            <p:ph idx="1"/>
          </p:nvPr>
        </p:nvSpPr>
        <p:spPr/>
        <p:txBody>
          <a:bodyPr/>
          <a:lstStyle/>
          <a:p>
            <a:pPr>
              <a:defRPr sz="1600"/>
            </a:pPr>
            <a:r>
              <a:t>Il s'agit des établissements pour lesquels le CHEF D'ETABLISSEMENT doit s'entourer de personnel compétent pour surveiller et exploiter son INSTALLATION électrique.</a:t>
            </a:r>
          </a:p>
          <a:p>
            <a:pPr>
              <a:defRPr sz="1600"/>
            </a:pPr>
            <a:r>
              <a:t>L'entreprise qui intervient doit être competente en électricité et faire intervenir du personnel forme et habilite.</a:t>
            </a:r>
          </a:p>
          <a:p>
            <a:pPr>
              <a:defRPr sz="1600"/>
            </a:pPr>
            <a:r>
              <a:t>Elle doit definir et veiller à la mise en œuvre des INSTRUCTIONS DE SECURITE vis-à-vis du risque électrique lors des OPERATIONS.</a:t>
            </a:r>
          </a:p>
          <a:p>
            <a:pPr>
              <a:defRPr sz="1600"/>
            </a:pPr>
            <a:r>
              <a:t>Elle doit organiser et conduire les OPERATIONS en liaison avec l'occupant des lieux, dans le respect du présent document.</a:t>
            </a:r>
          </a:p>
          <a:p>
            <a:pPr>
              <a:defRPr sz="1600"/>
            </a:pPr>
            <a:r>
              <a:t>Le responsable de l'INSTALLATION électrique se limite à autoriser l'accès et la mise en sécurité de l'INSTALLATION par les moyens juges appropriés par le professionnel.</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 Fonctions et personnes concernées</a:t>
            </a:r>
          </a:p>
        </p:txBody>
      </p:sp>
      <p:sp>
        <p:nvSpPr>
          <p:cNvPr id="3" name="Content Placeholder 2"/>
          <p:cNvSpPr>
            <a:spLocks noGrp="1"/>
          </p:cNvSpPr>
          <p:nvPr>
            <p:ph idx="1"/>
          </p:nvPr>
        </p:nvSpPr>
        <p:spPr/>
        <p:txBody>
          <a:bodyPr/>
          <a:lstStyle/>
          <a:p>
            <a:pPr>
              <a:defRPr sz="1600"/>
            </a:pPr>
            <a:r>
              <a:t>La sécurité des travailleurs suppose une bonne définition des fonctions et une attribution des rôles et missions sans ambiguïté a chacun des acteurs dans la chaîne d'exécution : EMPLOYEUR, CHEF D'ETABLISSEMENT, CHARGE D'EXPLOITATION ELECTRIQUE, CHARGE DE CONSIGNATION, CHARGE DE TRAVAUX, CHARGE D'INTERVENTION, CHARGE D'OPERATION SPECIFIQUE, CHARGE DE CHANTIER, EXECUTANT.</a:t>
            </a:r>
          </a:p>
          <a:p>
            <a:pPr>
              <a:defRPr sz="1600"/>
            </a:pPr>
            <a:r>
              <a:t>Dans le cadre d'une OPERATION :  · chaque fonction est attribuée à une seule personne, sauf la fonction d'EXECUTANT qui peut être attribuée à plusieurs personnes ;  · une seule personne peut assumer plusieurs fonctions.</a:t>
            </a:r>
          </a:p>
          <a:p>
            <a:pPr>
              <a:defRPr sz="1600"/>
            </a:pPr>
            <a:r>
              <a:t>Chacune de ces fonctions est précisée ci-après.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4.5.2.1 Employeur et chef d'établissement</a:t>
            </a:r>
          </a:p>
        </p:txBody>
      </p:sp>
      <p:sp>
        <p:nvSpPr>
          <p:cNvPr id="3" name="Content Placeholder 2"/>
          <p:cNvSpPr>
            <a:spLocks noGrp="1"/>
          </p:cNvSpPr>
          <p:nvPr>
            <p:ph idx="1"/>
          </p:nvPr>
        </p:nvSpPr>
        <p:spPr/>
        <p:txBody>
          <a:bodyPr/>
          <a:lstStyle/>
          <a:p>
            <a:pPr>
              <a:defRPr sz="1600"/>
            </a:pPr>
            <a:r>
              <a:t>Ce paragraphe definit les responsabilités respectives de l'EMPLOYEUR et du CHEF D'ETABLISSEMENT.</a:t>
            </a:r>
          </a:p>
          <a:p>
            <a:pPr>
              <a:defRPr sz="1600"/>
            </a:pPr>
            <a:r>
              <a:t>Ces deux rôles peuvent être assurés par la même personne ou par des personnes différentes selon les cas.</a:t>
            </a:r>
          </a:p>
          <a:p>
            <a:pPr>
              <a:defRPr sz="1600"/>
            </a:pPr>
            <a:r>
              <a:t>NOTE Dans la suite du texte, les termes préposé et mandataire ne sont pas utilisés, étant entendu que les termes EMPLOYEUR, CHEF D'ETABLISSEMENT et chef d'entreprise s'appliquent également aux préposés ou mandataires auxquels ils ont délégué le pouvoir de les représenter.</a:t>
            </a:r>
          </a:p>
          <a:p>
            <a:pPr>
              <a:defRPr sz="1600"/>
            </a:pPr>
            <a:r>
              <a:t>Pour les besoins du présent document, les attributions spécifiques en qualité d'EMPLOYEUR et de CHEF D'ÉTABLISSEMENT sont détaillées ci-dessous.</a:t>
            </a:r>
          </a:p>
          <a:p>
            <a:pPr>
              <a:defRPr sz="1600"/>
            </a:pPr>
            <a:r>
              <a:t>Dans certaines situations, afin de faciliter la compréhension du texte, le CHEF D'ETABLISSEMENT est aussi appelé exploitant.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4.5.2.1.1 Rôle de l'employeur</a:t>
            </a:r>
          </a:p>
        </p:txBody>
      </p:sp>
      <p:sp>
        <p:nvSpPr>
          <p:cNvPr id="3" name="Content Placeholder 2"/>
          <p:cNvSpPr>
            <a:spLocks noGrp="1"/>
          </p:cNvSpPr>
          <p:nvPr>
            <p:ph idx="1"/>
          </p:nvPr>
        </p:nvSpPr>
        <p:spPr/>
        <p:txBody>
          <a:bodyPr/>
          <a:lstStyle/>
          <a:p>
            <a:pPr>
              <a:defRPr sz="1600"/>
            </a:pPr>
            <a:r>
              <a:t>Pour toute OPERATION, L'EMPLOYEUR doit mettre en place une organisation permettant de s'assurer qu'une préparation du travail et une analyse du risque ont été réalisées afin de prendre les mesures de prévention nécessaires.</a:t>
            </a:r>
          </a:p>
          <a:p>
            <a:pPr>
              <a:defRPr sz="1600"/>
            </a:pPr>
            <a:r>
              <a:t>Il doit définir les règles d'entretien des moyens et équipements qu'il fournit et s'assurer qu'elles sont respectées.</a:t>
            </a:r>
          </a:p>
          <a:p>
            <a:pPr>
              <a:defRPr sz="1600"/>
            </a:pPr>
            <a:r>
              <a:t>UTE  -  37  -  NF C 18-510  Il désigne par écrit les personnes ayant part à l'organisation de la prévention du risque électrique (par exemple le CHARGE D'EXPLOITATION ELECTRIQUE, le CHARGE DE CONSIGNATION).</a:t>
            </a:r>
          </a:p>
          <a:p>
            <a:pPr>
              <a:defRPr sz="1600"/>
            </a:pPr>
            <a:r>
              <a:t>S'il délivre des délégations, celles-ci doivent comprendre l'autorité, la compétence et les moyens et être enregistrées par écrit.</a:t>
            </a:r>
          </a:p>
          <a:p>
            <a:pPr>
              <a:defRPr sz="1600"/>
            </a:pPr>
            <a:r>
              <a:t>L'EMPLOYEUR, pour son personnel ou en tant qu'utilisateur de personnel intérimaire et avant de confier une OPERATION, doit :  · s'assurer de la qualification et de la formation du personnel en matière de sécurité électrique, notamment de l'adéquation de la compétence du personnel avec les OPERATIONS qu'il lui confie et le designer pour cette affectation ;  · délivrer le titre d'HABILITATION, si nécessaire ;  · remettre, contre reçu, à toute PERSONNE HABILITEE un carnet de prescriptions établi sur la base des prescriptions pertinentes de ce document, complété, le cas échéant, par des INSTRUCTIONS DE SECURITE particulières au travail à effectuer ;.</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4.5.2.1.2 Rôle du chef d'établissement</a:t>
            </a:r>
          </a:p>
        </p:txBody>
      </p:sp>
      <p:sp>
        <p:nvSpPr>
          <p:cNvPr id="3" name="Content Placeholder 2"/>
          <p:cNvSpPr>
            <a:spLocks noGrp="1"/>
          </p:cNvSpPr>
          <p:nvPr>
            <p:ph idx="1"/>
          </p:nvPr>
        </p:nvSpPr>
        <p:spPr/>
        <p:txBody>
          <a:bodyPr/>
          <a:lstStyle/>
          <a:p>
            <a:pPr>
              <a:defRPr sz="1600"/>
            </a:pPr>
            <a:r>
              <a:t>Le CHEF D'ETABLISSEMENT est responsable de l'organisation de la sécurité liée aux OUVRAGES ou aux INSTALLATIONS de son établissement.</a:t>
            </a:r>
          </a:p>
          <a:p>
            <a:pPr>
              <a:defRPr sz="1600"/>
            </a:pPr>
            <a:r>
              <a:t>Le CHEF D'ETABLISSEMENT de l'ENTREPRISE EXPLOITANTE :  · peut élaborer ou faire élaborer sous sa responsabilité, les INSTRUCTIONS DE SECURITE permanentes ou ponctuelles pour l'organisation du travail sur les OUVRAGES ou les INSTALLATIONS et les transmettre au DONNEUR D'ORDRE ;  · a en charge le maintien en bon état permanent et la surveillance des OUVRAGES ou des INSTALLATIONS ;  · met à disposition du CHARGE D'EXPLOITATION ELECTRIQUE, lorsqu'il existe, les informations nécessaires pour remplir sa fonction ;  · organise et contrôle, notamment à l'issue des OPERATIONS, la mise à jour des plans de l'OUVRAGE ou de l'INSTALLATION.</a:t>
            </a:r>
          </a:p>
          <a:p>
            <a:pPr>
              <a:defRPr sz="1600"/>
            </a:pPr>
            <a:r>
              <a:t>Il peut confier tout ou partie de ses attributions et notamment l'EXPLOITATION des OUVRAGES ou des INSTALLATIONS :  · par délégation, à un CHARGE D'EXPLOITATION ELECTRIQUE ;  · par contrat, à une ENTREPRISE EXTERIEURE.</a:t>
            </a:r>
          </a:p>
          <a:p>
            <a:pPr>
              <a:defRPr sz="1600"/>
            </a:pPr>
            <a:r>
              <a:t>Ces dispositions (délégations et contrat) font l'objet de documents écrits.</a:t>
            </a:r>
          </a:p>
          <a:p>
            <a:pPr>
              <a:defRPr sz="1600"/>
            </a:pPr>
            <a:r>
              <a:t>Dans le cas d'OPERATIONS mettant en cause plusieurs OUVRAGES ou plusieurs INSTALLATIONS ne dépendant pas du même CHEF D'ETABLISSEMENT OU CHARGE D'EXPLOITATION ELECTRIQUE, un coordonnateur doit être designe conjointement par le ou les CHEFS D'ETABLISSEMENT concernés.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4.5.2.2 Chargé d'exploitation électrique</a:t>
            </a:r>
          </a:p>
        </p:txBody>
      </p:sp>
      <p:sp>
        <p:nvSpPr>
          <p:cNvPr id="3" name="Content Placeholder 2"/>
          <p:cNvSpPr>
            <a:spLocks noGrp="1"/>
          </p:cNvSpPr>
          <p:nvPr>
            <p:ph idx="1"/>
          </p:nvPr>
        </p:nvSpPr>
        <p:spPr/>
        <p:txBody>
          <a:bodyPr/>
          <a:lstStyle/>
          <a:p>
            <a:pPr>
              <a:defRPr sz="1600"/>
            </a:pPr>
            <a:r>
              <a:t>Lorsqu'il existe, le CHARGE D'EXPLOITATION ELECTRIQUE est une PERSONNE QUALIFIEE, désignée par son EMPLOYEUR.</a:t>
            </a:r>
          </a:p>
          <a:p>
            <a:pPr>
              <a:defRPr sz="1600"/>
            </a:pPr>
            <a:r>
              <a:t>Cette désignation entraîne les obligations suivantes :  · avoir en permanence connaissance de l'état des OUVRAGES ou des INSTALLATIONS ;  · appliquer les PROCEDURES D'ACCES, DE SUIVI ET DE CONTROLE définies par l'employeur et définir ces procédures s'il en a reçu délégation ;  · délivrer toute autorisation, notamment les AUTORISATIONS D'ACCES ;  NF C 18-510  -  38  -  UTE.</a:t>
            </a:r>
          </a:p>
          <a:p>
            <a:pPr>
              <a:defRPr sz="1600"/>
            </a:pPr>
            <a:r>
              <a:t>Identifier le CHARGE DE CONSIGNATION et le mandater pour délivrer l'ATTESTATION DE CONSIGNATION ;  · exécuter ou faire exécuter par le PERSONNEL DESIGNE a cet effet les manœuvres d'EXPLOITATION qui se rapportent aux OUVRAGES ou aux INSTALLATIONS considérés ;  · à l'issue des travaux, transmettre à son EMPLOYEUR les éléments nécessaires à la mise à jour des plans et schemas de l'OUVRAGE ou de l'INSTALLATION ;  · recueillir et signaler à l'EMPLOYEUR les anomalies constatées ;  · définir et appliquer les modalités particulières d'EXPLOITATION ;  · réunir les informations nécessaires à l'exécution des OPERATIONS (plans, schémas, notices des matériels, etc.</a:t>
            </a:r>
          </a:p>
          <a:p>
            <a:pPr>
              <a:defRPr sz="1600"/>
            </a:pPr>
            <a:r>
              <a:t>) et les remettre aux entreprises chargées d'effectuer les OPERATIONS ;  · suivre les OPERATIONS réalisées et l'état d'avancement de ces OPERATIONS.</a:t>
            </a:r>
          </a:p>
          <a:p>
            <a:pPr>
              <a:defRPr sz="1600"/>
            </a:pPr>
            <a:r>
              <a:t>Pour un OUVRAGE ou une INSTALLATION électrique donnés, à un moment donné, il ne peut être désigné qu'un seul CHARGE D'EXPLOITATION ELECTRIQUE.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4.5.2.3 Personne autorisant l'accès à l'installation</a:t>
            </a:r>
          </a:p>
        </p:txBody>
      </p:sp>
      <p:sp>
        <p:nvSpPr>
          <p:cNvPr id="3" name="Content Placeholder 2"/>
          <p:cNvSpPr>
            <a:spLocks noGrp="1"/>
          </p:cNvSpPr>
          <p:nvPr>
            <p:ph idx="1"/>
          </p:nvPr>
        </p:nvSpPr>
        <p:spPr/>
        <p:txBody>
          <a:bodyPr/>
          <a:lstStyle/>
          <a:p>
            <a:pPr>
              <a:defRPr sz="1600"/>
            </a:pPr>
            <a:r>
              <a:t>Dans le cas d'établissement sans personnel competent en electricité, le CHEF D'ETABLISSEMENT s'organise pour donner l'accès à l'INSTALLATION électrique et pour autoriser la mise en sécurité de l'INSTALLATION.</a:t>
            </a:r>
          </a:p>
          <a:p>
            <a:pPr>
              <a:defRPr sz="1600"/>
            </a:pPr>
            <a:r>
              <a:t>Dans le cas d'une OPERATION réalisée chez un particulier, voir 4.</a:t>
            </a:r>
          </a:p>
          <a:p>
            <a:pPr>
              <a:defRPr sz="1600"/>
            </a:pPr>
            <a:r>
              <a:t>5.</a:t>
            </a:r>
          </a:p>
          <a:p>
            <a:pPr>
              <a:defRPr sz="1600"/>
            </a:pPr>
            <a:r>
              <a:t>1.</a:t>
            </a:r>
          </a:p>
          <a:p>
            <a:pPr>
              <a:defRPr sz="1600"/>
            </a:pPr>
            <a:r>
              <a:t>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4.5.2.4 Chargé de consignation</a:t>
            </a:r>
          </a:p>
        </p:txBody>
      </p:sp>
      <p:sp>
        <p:nvSpPr>
          <p:cNvPr id="3" name="Content Placeholder 2"/>
          <p:cNvSpPr>
            <a:spLocks noGrp="1"/>
          </p:cNvSpPr>
          <p:nvPr>
            <p:ph idx="1"/>
          </p:nvPr>
        </p:nvSpPr>
        <p:spPr/>
        <p:txBody>
          <a:bodyPr/>
          <a:lstStyle/>
          <a:p>
            <a:pPr>
              <a:defRPr sz="1600"/>
            </a:pPr>
            <a:r>
              <a:t>Le CHARGE DE CONSIGNATION est une PERSONNE QUALIFIEE, HABILITEE et désignée par son EMPLOYEUR.</a:t>
            </a:r>
          </a:p>
          <a:p>
            <a:pPr>
              <a:defRPr sz="1600"/>
            </a:pPr>
            <a:r>
              <a:t>Sur demande du CHEF D'ETABLISSEMENT, du CHARGE D'EXPLOITATION ELECTRIQUE ou de la personne autorisant l'accès, le CHARGE DE CONSIGNATION peut accéder à l'OUVRAGE ou à L'INSTALLATION électrique pour realiser les operations de CONSIGNATION ou de MISE HORS TENSION (voir Article 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4.5.2.5 Charge de travaux</a:t>
            </a:r>
          </a:p>
        </p:txBody>
      </p:sp>
      <p:sp>
        <p:nvSpPr>
          <p:cNvPr id="3" name="Content Placeholder 2"/>
          <p:cNvSpPr>
            <a:spLocks noGrp="1"/>
          </p:cNvSpPr>
          <p:nvPr>
            <p:ph idx="1"/>
          </p:nvPr>
        </p:nvSpPr>
        <p:spPr/>
        <p:txBody>
          <a:bodyPr/>
          <a:lstStyle/>
          <a:p>
            <a:pPr>
              <a:defRPr sz="1600"/>
            </a:pPr>
            <a:r>
              <a:t>Le CHARGE DE TRAVAUX est une PERSONNE QUALIFIEE, HABILITEE et designee par son EMPLOYEUR conformément aux prescriptions des articles traitant des différents TRAVAUX (voir Articles 7, 8 et 9).</a:t>
            </a:r>
          </a:p>
          <a:p>
            <a:pPr>
              <a:defRPr sz="1600"/>
            </a:pPr>
            <a:r>
              <a:t>Il doit prendre les mesures nécessaires pour assurer sa propre sécurité et celle du personnel placé sous son autorité.</a:t>
            </a:r>
          </a:p>
          <a:p>
            <a:pPr>
              <a:defRPr sz="1600"/>
            </a:pPr>
            <a:r>
              <a:t>Dans le cas de TRAVAUX simultanés avec présence de plusieurs CHARGES DE TRAVAUX, une coordination relative à la sécurité électrique est nécessaire.</a:t>
            </a:r>
          </a:p>
          <a:p>
            <a:pPr>
              <a:defRPr sz="1600"/>
            </a:pPr>
            <a:r>
              <a:t>Elle est réalisée soit par le CHEF D'ETABLISSEMENT, soit par le CHARGE D'EXPLOITATION ELECTRIQUE, soit par un CHARGE DE TRAVAUX désigné à cet effet.</a:t>
            </a:r>
          </a:p>
          <a:p>
            <a:pPr>
              <a:defRPr sz="1600"/>
            </a:pPr>
            <a:r>
              <a:t>La coordination doit être mise en place dès la préparation du travail.</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4.5.2.6 Chargé d'intervention</a:t>
            </a:r>
          </a:p>
        </p:txBody>
      </p:sp>
      <p:sp>
        <p:nvSpPr>
          <p:cNvPr id="3" name="Content Placeholder 2"/>
          <p:cNvSpPr>
            <a:spLocks noGrp="1"/>
          </p:cNvSpPr>
          <p:nvPr>
            <p:ph idx="1"/>
          </p:nvPr>
        </p:nvSpPr>
        <p:spPr/>
        <p:txBody>
          <a:bodyPr/>
          <a:lstStyle/>
          <a:p>
            <a:pPr>
              <a:defRPr sz="1600"/>
            </a:pPr>
            <a:r>
              <a:t>Le CHARGE D'INTERVENTION est une PERSONNE QUALIFIEE, HABILITEE et designée par son EMPLOYEUR conformément aux prescriptions de l'Article 10.</a:t>
            </a:r>
          </a:p>
          <a:p>
            <a:pPr>
              <a:defRPr sz="1600"/>
            </a:pPr>
            <a:r>
              <a:t>Il doit prendre les mesures nécessaires pour assurer sa propre sécurité et, le cas échéant, celle de l'EXECUTANT placé sous son autorité.</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4.5.2.7 Chargé d'opérations spécifiques</a:t>
            </a:r>
          </a:p>
        </p:txBody>
      </p:sp>
      <p:sp>
        <p:nvSpPr>
          <p:cNvPr id="3" name="Content Placeholder 2"/>
          <p:cNvSpPr>
            <a:spLocks noGrp="1"/>
          </p:cNvSpPr>
          <p:nvPr>
            <p:ph idx="1"/>
          </p:nvPr>
        </p:nvSpPr>
        <p:spPr/>
        <p:txBody>
          <a:bodyPr/>
          <a:lstStyle/>
          <a:p>
            <a:pPr>
              <a:defRPr sz="1600"/>
            </a:pPr>
            <a:r>
              <a:t>Le CHARGE D'OPERATIONS SPECIFIQUES est une PERSONNE QUALIFIEE, HABILITEE et désignée par son EMPLOYEUR conformément aux prescriptions de l'Article 11.</a:t>
            </a:r>
          </a:p>
          <a:p>
            <a:pPr>
              <a:defRPr sz="1600"/>
            </a:pPr>
            <a:r>
              <a:t>UTE  -  39  -  NF C 18-510  Il doit prendre les mesures nécessaires pour assurer sa propre sécurité et, le cas échéant, celle du personnel placé sous son autorité.</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4.5.2.8 Chargé de chantier (operation d'ordre non électrique)</a:t>
            </a:r>
          </a:p>
        </p:txBody>
      </p:sp>
      <p:sp>
        <p:nvSpPr>
          <p:cNvPr id="3" name="Content Placeholder 2"/>
          <p:cNvSpPr>
            <a:spLocks noGrp="1"/>
          </p:cNvSpPr>
          <p:nvPr>
            <p:ph idx="1"/>
          </p:nvPr>
        </p:nvSpPr>
        <p:spPr/>
        <p:txBody>
          <a:bodyPr/>
          <a:lstStyle/>
          <a:p>
            <a:pPr>
              <a:defRPr sz="1600"/>
            </a:pPr>
            <a:r>
              <a:t>Le CHARGE DE CHANTIER est une PERSONNE AVERTIE OU ORDINAIRE, HABILITEE ou non, et désignée par son EMPLOYEUR (voir Articles 7 et 9).</a:t>
            </a:r>
          </a:p>
          <a:p>
            <a:pPr>
              <a:defRPr sz="1600"/>
            </a:pPr>
            <a:r>
              <a:t>Il doit assurer la surveillance du personnel dont il a la charge, soit par lui-même, soit en faisant appel à un SURVEILLANT DE SECURITE ELECTRIQUE (voir 4.</a:t>
            </a:r>
          </a:p>
          <a:p>
            <a:pPr>
              <a:defRPr sz="1600"/>
            </a:pPr>
            <a:r>
              <a:t>5.</a:t>
            </a:r>
          </a:p>
          <a:p>
            <a:pPr>
              <a:defRPr sz="1600"/>
            </a:pPr>
            <a:r>
              <a:t>2.</a:t>
            </a:r>
          </a:p>
          <a:p>
            <a:pPr>
              <a:defRPr sz="1600"/>
            </a:pPr>
            <a:r>
              <a:t>10), lorsqu'il existe un risque électrique particulier.</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4.5.2.9 Exécutant</a:t>
            </a:r>
          </a:p>
        </p:txBody>
      </p:sp>
      <p:sp>
        <p:nvSpPr>
          <p:cNvPr id="3" name="Content Placeholder 2"/>
          <p:cNvSpPr>
            <a:spLocks noGrp="1"/>
          </p:cNvSpPr>
          <p:nvPr>
            <p:ph idx="1"/>
          </p:nvPr>
        </p:nvSpPr>
        <p:spPr/>
        <p:txBody>
          <a:bodyPr/>
          <a:lstStyle/>
          <a:p>
            <a:pPr>
              <a:defRPr sz="1600"/>
            </a:pPr>
            <a:r>
              <a:t>L'EXECUTANT doit avoir reçu une formation à la prévention du risque électrique et, le cas échéant, être titulaire d'une HABILITATION appropriée aux OPERATIONS qui lui sont confiées.</a:t>
            </a:r>
          </a:p>
          <a:p>
            <a:pPr>
              <a:defRPr sz="1600"/>
            </a:pPr>
            <a:r>
              <a:t>Conformément aux instructions qui lui sont données par l'EMPLOYEUR ou son représentant, il incombe à l'EXECUTANT de prendre soin, en fonction de sa formation et selon ses possibilités, de sa sécurité ainsi que de celle des autres personnes concernées du fait de ses actes ou de ses omissions.</a:t>
            </a:r>
          </a:p>
          <a:p>
            <a:pPr>
              <a:defRPr sz="1600"/>
            </a:pPr>
            <a:r>
              <a:t>On distingue les trois catégories d'EXECUTANTS ci-dessous.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4.5.2.9.1 L'exécutant d'opération d'ordre électrique</a:t>
            </a:r>
          </a:p>
        </p:txBody>
      </p:sp>
      <p:sp>
        <p:nvSpPr>
          <p:cNvPr id="3" name="Content Placeholder 2"/>
          <p:cNvSpPr>
            <a:spLocks noGrp="1"/>
          </p:cNvSpPr>
          <p:nvPr>
            <p:ph idx="1"/>
          </p:nvPr>
        </p:nvSpPr>
        <p:spPr/>
        <p:txBody>
          <a:bodyPr/>
          <a:lstStyle/>
          <a:p>
            <a:pPr>
              <a:defRPr sz="1600"/>
            </a:pPr>
            <a:r>
              <a:t>L'EXECUTANT d'OPERATION d'ORDRE ELECTRIQUE est une PERSONNE QUALIFIEE, HABILITEE et désignée par son EMPLOYEUR.</a:t>
            </a:r>
          </a:p>
          <a:p>
            <a:pPr>
              <a:defRPr sz="1600"/>
            </a:pPr>
            <a:r>
              <a:t>Il travaille, selon les cas, sous l'autorité et la conduite d'un CHARGE DE TRAVAUX, d'un CHARGE D'INTERVENTION GENERALE, d'un CHARGE D'ESSAIS, etc.</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4.5.2.9.2 L'exécutant d'opération d'ordre non électrique habilité</a:t>
            </a:r>
          </a:p>
        </p:txBody>
      </p:sp>
      <p:sp>
        <p:nvSpPr>
          <p:cNvPr id="3" name="Content Placeholder 2"/>
          <p:cNvSpPr>
            <a:spLocks noGrp="1"/>
          </p:cNvSpPr>
          <p:nvPr>
            <p:ph idx="1"/>
          </p:nvPr>
        </p:nvSpPr>
        <p:spPr/>
        <p:txBody>
          <a:bodyPr/>
          <a:lstStyle/>
          <a:p>
            <a:pPr>
              <a:defRPr sz="1600"/>
            </a:pPr>
            <a:r>
              <a:t>L'EXECUTANT d'OPERATION d'ORDRE NON ELECTRIQUE habilite est une PERSONNE AVERTIE, habilitée et désignée par son EMPLOYEUR pour accéder sans surveillance à un LOCAL OU EMPLACEMENT D'ACCES RESERVE AUX ELECTRICIENS ou pour réaliser des TRAVAUX d'ORDRE NON ELECTRIQUE sous la conduite d'un CHARGE DE CHANTIER habilite ou d'un CHARGE DE TRAVAUX dans un ENVIRONNEMENT électrique.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4.5.2.9.3 L'exécutant d'opération d'ordre non électrique non habilité</a:t>
            </a:r>
          </a:p>
        </p:txBody>
      </p:sp>
      <p:sp>
        <p:nvSpPr>
          <p:cNvPr id="3" name="Content Placeholder 2"/>
          <p:cNvSpPr>
            <a:spLocks noGrp="1"/>
          </p:cNvSpPr>
          <p:nvPr>
            <p:ph idx="1"/>
          </p:nvPr>
        </p:nvSpPr>
        <p:spPr/>
        <p:txBody>
          <a:bodyPr/>
          <a:lstStyle/>
          <a:p>
            <a:pPr>
              <a:defRPr sz="1600"/>
            </a:pPr>
            <a:r>
              <a:t>L'EXECUTANT d'OPERATION d'ORDRE NON ELECTRIQUE non habilite est une PERSONNE ORDINAIRE, désignée par son EMPLOYEUR pour réaliser, sous la surveillance d'un CHARGE DE CHANTIER non habilité, des TRAVAUX d'ORDRE NON ELECTRIQUE en zone 0 ou après suppression du risque électrique.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4.5.2.10 Surveillant de sécurité électrique</a:t>
            </a:r>
          </a:p>
        </p:txBody>
      </p:sp>
      <p:sp>
        <p:nvSpPr>
          <p:cNvPr id="3" name="Content Placeholder 2"/>
          <p:cNvSpPr>
            <a:spLocks noGrp="1"/>
          </p:cNvSpPr>
          <p:nvPr>
            <p:ph idx="1"/>
          </p:nvPr>
        </p:nvSpPr>
        <p:spPr/>
        <p:txBody>
          <a:bodyPr/>
          <a:lstStyle/>
          <a:p>
            <a:pPr>
              <a:defRPr sz="1600"/>
            </a:pPr>
            <a:r>
              <a:t>Le SURVEILLANT DE SECURITE ELECTRIQUE est une PERSONNE QUALIFIEE OU AVERTIE OU ORDINAIRE, désignée par son EMPLOYEUR.</a:t>
            </a:r>
          </a:p>
          <a:p>
            <a:pPr>
              <a:defRPr sz="1600"/>
            </a:pPr>
            <a:r>
              <a:t>Il fait appliquer les INSTRUCTIONS DE SECURITE, y compris en cas d'accident d'origine électrique.</a:t>
            </a:r>
          </a:p>
          <a:p>
            <a:pPr>
              <a:defRPr sz="1600"/>
            </a:pPr>
            <a:r>
              <a:t>Le surveillant doit se consacrer uniquement à cette fonction lorsque celle-ci lui est assignée.</a:t>
            </a:r>
          </a:p>
          <a:p>
            <a:pPr>
              <a:defRPr sz="1600"/>
            </a:pPr>
            <a:r>
              <a:t>Dans le cadre de la surveillance et selon l'INSTRUCTION DE SECURITE qu'il doit appliquer, le SURVEILLANT DE SECURITE ELECTRIQUE a autorité sur les personnes qu'il surveille.</a:t>
            </a:r>
          </a:p>
          <a:p>
            <a:pPr>
              <a:defRPr sz="1600"/>
            </a:pPr>
            <a:r>
              <a:t>Tout SURVEILLANT DE SECURITE ELECTRIQUE, pour une OPERATION donnée, doit être placé sous l'autorité d'un CHARGE DE TRAVAUX, d'un CHARGE DE CHANTIER ou d'un CHARGE D'OPERATIONS SPECIFIQUES.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FORMATION ET HABILITATION</a:t>
            </a:r>
          </a:p>
        </p:txBody>
      </p:sp>
      <p:sp>
        <p:nvSpPr>
          <p:cNvPr id="3" name="Content Placeholder 2"/>
          <p:cNvSpPr>
            <a:spLocks noGrp="1"/>
          </p:cNvSpPr>
          <p:nvPr>
            <p:ph idx="1"/>
          </p:nvPr>
        </p:nvSpPr>
        <p:spPr/>
        <p:txBody>
          <a:bodyPr/>
          <a:lstStyle/>
          <a:p>
            <a:pPr>
              <a:defRPr sz="1600"/>
            </a:pPr>
            <a:r>
              <a:t>Cet article énonce les prescriptions à appliquer en matière de formation à la prévention du risque électrique et en matière d'HABILITATION.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5.1.1 Objet</a:t>
            </a:r>
          </a:p>
        </p:txBody>
      </p:sp>
      <p:sp>
        <p:nvSpPr>
          <p:cNvPr id="3" name="Content Placeholder 2"/>
          <p:cNvSpPr>
            <a:spLocks noGrp="1"/>
          </p:cNvSpPr>
          <p:nvPr>
            <p:ph idx="1"/>
          </p:nvPr>
        </p:nvSpPr>
        <p:spPr/>
        <p:txBody>
          <a:bodyPr/>
          <a:lstStyle/>
          <a:p>
            <a:pPr>
              <a:defRPr sz="1600"/>
            </a:pPr>
            <a:r>
              <a:t>L'Article 5 expose en trois volets, la formation et le processus d'HABILITATION :  · formation théorique et pratique du personnel à la prévention du risque électrique et maintien de cette compétence ;  · formalisation de la formation ou de l'HABILITATION  ;  · attribution et suivi des HABILITATIONS.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 Principes</a:t>
            </a:r>
          </a:p>
        </p:txBody>
      </p:sp>
      <p:sp>
        <p:nvSpPr>
          <p:cNvPr id="3" name="Content Placeholder 2"/>
          <p:cNvSpPr>
            <a:spLocks noGrp="1"/>
          </p:cNvSpPr>
          <p:nvPr>
            <p:ph idx="1"/>
          </p:nvPr>
        </p:nvSpPr>
        <p:spPr/>
        <p:txBody>
          <a:bodyPr/>
          <a:lstStyle/>
          <a:p>
            <a:pPr>
              <a:defRPr sz="1600"/>
            </a:pPr>
            <a:r>
              <a:t>L'EMPLOYEUR est tenu de former ses salariés à la prévention du risque électrique pour les activités professionnelles où ce risque est présent.</a:t>
            </a:r>
          </a:p>
          <a:p>
            <a:pPr>
              <a:defRPr sz="1600"/>
            </a:pPr>
            <a:r>
              <a:t>L'objectif de cette formation consiste à acquérir la compétence nécessaire pour exercer son métier en toute sécurité.</a:t>
            </a:r>
          </a:p>
          <a:p>
            <a:pPr>
              <a:defRPr sz="1600"/>
            </a:pPr>
            <a:r>
              <a:t>A l'issue de cette formation, l'EMPLOYEUR doit délivrer une HABILITATION à chacune des personnes placées sous son autorité, lorsqu'elles réalisent des OPERATIONS d'ORDRE ELECTRIQUE ou d'ORDRE NON ELECTRIQUE nécessitant une HABILITATION.</a:t>
            </a:r>
          </a:p>
          <a:p>
            <a:pPr>
              <a:defRPr sz="1600"/>
            </a:pPr>
            <a:r>
              <a:t>L'HABILITATION est la reconnaissance, par l'EMPLOYEUR, de la capacité d'une personne placee sous son autorité à accomplir, en sécurité vis-à-vis du risque électrique, les tâches qui lui sont confiées.</a:t>
            </a:r>
          </a:p>
          <a:p>
            <a:pPr>
              <a:defRPr sz="1600"/>
            </a:pPr>
            <a:r>
              <a:t>L'HABILITATION n'est pas directement liée à la qualification professionnelle.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5.1.3 Cas dans lesquels l'habilitation est obligatoire</a:t>
            </a:r>
          </a:p>
        </p:txBody>
      </p:sp>
      <p:sp>
        <p:nvSpPr>
          <p:cNvPr id="3" name="Content Placeholder 2"/>
          <p:cNvSpPr>
            <a:spLocks noGrp="1"/>
          </p:cNvSpPr>
          <p:nvPr>
            <p:ph idx="1"/>
          </p:nvPr>
        </p:nvSpPr>
        <p:spPr/>
        <p:txBody>
          <a:bodyPr/>
          <a:lstStyle/>
          <a:p>
            <a:pPr>
              <a:defRPr sz="1600"/>
            </a:pPr>
            <a:r>
              <a:t>Dans le cadre du présent document, l'HABILITATION est obligatoire pour :  · effectuer toutes OPERATIONS sur des OUVRAGES ou des INSTALLATIONS électriques ou dans leur VOISINAGE ;  · surveiller les OPERATIONS sur des OUVRAGES ou des INSTALLATIONS électriques ou dans leur VOISINAGE ;.</a:t>
            </a:r>
          </a:p>
          <a:p>
            <a:pPr>
              <a:defRPr sz="1600"/>
            </a:pPr>
            <a:r>
              <a:t>accéder sans surveillance aux LOCAUX ET EMPLACEMENTS D'ACCES RESERVE AUX ELECTRICIENS.</a:t>
            </a:r>
          </a:p>
          <a:p>
            <a:pPr>
              <a:defRPr sz="1600"/>
            </a:pPr>
            <a:r>
              <a:t>NF C 18-510  -  42  -  UTE.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 Evaluation du besoin initial</a:t>
            </a:r>
          </a:p>
        </p:txBody>
      </p:sp>
      <p:sp>
        <p:nvSpPr>
          <p:cNvPr id="3" name="Content Placeholder 2"/>
          <p:cNvSpPr>
            <a:spLocks noGrp="1"/>
          </p:cNvSpPr>
          <p:nvPr>
            <p:ph idx="1"/>
          </p:nvPr>
        </p:nvSpPr>
        <p:spPr/>
        <p:txBody>
          <a:bodyPr/>
          <a:lstStyle/>
          <a:p>
            <a:pPr>
              <a:defRPr sz="1600"/>
            </a:pPr>
            <a:r>
              <a:t>Indépendamment de l'HABILITATION, l'évaluation des besoins en formation doit être conduite par l'EMPLOYEUR pour tout salarié potentiellement exposé au risque électrique, c'est-à-dire pour les personnes à qui sont confiées des OPERATIONS.</a:t>
            </a:r>
          </a:p>
          <a:p>
            <a:pPr>
              <a:defRPr sz="1600"/>
            </a:pPr>
            <a:r>
              <a:t>L'HABILITATION, lorsqu'elle est requise, doit être déterminée au regard d'une analyse des paramètres ci-dessous, afin d'obtenir une adéquation entre les caractéristiques des OPERATIONS susceptibles d'être confiées à la personne et les symboles d'HABILITATION tels que définis en 5.</a:t>
            </a:r>
          </a:p>
          <a:p>
            <a:pPr>
              <a:defRPr sz="1600"/>
            </a:pPr>
            <a:r>
              <a:t>7.</a:t>
            </a:r>
          </a:p>
          <a:p>
            <a:pPr>
              <a:defRPr sz="1600"/>
            </a:pPr>
            <a:r>
              <a:t>2.</a:t>
            </a:r>
          </a:p>
          <a:p>
            <a:pPr>
              <a:defRPr sz="1600"/>
            </a:pPr>
            <a:r>
              <a:t>Cette analyse prend en compte :  · le type d'OPERATION à réaliser (par exemple TRAVAUX, INTERVENTIONS BT) ;  · le type et les caractéristiques des OUVRAGES, des INSTALLATIONS et des appareillages ;  · le domaine de tension (TBT, BT, HTA, HTB) ;  · la nature du courant (alternatif ou continu) ;  · la capacité de la personne à assumer l'OPERATION.</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 Conditions d'attribution de l'habilitation</a:t>
            </a:r>
          </a:p>
        </p:txBody>
      </p:sp>
      <p:sp>
        <p:nvSpPr>
          <p:cNvPr id="3" name="Content Placeholder 2"/>
          <p:cNvSpPr>
            <a:spLocks noGrp="1"/>
          </p:cNvSpPr>
          <p:nvPr>
            <p:ph idx="1"/>
          </p:nvPr>
        </p:nvSpPr>
        <p:spPr/>
        <p:txBody>
          <a:bodyPr/>
          <a:lstStyle/>
          <a:p>
            <a:pPr>
              <a:defRPr sz="1600"/>
            </a:pPr>
            <a:r>
              <a:t>L'EMPLOYEUR, avant d'attribuer une HABILITATION à une personne placée sous son autorité, doit s'assurer de l'adéquation entre les besoins à satisfaire en matière de sécurité électrique, la formation reçue et la capacité de la personne à effectuer les OPERATIONS qui lui sont confiées.</a:t>
            </a:r>
          </a:p>
          <a:p>
            <a:pPr>
              <a:defRPr sz="1600"/>
            </a:pPr>
            <a:r>
              <a:t>Pour cela, l'EMPLOYEUR doit prendre en compte, selon les OPERATIONS à effectuer :  · le type d'OUVRAGE ou d'INSTALLATION concerné ;  · la localisation des OUVRAGES ou des INSTALLATIONS ;  · le type de travail d'ORDRE ELECTRIQUE ou d'ORDRE NON ELECTRIQUE autorisé ;  · les limites de tension.</a:t>
            </a:r>
          </a:p>
          <a:p>
            <a:pPr>
              <a:defRPr sz="1600"/>
            </a:pPr>
            <a:r>
              <a:t>Il doit aussi tenir compte des critères suivants concernant la personne à habiliter :  · les compétences techniques ;  · la connaissance de l'OUVRAGE, de l'INSTALLATION ou du MATERIEL ;  · la compétence en matière de prévention du risque électrique ;  · les éventuelles restrictions médicales ;  · la compatibilité du comportement avec l'exécution des OPERATIONS en toute sécurité.</a:t>
            </a:r>
          </a:p>
          <a:p>
            <a:pPr>
              <a:defRPr sz="1600"/>
            </a:pPr>
            <a:r>
              <a:t>Le respect des conditions ci-dessus permet à l'EMPLOYEUR d'attribuer une HABILITATION à une personne placée sous son autorité après s'être assuré :.</a:t>
            </a:r>
          </a:p>
          <a:p>
            <a:pPr>
              <a:defRPr sz="1600"/>
            </a:pPr>
            <a:r>
              <a:t>que la formation théorique et pratique correspondant à l'HABILITATION et les compétences acquises par l'intéressé correspondent au(x) symbole(s) visé(s) ;.</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 Suivi de l'habilitation</a:t>
            </a:r>
          </a:p>
        </p:txBody>
      </p:sp>
      <p:sp>
        <p:nvSpPr>
          <p:cNvPr id="3" name="Content Placeholder 2"/>
          <p:cNvSpPr>
            <a:spLocks noGrp="1"/>
          </p:cNvSpPr>
          <p:nvPr>
            <p:ph idx="1"/>
          </p:nvPr>
        </p:nvSpPr>
        <p:spPr/>
        <p:txBody>
          <a:bodyPr/>
          <a:lstStyle/>
          <a:p>
            <a:pPr>
              <a:defRPr sz="1600"/>
            </a:pPr>
            <a:r>
              <a:t>L'HABILITATION doit être examinee au moins une fois par an et chaque fois que cela s'avère nécessaire en fonction des modifications du contexte de travail de l'interesse, notamment dans les cas suivants :  · une mutation de l'habilité avec changement du signataire du titre ;  · un changement de fonction ;  · une interruption de la pratique des OPERATIONS pendant une longue durée, de l'ordre de six mois par exemple ;  · une modification de l'aptitude médicale ;  · un constat de non-respect des prescriptions régissant les OPERATIONS ;  · une modification importante des OUVRAGES ou des INSTALLATIONS (évolution du matériel ou de la structure), notamment lorsque la nature des causes de danger et les niveaux de risque évoluent ;  · une évolution des méthodes de travail ;  · une évolution de la règlementation.</a:t>
            </a:r>
          </a:p>
          <a:p>
            <a:pPr>
              <a:defRPr sz="1600"/>
            </a:pPr>
            <a:r>
              <a:t>A l'issue de cet examen, l'HABILITATION est soit maintenue, soit modifiée, soit suspendue.</a:t>
            </a:r>
          </a:p>
          <a:p>
            <a:pPr>
              <a:defRPr sz="1600"/>
            </a:pPr>
            <a:r>
              <a:t>Si des besoins de formation sont exprimés ou constatés, ils doivent être satisfaits au moyen d'un recyclage ou d'un complément de formation.</a:t>
            </a:r>
          </a:p>
          <a:p>
            <a:pPr>
              <a:defRPr sz="1600"/>
            </a:pPr>
            <a:r>
              <a:t>UTE  -  45  -  NF C 18-510  Dans le cas de changement de signataire des HABILITATIONS, L'EMPLOYEUR doit prendre des dispositions pour que le titre reste valide.</a:t>
            </a:r>
          </a:p>
          <a:p>
            <a:pPr>
              <a:defRPr sz="1600"/>
            </a:pPr>
            <a:r>
              <a:t>Il doit prendre connaissance des HABILITATIONS en vigueur, vérifier leurs conditions de délivrance et leur pertinence, faire procéder aux ajustements nécessaires.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 Maintien des compétences - Recyclage</a:t>
            </a:r>
          </a:p>
        </p:txBody>
      </p:sp>
      <p:sp>
        <p:nvSpPr>
          <p:cNvPr id="3" name="Content Placeholder 2"/>
          <p:cNvSpPr>
            <a:spLocks noGrp="1"/>
          </p:cNvSpPr>
          <p:nvPr>
            <p:ph idx="1"/>
          </p:nvPr>
        </p:nvSpPr>
        <p:spPr/>
        <p:txBody>
          <a:bodyPr/>
          <a:lstStyle/>
          <a:p>
            <a:pPr>
              <a:defRPr sz="1600"/>
            </a:pPr>
            <a:r>
              <a:t>Un recyclage est à dispenser selon une périodicité à définir par l'EMPLOYEUR en fonction des OPERATIONS effectuées, notamment :  · de la complexité ou fréquence des OPERATIONS ;  · de l'évolution technologique des matériels  ;  · de la diversité des OUVRAGES ou des INSTALLATIONS.</a:t>
            </a:r>
          </a:p>
          <a:p>
            <a:pPr>
              <a:defRPr sz="1600"/>
            </a:pPr>
            <a:r>
              <a:t>La périodicité recommandée est de 3 ans.</a:t>
            </a:r>
          </a:p>
          <a:p>
            <a:pPr>
              <a:defRPr sz="1600"/>
            </a:pPr>
            <a:r>
              <a:t>Il appartient à l'EMPLOYEUR de définir les modalités de ce recyclage après avoir évalué les compétences de son personnel, tant sur le plan théorique que sur le plan pratique (questionnaire, entretien, épreuve pratique, logiciels spécialisés, etc.</a:t>
            </a:r>
          </a:p>
          <a:p>
            <a:pPr>
              <a:defRPr sz="1600"/>
            </a:pPr>
            <a:r>
              <a:t>).</a:t>
            </a:r>
          </a:p>
          <a:p>
            <a:pPr>
              <a:defRPr sz="1600"/>
            </a:pPr>
            <a:r>
              <a:t>Un exemple de référentiel des savoirs et des savoir-faire est donné en Annexe D.</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5.6.1 Principes d'organisation</a:t>
            </a:r>
          </a:p>
        </p:txBody>
      </p:sp>
      <p:sp>
        <p:nvSpPr>
          <p:cNvPr id="3" name="Content Placeholder 2"/>
          <p:cNvSpPr>
            <a:spLocks noGrp="1"/>
          </p:cNvSpPr>
          <p:nvPr>
            <p:ph idx="1"/>
          </p:nvPr>
        </p:nvSpPr>
        <p:spPr/>
        <p:txBody>
          <a:bodyPr/>
          <a:lstStyle/>
          <a:p>
            <a:pPr>
              <a:defRPr sz="1600"/>
            </a:pPr>
            <a:r>
              <a:t>La formation et le maintien de la compétence à la prévention du risque électrique relèvent de la responsabilité de l'EMPLOYEUR.</a:t>
            </a:r>
          </a:p>
          <a:p>
            <a:pPr>
              <a:defRPr sz="1600"/>
            </a:pPr>
            <a:r>
              <a:t>Si des INSTRUCTIONS DE SECURITE électrique existent dans l'entreprise ou dans l'établissement où le personnel va travailler, elles doivent, de préférence, faire l'objet d'un complément de formation ou, à défaut, être communiquées et commentées au personnel concerné (par exemple, lors de l'accueil dans l'entreprise).</a:t>
            </a:r>
          </a:p>
          <a:p>
            <a:pPr>
              <a:defRPr sz="1600"/>
            </a:pPr>
            <a:r>
              <a:t>La communication des INSTRUCTIONS DE SECURITE doit être renouvelée autant que de besoin.</a:t>
            </a:r>
          </a:p>
          <a:p>
            <a:pPr>
              <a:defRPr sz="1600"/>
            </a:pPr>
            <a:r>
              <a:t>Les actions de formation peuvent être assurées par l'EMPLOYEUR, confiées à un organisme extérieur ou être réalisées en combinant ces deux options.</a:t>
            </a:r>
          </a:p>
          <a:p>
            <a:pPr>
              <a:defRPr sz="1600"/>
            </a:pPr>
            <a:r>
              <a:t>Elles doivent comprendre une partie théorique et une partie pratique.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5.6.2 Objectif de la formation</a:t>
            </a:r>
          </a:p>
        </p:txBody>
      </p:sp>
      <p:sp>
        <p:nvSpPr>
          <p:cNvPr id="3" name="Content Placeholder 2"/>
          <p:cNvSpPr>
            <a:spLocks noGrp="1"/>
          </p:cNvSpPr>
          <p:nvPr>
            <p:ph idx="1"/>
          </p:nvPr>
        </p:nvSpPr>
        <p:spPr/>
        <p:txBody>
          <a:bodyPr/>
          <a:lstStyle/>
          <a:p>
            <a:pPr>
              <a:defRPr sz="1600"/>
            </a:pPr>
            <a:r>
              <a:t>A l'issue de la formation, les personnes doivent :  · connaître les dangers de l'électricité et être capables d'identifier et d'analyser le risque électrique ;  · connaître les prescriptions et procédés de prévention du risque électrique et savoir les mettre en œuvre ;  · être capables de mettre en application les mesures de prévention adaptées pour prévenir le risque électrique sur les OUVRAGES ou les INSTALLATIONS concernés, ou dans leur ENVIRONNEMENT ;  · savoir intégrer la prévention dans la préparation du travail pour les personnes qui en ont la charge ;  · être informées de la conduite à tenir en cas d'accident ou d'incendie d'origine électrique (voir Article 13).</a:t>
            </a:r>
          </a:p>
          <a:p>
            <a:pPr>
              <a:defRPr sz="1600"/>
            </a:pPr>
            <a:r>
              <a:t>Le contenu et la durée de la formation résultent des objectifs ci-avant en tenant compte  :  · des circonstances que les intéressés sont appelés à rencontrer (OPERATIONS, types d'OUVRAGES, d'INSTALLATIONS, nature des risques, niveaux de responsabilités, etc.</a:t>
            </a:r>
          </a:p>
          <a:p>
            <a:pPr>
              <a:defRPr sz="1600"/>
            </a:pPr>
            <a:r>
              <a:t>) ;  · du niveau de connaissance et de l'expérience de la personne à former ;.</a:t>
            </a:r>
          </a:p>
          <a:p>
            <a:pPr>
              <a:defRPr sz="1600"/>
            </a:pPr>
            <a:r>
              <a:t>des symboles d'HABILITATION visés.</a:t>
            </a:r>
          </a:p>
          <a:p>
            <a:pPr>
              <a:defRPr sz="1600"/>
            </a:pPr>
            <a:r>
              <a:t>Un exemple de référentiel des savoirs et des savoir-faire est donné en Annexe D.</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5.6.3 Évaluation et avis</a:t>
            </a:r>
          </a:p>
        </p:txBody>
      </p:sp>
      <p:sp>
        <p:nvSpPr>
          <p:cNvPr id="3" name="Content Placeholder 2"/>
          <p:cNvSpPr>
            <a:spLocks noGrp="1"/>
          </p:cNvSpPr>
          <p:nvPr>
            <p:ph idx="1"/>
          </p:nvPr>
        </p:nvSpPr>
        <p:spPr/>
        <p:txBody>
          <a:bodyPr/>
          <a:lstStyle/>
          <a:p>
            <a:pPr>
              <a:defRPr sz="1600"/>
            </a:pPr>
            <a:r>
              <a:t>En fin de formation, le formateur ou l'organisme de formation, qu'il soit interne ou non à l'établissement, doit :  · évaluer les connaissances théoriques et pratiques acquises par chaque intéressé ;  · délivrer un avis nominatif et individuel indiquant (voir Figure 3) :  o le nom et la qualité du signataire ;  o s'il s'agit d'une formation initiale ou d'un recyclage ;  ο la durée de la formation ;  ο s'il y a lieu, les symboles d'HABILITATION recommandés à l'issue de la formation.</a:t>
            </a:r>
          </a:p>
          <a:p>
            <a:pPr>
              <a:defRPr sz="1600"/>
            </a:pPr>
            <a:r>
              <a:t>Cet avis doit être archivé par l'EMPLOYEUR jusqu'au prochain recyclage de son titulaire.</a:t>
            </a:r>
          </a:p>
          <a:p>
            <a:pPr>
              <a:defRPr sz="1600"/>
            </a:pPr>
            <a:r>
              <a:t>Il est établi sur la base des niveaux d'HABILITATION demandes par l'EMPLOYEUR de l'apprenant et peut présenter des réserves sur le comportement de l'apprenant ou des remarques sur les moyens, l'environnement, les procédures existantes ; il peut enfin, faire l'objet de propositions de niveaux différents de ceux souhaités.</a:t>
            </a:r>
          </a:p>
          <a:p>
            <a:pPr>
              <a:defRPr sz="1600"/>
            </a:pPr>
            <a:r>
              <a:t>UTE  -  47  -  NF C 18-510  Un modèle d'AVIS APRES FORMATION est indiqué ci-après  :  Avis après formation - Formation Initiale - Formation de recyclage  M (Nom et prénom) A suivi du.</a:t>
            </a:r>
          </a:p>
          <a:p>
            <a:pPr>
              <a:defRPr sz="1600"/>
            </a:pPr>
            <a:r>
              <a: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5.7.1 Matérialisation de l'habilitation</a:t>
            </a:r>
          </a:p>
        </p:txBody>
      </p:sp>
      <p:sp>
        <p:nvSpPr>
          <p:cNvPr id="3" name="Content Placeholder 2"/>
          <p:cNvSpPr>
            <a:spLocks noGrp="1"/>
          </p:cNvSpPr>
          <p:nvPr>
            <p:ph idx="1"/>
          </p:nvPr>
        </p:nvSpPr>
        <p:spPr/>
        <p:txBody>
          <a:bodyPr/>
          <a:lstStyle/>
          <a:p>
            <a:pPr>
              <a:defRPr sz="1600"/>
            </a:pPr>
            <a:r>
              <a:t>Lorsque l'HABILITATION est requise, l'EMPLOYEUR remet contre signature, à toute PERSONNE HABILITEE par lui, un titre d'HABILITATION suivant le modèle defini en 5.</a:t>
            </a:r>
          </a:p>
          <a:p>
            <a:pPr>
              <a:defRPr sz="1600"/>
            </a:pPr>
            <a:r>
              <a:t>7.</a:t>
            </a:r>
          </a:p>
          <a:p>
            <a:pPr>
              <a:defRPr sz="1600"/>
            </a:pPr>
            <a:r>
              <a:t>5.</a:t>
            </a:r>
          </a:p>
          <a:p>
            <a:pPr>
              <a:defRPr sz="1600"/>
            </a:pPr>
            <a:r>
              <a:t>L'EMPLOYEUR doit utiliser les symboles presentes dans les Tableaux 3, 4 et 5 qui correspondent aux OPERATIONS décrites dans le présent document.</a:t>
            </a:r>
          </a:p>
          <a:p>
            <a:pPr>
              <a:defRPr sz="1600"/>
            </a:pPr>
            <a:r>
              <a:t>Lorsque l'EMPLOYEUR estime nécessaire d'attribuer une HABILITATION spéciale pour des OPERATIONS spéciales, il porte les symboles B1X ou B2X, H1X ou H2X dans la case appropriée et precise le champ d'application de cette HABILITATION dans la colonne « indications supplémentaires ».</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5.7.2.1 Principe et présentation</a:t>
            </a:r>
          </a:p>
        </p:txBody>
      </p:sp>
      <p:sp>
        <p:nvSpPr>
          <p:cNvPr id="3" name="Content Placeholder 2"/>
          <p:cNvSpPr>
            <a:spLocks noGrp="1"/>
          </p:cNvSpPr>
          <p:nvPr>
            <p:ph idx="1"/>
          </p:nvPr>
        </p:nvSpPr>
        <p:spPr/>
        <p:txBody>
          <a:bodyPr/>
          <a:lstStyle/>
          <a:p>
            <a:pPr>
              <a:defRPr sz="1600"/>
            </a:pPr>
            <a:r>
              <a:t>Une HABILITATION est désignée par un symbole codifié strictement composé selon les dispositions des 5.</a:t>
            </a:r>
          </a:p>
          <a:p>
            <a:pPr>
              <a:defRPr sz="1600"/>
            </a:pPr>
            <a:r>
              <a:t>7.</a:t>
            </a:r>
          </a:p>
          <a:p>
            <a:pPr>
              <a:defRPr sz="1600"/>
            </a:pPr>
            <a:r>
              <a:t>2.</a:t>
            </a:r>
          </a:p>
          <a:p>
            <a:pPr>
              <a:defRPr sz="1600"/>
            </a:pPr>
            <a:r>
              <a:t>2 à 5.</a:t>
            </a:r>
          </a:p>
          <a:p>
            <a:pPr>
              <a:defRPr sz="1600"/>
            </a:pPr>
            <a:r>
              <a:t>7.</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5.7.2.2 Premier caractère</a:t>
            </a:r>
          </a:p>
        </p:txBody>
      </p:sp>
      <p:sp>
        <p:nvSpPr>
          <p:cNvPr id="3" name="Content Placeholder 2"/>
          <p:cNvSpPr>
            <a:spLocks noGrp="1"/>
          </p:cNvSpPr>
          <p:nvPr>
            <p:ph idx="1"/>
          </p:nvPr>
        </p:nvSpPr>
        <p:spPr/>
        <p:txBody>
          <a:bodyPr/>
          <a:lstStyle/>
          <a:p>
            <a:pPr>
              <a:defRPr sz="1600"/>
            </a:pPr>
            <a:r>
              <a:t>Le premier caractère indique le DOMAINE DE TENSION de la partie des OUVRAGES ou des INSTALLATIONS sur lesquels ou dans l'ENVIRONNEMENT desquels le titulaire de l'HABILITATION effectue des OPERATIONS :.</a:t>
            </a:r>
          </a:p>
          <a:p>
            <a:pPr>
              <a:defRPr sz="1600"/>
            </a:pPr>
            <a:r>
              <a:t>B caractérise les OUVRAGES ou les INSTALLATIONS des domaines BT et TBT ;  · H caractérise les OUVRAGES ou les INSTALLATIONS du domaine HT.</a:t>
            </a:r>
          </a:p>
          <a:p>
            <a:pPr>
              <a:defRPr sz="1600"/>
            </a:pPr>
            <a:r>
              <a:t>Dans tous les cas, le titre doit préciser la ou les valeurs de la ou des tensions delimitant le DOMAINE DE TENSION dans la colonne du champ d'application réservée à cet effet.</a:t>
            </a:r>
          </a:p>
          <a:p>
            <a:pPr>
              <a:defRPr sz="1600"/>
            </a:pPr>
            <a:r>
              <a:t>UTE  -  49  -  NF C 18-510.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5.7.2.3 Deuxième caractère</a:t>
            </a:r>
          </a:p>
        </p:txBody>
      </p:sp>
      <p:sp>
        <p:nvSpPr>
          <p:cNvPr id="3" name="Content Placeholder 2"/>
          <p:cNvSpPr>
            <a:spLocks noGrp="1"/>
          </p:cNvSpPr>
          <p:nvPr>
            <p:ph idx="1"/>
          </p:nvPr>
        </p:nvSpPr>
        <p:spPr/>
        <p:txBody>
          <a:bodyPr/>
          <a:lstStyle/>
          <a:p>
            <a:pPr>
              <a:defRPr sz="1600"/>
            </a:pPr>
            <a:r>
              <a:t>Le deuxième caractère indique le type d'OPERATION, il s'exprime :  · soit par une lettre C, R, S, E, P :  ο C, caractérise la CONSIGNATION ;  o R, caractérise les INTERVENTIONS BT GENERALES ;  o S, caractérise les INTERVENTIONS BT ELEMENTAIRES ;  o E, caractérise les OPERATIONS SPECIFIQUES.</a:t>
            </a:r>
          </a:p>
          <a:p>
            <a:pPr>
              <a:defRPr sz="1600"/>
            </a:pPr>
            <a:r>
              <a:t>Cette lettre doit être obligatoirement complétée par un attribut (voir 5.</a:t>
            </a:r>
          </a:p>
          <a:p>
            <a:pPr>
              <a:defRPr sz="1600"/>
            </a:pPr>
            <a:r>
              <a:t>7.</a:t>
            </a:r>
          </a:p>
          <a:p>
            <a:pPr>
              <a:defRPr sz="1600"/>
            </a:pPr>
            <a:r>
              <a:t>2.</a:t>
            </a:r>
          </a:p>
          <a:p>
            <a:pPr>
              <a:defRPr sz="1600"/>
            </a:pPr>
            <a:r>
              <a:t>5).</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5.7.2.4 Troisième caractère</a:t>
            </a:r>
          </a:p>
        </p:txBody>
      </p:sp>
      <p:sp>
        <p:nvSpPr>
          <p:cNvPr id="3" name="Content Placeholder 2"/>
          <p:cNvSpPr>
            <a:spLocks noGrp="1"/>
          </p:cNvSpPr>
          <p:nvPr>
            <p:ph idx="1"/>
          </p:nvPr>
        </p:nvSpPr>
        <p:spPr/>
        <p:txBody>
          <a:bodyPr/>
          <a:lstStyle/>
          <a:p>
            <a:pPr>
              <a:defRPr sz="1600"/>
            </a:pPr>
            <a:r>
              <a:t>Il s'agit d'une lettre additionnelle au deuxième caractère 0, 1 ou 2, qui précise la nature des OPERATIONS ci-après :  · Lettre V :  ο en haute tension, pour indiquer que le titulaire peut effectuer des TRAVAUX dans la ZONE DE VOISINAGE RENFORCE HT (zone 2) ;  ο en basse tension, pour indiquer que le titulaire peut effectuer des TRAVAUX d'ORDRE ELECTRIQUE dans la ZONE DE VOISINAGE RENFORCE BT (zone 4).</a:t>
            </a:r>
          </a:p>
          <a:p>
            <a:pPr>
              <a:defRPr sz="1600"/>
            </a:pPr>
            <a:r>
              <a:t>Lettre T, pour indiquer que le titulaire peut effectuer des TRAVAUX SOUS TENSION.</a:t>
            </a:r>
          </a:p>
          <a:p>
            <a:pPr>
              <a:defRPr sz="1600"/>
            </a:pPr>
            <a:r>
              <a:t>· Lettre N, pour indiquer que le titulaire peut effectuer des TRAVAUX DE NETTOYAGE SOUS TENSION.</a:t>
            </a:r>
          </a:p>
          <a:p>
            <a:pPr>
              <a:defRPr sz="1600"/>
            </a:pPr>
            <a:r>
              <a:t>· Lettre X, pour indiquer que le titulaire peut effectuer, sous certaines conditions, des OPERATIONS « speciales&gt; n'entrant pas dans les designations precedentes, mais répondant à des besoins particuliers préalablement définis dans une INSTRUCTION DE SECURITE.</a:t>
            </a:r>
          </a:p>
          <a:p>
            <a:pPr>
              <a:defRPr sz="1600"/>
            </a:pPr>
            <a:r>
              <a:t>Cette HABILITATION doit avoir un caractère exceptionnel.</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5.7.2.5 Attribut</a:t>
            </a:r>
          </a:p>
        </p:txBody>
      </p:sp>
      <p:sp>
        <p:nvSpPr>
          <p:cNvPr id="3" name="Content Placeholder 2"/>
          <p:cNvSpPr>
            <a:spLocks noGrp="1"/>
          </p:cNvSpPr>
          <p:nvPr>
            <p:ph idx="1"/>
          </p:nvPr>
        </p:nvSpPr>
        <p:spPr/>
        <p:txBody>
          <a:bodyPr/>
          <a:lstStyle/>
          <a:p>
            <a:pPr>
              <a:defRPr sz="1600"/>
            </a:pPr>
            <a:r>
              <a:t>L'attribut est une mention complementaire obligatoire aux HABILITATIONS symboles BE et HE, qualifiée par l'un des mots : ESSAI, MESURAGE, VERIFICATION OU MANŒUVRE.</a:t>
            </a:r>
          </a:p>
          <a:p>
            <a:pPr>
              <a:defRPr sz="1600"/>
            </a:pPr>
            <a:r>
              <a:t>A chaque attribut correspond une HABILITATION.</a:t>
            </a:r>
          </a:p>
          <a:p>
            <a:pPr>
              <a:defRPr sz="1600"/>
            </a:pPr>
            <a:r>
              <a:t>Il précise la capacité du titulaire de l'HABILITATION a assurer, dans le cadre général de son HABILITATION, l'OPERATION correspondante.</a:t>
            </a:r>
          </a:p>
          <a:p>
            <a:pPr>
              <a:defRPr sz="1600"/>
            </a:pPr>
            <a:r>
              <a:t>De plus, l'attribut « Essai »&gt; peut être ajouté aux lettres B2V, H2V lorsque l'OPERATEUR réalise des ESSAIS en tant que CHARGE DE TRAVAUX dans le cadre d'une procédure de TRAVAUX (voir Article 11).</a:t>
            </a:r>
          </a:p>
          <a:p>
            <a:pPr>
              <a:defRPr sz="1600"/>
            </a:pPr>
            <a:r>
              <a:t>Les modalités d'utilisation des attributs et les compétences qui en résultent sont explicitées à l'Article 11.</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5.7.2.6 Tableaux des symboles des habilitations</a:t>
            </a:r>
          </a:p>
        </p:txBody>
      </p:sp>
      <p:sp>
        <p:nvSpPr>
          <p:cNvPr id="3" name="Content Placeholder 2"/>
          <p:cNvSpPr>
            <a:spLocks noGrp="1"/>
          </p:cNvSpPr>
          <p:nvPr>
            <p:ph idx="1"/>
          </p:nvPr>
        </p:nvSpPr>
        <p:spPr/>
        <p:txBody>
          <a:bodyPr/>
          <a:lstStyle/>
          <a:p>
            <a:pPr>
              <a:defRPr sz="1600"/>
            </a:pPr>
            <a:r>
              <a:t>Les tableaux ci-dessous presentent les combinaisons possibles de caractères alphanumériques d'HABILITATIONS minimales autorisees en fonction de l'OPERATION.</a:t>
            </a:r>
          </a:p>
          <a:p>
            <a:pPr>
              <a:defRPr sz="1600"/>
            </a:pPr>
            <a:r>
              <a:t>Tableau 3 - Symboles d'habilitation utilisés pour les opérations d'ordre non électrique autour de pièces nues  Ouvrage ou installation Voisinage simple Voisinage renforcé BT consigne BT et HT BT et HT (zone1) (zone 4) et HT (zone 2) Exécutant Chargé de Exécutant Chargé de Exécutant Chargé de chantier chantier chantier Opération pas d'ordre non BT d'habilitation B0 B0 B0 Cas interdit électrique requise concourant à l'exploitation et pas la maintenance HT d'habilitation H0 H0 H0 H0V H0V de l'ouvrage ou requise de l'installation pas pas BT d'habilitation d'habilitation Autre opération requise requise d'ordre non électrique pas pas Cas interdits HT d'habilitation d'habilitation requise requise  Tableau 4 - Symboles d'habilitation utilisés pour les travaux d'ordre électrique  Travaux dans la zone de Travaux au Travaux au Travaux dans Travaux sur voisinage renforcé BT voisinage voisinage la zone des ouvrage ou (zone 4) simple renforcé HT travaux sous installation BT et HT tension HT consignés Travaux Travaux BT et HT hors tension sous tension (zone1) (zone 2) (zone 3) de de de de de de Exécutant travaux Exécutant travaux Exécutant travaux Exécutant travaux Exécutant travaux Exécutant Travaux Chargé Chargé Chargé Chargé Chargé Chargé BT B1 B2 B1V B2V B1T B2T B1 B2 Sans objet B1N B2N HT H1 H2 Sans objet H1 H2 H1V H2V H1T H2T H1N H2N  NF C 18-510  -  52  -  UTE  Tableau 5 - Symboles d'habilitation utilisés pour les autres operations d'ordre électrique  Consignation Interventions BT Opérations Opérations Opérations spéciales (zones 1, 2 et spécifiques photovoltaïques (zones 1,2 et 4) 4) Zone 4 Hors zones 1,2 et zones 1,2 et 4 Exécutant Chargé de tension et 4 travaux hors zone 4 BT BC BR BS BE1 BP B1X B2X HT HC Sans objet HE1 HP H1X H2X 1 - Les habilitations symboles BE et HE doivent être complétées par un attribut « Essai » ou « Mesurage &gt;&gt; ou « Vérification » ou « Manœuvre » (voir 5.</a:t>
            </a:r>
          </a:p>
          <a:p>
            <a:pPr>
              <a:defRPr sz="1600"/>
            </a:pPr>
            <a:r>
              <a:t>7.</a:t>
            </a:r>
          </a:p>
          <a:p>
            <a:pPr>
              <a:defRPr sz="1600"/>
            </a:pPr>
            <a:r>
              <a:t>2.</a:t>
            </a:r>
          </a:p>
          <a:p>
            <a:pPr>
              <a:defRPr sz="1600"/>
            </a:pPr>
            <a:r>
              <a:t>5).</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5.7.3 Champ d'application des habilitations</a:t>
            </a:r>
          </a:p>
        </p:txBody>
      </p:sp>
      <p:sp>
        <p:nvSpPr>
          <p:cNvPr id="3" name="Content Placeholder 2"/>
          <p:cNvSpPr>
            <a:spLocks noGrp="1"/>
          </p:cNvSpPr>
          <p:nvPr>
            <p:ph idx="1"/>
          </p:nvPr>
        </p:nvSpPr>
        <p:spPr/>
        <p:txBody>
          <a:bodyPr/>
          <a:lstStyle/>
          <a:p>
            <a:pPr>
              <a:defRPr sz="1600"/>
            </a:pPr>
            <a:r>
              <a:t>Le symbole d'HABILITATION ne suffit pas a lui seul a definir le titre d'HABILITATION : le champ d'application doit être complètement renseigné.</a:t>
            </a:r>
          </a:p>
          <a:p>
            <a:pPr>
              <a:defRPr sz="1600"/>
            </a:pPr>
            <a:r>
              <a:t>L'EMPLOYEUR doit préciser les limites à appliquer aux HABILITATIONS, notamment :  · les types d'OUVRAGES ou d'INSTALLATIONS concernés  ;.</a:t>
            </a:r>
          </a:p>
          <a:p>
            <a:pPr>
              <a:defRPr sz="1600"/>
            </a:pPr>
            <a:r>
              <a:t>la localisation des OUVRAGES ou des INSTALLATIONS ou des parties d'OUVRAGES ou d'INSTALLATIONS ;  · le type d'OPERATION d'ORDRE ELECTRIQUE ou d'ORDRE NON ELECTRIQUE autorisé ;  · les limites de tension.</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5.7.4 Equivalences entre habilitations</a:t>
            </a:r>
          </a:p>
        </p:txBody>
      </p:sp>
      <p:sp>
        <p:nvSpPr>
          <p:cNvPr id="3" name="Content Placeholder 2"/>
          <p:cNvSpPr>
            <a:spLocks noGrp="1"/>
          </p:cNvSpPr>
          <p:nvPr>
            <p:ph idx="1"/>
          </p:nvPr>
        </p:nvSpPr>
        <p:spPr/>
        <p:txBody>
          <a:bodyPr/>
          <a:lstStyle/>
          <a:p>
            <a:pPr>
              <a:defRPr sz="1600"/>
            </a:pPr>
            <a:r>
              <a:t>Les domaines d'application des HABILITATIONS ne sont pas toujours disjoints et certaines d'entre elles induisent l'attribution implicite d'autres HABILITATIONS.</a:t>
            </a:r>
          </a:p>
          <a:p>
            <a:pPr>
              <a:defRPr sz="1600"/>
            </a:pPr>
            <a:r>
              <a:t>Pour apprécier les rapports pouvant exister entre HABILITATIONS, il convient d'appliquer les prescriptions suivantes :  · une HABILITATION dont le symbole contient la lettre B n'entraîne pas une HABILITATION dont le symbole contient la lettre H, et réciproquement ;.</a:t>
            </a:r>
          </a:p>
          <a:p>
            <a:pPr>
              <a:defRPr sz="1600"/>
            </a:pPr>
            <a:r>
              <a:t>une HABILITATION relative à un type d'OPERATION est spécifique a celle-ci et ne peut autoriser une autre nature d'OPERATION.</a:t>
            </a:r>
          </a:p>
          <a:p>
            <a:pPr>
              <a:defRPr sz="1600"/>
            </a:pPr>
            <a:r>
              <a:t>Par exemple, une HABILITATION aux TRAVAUX SOUS TENSION n'entraîne pas une HABILITATION aux TRAVAUX HORS TENSION ;.</a:t>
            </a:r>
          </a:p>
          <a:p>
            <a:pPr>
              <a:defRPr sz="1600"/>
            </a:pPr>
            <a:r>
              <a:t>une HABILITATION d'indice numérique determine entraîne l'attribution des HABILITATIONS d'indice inférieur, mais exclusivement pour les OPERATIONS sur les OUVRAGES ou les INSTALLATIONS du même DOMAINE DE TENSION et pour une même nature d'OPERATION ;  · une HABILITATION symboles B1V ou H1V entraîne une HABILITATION symboles B1 ou H1 ; de même, une HABILITATION symboles B2V ou H2V entraîne une HABILITATION symboles B2 ou H2 ;.</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5.7.5 Titre d'habilitation</a:t>
            </a:r>
          </a:p>
        </p:txBody>
      </p:sp>
      <p:sp>
        <p:nvSpPr>
          <p:cNvPr id="3" name="Content Placeholder 2"/>
          <p:cNvSpPr>
            <a:spLocks noGrp="1"/>
          </p:cNvSpPr>
          <p:nvPr>
            <p:ph idx="1"/>
          </p:nvPr>
        </p:nvSpPr>
        <p:spPr/>
        <p:txBody>
          <a:bodyPr/>
          <a:lstStyle/>
          <a:p>
            <a:pPr>
              <a:defRPr sz="1600"/>
            </a:pPr>
            <a:r>
              <a:t>L'HABILITATION est formalisee dans un titre d'HABILITATION delivre a son titulaire.</a:t>
            </a:r>
          </a:p>
          <a:p>
            <a:pPr>
              <a:defRPr sz="1600"/>
            </a:pPr>
            <a:r>
              <a:t>Ce titre doit être conforme sur le fond au modèle de titre d'HABILITATION defini ci-après, sans que soient imposées les dimensions et la couleur (voir Figure 4).</a:t>
            </a:r>
          </a:p>
          <a:p>
            <a:pPr>
              <a:defRPr sz="1600"/>
            </a:pPr>
            <a:r>
              <a:t>Le titre d'HABILITATION doit comporter les indications suivantes :.</a:t>
            </a:r>
          </a:p>
          <a:p>
            <a:pPr>
              <a:defRPr sz="1600"/>
            </a:pPr>
            <a:r>
              <a:t>les renseignements relatifs à l'EMPLOYEUR et au titulaire, la signature de l'employeur qui délivre le titre, la signature du titulaire qui vaut accusé de réception, l'indication de la date de délivrance et, pour un titre d'HABILITATION aux TST, la durée de validité ;.</a:t>
            </a:r>
          </a:p>
          <a:p>
            <a:pPr>
              <a:defRPr sz="1600"/>
            </a:pPr>
            <a:r>
              <a:t>le ou les symboles d'HABILITATION attribués (voir Tableaux 3, 4 et 5) ;  · pour chaque symbole, la delimitation du champ d'application de l'HABILITATION, à moins qu'elle ne soit portee sur un document annexe cite dans le titre d'HABILITATION ;.</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5.8.1 Cas particulier pour certaines opérations d'ordre non électrique</a:t>
            </a:r>
          </a:p>
        </p:txBody>
      </p:sp>
      <p:sp>
        <p:nvSpPr>
          <p:cNvPr id="3" name="Content Placeholder 2"/>
          <p:cNvSpPr>
            <a:spLocks noGrp="1"/>
          </p:cNvSpPr>
          <p:nvPr>
            <p:ph idx="1"/>
          </p:nvPr>
        </p:nvSpPr>
        <p:spPr/>
        <p:txBody>
          <a:bodyPr/>
          <a:lstStyle/>
          <a:p>
            <a:pPr>
              <a:defRPr sz="1600"/>
            </a:pPr>
            <a:r>
              <a:t>Lorsque l'HABILITATION n'est pas requise, l'EMPLOYEUR n'est pas dispensé de son obligation de formation et de maintien des compétences en matière de prévention du risque électrique.</a:t>
            </a:r>
          </a:p>
          <a:p>
            <a:pPr>
              <a:defRPr sz="1600"/>
            </a:pPr>
            <a:r>
              <a:t>L'EMPLOYEUR doit faire la preuve de cette formation.</a:t>
            </a:r>
          </a:p>
          <a:p>
            <a:pPr>
              <a:defRPr sz="1600"/>
            </a:pPr>
            <a:r>
              <a:t>Il est tenu de délivrer aux personnes concernées les INSTRUCTIONS DE SECURITE, lorsqu'elles existent, ou des informations concernant la prévention du risque électrique relatives aux activités confiées.</a:t>
            </a:r>
          </a:p>
          <a:p>
            <a:pPr>
              <a:defRPr sz="1600"/>
            </a:pPr>
            <a:r>
              <a:t>Le présent article peut servir d'appui à la démarche de formation.</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5.8.2 Le travailleur indépendant - l'employeur - l'auto-entrepreneur participant à une</a:t>
            </a:r>
          </a:p>
        </p:txBody>
      </p:sp>
      <p:sp>
        <p:nvSpPr>
          <p:cNvPr id="3" name="Content Placeholder 2"/>
          <p:cNvSpPr>
            <a:spLocks noGrp="1"/>
          </p:cNvSpPr>
          <p:nvPr>
            <p:ph idx="1"/>
          </p:nvPr>
        </p:nvSpPr>
        <p:spPr/>
        <p:txBody>
          <a:bodyPr/>
          <a:lstStyle/>
          <a:p>
            <a:pPr>
              <a:defRPr sz="1600"/>
            </a:pPr>
            <a:r>
              <a:t>opération  L'HABILITATION n'est pas requise pour ces personnes.</a:t>
            </a:r>
          </a:p>
          <a:p>
            <a:pPr>
              <a:defRPr sz="1600"/>
            </a:pPr>
            <a:r>
              <a:t>Cependant, elles doivent avoir suivi une formation à la prévention du risque électrique adaptée aux OPÉRATIONS à réaliser.</a:t>
            </a:r>
          </a:p>
          <a:p>
            <a:pPr>
              <a:defRPr sz="1600"/>
            </a:pPr>
            <a:r>
              <a:t>Elles doivent faire la preuve de leur connaissance en matière de prévention du risque électrique.</a:t>
            </a:r>
          </a:p>
          <a:p>
            <a:pPr>
              <a:defRPr sz="1600"/>
            </a:pPr>
            <a:r>
              <a:t>NF C 18-510  -  56  -  UTE  (Page blanche)  UTE  -  57  -  NF C 18-510.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DÉTERMINATION DE L'ENVIRONNEMENT DES OPÉRATIONS</a:t>
            </a:r>
          </a:p>
        </p:txBody>
      </p:sp>
      <p:sp>
        <p:nvSpPr>
          <p:cNvPr id="3" name="Content Placeholder 2"/>
          <p:cNvSpPr>
            <a:spLocks noGrp="1"/>
          </p:cNvSpPr>
          <p:nvPr>
            <p:ph idx="1"/>
          </p:nvPr>
        </p:nvSpPr>
        <p:spPr/>
        <p:txBody>
          <a:bodyPr/>
          <a:lstStyle/>
          <a:p>
            <a:pPr>
              <a:defRPr sz="1600"/>
            </a:pPr>
            <a:r>
              <a:t>Cet article présente les différentes zones de l'ENVIRONNEMENT électrique dans lesquelles les OPERATIONS d'ORDRE ELECTRIQUE et d'ORDRE NON ELECTRIQUE peuvent être exécutées.</a:t>
            </a:r>
          </a:p>
          <a:p>
            <a:pPr>
              <a:defRPr sz="1600"/>
            </a:pPr>
            <a:r>
              <a:t>Les prescriptions à appliquer dans chaque zone, tant pour l'organisation que pour la prévention du risque électrique, sont définies dans les autres articles concernés (Articles 7 à 11).</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 Généralités et présentation</a:t>
            </a:r>
          </a:p>
        </p:txBody>
      </p:sp>
      <p:sp>
        <p:nvSpPr>
          <p:cNvPr id="3" name="Content Placeholder 2"/>
          <p:cNvSpPr>
            <a:spLocks noGrp="1"/>
          </p:cNvSpPr>
          <p:nvPr>
            <p:ph idx="1"/>
          </p:nvPr>
        </p:nvSpPr>
        <p:spPr/>
        <p:txBody>
          <a:bodyPr/>
          <a:lstStyle/>
          <a:p>
            <a:pPr>
              <a:defRPr sz="1600"/>
            </a:pPr>
            <a:r>
              <a:t>Au cours d'OPERATIONS d'ORDRE ELECTRIQUE ou d'ORDRE NON ELECTRIQUE, le personnel peut être amené à s'approcher de pièces nues sous tension ou de CANALISATIONS ISOLEES.</a:t>
            </a:r>
          </a:p>
          <a:p>
            <a:pPr>
              <a:defRPr sz="1600"/>
            </a:pPr>
            <a:r>
              <a:t>Le risque électrique présenté par les OUVRAGES ou les INSTALLATIONS électriques sous tension est lié à leur proximité, leurs dispositions constructives (accessibilité) et leur niveau de tension (distance d'amorçage).</a:t>
            </a:r>
          </a:p>
          <a:p>
            <a:pPr>
              <a:defRPr sz="1600"/>
            </a:pPr>
            <a:r>
              <a:t>Plus on s'approche de l'OUVRAGE ou de l'INSTALLATION électrique, plus le risque électrique augmente.</a:t>
            </a:r>
          </a:p>
          <a:p>
            <a:pPr>
              <a:defRPr sz="1600"/>
            </a:pPr>
            <a:r>
              <a:t>Pour déterminer les prescriptions à respecter, l'ENVIRONNEMENT autour des pièces nues sous tension et l'ENVIRONNEMENT autour des CANALISATIONS ISOLEES est découpe en différents volumes appelés zones.</a:t>
            </a:r>
          </a:p>
          <a:p>
            <a:pPr>
              <a:defRPr sz="1600"/>
            </a:pPr>
            <a:r>
              <a:t>Ces zones sont déterminées par des distances limites définies dans le présent article.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 Distances limites et zones définies autour des pièces nues sous tension en</a:t>
            </a:r>
          </a:p>
        </p:txBody>
      </p:sp>
      <p:sp>
        <p:nvSpPr>
          <p:cNvPr id="3" name="Content Placeholder 2"/>
          <p:cNvSpPr>
            <a:spLocks noGrp="1"/>
          </p:cNvSpPr>
          <p:nvPr>
            <p:ph idx="1"/>
          </p:nvPr>
        </p:nvSpPr>
        <p:spPr/>
        <p:txBody>
          <a:bodyPr/>
          <a:lstStyle/>
          <a:p>
            <a:pPr>
              <a:defRPr sz="1600"/>
            </a:pPr>
            <a:r>
              <a:t>champ libre  Les distances limites en champ libre déterminées à partir des pièces nues sous tension sont des distances qui servent à définir les limites des volumes des différentes zones de l'ENVIRONNEMENT (voir Figures 5 à 10).</a:t>
            </a:r>
          </a:p>
          <a:p>
            <a:pPr>
              <a:defRPr sz="1600"/>
            </a:pPr>
            <a:r>
              <a:t>Dans le présent paragraphe, l'ENVIRONNEMENT électrique correspond au volume limité à 50 m autour d'une pièce nue sous tension.</a:t>
            </a:r>
          </a:p>
          <a:p>
            <a:pPr>
              <a:defRPr sz="1600"/>
            </a:pPr>
            <a:r>
              <a:t>Cet ENVIRONNEMENT est divise en quatre zones en haute tension et trois zones en basse tension.</a:t>
            </a:r>
          </a:p>
          <a:p>
            <a:pPr>
              <a:defRPr sz="1600"/>
            </a:pPr>
            <a:r>
              <a:t>En haute tension, en partant de la zone la plus éloignée de la pièce nue sous tension, l'ENVIRONNEMENT se compose de la ZONE D'INVESTIGATION, du VOISINAGE (ZONE DE VOISINAGE SIMPLE et ZONE DE VOISINAGE RENFORCE) et de la zone des TRAVAUX SOUS TENSION.</a:t>
            </a:r>
          </a:p>
          <a:p>
            <a:pPr>
              <a:defRPr sz="1600"/>
            </a:pPr>
            <a:r>
              <a:t>En basse tension, en partant de la zone la plus éloignée de la pièce nue sous tension l'ENVIRONNEMENT se compose de la ZONE D'INVESTIGATION et du VOISINAGE (ZONE DE VOISINAGE SIMPLE et ZONE DE VOISINAGE RENFORCE).</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6.2.1 Distance limite d'investigation</a:t>
            </a:r>
          </a:p>
        </p:txBody>
      </p:sp>
      <p:sp>
        <p:nvSpPr>
          <p:cNvPr id="3" name="Content Placeholder 2"/>
          <p:cNvSpPr>
            <a:spLocks noGrp="1"/>
          </p:cNvSpPr>
          <p:nvPr>
            <p:ph idx="1"/>
          </p:nvPr>
        </p:nvSpPr>
        <p:spPr/>
        <p:txBody>
          <a:bodyPr/>
          <a:lstStyle/>
          <a:p>
            <a:pPr>
              <a:defRPr sz="1600"/>
            </a:pPr>
            <a:r>
              <a:t>La DISTANCE LIMITE D'INVESTIGATION (DLI) est fixée conventionnellement à 50 m des pièces nues sous tension d'un OUVRAGE ou d'une INSTALLATION.</a:t>
            </a:r>
          </a:p>
          <a:p>
            <a:pPr>
              <a:defRPr sz="1600"/>
            </a:pPr>
            <a:r>
              <a:t>En fonction de la configuration des lieux ou des OPERATIONS, l'espace au-dessus des pièces nues sous tension n'est pas limite et fait partie de la ZONE D'INVESTIGATION (voir Figure 5).</a:t>
            </a:r>
          </a:p>
          <a:p>
            <a:pPr>
              <a:defRPr sz="1600"/>
            </a:pPr>
            <a:r>
              <a:t>Pour une OPERATION qui se situe au-delà de la DLI, le présent document ne définit aucune prescription.</a:t>
            </a:r>
          </a:p>
          <a:p>
            <a:pPr>
              <a:defRPr sz="1600"/>
            </a:pPr>
            <a:r>
              <a:t>En dessous de cette distance limite sont définies différentes zones décrites dans la suite du document.</a:t>
            </a:r>
          </a:p>
          <a:p>
            <a:pPr>
              <a:defRPr sz="1600"/>
            </a:pPr>
            <a:r>
              <a:t>A 2D schematic diagram showing a square area with a conductor at its center, and a safety zone around it.</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6.2.2 Zone d'investigation</a:t>
            </a:r>
          </a:p>
        </p:txBody>
      </p:sp>
      <p:sp>
        <p:nvSpPr>
          <p:cNvPr id="3" name="Content Placeholder 2"/>
          <p:cNvSpPr>
            <a:spLocks noGrp="1"/>
          </p:cNvSpPr>
          <p:nvPr>
            <p:ph idx="1"/>
          </p:nvPr>
        </p:nvSpPr>
        <p:spPr/>
        <p:txBody>
          <a:bodyPr/>
          <a:lstStyle/>
          <a:p>
            <a:pPr>
              <a:defRPr sz="1600"/>
            </a:pPr>
            <a:r>
              <a:t>La ZONE D'INVESTIGATION, appelée zone 0, est comprise entre la DISTANCE LIMITE D'INVESTIGATION (DLI) et la DISTANCE LIMITE DE VOISINAGE SIMPLE (DLVS) définie au 6.</a:t>
            </a:r>
          </a:p>
          <a:p>
            <a:pPr>
              <a:defRPr sz="1600"/>
            </a:pPr>
            <a:r>
              <a:t>2.</a:t>
            </a:r>
          </a:p>
          <a:p>
            <a:pPr>
              <a:defRPr sz="1600"/>
            </a:pPr>
            <a:r>
              <a:t>3.</a:t>
            </a:r>
          </a:p>
          <a:p>
            <a:pPr>
              <a:defRPr sz="1600"/>
            </a:pPr>
            <a:r>
              <a:t>C'est la zone dans laquelle il est demandé d'analyser si l'exécution de l'OPERATION envisagée peut exposer les OPERATEURS au risque électrique.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6.2.3 Distance limite de voisinage simple</a:t>
            </a:r>
          </a:p>
        </p:txBody>
      </p:sp>
      <p:sp>
        <p:nvSpPr>
          <p:cNvPr id="3" name="Content Placeholder 2"/>
          <p:cNvSpPr>
            <a:spLocks noGrp="1"/>
          </p:cNvSpPr>
          <p:nvPr>
            <p:ph idx="1"/>
          </p:nvPr>
        </p:nvSpPr>
        <p:spPr/>
        <p:txBody>
          <a:bodyPr/>
          <a:lstStyle/>
          <a:p>
            <a:pPr>
              <a:defRPr sz="1600"/>
            </a:pPr>
            <a:r>
              <a:t>La DISTANCE LIMITE DE VOISINAGE SIMPLE (DLVS) est la distance dans l'air, déterminée à partir de la pièce nue sous tension, qui permet de définir la limite extérieure de la ZONE DE VOISINAGE.</a:t>
            </a:r>
          </a:p>
          <a:p>
            <a:pPr>
              <a:defRPr sz="1600"/>
            </a:pPr>
            <a:r>
              <a:t>En courant alternatif et en courant continu, la DISTANCE LIMITE DE VOISINAGE SIMPLE (DLVS) est fixée conventionnellement à :  · 3 m jusqu'à 50 kV inclus ;  · 5 m au-delà de 50 kV et jusqu'à 500 kV inclus.</a:t>
            </a:r>
          </a:p>
          <a:p>
            <a:pPr>
              <a:defRPr sz="1600"/>
            </a:pPr>
            <a:r>
              <a:t>NOTE Les distances au-delà de 500 kV ne sont pas spécifiées.</a:t>
            </a:r>
          </a:p>
          <a:p>
            <a:pPr>
              <a:defRPr sz="1600"/>
            </a:pPr>
            <a:r>
              <a:t>En cas de besoin, ces distances sont définies au cas par cas pour des besoins spécifiques.</a:t>
            </a:r>
          </a:p>
          <a:p>
            <a:pPr>
              <a:defRPr sz="1600"/>
            </a:pPr>
            <a:r>
              <a:t>UTE  -  59  -  NF C 18-510.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6.2.4 Le voisinage</a:t>
            </a:r>
          </a:p>
        </p:txBody>
      </p:sp>
      <p:sp>
        <p:nvSpPr>
          <p:cNvPr id="3" name="Content Placeholder 2"/>
          <p:cNvSpPr>
            <a:spLocks noGrp="1"/>
          </p:cNvSpPr>
          <p:nvPr>
            <p:ph idx="1"/>
          </p:nvPr>
        </p:nvSpPr>
        <p:spPr/>
        <p:txBody>
          <a:bodyPr/>
          <a:lstStyle/>
          <a:p>
            <a:pPr>
              <a:defRPr sz="1600"/>
            </a:pPr>
            <a:r>
              <a:t>Autour d'une pièce nue sous tension en champ libre, le VOISINAGE se divise en deux zones :  · la ZONE DE VOISINAGE la plus éloignée de la pièce nue s'appelle ZONE DE VOISINAGE SIMPLE ;  · la ZONE DE VOISINAGE la plus proche de la pièce nue s'appelle ZONE DE VOISINAGE RENFORCE.</a:t>
            </a:r>
          </a:p>
          <a:p>
            <a:pPr>
              <a:defRPr sz="1600"/>
            </a:pPr>
            <a:r>
              <a:t>Le VOISINAGE est la zone dans laquelle débute la mise en œuvre des mesures de prévention de façon à supprimer ou, à défaut, réduire le risque d'origine électrique.</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6.2.5 Zone de voisinage simple</a:t>
            </a:r>
          </a:p>
        </p:txBody>
      </p:sp>
      <p:sp>
        <p:nvSpPr>
          <p:cNvPr id="3" name="Content Placeholder 2"/>
          <p:cNvSpPr>
            <a:spLocks noGrp="1"/>
          </p:cNvSpPr>
          <p:nvPr>
            <p:ph idx="1"/>
          </p:nvPr>
        </p:nvSpPr>
        <p:spPr/>
        <p:txBody>
          <a:bodyPr/>
          <a:lstStyle/>
          <a:p>
            <a:pPr>
              <a:defRPr sz="1600"/>
            </a:pPr>
            <a:r>
              <a:t>La ZONE DE VOISINAGE SIMPLE, appelée zone 1, est comprise entre la DISTANCE LIMITE DE VOISINAGE SIMPLE (DLVS) et la DISTANCE LIMITE DE VOISINAGE RENFORCE (DLVR).</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6.2.6 Distance limite de voisinage renforcé</a:t>
            </a:r>
          </a:p>
        </p:txBody>
      </p:sp>
      <p:sp>
        <p:nvSpPr>
          <p:cNvPr id="3" name="Content Placeholder 2"/>
          <p:cNvSpPr>
            <a:spLocks noGrp="1"/>
          </p:cNvSpPr>
          <p:nvPr>
            <p:ph idx="1"/>
          </p:nvPr>
        </p:nvSpPr>
        <p:spPr/>
        <p:txBody>
          <a:bodyPr/>
          <a:lstStyle/>
          <a:p>
            <a:pPr>
              <a:defRPr sz="1600"/>
            </a:pPr>
            <a:r>
              <a:t>La DISTANCE LIMITE DE VOISINAGE RENFORCE (DLVR) est la distance dans l'air, déterminée à partir de la pièce nue sous tension, qui permet de définir la limite extérieure de la ZONE DE VOISINAGE RENFORCE.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6.2.6.1 Distance limite de voisinage renforce HT</a:t>
            </a:r>
          </a:p>
        </p:txBody>
      </p:sp>
      <p:sp>
        <p:nvSpPr>
          <p:cNvPr id="3" name="Content Placeholder 2"/>
          <p:cNvSpPr>
            <a:spLocks noGrp="1"/>
          </p:cNvSpPr>
          <p:nvPr>
            <p:ph idx="1"/>
          </p:nvPr>
        </p:nvSpPr>
        <p:spPr/>
        <p:txBody>
          <a:bodyPr/>
          <a:lstStyle/>
          <a:p>
            <a:pPr>
              <a:defRPr sz="1600"/>
            </a:pPr>
            <a:r>
              <a:t>En courant alternatif, la DISTANCE LIMITE DE VOISINAGE RENFORCE (DLVR) est fixée conventionnellement à :  · 2 m au-delà de 1 000 V et jusqu'à 50 kV inclus ;  · 3 m au-delà de 50 kV et jusqu'à 250 kV inclus ;  · 4 m au-delà de 250 kV et jusqu'à 500 kV inclus.</a:t>
            </a:r>
          </a:p>
          <a:p>
            <a:pPr>
              <a:defRPr sz="1600"/>
            </a:pPr>
            <a:r>
              <a:t>En courant continu, la DISTANCE LIMITE DE VOISINAGE RENFORCE (DLVR) est fixée conventionnellement à :  · 2 m au-delà de 1 500 V et jusqu'à 75 kV inclus ;  · 3 m au-delà de 75 kV et jusqu'à 375 kV inclus ;  · 4 m au-delà de 375 kV et jusqu'à 500 kV inclus.</a:t>
            </a:r>
          </a:p>
          <a:p>
            <a:pPr>
              <a:defRPr sz="1600"/>
            </a:pPr>
            <a:r>
              <a:t>NOTE En courant alternatif et en courant continu, les distances au-delà de 500 KV ne sont pas spécifiées.</a:t>
            </a:r>
          </a:p>
          <a:p>
            <a:pPr>
              <a:defRPr sz="1600"/>
            </a:pPr>
            <a:r>
              <a:t>En cas de besoin, ces distances sont définies au cas par cas pour des besoins spécifiques.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6.2.6.2 Distance limite de voisinage renforce BT</a:t>
            </a:r>
          </a:p>
        </p:txBody>
      </p:sp>
      <p:sp>
        <p:nvSpPr>
          <p:cNvPr id="3" name="Content Placeholder 2"/>
          <p:cNvSpPr>
            <a:spLocks noGrp="1"/>
          </p:cNvSpPr>
          <p:nvPr>
            <p:ph idx="1"/>
          </p:nvPr>
        </p:nvSpPr>
        <p:spPr/>
        <p:txBody>
          <a:bodyPr/>
          <a:lstStyle/>
          <a:p>
            <a:pPr>
              <a:defRPr sz="1600"/>
            </a:pPr>
            <a:r>
              <a:t>La DISTANCE LIMITE DE VOISINAGE RENFORCE (DLVR) est fixée conventionnellement à 30 cm de la pièce nue sous tension.</a:t>
            </a:r>
          </a:p>
          <a:p>
            <a:pPr>
              <a:defRPr sz="1600"/>
            </a:pPr>
            <a:r>
              <a:t>Cette règle conventionnelle s'applique pour les domaines de tension inférieurs ou égaux à 1 000 V en courant alternatif et 1 500 V en courant continu.</a:t>
            </a:r>
          </a:p>
          <a:p>
            <a:pPr>
              <a:defRPr sz="1600"/>
            </a:pPr>
            <a:r>
              <a:t>En basse tension, la DLVR est confondue avec la distance minimale d'approche (DMA).</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6.2.7.1 Zone de voisinage renforcé HT</a:t>
            </a:r>
          </a:p>
        </p:txBody>
      </p:sp>
      <p:sp>
        <p:nvSpPr>
          <p:cNvPr id="3" name="Content Placeholder 2"/>
          <p:cNvSpPr>
            <a:spLocks noGrp="1"/>
          </p:cNvSpPr>
          <p:nvPr>
            <p:ph idx="1"/>
          </p:nvPr>
        </p:nvSpPr>
        <p:spPr/>
        <p:txBody>
          <a:bodyPr/>
          <a:lstStyle/>
          <a:p>
            <a:pPr>
              <a:defRPr sz="1600"/>
            </a:pPr>
            <a:r>
              <a:t>La ZONE DE VOISINAGE RENFORCE en haute tension, appelée zone 2, est comprise entre la DISTANCE LIMITE DE VOISINAGE RENFORCE (DLVR) et la DISTANCE MINIMALE D'APPROCHE (DMA), ou la DISTANCE MINIMALE D'APPROCHE CORRIGEE (DMAC) lorsqu'elle est spécifiée (voir 6.</a:t>
            </a:r>
          </a:p>
          <a:p>
            <a:pPr>
              <a:defRPr sz="1600"/>
            </a:pPr>
            <a:r>
              <a:t>2.</a:t>
            </a:r>
          </a:p>
          <a:p>
            <a:pPr>
              <a:defRPr sz="1600"/>
            </a:pPr>
            <a:r>
              <a:t>8).</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6.2.7.2 Zone de voisinage renforcé BT</a:t>
            </a:r>
          </a:p>
        </p:txBody>
      </p:sp>
      <p:sp>
        <p:nvSpPr>
          <p:cNvPr id="3" name="Content Placeholder 2"/>
          <p:cNvSpPr>
            <a:spLocks noGrp="1"/>
          </p:cNvSpPr>
          <p:nvPr>
            <p:ph idx="1"/>
          </p:nvPr>
        </p:nvSpPr>
        <p:spPr/>
        <p:txBody>
          <a:bodyPr/>
          <a:lstStyle/>
          <a:p>
            <a:pPr>
              <a:defRPr sz="1600"/>
            </a:pPr>
            <a:r>
              <a:t>La ZONE DE VOISINAGE RENFORCE en basse tension, appelée zone 4, est comprise entre la DISTANCE LIMITE DE VOISINAGE RENFORCE (DLVR), confondue avec la DISTANCE MINIMALE D'APPROCHE (DMA), et la pièce nue sous tension sans contact.</a:t>
            </a:r>
          </a:p>
          <a:p>
            <a:pPr>
              <a:defRPr sz="1600"/>
            </a:pPr>
            <a:r>
              <a:t>NF C 18-510  -  -  60  UTE.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6.2.8 Distance minimale d'approche</a:t>
            </a:r>
          </a:p>
        </p:txBody>
      </p:sp>
      <p:sp>
        <p:nvSpPr>
          <p:cNvPr id="3" name="Content Placeholder 2"/>
          <p:cNvSpPr>
            <a:spLocks noGrp="1"/>
          </p:cNvSpPr>
          <p:nvPr>
            <p:ph idx="1"/>
          </p:nvPr>
        </p:nvSpPr>
        <p:spPr/>
        <p:txBody>
          <a:bodyPr/>
          <a:lstStyle/>
          <a:p>
            <a:pPr>
              <a:defRPr sz="1600"/>
            </a:pPr>
            <a:r>
              <a:t>La DISTANCE MINIMALE D'APPROCHE dans l'air (DMA) permet de définir les limites extérieures des zones 3 et 4.</a:t>
            </a:r>
          </a:p>
          <a:p>
            <a:pPr>
              <a:defRPr sz="1600"/>
            </a:pPr>
            <a:r>
              <a:t>Cette distance limite, déterminée à partir d'une pièce nue sous tension, est la somme de la DISTANCE DE TENSION et de la DISTANCE DE GARDE.</a:t>
            </a:r>
          </a:p>
          <a:p>
            <a:pPr>
              <a:defRPr sz="1600"/>
            </a:pPr>
            <a:r>
              <a:t>Le CHEF D'ETABLISSEMENT peut definir une Distance Minimale d'Approche Corrigée (DMAC) supérieure à la DMA.</a:t>
            </a:r>
          </a:p>
          <a:p>
            <a:pPr>
              <a:defRPr sz="1600"/>
            </a:pPr>
            <a:r>
              <a:t>Dans ce cas, les valeurs de la DMAC se substituent aux valeurs de la DMA.</a:t>
            </a:r>
          </a:p>
          <a:p>
            <a:pPr>
              <a:defRPr sz="1600"/>
            </a:pPr>
            <a:r>
              <a:t>La DMAC est particulièrement utilisée en haute tension.</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6.2.8.1 Distance de tension (t)</a:t>
            </a:r>
          </a:p>
        </p:txBody>
      </p:sp>
      <p:sp>
        <p:nvSpPr>
          <p:cNvPr id="3" name="Content Placeholder 2"/>
          <p:cNvSpPr>
            <a:spLocks noGrp="1"/>
          </p:cNvSpPr>
          <p:nvPr>
            <p:ph idx="1"/>
          </p:nvPr>
        </p:nvSpPr>
        <p:spPr/>
        <p:txBody>
          <a:bodyPr/>
          <a:lstStyle/>
          <a:p>
            <a:pPr>
              <a:defRPr sz="1600"/>
            </a:pPr>
            <a:r>
              <a:t>En courant alternatif, cette distance est donnée par la formule :  t = 0,005 x Un  Où:  · test la DISTANCE DE TENSION exprimée en mètres ;  · Un est la valeur de la tension nominale exprimée en kV.</a:t>
            </a:r>
          </a:p>
          <a:p>
            <a:pPr>
              <a:defRPr sz="1600"/>
            </a:pPr>
            <a:r>
              <a:t>Le résultat de cette formule est arrondi au décimètre le plus proche.</a:t>
            </a:r>
          </a:p>
          <a:p>
            <a:pPr>
              <a:defRPr sz="1600"/>
            </a:pPr>
            <a:r>
              <a:t>La valeur de la DISTANCE DE TENSION t peut être majorée en HTB pour tenir compte de l'altitude, des conditions atmosphériques, des surtensions lors des manœuvres, etc.</a:t>
            </a:r>
          </a:p>
          <a:p>
            <a:pPr>
              <a:defRPr sz="1600"/>
            </a:pPr>
            <a:r>
              <a:t>NOTE Si l'OPERATEUR est à un potentiel different de celui de la terre, cette DISTANCE DE TENSION, utilisée comme distance de travail, doit être modifiée en conséquence.</a:t>
            </a:r>
          </a:p>
          <a:p>
            <a:pPr>
              <a:defRPr sz="1600"/>
            </a:pPr>
            <a:r>
              <a:t>En courant continu, les DISTANCES DE TENSION sont calculees comme en courant alternatif.</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6.2.8.2 Distance de garde (g)</a:t>
            </a:r>
          </a:p>
        </p:txBody>
      </p:sp>
      <p:sp>
        <p:nvSpPr>
          <p:cNvPr id="3" name="Content Placeholder 2"/>
          <p:cNvSpPr>
            <a:spLocks noGrp="1"/>
          </p:cNvSpPr>
          <p:nvPr>
            <p:ph idx="1"/>
          </p:nvPr>
        </p:nvSpPr>
        <p:spPr/>
        <p:txBody>
          <a:bodyPr/>
          <a:lstStyle/>
          <a:p>
            <a:pPr>
              <a:defRPr sz="1600"/>
            </a:pPr>
            <a:r>
              <a:t>Cette distance a pour objet de libérer l'OPERATEUR du souci permanent du respect de la DISTANCE DE TENSION et de lui permettre ainsi de consacrer toute son attention à l'exécution de son travail, tout en parant aux conséquences de gestes involontaires.</a:t>
            </a:r>
          </a:p>
          <a:p>
            <a:pPr>
              <a:defRPr sz="1600"/>
            </a:pPr>
            <a:r>
              <a:t>Cette distance g est conventionnellement prise égale à :  · 0,30 m pour les domaines de tension BT et TBT ;  · 0,50 m pour le domaine de tension HT.</a:t>
            </a:r>
          </a:p>
          <a:p>
            <a:pPr>
              <a:defRPr sz="1600"/>
            </a:pPr>
            <a:r>
              <a:t>Pour les valeurs de tension nominales les plus courantes, les valeurs de t, de g et de la DMA sont indiquées dans le Tableau 6.</a:t>
            </a:r>
          </a:p>
          <a:p>
            <a:pPr>
              <a:defRPr sz="1600"/>
            </a:pPr>
            <a:r>
              <a:t>UTE  -  61  -  NF C 18-510  Tableau 6 - Distance Minimale d'Approche  Tension nominale Distance de Distance de Distance minimale d'approche Un en kV tension garde entre une phase et un t en m g en m opérateur au potentiel de la terre DMA en m 0,4 0 (*) 0,30 0,30 1 0 (*) 0,30 0,30 15 0,10 0,50 0,60 20 0,10 0,50 0,60 30 0,20 0,50 0,70 63 0,30 0,50 0,80 90 0,50 0,50 1,00 150 0,80 0,50 1,30 225 1,10 0,50 1,60 400 2 0,50 2,50 (*) Sans contact.</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6.2.9 Zone des travaux sous tension en haute tension</a:t>
            </a:r>
          </a:p>
        </p:txBody>
      </p:sp>
      <p:sp>
        <p:nvSpPr>
          <p:cNvPr id="3" name="Content Placeholder 2"/>
          <p:cNvSpPr>
            <a:spLocks noGrp="1"/>
          </p:cNvSpPr>
          <p:nvPr>
            <p:ph idx="1"/>
          </p:nvPr>
        </p:nvSpPr>
        <p:spPr/>
        <p:txBody>
          <a:bodyPr/>
          <a:lstStyle/>
          <a:p>
            <a:pPr>
              <a:defRPr sz="1600"/>
            </a:pPr>
            <a:r>
              <a:t>La zone de TRAVAUX SOUS TENSION en haute tension, appelée zone 3, est comprise entre les pièces nues sous tension et la DISTANCE MINIMALE D'APPROCHE (DMA), ou la DISTANCE MINIMALE D'APPROCHE CORRIGEE (DMAC) lorsqu'elle est spécifiée.</a:t>
            </a:r>
          </a:p>
          <a:p>
            <a:pPr>
              <a:defRPr sz="1600"/>
            </a:pPr>
            <a:r>
              <a:t>NF C 18-510  -  62  -  UTE  A schematic diagram illustrating concentric zones around a central point, labeled "Conducteur" (Conductor).</a:t>
            </a:r>
          </a:p>
          <a:p>
            <a:pPr>
              <a:defRPr sz="1600"/>
            </a:pPr>
            <a:r>
              <a:t>The diagram is set within a larger rectangular area, with a horizontal line at the bottom labeled "Sol" (Ground).</a:t>
            </a:r>
          </a:p>
          <a:p>
            <a:pPr>
              <a:defRPr sz="1600"/>
            </a:pPr>
            <a:r>
              <a:t>The overall rectangular area is shaded light gray.</a:t>
            </a:r>
          </a:p>
          <a:p>
            <a:pPr>
              <a:defRPr sz="1600"/>
            </a:pPr>
            <a:r>
              <a:t>On the left vertical edge, the text "DLI = 50 m" is written.</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6.3 Distances limites et zones définies dans les locaux et emplacements d'accès</a:t>
            </a:r>
          </a:p>
        </p:txBody>
      </p:sp>
      <p:sp>
        <p:nvSpPr>
          <p:cNvPr id="3" name="Content Placeholder 2"/>
          <p:cNvSpPr>
            <a:spLocks noGrp="1"/>
          </p:cNvSpPr>
          <p:nvPr>
            <p:ph idx="1"/>
          </p:nvPr>
        </p:nvSpPr>
        <p:spPr/>
        <p:txBody>
          <a:bodyPr/>
          <a:lstStyle/>
          <a:p>
            <a:pPr>
              <a:defRPr sz="1600"/>
            </a:pPr>
            <a:r>
              <a:t>réservé aux électriciens  Les zones définies dans les LOCAUX ET EMPLACEMENTS D'ACCES RESERVE AUX ELECTRICIENS sont les mêmes que celles du 6.</a:t>
            </a:r>
          </a:p>
          <a:p>
            <a:pPr>
              <a:defRPr sz="1600"/>
            </a:pPr>
            <a:r>
              <a:t>2 pour les zones en présence de pièces nues sous tension en champ libre avec, comme limite, la face interne du local ou de la clôture en lieu et place de la DISTANCE LIMITE DE VOISINAGE SIMPLE (DLVS).</a:t>
            </a:r>
          </a:p>
          <a:p>
            <a:pPr>
              <a:defRPr sz="1600"/>
            </a:pPr>
            <a:r>
              <a:t>Au-delà du local ou de la clôture, il n'y a pas de prescriptions vis-à-vis de l'OUVRAGE ou de l'INSTALLATION situé à l'intérieur (il n'existe pas de zone 0) (voir Figure 8).</a:t>
            </a:r>
          </a:p>
          <a:p>
            <a:pPr>
              <a:defRPr sz="1600"/>
            </a:pPr>
            <a:r>
              <a:t>The image is a 2D chart with a horizontal x-axis labeled "Mètres" and a vertical y-axis labeled "kV".</a:t>
            </a:r>
          </a:p>
          <a:p>
            <a:pPr>
              <a:defRPr sz="1600"/>
            </a:pPr>
            <a:r>
              <a:t>**X-axis:** *   The x-axis starts at 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6.4 Distances limites et zones définies autour des supports de lignes aériennes</a:t>
            </a:r>
          </a:p>
        </p:txBody>
      </p:sp>
      <p:sp>
        <p:nvSpPr>
          <p:cNvPr id="3" name="Content Placeholder 2"/>
          <p:cNvSpPr>
            <a:spLocks noGrp="1"/>
          </p:cNvSpPr>
          <p:nvPr>
            <p:ph idx="1"/>
          </p:nvPr>
        </p:nvSpPr>
        <p:spPr/>
        <p:txBody>
          <a:bodyPr/>
          <a:lstStyle/>
          <a:p>
            <a:pPr>
              <a:defRPr sz="1600"/>
            </a:pPr>
            <a:r>
              <a:t>Les zones autour des supports de lignes aériennes (pylônes et poteaux) sont définies à partir des zones en présence de pièces nues sous tension en champ libre selon le 6.</a:t>
            </a:r>
          </a:p>
          <a:p>
            <a:pPr>
              <a:defRPr sz="1600"/>
            </a:pPr>
            <a:r>
              <a:t>2 et représentées à la Figure 9 dans le cas d'une ligne haute tension.</a:t>
            </a:r>
          </a:p>
          <a:p>
            <a:pPr>
              <a:defRPr sz="1600"/>
            </a:pPr>
            <a:r>
              <a:t>L'ascension, au-delà de 2,50 m, d'un pylône ou d'un poteau est équivalente à l'entrée dans la zone 1 d'un LOCAL ET EMPLACEMENT D'ACCES RESERVE AUX ELECTRICIENS.</a:t>
            </a:r>
          </a:p>
          <a:p>
            <a:pPr>
              <a:defRPr sz="1600"/>
            </a:pPr>
            <a:r>
              <a:t>A diagram illustrating an electrical pylon and associated electromagnetic fields.</a:t>
            </a:r>
          </a:p>
          <a:p>
            <a:pPr>
              <a:defRPr sz="1600"/>
            </a:pPr>
            <a:r>
              <a:t>The pylon is a tall, green, lattice-like structure with a wide base and tapering top.</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6.5 Distances limites et zones définies par l'ouverture d'une armoire, d'un coffret ou</a:t>
            </a:r>
          </a:p>
        </p:txBody>
      </p:sp>
      <p:sp>
        <p:nvSpPr>
          <p:cNvPr id="3" name="Content Placeholder 2"/>
          <p:cNvSpPr>
            <a:spLocks noGrp="1"/>
          </p:cNvSpPr>
          <p:nvPr>
            <p:ph idx="1"/>
          </p:nvPr>
        </p:nvSpPr>
        <p:spPr/>
        <p:txBody>
          <a:bodyPr/>
          <a:lstStyle/>
          <a:p>
            <a:pPr>
              <a:defRPr sz="1600"/>
            </a:pPr>
            <a:r>
              <a:t>d'une enveloppe de matériel électrique  Les zones engendrées par l'ouverture d'une armoire, d'un coffret ou d'une ENVELOPPE de MATERIEL électrique, y compris les gaines à barres, sont définies à partir des zones en présence de pièces nues sous tension en champ libre selon le 6.</a:t>
            </a:r>
          </a:p>
          <a:p>
            <a:pPr>
              <a:defRPr sz="1600"/>
            </a:pPr>
            <a:r>
              <a:t>2 et représentées, à titre d'exemple en basse tension, à la Figure 10.</a:t>
            </a:r>
          </a:p>
          <a:p>
            <a:pPr>
              <a:defRPr sz="1600"/>
            </a:pPr>
            <a:r>
              <a:t>En basse tension, l'ouverture d'une armoire, d'un coffret, d'une ENVELOPPE de MATERIEL électrique est équivalente à l'entrée dans la zone 1 ou dans la zone 4.</a:t>
            </a:r>
          </a:p>
          <a:p>
            <a:pPr>
              <a:defRPr sz="1600"/>
            </a:pPr>
            <a:r>
              <a:t>A schematic diagram illustrating a light projection setup.</a:t>
            </a:r>
          </a:p>
          <a:p>
            <a:pPr>
              <a:defRPr sz="1600"/>
            </a:pPr>
            <a:r>
              <a:t>On the far left, a vertical gray rectangle is labeled "Platine" along its left edge.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6.6 Distances limites et zones définies autour des canalisations isolées</a:t>
            </a:r>
          </a:p>
        </p:txBody>
      </p:sp>
      <p:sp>
        <p:nvSpPr>
          <p:cNvPr id="3" name="Content Placeholder 2"/>
          <p:cNvSpPr>
            <a:spLocks noGrp="1"/>
          </p:cNvSpPr>
          <p:nvPr>
            <p:ph idx="1"/>
          </p:nvPr>
        </p:nvSpPr>
        <p:spPr/>
        <p:txBody>
          <a:bodyPr/>
          <a:lstStyle/>
          <a:p>
            <a:pPr>
              <a:defRPr sz="1600"/>
            </a:pPr>
            <a:r>
              <a:t>Les distances limites mesurées à partir de l'extérieur de la canalisation sont des distances qui servent à définir les limites des volumes des différentes zones de l'ENVIRONNEMENT (voir Figures 11 et 12).</a:t>
            </a:r>
          </a:p>
          <a:p>
            <a:pPr>
              <a:defRPr sz="1600"/>
            </a:pPr>
            <a:r>
              <a:t>NF C 18-510  -  68  -  UTE  Dans le présent paragraphe, l'ENVIRONNEMENT électrique représente le volume autour d'une CANALISATION ISOLEE.</a:t>
            </a:r>
          </a:p>
          <a:p>
            <a:pPr>
              <a:defRPr sz="1600"/>
            </a:pPr>
            <a:r>
              <a:t>Cet ENVIRONNEMENT est divisé en deux zones :  · la ZONE D'INVESTIGATION à l'extérieur ;  · la ZONE D'APPROCHE PRUDENTE à l'intérieur.</a:t>
            </a:r>
          </a:p>
          <a:p>
            <a:pPr>
              <a:defRPr sz="1600"/>
            </a:pPr>
            <a:r>
              <a:t>En dehors des cas où une limite physique évidente, telle que la limite d'un local (mur, sol plafond) ou d'une propriété, materialise la limite de la ZONE D'INVESTIGATION, cette dernière est fixée conventionnellement par la DISTANCE LIMITE D'INVESTIGATION (DLI) égale à 50 m.</a:t>
            </a:r>
          </a:p>
          <a:p>
            <a:pPr>
              <a:defRPr sz="1600"/>
            </a:pPr>
            <a:r>
              <a:t>La ZONE D'INVESTIGATION est la zone dans laquelle il est demandé d'analyser si l'exécution de l'opération envisagée peut exposer les opérateurs au risque électrique.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6.6.1 Canalisations isolées visibles</a:t>
            </a:r>
          </a:p>
        </p:txBody>
      </p:sp>
      <p:sp>
        <p:nvSpPr>
          <p:cNvPr id="3" name="Content Placeholder 2"/>
          <p:cNvSpPr>
            <a:spLocks noGrp="1"/>
          </p:cNvSpPr>
          <p:nvPr>
            <p:ph idx="1"/>
          </p:nvPr>
        </p:nvSpPr>
        <p:spPr/>
        <p:txBody>
          <a:bodyPr/>
          <a:lstStyle/>
          <a:p>
            <a:pPr>
              <a:defRPr sz="1600"/>
            </a:pPr>
            <a:r>
              <a:t>Les CANALISATIONS ISOLEES visibles sont celles que l'on peut localiser visuellement.</a:t>
            </a:r>
          </a:p>
          <a:p>
            <a:pPr>
              <a:defRPr sz="1600"/>
            </a:pPr>
            <a:r>
              <a:t>Sont considérés notamment comme visibles  :  · les câbles isolés aériens sur supports (poteaux, pylônes) ou en façade d'immeubles ;.</a:t>
            </a:r>
          </a:p>
          <a:p>
            <a:pPr>
              <a:defRPr sz="1600"/>
            </a:pPr>
            <a:r>
              <a:t>les canalisations dans les faux-plafonds démontables ou sous les planchers techniques démontables, etc.</a:t>
            </a:r>
          </a:p>
          <a:p>
            <a:pPr>
              <a:defRPr sz="1600"/>
            </a:pPr>
            <a:r>
              <a:t>;  · les câbles en caniveaux, en galeries ou en gaines techniques ;  · les canalisations en montage apparent ;  · les fourreaux ou buses non enterrés contenant des câbles ;.</a:t>
            </a:r>
          </a:p>
          <a:p>
            <a:pPr>
              <a:defRPr sz="1600"/>
            </a:pPr>
            <a:r>
              <a:t>les canalisations dégagées ; par exemple après terrassement, démolition ou déconstruction.</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6.6.2 Canalisations isolées invisibles</a:t>
            </a:r>
          </a:p>
        </p:txBody>
      </p:sp>
      <p:sp>
        <p:nvSpPr>
          <p:cNvPr id="3" name="Content Placeholder 2"/>
          <p:cNvSpPr>
            <a:spLocks noGrp="1"/>
          </p:cNvSpPr>
          <p:nvPr>
            <p:ph idx="1"/>
          </p:nvPr>
        </p:nvSpPr>
        <p:spPr/>
        <p:txBody>
          <a:bodyPr/>
          <a:lstStyle/>
          <a:p>
            <a:pPr>
              <a:defRPr sz="1600"/>
            </a:pPr>
            <a:r>
              <a:t>Les CANALISATIONS ISOLEES invisibles sont les canalisations enterrées, noyées ou encastrées.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6.6.2.1 Canalisations isolées invisibles enterrées</a:t>
            </a:r>
          </a:p>
        </p:txBody>
      </p:sp>
      <p:sp>
        <p:nvSpPr>
          <p:cNvPr id="3" name="Content Placeholder 2"/>
          <p:cNvSpPr>
            <a:spLocks noGrp="1"/>
          </p:cNvSpPr>
          <p:nvPr>
            <p:ph idx="1"/>
          </p:nvPr>
        </p:nvSpPr>
        <p:spPr/>
        <p:txBody>
          <a:bodyPr/>
          <a:lstStyle/>
          <a:p>
            <a:pPr>
              <a:defRPr sz="1600"/>
            </a:pPr>
            <a:r>
              <a:t>La présence d'une canalisation enterrée est à prendre en considération si on effectue un creusement, forage, fonçage, enfoncement ou perçage.</a:t>
            </a:r>
          </a:p>
          <a:p>
            <a:pPr>
              <a:defRPr sz="1600"/>
            </a:pPr>
            <a:r>
              <a:t>Le présent document ne définit pas de prescriptions pour les OPERATIONS menées au-dessus du sol ou en surface.</a:t>
            </a:r>
          </a:p>
          <a:p>
            <a:pPr>
              <a:defRPr sz="1600"/>
            </a:pPr>
            <a:r>
              <a:t>Afin d'adapter les methodes d'approche d'une canalisation enterrée, la DISTANCE LIMITE D'APPROCHE PRUDENTE (DLAP) est fixée à 0,50 m.</a:t>
            </a:r>
          </a:p>
          <a:p>
            <a:pPr>
              <a:defRPr sz="1600"/>
            </a:pPr>
            <a:r>
              <a:t>On distingue, en outre, une première distance de 1,50 m à partir de l'extérieur de la canalisation, distance pour laquelle l'exploitant doit être consulté.</a:t>
            </a:r>
          </a:p>
          <a:p>
            <a:pPr>
              <a:defRPr sz="1600"/>
            </a:pPr>
            <a:r>
              <a:t>A schematic diagram illustrating a cross-section of soil with a buried pipe.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6.6.2.2 Canalisations isolées invisibles noyées ou encastrées</a:t>
            </a:r>
          </a:p>
        </p:txBody>
      </p:sp>
      <p:sp>
        <p:nvSpPr>
          <p:cNvPr id="3" name="Content Placeholder 2"/>
          <p:cNvSpPr>
            <a:spLocks noGrp="1"/>
          </p:cNvSpPr>
          <p:nvPr>
            <p:ph idx="1"/>
          </p:nvPr>
        </p:nvSpPr>
        <p:spPr/>
        <p:txBody>
          <a:bodyPr/>
          <a:lstStyle/>
          <a:p>
            <a:pPr>
              <a:defRPr sz="1600"/>
            </a:pPr>
            <a:r>
              <a:t>Pour les CANALISATIONS NOYEES OU ENCASTREES, la DLAP est fixée à 0,50 m.</a:t>
            </a:r>
          </a:p>
          <a:p>
            <a:pPr>
              <a:defRPr sz="1600"/>
            </a:pPr>
            <a:r>
              <a:t>Dans le cas d'une CANALISATION ISOLEE NOYEE, la ZONE D'INVESTIGATION est limitée à la surface extérieure du mur ou du sol, etc.</a:t>
            </a:r>
          </a:p>
          <a:p>
            <a:pPr>
              <a:defRPr sz="1600"/>
            </a:pPr>
            <a:r>
              <a:t>dans lequel la canalisation est noyée.</a:t>
            </a:r>
          </a:p>
          <a:p>
            <a:pPr>
              <a:defRPr sz="1600"/>
            </a:pPr>
            <a:r>
              <a:t>Dans le cas d'une CANALISATION ISOLEE ENCASTREE, la ZONE D'INVESTIGATION est limitée à la surface extérieure du côté affleurant.</a:t>
            </a:r>
          </a:p>
          <a:p>
            <a:pPr>
              <a:defRPr sz="1600"/>
            </a:pPr>
            <a:r>
              <a:t>Pour les CANALISATIONS NOYEES OU ENCASTREES a une distance inférieure à la DLAP, il est nécessaire de procéder à une analyse de risques et d'appliquer les prescriptions spécifiques qui en découlent.</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6.7 Environnement autour d'un circuit de terre</a:t>
            </a:r>
          </a:p>
        </p:txBody>
      </p:sp>
      <p:sp>
        <p:nvSpPr>
          <p:cNvPr id="3" name="Content Placeholder 2"/>
          <p:cNvSpPr>
            <a:spLocks noGrp="1"/>
          </p:cNvSpPr>
          <p:nvPr>
            <p:ph idx="1"/>
          </p:nvPr>
        </p:nvSpPr>
        <p:spPr/>
        <p:txBody>
          <a:bodyPr/>
          <a:lstStyle/>
          <a:p>
            <a:pPr>
              <a:defRPr sz="1600"/>
            </a:pPr>
            <a:r>
              <a:t>Un circuit de terre peut être constitué de conducteurs nus ou isolés.</a:t>
            </a:r>
          </a:p>
          <a:p>
            <a:pPr>
              <a:defRPr sz="1600"/>
            </a:pPr>
            <a:r>
              <a:t>Il peut comprendre des parties visibles ou invisibles.</a:t>
            </a:r>
          </a:p>
          <a:p>
            <a:pPr>
              <a:defRPr sz="1600"/>
            </a:pPr>
            <a:r>
              <a:t>Il n'y a pas de notion d'ENVIRONNEMENT autour d'un circuit de terre.</a:t>
            </a:r>
          </a:p>
          <a:p>
            <a:pPr>
              <a:defRPr sz="1600"/>
            </a:pPr>
            <a:r>
              <a:t>Il faut cependant prendre des précautions pour ne pas l'endommager.</a:t>
            </a:r>
          </a:p>
          <a:p>
            <a:pPr>
              <a:defRPr sz="1600"/>
            </a:pPr>
            <a:r>
              <a:t>Les circuits de terre enterrés nécessitent une approche prudente (voir 12.</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6.8 Cas particulier des canalisations gainées</a:t>
            </a:r>
          </a:p>
        </p:txBody>
      </p:sp>
      <p:sp>
        <p:nvSpPr>
          <p:cNvPr id="3" name="Content Placeholder 2"/>
          <p:cNvSpPr>
            <a:spLocks noGrp="1"/>
          </p:cNvSpPr>
          <p:nvPr>
            <p:ph idx="1"/>
          </p:nvPr>
        </p:nvSpPr>
        <p:spPr/>
        <p:txBody>
          <a:bodyPr/>
          <a:lstStyle/>
          <a:p>
            <a:pPr>
              <a:defRPr sz="1600"/>
            </a:pPr>
            <a:r>
              <a:t>Une canalisation électrique gainee est une canalisation électrique recouverte par construction d'une enveloppe en matière isolante.</a:t>
            </a:r>
          </a:p>
          <a:p>
            <a:pPr>
              <a:defRPr sz="1600"/>
            </a:pPr>
            <a:r>
              <a:t>Ce type de canalisation, qui existe sur des OUVRAGES HTA, a le même aspect exterieur qu'une CANALISATION ISOLEE ; mais, l'ENVELOPPE ne garantit pas une ISOLATION suffisante pour la protection des personnes.</a:t>
            </a:r>
          </a:p>
          <a:p>
            <a:pPr>
              <a:defRPr sz="1600"/>
            </a:pPr>
            <a:r>
              <a:t>Ce type de canalisation est donc à considérer, du point de vue du risque électrique, comme un conducteur nu.</a:t>
            </a:r>
          </a:p>
          <a:p>
            <a:pPr>
              <a:defRPr sz="1600"/>
            </a:pPr>
            <a:r>
              <a:t>La classification des zones autour d'une canalisation électrique gainée est celle du 6.</a:t>
            </a:r>
          </a:p>
          <a:p>
            <a:pPr>
              <a:defRPr sz="1600"/>
            </a:pPr>
            <a:r>
              <a:t>2.</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OPERATIONS HORS TENSION</a:t>
            </a:r>
          </a:p>
        </p:txBody>
      </p:sp>
      <p:sp>
        <p:nvSpPr>
          <p:cNvPr id="3" name="Content Placeholder 2"/>
          <p:cNvSpPr>
            <a:spLocks noGrp="1"/>
          </p:cNvSpPr>
          <p:nvPr>
            <p:ph idx="1"/>
          </p:nvPr>
        </p:nvSpPr>
        <p:spPr/>
        <p:txBody>
          <a:bodyPr/>
          <a:lstStyle/>
          <a:p>
            <a:pPr>
              <a:defRPr sz="1600"/>
            </a:pPr>
            <a:r>
              <a:t>Cet article définit les prescriptions à appliquer pour exécuter les OPERATIONS HORS TENSION.</a:t>
            </a:r>
          </a:p>
          <a:p>
            <a:pPr>
              <a:defRPr sz="1600"/>
            </a:pPr>
            <a:r>
              <a:t>La CONSIGNATION est la mesure de prévention à mettre en œuvre pour exécuter les OPERATIONS HORS TENSION.</a:t>
            </a:r>
          </a:p>
          <a:p>
            <a:pPr>
              <a:defRPr sz="1600"/>
            </a:pPr>
            <a:r>
              <a:t>Dans les cas où les différentes operations de la CONSIGNATION ne sont pas possibles, on réalise une opération de MISE HORS TENSION qui doit être accompagnée de mesures compensatoires.</a:t>
            </a:r>
          </a:p>
          <a:p>
            <a:pPr>
              <a:defRPr sz="1600"/>
            </a:pPr>
            <a:r>
              <a:t>Cet article traite de la CONSIGNATION et des OPERATIONS réalisables après la CONSIGNATION.</a:t>
            </a:r>
          </a:p>
          <a:p>
            <a:pPr>
              <a:defRPr sz="1600"/>
            </a:pPr>
            <a:r>
              <a:t>Lorsque la CONSIGNATION n'est pas possible, cet article traite de la MISE HORS TENSION et des OPERATIONS réalisables après MISE HORS TENSION.</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 Principes fondamentaux de la consignation électrique d'un ouvrage ou d'une</a:t>
            </a:r>
          </a:p>
        </p:txBody>
      </p:sp>
      <p:sp>
        <p:nvSpPr>
          <p:cNvPr id="3" name="Content Placeholder 2"/>
          <p:cNvSpPr>
            <a:spLocks noGrp="1"/>
          </p:cNvSpPr>
          <p:nvPr>
            <p:ph idx="1"/>
          </p:nvPr>
        </p:nvSpPr>
        <p:spPr/>
        <p:txBody>
          <a:bodyPr/>
          <a:lstStyle/>
          <a:p>
            <a:pPr>
              <a:defRPr sz="1600"/>
            </a:pPr>
            <a:r>
              <a:t>installation  La CONSIGNATION, qui est une procedure d'ordre électrique, comprend les opérations suivantes :  · SEPARATION de toute source d'énergie électrique (opération 1) de la partie d'OUVRAGE ou d'INSTALLATION concernée et préalablement identifiée ;  · CONDAMNATION en position d'ouverture des organes de séparation (opération 2) ;  · IDENTIFICATION sur le lieu de travail de la partie d'OUVRAGE ou d'INSTALLATION concernée afin d'être certain que les TRAVAUX seront bien executes sur l'OUVRAGE ou l'INSTALLATION prévus (opération 3) ;  · VERIFICATION D'ABSENCE DE TENSION (VAT) (opération 4) ;  · MISE A LA TERRE ET EN COURT-CIRCUIT immédiatement après la VAT (opération 5).</a:t>
            </a:r>
          </a:p>
          <a:p>
            <a:pPr>
              <a:defRPr sz="1600"/>
            </a:pPr>
            <a:r>
              <a:t>Les cinq opérations ci-dessus doivent être appliquées dans l'ordre spécifié, à moins qu'il y ait des raisons essentielles de faire autrement et à condition d'apporter un même niveau de sécurité.</a:t>
            </a:r>
          </a:p>
          <a:p>
            <a:pPr>
              <a:defRPr sz="1600"/>
            </a:pPr>
            <a:r>
              <a:t>Une CONSIGNATION est organisée selon l'une ou l'autre des procédures définie au 7.</a:t>
            </a:r>
          </a:p>
          <a:p>
            <a:pPr>
              <a:defRPr sz="1600"/>
            </a:pPr>
            <a:r>
              <a:t>1.</a:t>
            </a:r>
          </a:p>
          <a:p>
            <a:pPr>
              <a:defRPr sz="1600"/>
            </a:pPr>
            <a:r>
              <a:t>3 :  · la CONSIGNATION EN UNE ETAPE ;  · la CONSIGNATION EN DEUX ETAPES.</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7.1.2.1 Condition préalable à la consignation ou préidentification</a:t>
            </a:r>
          </a:p>
        </p:txBody>
      </p:sp>
      <p:sp>
        <p:nvSpPr>
          <p:cNvPr id="3" name="Content Placeholder 2"/>
          <p:cNvSpPr>
            <a:spLocks noGrp="1"/>
          </p:cNvSpPr>
          <p:nvPr>
            <p:ph idx="1"/>
          </p:nvPr>
        </p:nvSpPr>
        <p:spPr/>
        <p:txBody>
          <a:bodyPr/>
          <a:lstStyle/>
          <a:p>
            <a:pPr>
              <a:defRPr sz="1600"/>
            </a:pPr>
            <a:r>
              <a:t>La PREIDENTIFICATION de l'OUVRAGE ou de l'INSTALLATION concernés entre dans le cadre de la préparation du travail.</a:t>
            </a:r>
          </a:p>
          <a:p>
            <a:pPr>
              <a:defRPr sz="1600"/>
            </a:pPr>
            <a:r>
              <a:t>Elle a pour but de s'assurer que les TRAVAUX seront bien effectués sur l'OUVRAGE ou l'INSTALLATION à consigner.</a:t>
            </a:r>
          </a:p>
          <a:p>
            <a:pPr>
              <a:defRPr sz="1600"/>
            </a:pPr>
            <a:r>
              <a:t>Cette PREIDENTIFICATION est basée sur :  · la connaissance de la situation géographique du chantier ;  · la consultation des dossiers règlementaires, des schémas ou de la cartographie ;.</a:t>
            </a:r>
          </a:p>
          <a:p>
            <a:pPr>
              <a:defRPr sz="1600"/>
            </a:pPr>
            <a:r>
              <a:t>les caractéristiques des OUVRAGES ou des INSTALLATIONS sur lesquels l'opérateur doit travailler ;  · la connaissance des OUVRAGES ou des INSTALLATIONS situés dans l'ENVIRONNEMENT ;  · tout autre moyen approprié, tel que le repérage sur place.</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7.1.2.2 Opération 1 - Séparation électrique de l'ouvrage ou de l'installation des</a:t>
            </a:r>
          </a:p>
        </p:txBody>
      </p:sp>
      <p:sp>
        <p:nvSpPr>
          <p:cNvPr id="3" name="Content Placeholder 2"/>
          <p:cNvSpPr>
            <a:spLocks noGrp="1"/>
          </p:cNvSpPr>
          <p:nvPr>
            <p:ph idx="1"/>
          </p:nvPr>
        </p:nvSpPr>
        <p:spPr/>
        <p:txBody>
          <a:bodyPr/>
          <a:lstStyle/>
          <a:p>
            <a:pPr>
              <a:defRPr sz="1600"/>
            </a:pPr>
            <a:r>
              <a:t>sources de tension  Après la PREIDENTIFICATION, la SEPARATION doit être effectuée au moyen d'organes prévus à cet effet sur tous les conducteurs actifs, y compris le neutre distribué, à l'exception du conducteur de 'protection et neutre' (PEN).</a:t>
            </a:r>
          </a:p>
          <a:p>
            <a:pPr>
              <a:defRPr sz="1600"/>
            </a:pPr>
            <a:r>
              <a:t>La SEPARATION de toutes sources de tension, amont et aval, doit être effectuée de façon certaine.</a:t>
            </a:r>
          </a:p>
          <a:p>
            <a:pPr>
              <a:defRPr sz="1600"/>
            </a:pPr>
            <a:r>
              <a:t>Quelle que soit la tension des OUVRAGES ou des INSTALLATIONS, la certitude de la SEPARATION peut être obtenue de différentes manières :  · par vue directe des contacts séparés avec une distance d'ouverture dans l'air et des lignes de fuite adaptées à la tension d'isolement et à la surtension assignée ;  · par enlèvement de pièces de contact pour certains MATERIELS spéciaux (dépose de pont, retrait de fusible, retrait d'une fiche de courant, etc.</a:t>
            </a:r>
          </a:p>
          <a:p>
            <a:pPr>
              <a:defRPr sz="1600"/>
            </a:pPr>
            <a:r>
              <a:t>) ;  · par interposition d'un ECRAN isolant entre les contacts ;  · par appareil normalisé asservi à l'absence de tension ;  · localement, par asservissement (électrique, mécanique, etc.</a:t>
            </a:r>
          </a:p>
          <a:p>
            <a:pPr>
              <a:defRPr sz="1600"/>
            </a:pPr>
            <a:r>
              <a:t>) assurant en toute circonstance l'adéquation entre la position des contacts et celle du dispositif extérieur reflétant cette position ;  · par télécommande, à condition que le capteur local de l'information de la position des contacts réponde à la condition ci-dessus ; dans ce cas, la transmission de cette information (signalisation optique, telesignalisation, etc.</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7.1.2.3 Opération 2 - Condamnation en position d'ouverture</a:t>
            </a:r>
          </a:p>
        </p:txBody>
      </p:sp>
      <p:sp>
        <p:nvSpPr>
          <p:cNvPr id="3" name="Content Placeholder 2"/>
          <p:cNvSpPr>
            <a:spLocks noGrp="1"/>
          </p:cNvSpPr>
          <p:nvPr>
            <p:ph idx="1"/>
          </p:nvPr>
        </p:nvSpPr>
        <p:spPr/>
        <p:txBody>
          <a:bodyPr/>
          <a:lstStyle/>
          <a:p>
            <a:pPr>
              <a:defRPr sz="1600"/>
            </a:pPr>
            <a:r>
              <a:t>La CONDAMNATION en position d'ouverture a pour but d'empêcher la manœuvre de l'organe de SEPARATION.</a:t>
            </a:r>
          </a:p>
          <a:p>
            <a:pPr>
              <a:defRPr sz="1600"/>
            </a:pPr>
            <a:r>
              <a:t>UTE  -  73  -  NF C 18-510  Elle comprend :  · une immobilisation de l'organe.</a:t>
            </a:r>
          </a:p>
          <a:p>
            <a:pPr>
              <a:defRPr sz="1600"/>
            </a:pPr>
            <a:r>
              <a:t>Celle-ci est réalisée par blocage mécanique (serrure, cadenas, etc.</a:t>
            </a:r>
          </a:p>
          <a:p>
            <a:pPr>
              <a:defRPr sz="1600"/>
            </a:pPr>
            <a:r>
              <a:t>) ou équivalent à l'aide de dispositifs offrant les mêmes garanties.</a:t>
            </a:r>
          </a:p>
          <a:p>
            <a:pPr>
              <a:defRPr sz="1600"/>
            </a:pPr>
            <a:r>
              <a:t>Elle doit comporter la neutralisation de toutes les commandes, sur place ou à distance.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7.1.2.4 Opération 3 - Identification de la partie de l'ouvrage ou de l'installation</a:t>
            </a:r>
          </a:p>
        </p:txBody>
      </p:sp>
      <p:sp>
        <p:nvSpPr>
          <p:cNvPr id="3" name="Content Placeholder 2"/>
          <p:cNvSpPr>
            <a:spLocks noGrp="1"/>
          </p:cNvSpPr>
          <p:nvPr>
            <p:ph idx="1"/>
          </p:nvPr>
        </p:nvSpPr>
        <p:spPr/>
        <p:txBody>
          <a:bodyPr/>
          <a:lstStyle/>
          <a:p>
            <a:pPr>
              <a:defRPr sz="1600"/>
            </a:pPr>
            <a:r>
              <a:t>concernée  L'IDENTIFICATION sur le lieu de travail de la partie de l'OUVRAGE ou de l'INSTALLATION concernée permet d'acquérir la certitude que les TRAVAUX sont effectués sur l'OUVRAGE ou l'INSTALLATION séparés de toute alimentation par des organes de SEPARATION condamnés en position d'ouverture.</a:t>
            </a:r>
          </a:p>
          <a:p>
            <a:pPr>
              <a:defRPr sz="1600"/>
            </a:pPr>
            <a:r>
              <a:t>Différentes méthodes peuvent être mises en œuvre, dont la combinaison doit conduire à la certitude de cette IDENTIFICATION :  · consultation de schémas ou de la cartographie ;  · connaissance des OUVRAGES ou des INSTALLATIONS et de leurs caractéristiques  ;  · lecture des pancartes, étiquettes, numéros des supports ;  · IDENTIFICATION visuelle sur place, lorsque l'on peut suivre la ligne ou la canalisation depuis le lieu où a été réalisée la SEPARATION certaine jusqu'à la ZONE DE TRAVAIL ;  · mise en œuvre d'appareils d'identification de circuits ;  · tout autre moyen approprié équivalent.</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7.1.2.5 Opération 4 - Vérification d'absence de tension</a:t>
            </a:r>
          </a:p>
        </p:txBody>
      </p:sp>
      <p:sp>
        <p:nvSpPr>
          <p:cNvPr id="3" name="Content Placeholder 2"/>
          <p:cNvSpPr>
            <a:spLocks noGrp="1"/>
          </p:cNvSpPr>
          <p:nvPr>
            <p:ph idx="1"/>
          </p:nvPr>
        </p:nvSpPr>
        <p:spPr/>
        <p:txBody>
          <a:bodyPr/>
          <a:lstStyle/>
          <a:p>
            <a:pPr>
              <a:defRPr sz="1600"/>
            </a:pPr>
            <a:r>
              <a:t>La VERIFICATION D'ABSENCE DE TENSION (VAT) doit être effectuée sur chacun des conducteurs actifs, y compris le neutre, à l'aide d'un DISPOSITIF DE VERIFICATION D'ABSENCE DE TENSION normalisé et spécialement conçu à cet effet.</a:t>
            </a:r>
          </a:p>
          <a:p>
            <a:pPr>
              <a:defRPr sz="1600"/>
            </a:pPr>
            <a:r>
              <a:t>Elle doit être réalisée sur le lieu de travail ou aussi près que possible de celui-ci, en s'assurant de la continuité électrique entre le point de VERIFICATION D'ABSENCE DE TENSION et le lieu de travail.</a:t>
            </a:r>
          </a:p>
          <a:p>
            <a:pPr>
              <a:defRPr sz="1600"/>
            </a:pPr>
            <a:r>
              <a:t>En basse tension, cette vérification doit être effectuée entre chaque conducteur actif et la terre.</a:t>
            </a:r>
          </a:p>
          <a:p>
            <a:pPr>
              <a:defRPr sz="1600"/>
            </a:pPr>
            <a:r>
              <a:t>NF C 18-510  -  74  -  UTE  La procédure de mise en œuvre des DISPOSITIFS DE VERIFICATION D'ABSENCE DE TENSION est explicitee en Annexe C en C.</a:t>
            </a:r>
          </a:p>
          <a:p>
            <a:pPr>
              <a:defRPr sz="1600"/>
            </a:pPr>
            <a:r>
              <a:t>4.</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7.1.2.6 Opération 5 - Mise à la terre et en court-circuit</a:t>
            </a:r>
          </a:p>
        </p:txBody>
      </p:sp>
      <p:sp>
        <p:nvSpPr>
          <p:cNvPr id="3" name="Content Placeholder 2"/>
          <p:cNvSpPr>
            <a:spLocks noGrp="1"/>
          </p:cNvSpPr>
          <p:nvPr>
            <p:ph idx="1"/>
          </p:nvPr>
        </p:nvSpPr>
        <p:spPr/>
        <p:txBody>
          <a:bodyPr/>
          <a:lstStyle/>
          <a:p>
            <a:pPr>
              <a:defRPr sz="1600"/>
            </a:pPr>
            <a:r>
              <a:t>La MISE A LA TERRE ET EN COURT-CIRCUIT (MALT/CC), réalisée immédiatement après la VERIFICATION D'ABSENCE DE TENSION, est le plus sûr moyen d'assurer la protection des personnes.</a:t>
            </a:r>
          </a:p>
          <a:p>
            <a:pPr>
              <a:defRPr sz="1600"/>
            </a:pPr>
            <a:r>
              <a:t>Elle permet de se prémunir contre les réalimentations éventuelles de tension par l'amont ou l'aval ou par des sources autonomes.</a:t>
            </a:r>
          </a:p>
          <a:p>
            <a:pPr>
              <a:defRPr sz="1600"/>
            </a:pPr>
            <a:r>
              <a:t>Elle participe aussi à la protection contre les effets de l'induction magnétique et du couplage capacitif.</a:t>
            </a:r>
          </a:p>
          <a:p>
            <a:pPr>
              <a:defRPr sz="1600"/>
            </a:pPr>
            <a:r>
              <a:t>La MISE A LA TERRE ET EN COURT-CIRCUIT doit concerner tous les conducteurs actifs dont le neutre lorsque celui-ci est distribué.</a:t>
            </a:r>
          </a:p>
          <a:p>
            <a:pPr>
              <a:defRPr sz="1600"/>
            </a:pPr>
            <a:r>
              <a:t>Elle doit être réalisée de part et d'autre de la ZONE DE TRAVAIL et au plus près possible de celle-ci.</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7.1.2.7.1 En cas d'induction magnétique et de couplage capacitif - équipotentialité</a:t>
            </a:r>
          </a:p>
        </p:txBody>
      </p:sp>
      <p:sp>
        <p:nvSpPr>
          <p:cNvPr id="3" name="Content Placeholder 2"/>
          <p:cNvSpPr>
            <a:spLocks noGrp="1"/>
          </p:cNvSpPr>
          <p:nvPr>
            <p:ph idx="1"/>
          </p:nvPr>
        </p:nvSpPr>
        <p:spPr/>
        <p:txBody>
          <a:bodyPr/>
          <a:lstStyle/>
          <a:p>
            <a:pPr>
              <a:defRPr sz="1600"/>
            </a:pPr>
            <a:r>
              <a:t>Quand l'analyse de risque fait apparaître la possibilité de tension induite, due notamment au couplage capacitif ou à l'induction magnétique, la procédure de CONSIGNATION est insuffisante pour permettre de travailler en securite.</a:t>
            </a:r>
          </a:p>
          <a:p>
            <a:pPr>
              <a:defRPr sz="1600"/>
            </a:pPr>
            <a:r>
              <a:t>Elle doit être completee, conformément aux prescriptions du 12.</a:t>
            </a:r>
          </a:p>
          <a:p>
            <a:pPr>
              <a:defRPr sz="1600"/>
            </a:pPr>
            <a:r>
              <a:t>10, par les mesures décrites ci-après.</a:t>
            </a:r>
          </a:p>
          <a:p>
            <a:pPr>
              <a:defRPr sz="1600"/>
            </a:pPr>
            <a:r>
              <a:t>Vis-à-vis du couplage capacitif, ces mesures consistent à fixer au potentiel de la terre toutes les pièces conductrices à l'aide de dispositifs de liaison électrique appropriés.</a:t>
            </a:r>
          </a:p>
          <a:p>
            <a:pPr>
              <a:defRPr sz="1600"/>
            </a:pPr>
            <a:r>
              <a:t>La mise en place et le retrait de ces dispositifs doivent être organisés et réalisés pour éviter que les OPERATEURS ne s'insèrent dans les circuits de mise à la terre.</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7.1.2.7.2 En présence de condensateurs</a:t>
            </a:r>
          </a:p>
        </p:txBody>
      </p:sp>
      <p:sp>
        <p:nvSpPr>
          <p:cNvPr id="3" name="Content Placeholder 2"/>
          <p:cNvSpPr>
            <a:spLocks noGrp="1"/>
          </p:cNvSpPr>
          <p:nvPr>
            <p:ph idx="1"/>
          </p:nvPr>
        </p:nvSpPr>
        <p:spPr/>
        <p:txBody>
          <a:bodyPr/>
          <a:lstStyle/>
          <a:p>
            <a:pPr>
              <a:defRPr sz="1600"/>
            </a:pPr>
            <a:r>
              <a:t>En cas de présence de condensateurs, ceux-ci doivent être déchargés à la terre par une méthode et/ou un dispositif approprié, avant de réaliser la VAT et l'opération de MALT/CC (si cette dernière est requise).</a:t>
            </a:r>
          </a:p>
          <a:p>
            <a:pPr>
              <a:defRPr sz="1600"/>
            </a:pPr>
            <a:r>
              <a:t>UTE  -  75  -  NF C 18-510.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7.1.3 Procédures de consignation</a:t>
            </a:r>
          </a:p>
        </p:txBody>
      </p:sp>
      <p:sp>
        <p:nvSpPr>
          <p:cNvPr id="3" name="Content Placeholder 2"/>
          <p:cNvSpPr>
            <a:spLocks noGrp="1"/>
          </p:cNvSpPr>
          <p:nvPr>
            <p:ph idx="1"/>
          </p:nvPr>
        </p:nvSpPr>
        <p:spPr/>
        <p:txBody>
          <a:bodyPr/>
          <a:lstStyle/>
          <a:p>
            <a:pPr>
              <a:defRPr sz="1600"/>
            </a:pPr>
            <a:r>
              <a:t>Les CONSIGNATIONS sont organisées selon l'une ou l'autre des deux procédures ci-après.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7.1.3.1 Consignation en une étape</a:t>
            </a:r>
          </a:p>
        </p:txBody>
      </p:sp>
      <p:sp>
        <p:nvSpPr>
          <p:cNvPr id="3" name="Content Placeholder 2"/>
          <p:cNvSpPr>
            <a:spLocks noGrp="1"/>
          </p:cNvSpPr>
          <p:nvPr>
            <p:ph idx="1"/>
          </p:nvPr>
        </p:nvSpPr>
        <p:spPr/>
        <p:txBody>
          <a:bodyPr/>
          <a:lstStyle/>
          <a:p>
            <a:pPr>
              <a:defRPr sz="1600"/>
            </a:pPr>
            <a:r>
              <a:t>Dans une CONSIGNATION EN UNE ETAPE, la PREIDENTIFICATION et la totalité des opérations de CONSIGNATION sont réalisées par le CHARGE DE CONSIGNATION (SEPARATION, CONDAMNATION, IDENTIFICATION, VERIFICATION D'ABSENCE DE TENSION suivie, dans les cas prévus, de la MISE A LA TERRE ET EN COURT-CIRCUIT).</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7.1.3.2 Consignation en deux étapes</a:t>
            </a:r>
          </a:p>
        </p:txBody>
      </p:sp>
      <p:sp>
        <p:nvSpPr>
          <p:cNvPr id="3" name="Content Placeholder 2"/>
          <p:cNvSpPr>
            <a:spLocks noGrp="1"/>
          </p:cNvSpPr>
          <p:nvPr>
            <p:ph idx="1"/>
          </p:nvPr>
        </p:nvSpPr>
        <p:spPr/>
        <p:txBody>
          <a:bodyPr/>
          <a:lstStyle/>
          <a:p>
            <a:pPr>
              <a:defRPr sz="1600"/>
            </a:pPr>
            <a:r>
              <a:t>Dans une CONSIGNATION EN DEUX ETAPES, le CHARGE DE CONSIGNATION ne réalise que la PREIDENTIFICATION et les opérations de CONSIGNATION 1 et 2 (SEPARATION et CONDAMNATION).</a:t>
            </a:r>
          </a:p>
          <a:p>
            <a:pPr>
              <a:defRPr sz="1600"/>
            </a:pPr>
            <a:r>
              <a:t>L'ensemble de ces opérations est appelé première étape de CONSIGNATION.</a:t>
            </a:r>
          </a:p>
          <a:p>
            <a:pPr>
              <a:defRPr sz="1600"/>
            </a:pPr>
            <a:r>
              <a:t>Cette première étape ne peut pas, à elle seule, autoriser la réalisation d'OPERATIONS.</a:t>
            </a:r>
          </a:p>
          <a:p>
            <a:pPr>
              <a:defRPr sz="1600"/>
            </a:pPr>
            <a:r>
              <a:t>Le CHARGE DE TRAVAUX realise la deuxième etape de la CONSIGNATION (IDENTIFICATION, VERIFICATION D'ABSENCE DE TENSION et MISE A LA TERRE ET EN COURT-CIRCUIT dans les cas prévus).</a:t>
            </a:r>
          </a:p>
          <a:p>
            <a:pPr>
              <a:defRPr sz="1600"/>
            </a:pPr>
            <a:r>
              <a:t>Les modalités d'exécution par les différents acteurs de ces procédures sont précisées en 7.</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7.1.4 Opérations de deconsignation</a:t>
            </a:r>
          </a:p>
        </p:txBody>
      </p:sp>
      <p:sp>
        <p:nvSpPr>
          <p:cNvPr id="3" name="Content Placeholder 2"/>
          <p:cNvSpPr>
            <a:spLocks noGrp="1"/>
          </p:cNvSpPr>
          <p:nvPr>
            <p:ph idx="1"/>
          </p:nvPr>
        </p:nvSpPr>
        <p:spPr/>
        <p:txBody>
          <a:bodyPr/>
          <a:lstStyle/>
          <a:p>
            <a:pPr>
              <a:defRPr sz="1600"/>
            </a:pPr>
            <a:r>
              <a:t>Les opérations de DECONSIGNATION sont généralement conduites dans l'ordre inverse des opérations de CONSIGNATION, sauf si des dispositions particulières sont prises.</a:t>
            </a:r>
          </a:p>
          <a:p>
            <a:pPr>
              <a:defRPr sz="1600"/>
            </a:pPr>
            <a:r>
              <a:t>Dans tous les cas, la séquence de DECONSIGNATION et les dispositions adoptées doivent être sûres.</a:t>
            </a:r>
          </a:p>
          <a:p>
            <a:pPr>
              <a:defRPr sz="1600"/>
            </a:pPr>
            <a:r>
              <a:t>Elles doivent tenir compte, le cas échéant, des phénomènes d'induction magnétique et de couplage capacitif qui peuvent apparaître, en particulier, lors de la suppression de la MISE A LA TERRE ET EN COURT-CIRCUIT.</a:t>
            </a:r>
          </a:p>
          <a:p>
            <a:pPr>
              <a:defRPr sz="1600"/>
            </a:pPr>
            <a:r>
              <a:t>Dans le cas d'une CONSIGNATION EN UNE ETAPE, après réception du ou des AVIS DE FIN DE TRAVAIL, le CHARGE DE CONSIGNATION doit deconsigner l'OUVRAGE ou l'INSTALLATION en procédant aux opérations suivantes :  · dépose des mises en court-circuit, puis des mises à la terre en commençant par l'extrémité côté conducteur actif ;  · retrait de la CONDAMNATION de l'organe de SEPARATION ;.</a:t>
            </a:r>
          </a:p>
          <a:p>
            <a:pPr>
              <a:defRPr sz="1600"/>
            </a:pPr>
            <a:r>
              <a:t>fermeture de l'organe de SEPARATION en accord avec le CHEF D'ÉTABLISSEMENT ou le CHARGE D'EXPLOITATION ELECTRIQUE.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 Applications particulières de la consignation aux différents ouvrages ou</a:t>
            </a:r>
          </a:p>
        </p:txBody>
      </p:sp>
      <p:sp>
        <p:nvSpPr>
          <p:cNvPr id="3" name="Content Placeholder 2"/>
          <p:cNvSpPr>
            <a:spLocks noGrp="1"/>
          </p:cNvSpPr>
          <p:nvPr>
            <p:ph idx="1"/>
          </p:nvPr>
        </p:nvSpPr>
        <p:spPr/>
        <p:txBody>
          <a:bodyPr/>
          <a:lstStyle/>
          <a:p>
            <a:pPr>
              <a:defRPr sz="1600"/>
            </a:pPr>
            <a:r>
              <a:t>installations.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7.1.5.1 Particularités pour la BT</a:t>
            </a:r>
          </a:p>
        </p:txBody>
      </p:sp>
      <p:sp>
        <p:nvSpPr>
          <p:cNvPr id="3" name="Content Placeholder 2"/>
          <p:cNvSpPr>
            <a:spLocks noGrp="1"/>
          </p:cNvSpPr>
          <p:nvPr>
            <p:ph idx="1"/>
          </p:nvPr>
        </p:nvSpPr>
        <p:spPr/>
        <p:txBody>
          <a:bodyPr/>
          <a:lstStyle/>
          <a:p>
            <a:pPr>
              <a:defRPr sz="1600"/>
            </a:pPr>
            <a:r>
              <a:t>Ce paragraphe s'applique aux OUVRAGES ou aux INSTALLATIONS autres que les lignes aériennes, dans le cas particulier des INSTALLATIONS tertiaires, domestiques, industrielles et agricoles.</a:t>
            </a:r>
          </a:p>
          <a:p>
            <a:pPr>
              <a:defRPr sz="1600"/>
            </a:pPr>
            <a:r>
              <a:t>La MISE A LA TERRE ET EN COURT-CIRCUIT n'est pas requise à condition :  · qu'il n'y ait pas de risque de présence de tension provenant de la source principale ou d'une source de remplacement (onduleur, BATTERIE D'ACCUMULATEURS, groupe électrogène, etc.</a:t>
            </a:r>
          </a:p>
          <a:p>
            <a:pPr>
              <a:defRPr sz="1600"/>
            </a:pPr>
            <a:r>
              <a:t>) ;  · qu'il n'y ait pas de tension induite ;  NF C 18-510  -  76  -  UTE  · qu'il n'y ait pas de présence de condensateurs ou de câbles d'alimentation de grande longueur (plusieurs dizaines de mètres).</a:t>
            </a:r>
          </a:p>
          <a:p>
            <a:pPr>
              <a:defRPr sz="1600"/>
            </a:pPr>
            <a:r>
              <a:t>Dans le cas des armoires et coffrets dont la totalité des circuits n'ont pas pu être consignés, la suite de l'opération doit être conduite en respectant les prescriptions des Articles 8 ou 9.</a:t>
            </a:r>
          </a:p>
          <a:p>
            <a:pPr>
              <a:defRPr sz="1600"/>
            </a:pPr>
            <a:r>
              <a:t>Dans le cas des OUVRAGES BT de distribution, la CONSIGNATION est obtenue, dans l'ordre suivant, par :.</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7.1.5.2 Particularités pour les lignes aériennes en conducteurs nus BT et HTA</a:t>
            </a:r>
          </a:p>
        </p:txBody>
      </p:sp>
      <p:sp>
        <p:nvSpPr>
          <p:cNvPr id="3" name="Content Placeholder 2"/>
          <p:cNvSpPr>
            <a:spLocks noGrp="1"/>
          </p:cNvSpPr>
          <p:nvPr>
            <p:ph idx="1"/>
          </p:nvPr>
        </p:nvSpPr>
        <p:spPr/>
        <p:txBody>
          <a:bodyPr/>
          <a:lstStyle/>
          <a:p>
            <a:pPr>
              <a:defRPr sz="1600"/>
            </a:pPr>
            <a:r>
              <a:t>Les prescriptions générales du 7.</a:t>
            </a:r>
          </a:p>
          <a:p>
            <a:pPr>
              <a:defRPr sz="1600"/>
            </a:pPr>
            <a:r>
              <a:t>1.</a:t>
            </a:r>
          </a:p>
          <a:p>
            <a:pPr>
              <a:defRPr sz="1600"/>
            </a:pPr>
            <a:r>
              <a:t>2 comportent les aménagements suivants  :  · sur les lignes aériennes en conducteurs nus BT où le neutre est mis directement à la terre en différents points, il est admis de se limiter a la mise en court-circuit de tous les conducteurs ;  · sur les lignes aériennes en conducteurs nus BT et HTA et pour une ZONE DE TRAVAIL ponctuelle (monophasée ou triphasée), s'il n'y a, au cours des TRAVAUX, ni coupure des conducteurs ni ouverture des circuits, il est admis de ne poser sur le lieu de travail qu'une seule MISE A LA TERRE ET EN COURT-CIRCUIT sur l'ensemble des conducteurs CONSIGNES ;  · sur les lignes aériennes en conducteurs nus HTA, lorsqu'à partir du lieu de travail il n'est pas possible de s'assurer de la présence d'EQUIPEMENTS DE MISE A LA TERRE ET EN COURT- CIRCUIT situés aux extrémités de la ZONE DE TRAVAIL, il y a lieu de prévoir, soit une mise à la terre locale, soit des dispositifs de signalisation supplémentaires visibles du lieu de travail, soit tout autre dispositif d'identification equivalent.</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7.1.5.3 Particularités pour les canalisations isolees BT et HTA avec ou sans</a:t>
            </a:r>
          </a:p>
        </p:txBody>
      </p:sp>
      <p:sp>
        <p:nvSpPr>
          <p:cNvPr id="3" name="Content Placeholder 2"/>
          <p:cNvSpPr>
            <a:spLocks noGrp="1"/>
          </p:cNvSpPr>
          <p:nvPr>
            <p:ph idx="1"/>
          </p:nvPr>
        </p:nvSpPr>
        <p:spPr/>
        <p:txBody>
          <a:bodyPr/>
          <a:lstStyle/>
          <a:p>
            <a:pPr>
              <a:defRPr sz="1600"/>
            </a:pPr>
            <a:r>
              <a:t>continuité visuelle  Les CANALISATIONS ISOLEES invisibles ne peuvent faire l'objet que de CONSIGNATIONS EN UNE ETAPE.</a:t>
            </a:r>
          </a:p>
          <a:p>
            <a:pPr>
              <a:defRPr sz="1600"/>
            </a:pPr>
            <a:r>
              <a:t>Les CANALISATIONS ISOLEES aériennes visibles, tels que les réseaux aériens torsades, peuvent faire l'objet de CONSIGNATIONS EN UNE OU EN DEUX ETAPES.</a:t>
            </a:r>
          </a:p>
          <a:p>
            <a:pPr>
              <a:defRPr sz="1600"/>
            </a:pPr>
            <a:r>
              <a:t>Ces CONSIGNATIONS doivent respecter les dispositions suivantes  :  Opérations 1 et 2 : SEPARATION électrique de l'OUVRAGE ou de l'INSTALLATION des sources de tension et CONDAMNATION des appareils en position d'ouverture au plus près de la ZONE DE TRAVAIL et, le cas échéant, de part et d'autre de celle-ci.</a:t>
            </a:r>
          </a:p>
          <a:p>
            <a:pPr>
              <a:defRPr sz="1600"/>
            </a:pPr>
            <a:r>
              <a:t>Ces opérations sont réalisées en pratique aux points de séparation les plus proches (par exemple, dans le cas d'un réseau, dans les postes qui encadrent la ZONE DE TRAVAIL), en s'assurant que l'ensemble des points de séparation concerne l'OUVRAGE ou l'INSTALLATION.</a:t>
            </a:r>
          </a:p>
          <a:p>
            <a:pPr>
              <a:defRPr sz="1600"/>
            </a:pPr>
            <a:r>
              <a:t>Opérations 3, 4 et 5 : IDENTIFICATION, VERIFICATION D'ABSENCE DE TENSION, MISE A LA TERRE ET EN COURT-CIRCUIT.</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7.1.5.4 Particularités pour les postes HTA équipes d'appareillages à haute tension</a:t>
            </a:r>
          </a:p>
        </p:txBody>
      </p:sp>
      <p:sp>
        <p:nvSpPr>
          <p:cNvPr id="3" name="Content Placeholder 2"/>
          <p:cNvSpPr>
            <a:spLocks noGrp="1"/>
          </p:cNvSpPr>
          <p:nvPr>
            <p:ph idx="1"/>
          </p:nvPr>
        </p:nvSpPr>
        <p:spPr/>
        <p:txBody>
          <a:bodyPr/>
          <a:lstStyle/>
          <a:p>
            <a:pPr>
              <a:defRPr sz="1600"/>
            </a:pPr>
            <a:r>
              <a:t>sous enveloppe métallique  Ce type d'appareillages peut comporter :  · soit des « systèmes détecteurs de tension » (VDS) conformes à la norme NF EN 61243-5: ce sont des DISPOSITIFS DE VERIFICATION D'ABSENCE DE TENSION qui permettent de réaliser directement une VERIFICATION D'ABSENCE DE TENSION (VAT) ;  · soit des « systèmes indicateurs de présence de tension (VPIS) &gt;&gt; conformes à la norme NF EN 61958 : ce ne sont pas des DISPOSITIFS DE VERIFICATION D'ABSENCE DE TENSION ; ils nécessitent l'usage d'un dispositif externe pour réaliser la VERIFICATION D'ABSENCE DE TENSION, avant de commencer le travail.</a:t>
            </a:r>
          </a:p>
          <a:p>
            <a:pPr>
              <a:defRPr sz="1600"/>
            </a:pPr>
            <a:r>
              <a:t>Une INSTRUCTION DE SECURITE doit en préciser les modalités d'utilisation.</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7.1.5.5.1 Postes HTB à phases séparées ou très espacées</a:t>
            </a:r>
          </a:p>
        </p:txBody>
      </p:sp>
      <p:sp>
        <p:nvSpPr>
          <p:cNvPr id="3" name="Content Placeholder 2"/>
          <p:cNvSpPr>
            <a:spLocks noGrp="1"/>
          </p:cNvSpPr>
          <p:nvPr>
            <p:ph idx="1"/>
          </p:nvPr>
        </p:nvSpPr>
        <p:spPr/>
        <p:txBody>
          <a:bodyPr/>
          <a:lstStyle/>
          <a:p>
            <a:pPr>
              <a:defRPr sz="1600"/>
            </a:pPr>
            <a:r>
              <a:t>Pour les postes HTB à phases séparées ou très espacees, c'est-à-dire ceux dont l'écartement entre phases permet aux OPERATEURS de rester à une distance des autres phases supérieure à la DISTANCE LIMITE DE VOISINAGE RENFORCE (DLVR), il est admis d'effectuer la MISE A LA TERRE ET EN COURT-CIRCUIT uniquement sur les phases interessees par les TRAVAUX.</a:t>
            </a:r>
          </a:p>
          <a:p>
            <a:pPr>
              <a:defRPr sz="1600"/>
            </a:pPr>
            <a:r>
              <a:t>Pour les postes HTB à phases séparées ou très espacees où il n'y a pas de possibilité d'ouverture de circuit dans la ZONE DE TRAVAIL au cours des TRAVAUX, il est admis de ne poser qu'une seule MISE A LA TERRE ET EN COURT-CIRCUIT (monophasée, biphasée ou triphasée) sur le lieu de travail sans encadrer la ZONE DE TRAVAIL.</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7.1.5.5.2 Postes HTB sous enveloppe métallique à isolement gazeux (PSEM)</a:t>
            </a:r>
          </a:p>
        </p:txBody>
      </p:sp>
      <p:sp>
        <p:nvSpPr>
          <p:cNvPr id="3" name="Content Placeholder 2"/>
          <p:cNvSpPr>
            <a:spLocks noGrp="1"/>
          </p:cNvSpPr>
          <p:nvPr>
            <p:ph idx="1"/>
          </p:nvPr>
        </p:nvSpPr>
        <p:spPr/>
        <p:txBody>
          <a:bodyPr/>
          <a:lstStyle/>
          <a:p>
            <a:pPr>
              <a:defRPr sz="1600"/>
            </a:pPr>
            <a:r>
              <a:t>Dans les postes HTB sous enveloppe métallique à isolement gazeux (dits PSEM ou Postes blindés), par suite de l'inaccessibilité des parties actives et de la séparation des phases, les  NF C 18-510  -  78  -  UTE  TRAVAUX HORS TENSION sur une phase peuvent être entrepris après CONSIGNATION de celle-ci, sans qu'il y ait lieu de proceder à la CONSIGNATION des autres phases.</a:t>
            </a:r>
          </a:p>
          <a:p>
            <a:pPr>
              <a:defRPr sz="1600"/>
            </a:pPr>
            <a:r>
              <a:t>Sur ce type de MATERIEL protege ou enferme, la VERIFICATION directe d'ABSENCE DE TENSION après SEPARATION des sources et CONDAMNATION des appareils de séparation est impossible.</a:t>
            </a:r>
          </a:p>
          <a:p>
            <a:pPr>
              <a:defRPr sz="1600"/>
            </a:pPr>
            <a:r>
              <a:t>La fermeture de l'interrupteur ou du sectionneur de terre fait office de VERIFICATION D'ABSENCE DE TENSION, lorsque les interrupteurs ou les sectionneurs de mise à la terre possèdent des caractéristiques telles que l'OPERATEUR est protégé pendant la manœuvre.</a:t>
            </a:r>
          </a:p>
          <a:p>
            <a:pPr>
              <a:defRPr sz="1600"/>
            </a:pPr>
            <a:r>
              <a:t>Cette mise à la terre peut être effectuée sans risque pour le personnel, même si les parties actives venaient, pour une cause quelconque, à être maintenues sous tension.</a:t>
            </a:r>
          </a:p>
          <a:p>
            <a:pPr>
              <a:defRPr sz="1600"/>
            </a:pPr>
            <a:r>
              <a:t>L'OPERATEUR doit s'assurer que la mise à la terre est bien effectuée par les moyens appropriés, avant d'entreprendre les TRAVAUX.</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7.1.5.6 Particularités des lignes aériennes HTB en conducteurs nus</a:t>
            </a:r>
          </a:p>
        </p:txBody>
      </p:sp>
      <p:sp>
        <p:nvSpPr>
          <p:cNvPr id="3" name="Content Placeholder 2"/>
          <p:cNvSpPr>
            <a:spLocks noGrp="1"/>
          </p:cNvSpPr>
          <p:nvPr>
            <p:ph idx="1"/>
          </p:nvPr>
        </p:nvSpPr>
        <p:spPr/>
        <p:txBody>
          <a:bodyPr/>
          <a:lstStyle/>
          <a:p>
            <a:pPr>
              <a:defRPr sz="1600"/>
            </a:pPr>
            <a:r>
              <a:t>Sur les lignes aériennes HTB, lorsqu'à partir du lieu de travail il n'est pas possible de s'assurer de la présence d'EQUIPEMENTS DE MISE A LA TERRE ET EN COURT-CIRCUIT situés aux extrémités de la ZONE DE TRAVAIL, il y lieu de prévoir, en fonction de l'analyse de risque et de la préparation du travail, soit une mise à la terre locale, soit des dispositifs de signalisation supplémentaires visibles du lieu de travail, soit tout autre dispositif d'identification equivalent.</a:t>
            </a:r>
          </a:p>
          <a:p>
            <a:pPr>
              <a:defRPr sz="1600"/>
            </a:pPr>
            <a:r>
              <a:t>Sur les lignes aériennes HTB à phases séparées ou très espacées, c'est-à-dire celles dont l'écartement entre phases permet aux OPERATEURS de rester à une distance des autres phases supérieure à la DLVR, il est admis d'effectuer la MISE A LA TERRE ET EN COURT-CIRCUIT uniquement sur les phases intéressées par les TRAVAUX.</a:t>
            </a:r>
          </a:p>
          <a:p>
            <a:pPr>
              <a:defRPr sz="1600"/>
            </a:pPr>
            <a:r>
              <a:t>Pour les lignes HTB, s'il n'y a pas ouverture de circuit dans la ZONE DE TRAVAIL au cours des TRAVAUX, il est admis de ne poser qu'une seule MISE A LA TERRE ET EN COURT-CIRCUIT (monophasée, biphasee ou triphasée) sur le lieu de travail sans encadrer la ZONE DE TRAVAIL.</a:t>
            </a:r>
          </a:p>
          <a:p>
            <a:pPr>
              <a:defRPr sz="1600"/>
            </a:pPr>
            <a:r>
              <a:t>Lorsqu'il y a ouverture du circuit, la pose préalable d'un shunt capable d'écouler le courant de court-circuit permet de maintenir la continuité du circuit.</a:t>
            </a:r>
          </a:p>
          <a:p>
            <a:pPr>
              <a:defRPr sz="1600"/>
            </a:pPr>
            <a:r>
              <a:t>Le shunt est pose après la mise en place des EQUIPEMENTS DE MISE A LA TERRE ET EN COURT-CIRCUIT (monophasés, biphasés ou triphasés) et déposé après le rétablissement de la continuité et avant le retrait des EQUIPEMENTS DE MISE A LA TERRE ET EN COURT-CIRCUIT.</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7.1.5.7 Particularités des câbles isolés souterrains et aero-souterrains HTB à</a:t>
            </a:r>
          </a:p>
        </p:txBody>
      </p:sp>
      <p:sp>
        <p:nvSpPr>
          <p:cNvPr id="3" name="Content Placeholder 2"/>
          <p:cNvSpPr>
            <a:spLocks noGrp="1"/>
          </p:cNvSpPr>
          <p:nvPr>
            <p:ph idx="1"/>
          </p:nvPr>
        </p:nvSpPr>
        <p:spPr/>
        <p:txBody>
          <a:bodyPr/>
          <a:lstStyle/>
          <a:p>
            <a:pPr>
              <a:defRPr sz="1600"/>
            </a:pPr>
            <a:r>
              <a:t>isolation sans fluide  Pour ce type d'OUVRAGE souterrain, et en raison de la spécificité des câbles HTB qui sont généralement unipolaires, la CONSIGNATION de l'OUVRAGE en vue de réaliser des TRAVAUX HORS TENSION sur les parties actives des câbles exige les opérations suivantes :  Opération 1 : PREIDENTIFICATION des départs des câbles et SEPARATION des alimentations dans les postes qui encadrent l'OUVRAGE à consigner ;  Opération 2 : CONDAMNATION en position d'ouverture des appareils de séparation dans les postes qui encadrent l'OUVRAGE à consigner ;  Opération 3 : pose des EQUIPEMENTS DE MISE A LA TERRE ET EN COURT-CIRCUIT sur les têtes des câbles.</a:t>
            </a:r>
          </a:p>
          <a:p>
            <a:pPr>
              <a:defRPr sz="1600"/>
            </a:pPr>
            <a:r>
              <a:t>Ces équipements comportent, si nécessaire, un PAVE DE TERRE permettant l'injection d'un signal audible ;  Opération 4 : IDENTIFICATION du câble, sur le lieu de travail, par consultation :  ·  des plans de la canalisation souterraine ;  · du type de pose sur le lieu de travail : en caniveaux, sous fourreaux, sous briques et dalles ;  · des étiquettes posées sur le câble.</a:t>
            </a:r>
          </a:p>
          <a:p>
            <a:pPr>
              <a:defRPr sz="1600"/>
            </a:pPr>
            <a:r>
              <a:t>Cette IDENTIFICATION est complétée par la vérification des informations portées sur la gaine du câble : tension, type d'isolant, section, année de fabrication, nom du cablier.</a:t>
            </a:r>
          </a:p>
          <a:p>
            <a:pPr>
              <a:defRPr sz="1600"/>
            </a:pPr>
            <a:r>
              <a:t>UTE  -  79  -  NF C 18-510  Lorsqu'il existe un risque de confusion d'OUVRAGE (par exemple, plusieurs câbles HTB à proximité), l'IDENTIFICATION certaine est réalisée de la façon suivante :  Après vérification du bon fonctionnement du système d'injection (vérification qui doit être également réalisée à la fin de l'opération), proceder au raccordement du système d'injection sur une phase de la canalisation souterraine par l'intermédiaire du PAVE DE TERRE, puis à l'ouverture du PAVE DE TERRE, enfin à l'injection d'un signal de fréquence audible sur la tête de câble.</a:t>
            </a:r>
          </a:p>
          <a:p>
            <a:pPr>
              <a:defRPr sz="1600"/>
            </a:pPr>
            <a:r>
              <a:t>La localisation de la phase concernée de la canalisation se fait par écoute du signal au niveau de la ZONE DE TRAVAIL.</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7.1.5.8 Mise à la terre à l'aide d'un pavé de terre</a:t>
            </a:r>
          </a:p>
        </p:txBody>
      </p:sp>
      <p:sp>
        <p:nvSpPr>
          <p:cNvPr id="3" name="Content Placeholder 2"/>
          <p:cNvSpPr>
            <a:spLocks noGrp="1"/>
          </p:cNvSpPr>
          <p:nvPr>
            <p:ph idx="1"/>
          </p:nvPr>
        </p:nvSpPr>
        <p:spPr/>
        <p:txBody>
          <a:bodyPr/>
          <a:lstStyle/>
          <a:p>
            <a:pPr>
              <a:defRPr sz="1600"/>
            </a:pPr>
            <a:r>
              <a:t>Un PAVE DE TERRE est un matériel qui peut être mis en place en série dans le circuit de mise à la terre d'un OUVRAGE ou d'une INSTALLATION, dans le cas d'une MISE A LA TERRE ET EN COURT- CIRCUIT.</a:t>
            </a:r>
          </a:p>
          <a:p>
            <a:pPr>
              <a:defRPr sz="1600"/>
            </a:pPr>
            <a:r>
              <a:t>Après la pose du PAVE DE TERRE, le circuit de MISE A LA TERRE ET EN COURT-CIRCUIT peut être ouvert au moyen de ce PAVE DE TERRE, pendant les TRAVAUX ou les ESSAIS.</a:t>
            </a:r>
          </a:p>
          <a:p>
            <a:pPr>
              <a:defRPr sz="1600"/>
            </a:pPr>
            <a:r>
              <a:t>Il permet, ainsi, de réaliser des mesures de grandeurs physiques ou une injection de signal, tout en garantissant la MISE A LA TERRE ET EN COURT-CIRCUIT de l'OUVRAGE ou de L'INSTALLATION.</a:t>
            </a:r>
          </a:p>
          <a:p>
            <a:pPr>
              <a:defRPr sz="1600"/>
            </a:pPr>
            <a:r>
              <a:t>L'utilisation d'un PAVE DE TERRE doit faire l'objet d'une INSTRUCTION DE SECURITE le concernant.</a:t>
            </a:r>
          </a:p>
          <a:p>
            <a:pPr>
              <a:defRPr sz="1600"/>
            </a:pPr>
            <a:r>
              <a:t>Les PAVES DE TERRE utilisés comme limiteurs de surtension, qui ne limitent pas la tension à leurs bornes au domaine de la TBT mais engagent le domaine BT, ne peuvent être utilisés que pour une seule opération à la fois.</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7.1.5.9 Cas de la consignation dans les véhicules et engins à motorisation électrique</a:t>
            </a:r>
          </a:p>
        </p:txBody>
      </p:sp>
      <p:sp>
        <p:nvSpPr>
          <p:cNvPr id="3" name="Content Placeholder 2"/>
          <p:cNvSpPr>
            <a:spLocks noGrp="1"/>
          </p:cNvSpPr>
          <p:nvPr>
            <p:ph idx="1"/>
          </p:nvPr>
        </p:nvSpPr>
        <p:spPr/>
        <p:txBody>
          <a:bodyPr/>
          <a:lstStyle/>
          <a:p>
            <a:pPr>
              <a:defRPr sz="1600"/>
            </a:pPr>
            <a:r>
              <a:t>La CONSIGNATION sous forme de « mise en sécurité &gt;&gt; pour les véhicules ou engins électriques est équivalente à la CONSIGNATION définie plus haut, dans la mesure où ne peut subsister, apparaître ou réapparaître aucune tension susceptible de provoquer un choc électrique.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7.2 Procédure de mise hors tension</a:t>
            </a:r>
          </a:p>
        </p:txBody>
      </p:sp>
      <p:sp>
        <p:nvSpPr>
          <p:cNvPr id="3" name="Content Placeholder 2"/>
          <p:cNvSpPr>
            <a:spLocks noGrp="1"/>
          </p:cNvSpPr>
          <p:nvPr>
            <p:ph idx="1"/>
          </p:nvPr>
        </p:nvSpPr>
        <p:spPr/>
        <p:txBody>
          <a:bodyPr/>
          <a:lstStyle/>
          <a:p>
            <a:pPr>
              <a:defRPr sz="1600"/>
            </a:pPr>
            <a:r>
              <a:t>La MISE HORS TENSION est une procédure qui ne comprend pas toutes les étapes de la CONSIGNATION et qui doit être accompagnée de mesures compensatoires.</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7.2.1 Objet et champ d'application de la mise hors tension</a:t>
            </a:r>
          </a:p>
        </p:txBody>
      </p:sp>
      <p:sp>
        <p:nvSpPr>
          <p:cNvPr id="3" name="Content Placeholder 2"/>
          <p:cNvSpPr>
            <a:spLocks noGrp="1"/>
          </p:cNvSpPr>
          <p:nvPr>
            <p:ph idx="1"/>
          </p:nvPr>
        </p:nvSpPr>
        <p:spPr/>
        <p:txBody>
          <a:bodyPr/>
          <a:lstStyle/>
          <a:p>
            <a:pPr>
              <a:defRPr sz="1600"/>
            </a:pPr>
            <a:r>
              <a:t>La MISE HORS TENSION est autorisée pour des OPERATIONS d'ORDRE NON ELECTRIQUE dans l'ENVIRONNEMENT de CANALISATIONS ISOLEES, lorsque la CONSIGNATION n'est pas techniquement possible sans destruction de la canalisation.</a:t>
            </a:r>
          </a:p>
          <a:p>
            <a:pPr>
              <a:defRPr sz="1600"/>
            </a:pPr>
            <a:r>
              <a:t>NF C 18-510  -  80  -  UTE  La MISE HORS TENSION est autorisée pour réaliser une INTERVENTION BT ELEMENTAIRE dans le cadre du 10.</a:t>
            </a:r>
          </a:p>
          <a:p>
            <a:pPr>
              <a:defRPr sz="1600"/>
            </a:pPr>
            <a:r>
              <a:t>4.</a:t>
            </a:r>
          </a:p>
          <a:p>
            <a:pPr>
              <a:defRPr sz="1600"/>
            </a:pPr>
            <a:r>
              <a:t>La MISE HORS TENSION permet de réduire le risque électrique.</a:t>
            </a:r>
          </a:p>
          <a:p>
            <a:pPr>
              <a:defRPr sz="1600"/>
            </a:pPr>
            <a:r>
              <a:t>Elle n'est pas suffisante pour garantir la sécurité des personnes.</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7.2.2 Déroulement d'une mise hors tension</a:t>
            </a:r>
          </a:p>
        </p:txBody>
      </p:sp>
      <p:sp>
        <p:nvSpPr>
          <p:cNvPr id="3" name="Content Placeholder 2"/>
          <p:cNvSpPr>
            <a:spLocks noGrp="1"/>
          </p:cNvSpPr>
          <p:nvPr>
            <p:ph idx="1"/>
          </p:nvPr>
        </p:nvSpPr>
        <p:spPr/>
        <p:txBody>
          <a:bodyPr/>
          <a:lstStyle/>
          <a:p>
            <a:pPr>
              <a:defRPr sz="1600"/>
            </a:pPr>
            <a:r>
              <a:t>Une MISE HORS TENSION comprend obligatoirement la PREIDENTIFICATION, suivie des opérations 1 (SEPARATION) et 2 (CONDAMNATION) d'une CONSIGNATION.</a:t>
            </a:r>
          </a:p>
          <a:p>
            <a:pPr>
              <a:defRPr sz="1600"/>
            </a:pPr>
            <a:r>
              <a:t>Ces opérations sont réalisées en se conformant à toutes les dispositions du 7.</a:t>
            </a:r>
          </a:p>
          <a:p>
            <a:pPr>
              <a:defRPr sz="1600"/>
            </a:pPr>
            <a:r>
              <a:t>1 qui les concernent.</a:t>
            </a:r>
          </a:p>
          <a:p>
            <a:pPr>
              <a:defRPr sz="1600"/>
            </a:pPr>
            <a:r>
              <a:t>La MISE HORS TENSION peut être accompagnée par des mesures complémentaires, telles que :  · la VERIFICATION D'ABSENCE DE TENSION, si elle est techniquement réalisable ;.</a:t>
            </a:r>
          </a:p>
          <a:p>
            <a:pPr>
              <a:defRPr sz="1600"/>
            </a:pPr>
            <a:r>
              <a:t>l'IDENTIFICATION par tous les moyens appropriés.</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7.2.3 Remise sous tension après mise hors tension</a:t>
            </a:r>
          </a:p>
        </p:txBody>
      </p:sp>
      <p:sp>
        <p:nvSpPr>
          <p:cNvPr id="3" name="Content Placeholder 2"/>
          <p:cNvSpPr>
            <a:spLocks noGrp="1"/>
          </p:cNvSpPr>
          <p:nvPr>
            <p:ph idx="1"/>
          </p:nvPr>
        </p:nvSpPr>
        <p:spPr/>
        <p:txBody>
          <a:bodyPr/>
          <a:lstStyle/>
          <a:p>
            <a:pPr>
              <a:defRPr sz="1600"/>
            </a:pPr>
            <a:r>
              <a:t>Pour la remise sous tension, les dispositions pertinentes de la DECONSIGNATION du 7.</a:t>
            </a:r>
          </a:p>
          <a:p>
            <a:pPr>
              <a:defRPr sz="1600"/>
            </a:pPr>
            <a:r>
              <a:t>1.</a:t>
            </a:r>
          </a:p>
          <a:p>
            <a:pPr>
              <a:defRPr sz="1600"/>
            </a:pPr>
            <a:r>
              <a:t>4 s'appliquent.</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7.3.1 Attributions et articulation des fonctions</a:t>
            </a:r>
          </a:p>
        </p:txBody>
      </p:sp>
      <p:sp>
        <p:nvSpPr>
          <p:cNvPr id="3" name="Content Placeholder 2"/>
          <p:cNvSpPr>
            <a:spLocks noGrp="1"/>
          </p:cNvSpPr>
          <p:nvPr>
            <p:ph idx="1"/>
          </p:nvPr>
        </p:nvSpPr>
        <p:spPr/>
        <p:txBody>
          <a:bodyPr/>
          <a:lstStyle/>
          <a:p>
            <a:pPr>
              <a:defRPr sz="1600"/>
            </a:pPr>
            <a:r>
              <a:t>Toute CONSIGNATION OU MISE HORS TENSION réalisées dans le cadre du present article est conditionnée par la demande du CHEF D'ETABLISSEMENT ou du CHARGE D'EXPLOITATION ELECTRIQUE ou, à défaut, par l'accord de la PERSONNE AUTORISANT L'ACCES à l'OUVRAGE ou à L'INSTALLATION concernés.</a:t>
            </a:r>
          </a:p>
          <a:p>
            <a:pPr>
              <a:defRPr sz="1600"/>
            </a:pPr>
            <a:r>
              <a:t>Les MANŒUVRES nécessaires à une CONSIGNATION ou à une MISE HORS TENSION doivent être effectuées par le CHARGE DE CONSIGNATION ou sous sa responsabilité.</a:t>
            </a:r>
          </a:p>
          <a:p>
            <a:pPr>
              <a:defRPr sz="1600"/>
            </a:pPr>
            <a:r>
              <a:t>Le personnel qui les réalise, doit être habilité en fonction des risques rencontres lors de ces MANŒUVRES.</a:t>
            </a:r>
          </a:p>
          <a:p>
            <a:pPr>
              <a:defRPr sz="1600"/>
            </a:pPr>
            <a:r>
              <a:t>Quand les conditions requises sont réunies (voir 7.</a:t>
            </a:r>
          </a:p>
          <a:p>
            <a:pPr>
              <a:defRPr sz="1600"/>
            </a:pPr>
            <a:r>
              <a:t>2.</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 Procédures d'accès, de suivi et de contrôle des opérations hors tension</a:t>
            </a:r>
          </a:p>
        </p:txBody>
      </p:sp>
      <p:sp>
        <p:nvSpPr>
          <p:cNvPr id="3" name="Content Placeholder 2"/>
          <p:cNvSpPr>
            <a:spLocks noGrp="1"/>
          </p:cNvSpPr>
          <p:nvPr>
            <p:ph idx="1"/>
          </p:nvPr>
        </p:nvSpPr>
        <p:spPr/>
        <p:txBody>
          <a:bodyPr/>
          <a:lstStyle/>
          <a:p>
            <a:pPr>
              <a:defRPr sz="1600"/>
            </a:pPr>
            <a:r>
              <a:t>L'accès, le suivi et le contrôle relatifs aux OPERATIONS HORS TENSION concernent ou peuvent concerner plusieurs acteurs : le CHEF D'ETABLISSEMENT, le CHARGE D'EXPLOITATION ELECTRIQUE, le CHARGE DE CONSIGNATION, le CHARGE DE TRAVAUX, le CHARGE DE CHANTIER.</a:t>
            </a:r>
          </a:p>
          <a:p>
            <a:pPr>
              <a:defRPr sz="1600"/>
            </a:pPr>
            <a:r>
              <a:t>Ils donnent lieu a echange de divers documents : ATTESTATION DE CONSIGNATION, AUTORISATION DE TRAVAIL, CERTIFICAT POUR TIERS après CONSIGNATION, CERTIFICAT POUR TIERS après MISE HORS TENSION, AVIS DE FIN DE TRAVAIL.</a:t>
            </a:r>
          </a:p>
          <a:p>
            <a:pPr>
              <a:defRPr sz="1600"/>
            </a:pPr>
            <a:r>
              <a:t>UTE  -  81  -  NF C 18-510.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7.3.2.1 Principes d'emploi des documents</a:t>
            </a:r>
          </a:p>
        </p:txBody>
      </p:sp>
      <p:sp>
        <p:nvSpPr>
          <p:cNvPr id="3" name="Content Placeholder 2"/>
          <p:cNvSpPr>
            <a:spLocks noGrp="1"/>
          </p:cNvSpPr>
          <p:nvPr>
            <p:ph idx="1"/>
          </p:nvPr>
        </p:nvSpPr>
        <p:spPr/>
        <p:txBody>
          <a:bodyPr/>
          <a:lstStyle/>
          <a:p>
            <a:pPr>
              <a:defRPr sz="1600"/>
            </a:pPr>
            <a:r>
              <a:t>Des exemples de formulaires sont proposés en Annexe A.</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7.3.2.1.1 Tableaux des documents attestant la consignation ou la mise hors tension</a:t>
            </a:r>
          </a:p>
        </p:txBody>
      </p:sp>
      <p:sp>
        <p:nvSpPr>
          <p:cNvPr id="3" name="Content Placeholder 2"/>
          <p:cNvSpPr>
            <a:spLocks noGrp="1"/>
          </p:cNvSpPr>
          <p:nvPr>
            <p:ph idx="1"/>
          </p:nvPr>
        </p:nvSpPr>
        <p:spPr/>
        <p:txBody>
          <a:bodyPr/>
          <a:lstStyle/>
          <a:p>
            <a:pPr>
              <a:defRPr sz="1600"/>
            </a:pPr>
            <a:r>
              <a:t>d'un ouvrage ou d'une installation  Les Tableaux 7 et 8 ci-après, suivant le type d'OPERATION HORS TENSION, donnent le ou les documents qui sont échanges entre le CHARGE DE CONSIGNATION et le CHARGE DE TRAVAUX OU le CHARGE DE CHANTIER avec, dans certains cas, une action de la part du CHEF D'ETABLISSEMENT ou du CHARGE D'EXPLOITATION ELECTRIQUE.</a:t>
            </a:r>
          </a:p>
          <a:p>
            <a:pPr>
              <a:defRPr sz="1600"/>
            </a:pPr>
            <a:r>
              <a:t># Tableau 7 - Documents attestant la consignation - Cas des travaux d'ordre électrique  Type d'opération Emetteur Document Récepteur hors tension Travaux hors tension sur Chargé de Attestation de consignation en une Chargé de l'ouvrage ou l'installation Consignation étape ou Attestation de première travaux étape de consignation  Tableau 8 - Documents attestant la consignation ou la mise hors tension d'un ouvrage ou d'une installation - Autres cas  Type d'opération hors tension Emetteur Document Intermédiaire Document Récepteur Opération après Concourant à Chargé de consignation l'exploitation Autorisation travaux ou dans et à la de travail chargé de l'environnement maintenance Attestation chantier des pièces nues Chargé de de Chargé ou dans Consignation consignation d'exploitation Certificat l'environnement en une étape électrique pour tiers Chargé de des Pour tiers après chantier canalisations consignation isolées Concourant à Chargé de Opération dans l'exploitation Autorisation travaux ou l'environnement et à la de travail chargé de de canalisations maintenance Chargé de Attestation Chargé chantier isolées après Consignation de mise hors d'exploitation tension électrique Certificat mise hors pour tiers Chargé de tension Pour tiers après mise chantier hors tension  NF C 18-510  -  82  -  UTE.</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7.3.2.1.2 Attestation de consignation en une étape</a:t>
            </a:r>
          </a:p>
        </p:txBody>
      </p:sp>
      <p:sp>
        <p:nvSpPr>
          <p:cNvPr id="3" name="Content Placeholder 2"/>
          <p:cNvSpPr>
            <a:spLocks noGrp="1"/>
          </p:cNvSpPr>
          <p:nvPr>
            <p:ph idx="1"/>
          </p:nvPr>
        </p:nvSpPr>
        <p:spPr/>
        <p:txBody>
          <a:bodyPr/>
          <a:lstStyle/>
          <a:p>
            <a:pPr>
              <a:defRPr sz="1600"/>
            </a:pPr>
            <a:r>
              <a:t>Une ATTESTATION DE CONSIGNATION EN UNE ETAPE est rédigée par le CHARGE DE CONSIGNATION.</a:t>
            </a:r>
          </a:p>
          <a:p>
            <a:pPr>
              <a:defRPr sz="1600"/>
            </a:pPr>
            <a:r>
              <a:t>Sa délivrance est conditionnée par la réalisation préalable de la CONSIGNATION.</a:t>
            </a:r>
          </a:p>
          <a:p>
            <a:pPr>
              <a:defRPr sz="1600"/>
            </a:pPr>
            <a:r>
              <a:t>Elle est remise :  · au CHARGE DE TRAVAUX pour exécution de TRAVAUX d'ORDRE ELECTRIQUE sur l'OUVRAGE ou l'INSTALLATION consignes ;  · au CHEF D'ETABLISSEMENT ou au CHARGE D'EXPLOITATION ELECTRIQUE afin d'attester auprès de lui que la CONSIGNATION demandée est réalisée.</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7.3.2.1.3 Attestation de 1ere étape de consignation</a:t>
            </a:r>
          </a:p>
        </p:txBody>
      </p:sp>
      <p:sp>
        <p:nvSpPr>
          <p:cNvPr id="3" name="Content Placeholder 2"/>
          <p:cNvSpPr>
            <a:spLocks noGrp="1"/>
          </p:cNvSpPr>
          <p:nvPr>
            <p:ph idx="1"/>
          </p:nvPr>
        </p:nvSpPr>
        <p:spPr/>
        <p:txBody>
          <a:bodyPr/>
          <a:lstStyle/>
          <a:p>
            <a:pPr>
              <a:defRPr sz="1600"/>
            </a:pPr>
            <a:r>
              <a:t>Une ATTESTATION DE 1ere ETAPE DE CONSIGNATION ne concerne que les TRAVAUX HORS TENSION sur l'OUVRAGE ou l'INSTALLATION.</a:t>
            </a:r>
          </a:p>
          <a:p>
            <a:pPr>
              <a:defRPr sz="1600"/>
            </a:pPr>
            <a:r>
              <a:t>Elle est redigee par le CHARGE DE CONSIGNATION.</a:t>
            </a:r>
          </a:p>
          <a:p>
            <a:pPr>
              <a:defRPr sz="1600"/>
            </a:pPr>
            <a:r>
              <a:t>Sa délivrance est conditionnée par l'exécution préalable des deux premières opérations d'une CONSIGNATION.</a:t>
            </a:r>
          </a:p>
          <a:p>
            <a:pPr>
              <a:defRPr sz="1600"/>
            </a:pPr>
            <a:r>
              <a:t>Elle est remise au CHARGE DE TRAVAUX pour réalisation de la deuxième étape de la CONSIGNATION, avant exécution des travaux proprement dits.</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7.3.2.1.4 Autorisation de travail</a:t>
            </a:r>
          </a:p>
        </p:txBody>
      </p:sp>
      <p:sp>
        <p:nvSpPr>
          <p:cNvPr id="3" name="Content Placeholder 2"/>
          <p:cNvSpPr>
            <a:spLocks noGrp="1"/>
          </p:cNvSpPr>
          <p:nvPr>
            <p:ph idx="1"/>
          </p:nvPr>
        </p:nvSpPr>
        <p:spPr/>
        <p:txBody>
          <a:bodyPr/>
          <a:lstStyle/>
          <a:p>
            <a:pPr>
              <a:defRPr sz="1600"/>
            </a:pPr>
            <a:r>
              <a:t>Une AUTORISATION DE TRAVAIL ne concerne que les OPERATIONS concourant à l'EXPLOITATION des OUVRAGES ou des INSTALLATIONS :  · après avoir supprimé, par CONSIGNATION, le VOISINAGE des pièces nues sous tension,.</a:t>
            </a:r>
          </a:p>
          <a:p>
            <a:pPr>
              <a:defRPr sz="1600"/>
            </a:pPr>
            <a:r>
              <a:t>ou, dans l'ENVIRONNEMENT des CANALISATIONS ISOLEES, après CONSIGNATION OU MISE HORS TENSION de ces CANALISATIONS.</a:t>
            </a:r>
          </a:p>
          <a:p>
            <a:pPr>
              <a:defRPr sz="1600"/>
            </a:pPr>
            <a:r>
              <a:t>Elle est rédigée par le CHEF D'ETABLISSEMENT ou par le CHARGE D'EXPLOITATION ELECTRIQUE.</a:t>
            </a:r>
          </a:p>
          <a:p>
            <a:pPr>
              <a:defRPr sz="1600"/>
            </a:pPr>
            <a:r>
              <a:t>Sa délivrance est conditionnée par l'exécution préalable de la CONSIGNATION ou de la MISE HORS TENSION de l'OUVRAGE ou de l'INSTALLATION par le CHARGE DE CONSIGNATION.</a:t>
            </a:r>
          </a:p>
          <a:p>
            <a:pPr>
              <a:defRPr sz="1600"/>
            </a:pPr>
            <a:r>
              <a:t>Elle est remise au CHARGE DE TRAVAUX ou au CHARGE DE CHANTIER en charge de l'OPERATION.</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7.3.2.1.5 Attestation de mise hors tension</a:t>
            </a:r>
          </a:p>
        </p:txBody>
      </p:sp>
      <p:sp>
        <p:nvSpPr>
          <p:cNvPr id="3" name="Content Placeholder 2"/>
          <p:cNvSpPr>
            <a:spLocks noGrp="1"/>
          </p:cNvSpPr>
          <p:nvPr>
            <p:ph idx="1"/>
          </p:nvPr>
        </p:nvSpPr>
        <p:spPr/>
        <p:txBody>
          <a:bodyPr/>
          <a:lstStyle/>
          <a:p>
            <a:pPr>
              <a:defRPr sz="1600"/>
            </a:pPr>
            <a:r>
              <a:t>Une ATTESTATION DE MISE HORS TENSION ne concerne que les OPERATIONS réalisées dans l'ENVIRONNEMENT des CANALISATIONS ISOLEES, après MISE HORS TENSION.</a:t>
            </a:r>
          </a:p>
          <a:p>
            <a:pPr>
              <a:defRPr sz="1600"/>
            </a:pPr>
            <a:r>
              <a:t>Elle est rédigée par le CHARGE DE CONSIGNATION.</a:t>
            </a:r>
          </a:p>
          <a:p>
            <a:pPr>
              <a:defRPr sz="1600"/>
            </a:pPr>
            <a:r>
              <a:t>Sa délivrance est conditionnée par l'exécution préalable de la MISE HORS TENSION de l'OUVRAGE ou de l'INSTALLATION.</a:t>
            </a:r>
          </a:p>
          <a:p>
            <a:pPr>
              <a:defRPr sz="1600"/>
            </a:pPr>
            <a:r>
              <a:t>Elle est remise au CHEF D'ETABLISSEMENT ou au CHARGE D'EXPLOITATION ELECTRIQUE en vue de rédiger une AUTORISATION DE TRAVAIL ou un CERTIFICAT POUR TIERS après MISE HORS TENSION.</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7.3.2.1.6 Certificat pour tiers après consignation</a:t>
            </a:r>
          </a:p>
        </p:txBody>
      </p:sp>
      <p:sp>
        <p:nvSpPr>
          <p:cNvPr id="3" name="Content Placeholder 2"/>
          <p:cNvSpPr>
            <a:spLocks noGrp="1"/>
          </p:cNvSpPr>
          <p:nvPr>
            <p:ph idx="1"/>
          </p:nvPr>
        </p:nvSpPr>
        <p:spPr/>
        <p:txBody>
          <a:bodyPr/>
          <a:lstStyle/>
          <a:p>
            <a:pPr>
              <a:defRPr sz="1600"/>
            </a:pPr>
            <a:r>
              <a:t>Un CERTIFICAT POUR TIERS après CONSIGNATION ne concerne que les OPERATIONS réalisées par des tiers :  · après avoir supprimé, par CONSIGNATION, le VOISINAGE des pièces nues sous tension,.</a:t>
            </a:r>
          </a:p>
          <a:p>
            <a:pPr>
              <a:defRPr sz="1600"/>
            </a:pPr>
            <a:r>
              <a:t>ou, dans l'ENVIRONNEMENT des CANALISATIONS ISOLEES, après CONSIGNATION de ces CANALISATIONS.</a:t>
            </a:r>
          </a:p>
          <a:p>
            <a:pPr>
              <a:defRPr sz="1600"/>
            </a:pPr>
            <a:r>
              <a:t>Il est rédigé par le CHEF D'ETABLISSEMENT ou par le CHARGE D'EXPLOITATION ELECTRIQUE SOUS condition de détenir l'ATTESTATION DE CONSIGNATION appropriée (voir 7.</a:t>
            </a:r>
          </a:p>
          <a:p>
            <a:pPr>
              <a:defRPr sz="1600"/>
            </a:pPr>
            <a:r>
              <a:t>3.</a:t>
            </a:r>
          </a:p>
          <a:p>
            <a:pPr>
              <a:defRPr sz="1600"/>
            </a:pPr>
            <a:r>
              <a:t>2.</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7.3.2.1.7 Certificat pour tiers après mise hors tension</a:t>
            </a:r>
          </a:p>
        </p:txBody>
      </p:sp>
      <p:sp>
        <p:nvSpPr>
          <p:cNvPr id="3" name="Content Placeholder 2"/>
          <p:cNvSpPr>
            <a:spLocks noGrp="1"/>
          </p:cNvSpPr>
          <p:nvPr>
            <p:ph idx="1"/>
          </p:nvPr>
        </p:nvSpPr>
        <p:spPr/>
        <p:txBody>
          <a:bodyPr/>
          <a:lstStyle/>
          <a:p>
            <a:pPr>
              <a:defRPr sz="1600"/>
            </a:pPr>
            <a:r>
              <a:t>Un CERTIFICAT POUR TIERS après MISE HORS TENSION ne concerne que les OPERATIONS réalisées par des tiers, dans l'ENVIRONNEMENT des CANALISATIONS ISOLEES, après MISE HORS TENSION.</a:t>
            </a:r>
          </a:p>
          <a:p>
            <a:pPr>
              <a:defRPr sz="1600"/>
            </a:pPr>
            <a:r>
              <a:t>Il est rédigé par le CHEF D'ETABLISSEMENT ou par le CHARGE D'EXPLOITATION ELECTRIQUE SOUS condition de détenir l'ATTESTATION DE MISE HORS TENSION appropriée (voir 7.</a:t>
            </a:r>
          </a:p>
          <a:p>
            <a:pPr>
              <a:defRPr sz="1600"/>
            </a:pPr>
            <a:r>
              <a:t>3.</a:t>
            </a:r>
          </a:p>
          <a:p>
            <a:pPr>
              <a:defRPr sz="1600"/>
            </a:pPr>
            <a:r>
              <a:t>2.</a:t>
            </a:r>
          </a:p>
          <a:p>
            <a:pPr>
              <a:defRPr sz="1600"/>
            </a:pPr>
            <a:r>
              <a:t>1.</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7.3.2.1.8 Avis de fin de travail</a:t>
            </a:r>
          </a:p>
        </p:txBody>
      </p:sp>
      <p:sp>
        <p:nvSpPr>
          <p:cNvPr id="3" name="Content Placeholder 2"/>
          <p:cNvSpPr>
            <a:spLocks noGrp="1"/>
          </p:cNvSpPr>
          <p:nvPr>
            <p:ph idx="1"/>
          </p:nvPr>
        </p:nvSpPr>
        <p:spPr/>
        <p:txBody>
          <a:bodyPr/>
          <a:lstStyle/>
          <a:p>
            <a:pPr>
              <a:defRPr sz="1600"/>
            </a:pPr>
            <a:r>
              <a:t>L'AVIS DE FIN DE TRAVAIL clot la procedure.</a:t>
            </a:r>
          </a:p>
          <a:p>
            <a:pPr>
              <a:defRPr sz="1600"/>
            </a:pPr>
            <a:r>
              <a:t>Il est établi sur le même document que l'ATTESTATION DE CONSIGNATION, L'AUTORISATION DE TRAVAIL ou le CERTIFICAT POUR TIERS.</a:t>
            </a:r>
          </a:p>
          <a:p>
            <a:pPr>
              <a:defRPr sz="1600"/>
            </a:pPr>
            <a:r>
              <a:t>Sa rédaction et sa transmission sont effectuées dans les mêmes conditions.</a:t>
            </a:r>
          </a:p>
          <a:p>
            <a:pPr>
              <a:defRPr sz="1600"/>
            </a:pPr>
            <a:r>
              <a:t>L'AVIS DE FIN DE TRAVAIL est remis par le destinataire de l'attestation, de l'autorisation ou du certificat au donneur de cette même attestation, autorisation ou certificat.</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7.3.2.2.1 Cas général</a:t>
            </a:r>
          </a:p>
        </p:txBody>
      </p:sp>
      <p:sp>
        <p:nvSpPr>
          <p:cNvPr id="3" name="Content Placeholder 2"/>
          <p:cNvSpPr>
            <a:spLocks noGrp="1"/>
          </p:cNvSpPr>
          <p:nvPr>
            <p:ph idx="1"/>
          </p:nvPr>
        </p:nvSpPr>
        <p:spPr/>
        <p:txBody>
          <a:bodyPr/>
          <a:lstStyle/>
          <a:p>
            <a:pPr>
              <a:defRPr sz="1600"/>
            </a:pPr>
            <a:r>
              <a:t>Les ATTESTATIONS DE CONSIGNATION, les ATTESTATIONS DE MISE HORS TENSION, les AUTORISATIONS DE TRAVAIL et les CERTIFICATS POUR TIERS sont établis en deux exemplaires au moins.</a:t>
            </a:r>
          </a:p>
          <a:p>
            <a:pPr>
              <a:defRPr sz="1600"/>
            </a:pPr>
            <a:r>
              <a:t>Ils sont physiquement signes et échanges par les acteurs concernés.</a:t>
            </a:r>
          </a:p>
          <a:p>
            <a:pPr>
              <a:defRPr sz="1600"/>
            </a:pPr>
            <a:r>
              <a:t>Leurs contenus respectifs sont précisés dans l'Annexe A.</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7.3.2.2.2 Transmission des documents</a:t>
            </a:r>
          </a:p>
        </p:txBody>
      </p:sp>
      <p:sp>
        <p:nvSpPr>
          <p:cNvPr id="3" name="Content Placeholder 2"/>
          <p:cNvSpPr>
            <a:spLocks noGrp="1"/>
          </p:cNvSpPr>
          <p:nvPr>
            <p:ph idx="1"/>
          </p:nvPr>
        </p:nvSpPr>
        <p:spPr/>
        <p:txBody>
          <a:bodyPr/>
          <a:lstStyle/>
          <a:p>
            <a:pPr>
              <a:defRPr sz="1600"/>
            </a:pPr>
            <a:r>
              <a:t>La transmission des documents doit être réalisée de préférence de la main à la main.</a:t>
            </a:r>
          </a:p>
          <a:p>
            <a:pPr>
              <a:defRPr sz="1600"/>
            </a:pPr>
            <a:r>
              <a:t>Toutefois, si cela est impossible, un autre moyen doit être utilisé pour assurer et enregistrer la transmission.</a:t>
            </a:r>
          </a:p>
          <a:p>
            <a:pPr>
              <a:defRPr sz="1600"/>
            </a:pPr>
            <a:r>
              <a:t>Lorsque l'étendue géographique de l'OUVRAGE ou de l'INSTALLATION ou lorsque les nécessités de l'EXPLOITATION le justifient et que les procedures sont mises en place, l'ATTESTATION DE CONSIGNATION, L'ATTESTATION DE MISE HORS TENSION, L'AUTORISATION DE TRAVAIL ou le CERTIFICAT POUR TIERS peuvent être transmis par d'autres moyens permettant une communication transmise ou télétransmise.</a:t>
            </a:r>
          </a:p>
          <a:p>
            <a:pPr>
              <a:defRPr sz="1600"/>
            </a:pPr>
            <a:r>
              <a:t>La télétransmission doit être effectuée mot à mot, enregistrée par écrit par les deux correspondants, avec indication de la date et de l'heure, puis relue au correspondant émetteur par le correspondant récepteur.</a:t>
            </a:r>
          </a:p>
          <a:p>
            <a:pPr>
              <a:defRPr sz="1600"/>
            </a:pPr>
            <a:r>
              <a:t>La transmission peut prendre la forme d'un MESSAGE COLLATIONNE entre le CHARGE DE CONSIGNATION, le CHEF D'ETABLISSEMENT, le CHARGE D'EXPLOITATION ELECTRIQUE, le CHARGE DE TRAVAUX ou le CHARGE DE CHANTIER.</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7.3.3 Conditions atmosphériques</a:t>
            </a:r>
          </a:p>
        </p:txBody>
      </p:sp>
      <p:sp>
        <p:nvSpPr>
          <p:cNvPr id="3" name="Content Placeholder 2"/>
          <p:cNvSpPr>
            <a:spLocks noGrp="1"/>
          </p:cNvSpPr>
          <p:nvPr>
            <p:ph idx="1"/>
          </p:nvPr>
        </p:nvSpPr>
        <p:spPr/>
        <p:txBody>
          <a:bodyPr/>
          <a:lstStyle/>
          <a:p>
            <a:pPr>
              <a:defRPr sz="1600"/>
            </a:pPr>
            <a:r>
              <a:t>Dans le cas des OPERATIONS HORS TENSION sur l'OUVRAGE ou l'INSTALLATION, les prescriptions du 4.</a:t>
            </a:r>
          </a:p>
          <a:p>
            <a:pPr>
              <a:defRPr sz="1600"/>
            </a:pPr>
            <a:r>
              <a:t>3.</a:t>
            </a:r>
          </a:p>
          <a:p>
            <a:pPr>
              <a:defRPr sz="1600"/>
            </a:pPr>
            <a:r>
              <a:t>5 doivent être appliquées.</a:t>
            </a:r>
          </a:p>
          <a:p>
            <a:pPr>
              <a:defRPr sz="1600"/>
            </a:pPr>
            <a:r>
              <a:t>Dans le cas des OPERATIONS HORS TENSION, après suppression du VOISINAGE de pièces nues sous tension, l'analyse de risque électrique de l'OPERATION doit déterminer la suite à donner (maintien, modification ou interruption de l'OPERATION).</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7.3.4 Séparation d'un réseau de distribution</a:t>
            </a:r>
          </a:p>
        </p:txBody>
      </p:sp>
      <p:sp>
        <p:nvSpPr>
          <p:cNvPr id="3" name="Content Placeholder 2"/>
          <p:cNvSpPr>
            <a:spLocks noGrp="1"/>
          </p:cNvSpPr>
          <p:nvPr>
            <p:ph idx="1"/>
          </p:nvPr>
        </p:nvSpPr>
        <p:spPr/>
        <p:txBody>
          <a:bodyPr/>
          <a:lstStyle/>
          <a:p>
            <a:pPr>
              <a:defRPr sz="1600"/>
            </a:pPr>
            <a:r>
              <a:t>Lorsqu'un CHEF D'ETABLISSEMENT, exploitant une INSTALLATION, veut la séparer d'un réseau d'alimentation, le CHARGE D'EXPLOITATION ELECTRIQUE du réseau d'alimentation doit, sauf convention particulière, lui fournir une ATTESTATION DE SEPARATION du réseau.</a:t>
            </a:r>
          </a:p>
          <a:p>
            <a:pPr>
              <a:defRPr sz="1600"/>
            </a:pPr>
            <a:r>
              <a:t>La séparation de réseau est équivalente à une première étape de CONSIGNATION de la partie de l'OUVRAGE assurant l'alimentation de l'INSTALLATION.</a:t>
            </a:r>
          </a:p>
          <a:p>
            <a:pPr>
              <a:defRPr sz="1600"/>
            </a:pPr>
            <a:r>
              <a:t>Pour la haute tension, des informations complémentaires sont données dans l'Annexe A.</a:t>
            </a:r>
          </a:p>
          <a:p>
            <a:pPr>
              <a:defRPr sz="1600"/>
            </a:pPr>
            <a:r>
              <a:t>NF C 18-510  -  84  -  UTE.</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7.3.5 Mesures particulières relatives aux consignations</a:t>
            </a:r>
          </a:p>
        </p:txBody>
      </p:sp>
      <p:sp>
        <p:nvSpPr>
          <p:cNvPr id="3" name="Content Placeholder 2"/>
          <p:cNvSpPr>
            <a:spLocks noGrp="1"/>
          </p:cNvSpPr>
          <p:nvPr>
            <p:ph idx="1"/>
          </p:nvPr>
        </p:nvSpPr>
        <p:spPr/>
        <p:txBody>
          <a:bodyPr/>
          <a:lstStyle/>
          <a:p>
            <a:pPr>
              <a:defRPr sz="1600"/>
            </a:pPr>
            <a:r>
              <a:t>Ce paragraphe expose les mesures à respecter pour la réalisation d'OPERATIONS d'ORDRE ELECTRIQUE ou d'ORDRE NON ELECTRIQUE sur un OUVRAGE ou une INSTALLATION.</a:t>
            </a:r>
          </a:p>
          <a:p>
            <a:pPr>
              <a:defRPr sz="1600"/>
            </a:pPr>
            <a:r>
              <a:t>Il précise les mesures à respecter lors des OPERATIONS d'ORDRE NON ELECTRIQUE réalisées après avoir supprimé le VOISINAGE des pièces nues sous tension, ou après CONSIGNATION OU MISE HORS TENSION d'une CANALISATION ISOLEE.</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7.3.5.1 Travaux hors tension d'ordre électrique sur un ouvrage ou une installation</a:t>
            </a:r>
          </a:p>
        </p:txBody>
      </p:sp>
      <p:sp>
        <p:nvSpPr>
          <p:cNvPr id="3" name="Content Placeholder 2"/>
          <p:cNvSpPr>
            <a:spLocks noGrp="1"/>
          </p:cNvSpPr>
          <p:nvPr>
            <p:ph idx="1"/>
          </p:nvPr>
        </p:nvSpPr>
        <p:spPr/>
        <p:txBody>
          <a:bodyPr/>
          <a:lstStyle/>
          <a:p>
            <a:pPr>
              <a:defRPr sz="1600"/>
            </a:pPr>
            <a:r>
              <a:t>Dans le cadre d'un TRAVAIL HORS TENSION sur un OUVRAGE ou une INSTALLATION, les TRAVAUX sont réalisés par des exécutants habilités symboles B1 ou H1, sous la responsabilité d'un CHARGE DE TRAVAUX habilité symboles B2 ou H2.</a:t>
            </a:r>
          </a:p>
          <a:p>
            <a:pPr>
              <a:defRPr sz="1600"/>
            </a:pPr>
            <a:r>
              <a:t>Avant de commencer son travail, le CHARGE DE TRAVAUX doit recevoir une ATTESTATION DE CONSIGNATION EN UNE ETAPE ou une ATTESTATION DE 1ere ETAPE DE CONSIGNATION établie par le CHARGE DE CONSIGNATION.</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7.3.5.2 Opérations hors tension après consignation pour suppression du voisinage</a:t>
            </a:r>
          </a:p>
        </p:txBody>
      </p:sp>
      <p:sp>
        <p:nvSpPr>
          <p:cNvPr id="3" name="Content Placeholder 2"/>
          <p:cNvSpPr>
            <a:spLocks noGrp="1"/>
          </p:cNvSpPr>
          <p:nvPr>
            <p:ph idx="1"/>
          </p:nvPr>
        </p:nvSpPr>
        <p:spPr/>
        <p:txBody>
          <a:bodyPr/>
          <a:lstStyle/>
          <a:p>
            <a:pPr>
              <a:defRPr sz="1600"/>
            </a:pPr>
            <a:r>
              <a:t>des pièces nues sous tension.</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7.3.5.2.1 Dispositions pour les opérations d'ordre non électrique concourant à</a:t>
            </a:r>
          </a:p>
        </p:txBody>
      </p:sp>
      <p:sp>
        <p:nvSpPr>
          <p:cNvPr id="3" name="Content Placeholder 2"/>
          <p:cNvSpPr>
            <a:spLocks noGrp="1"/>
          </p:cNvSpPr>
          <p:nvPr>
            <p:ph idx="1"/>
          </p:nvPr>
        </p:nvSpPr>
        <p:spPr/>
        <p:txBody>
          <a:bodyPr/>
          <a:lstStyle/>
          <a:p>
            <a:pPr>
              <a:defRPr sz="1600"/>
            </a:pPr>
            <a:r>
              <a:t>l'exploitation de l'ouvrage ou de l'installation  Pour ces OPERATIONS, les EXECUTANTS ne sont pas habilités, mais formes vis-à-vis du risque électrique.</a:t>
            </a:r>
          </a:p>
          <a:p>
            <a:pPr>
              <a:defRPr sz="1600"/>
            </a:pPr>
            <a:r>
              <a:t>Ils travaillent sous la responsabilité d'un CHARGE DE TRAVAUX habilite symboles B2 ou H2 ou d'un CHARGE DE CHANTIER habilite symboles BO ou HO.</a:t>
            </a:r>
          </a:p>
          <a:p>
            <a:pPr>
              <a:defRPr sz="1600"/>
            </a:pPr>
            <a:r>
              <a:t>Avant de commencer son travail, le CHARGE DE TRAVAUX ou le CHARGE DE CHANTIER doit recevoir une AUTORISATION DE TRAVAIL établie par le CHEF D'ETABLISSEMENT ou par le CHARGE D'EXPLOITATION ELECTRIQUE.</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7.3.5.2.2 Dispositions pour les autres operations d'ordre non électrique</a:t>
            </a:r>
          </a:p>
        </p:txBody>
      </p:sp>
      <p:sp>
        <p:nvSpPr>
          <p:cNvPr id="3" name="Content Placeholder 2"/>
          <p:cNvSpPr>
            <a:spLocks noGrp="1"/>
          </p:cNvSpPr>
          <p:nvPr>
            <p:ph idx="1"/>
          </p:nvPr>
        </p:nvSpPr>
        <p:spPr/>
        <p:txBody>
          <a:bodyPr/>
          <a:lstStyle/>
          <a:p>
            <a:pPr>
              <a:defRPr sz="1600"/>
            </a:pPr>
            <a:r>
              <a:t>Pour ces OPERATIONS, les EXECUTANTS ne sont pas habilités, mais formes vis-à-vis du risque électrique.</a:t>
            </a:r>
          </a:p>
          <a:p>
            <a:pPr>
              <a:defRPr sz="1600"/>
            </a:pPr>
            <a:r>
              <a:t>Ils travaillent sous la responsabilité d'un CHARGE DE CHANTIER forme, mais non habilité.</a:t>
            </a:r>
          </a:p>
          <a:p>
            <a:pPr>
              <a:defRPr sz="1600"/>
            </a:pPr>
            <a:r>
              <a:t>Avant de commencer son travail, le CHARGE DE CHANTIER doit recevoir, après une CONSIGNATION effectuée par l'exploitant, un CERTIFICAT POUR TIERS après CONSIGNATION.</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7.3.5.3 Cas des locaux et emplacements d'accès réservé aux électriciens</a:t>
            </a:r>
          </a:p>
        </p:txBody>
      </p:sp>
      <p:sp>
        <p:nvSpPr>
          <p:cNvPr id="3" name="Content Placeholder 2"/>
          <p:cNvSpPr>
            <a:spLocks noGrp="1"/>
          </p:cNvSpPr>
          <p:nvPr>
            <p:ph idx="1"/>
          </p:nvPr>
        </p:nvSpPr>
        <p:spPr/>
        <p:txBody>
          <a:bodyPr/>
          <a:lstStyle/>
          <a:p>
            <a:pPr>
              <a:defRPr sz="1600"/>
            </a:pPr>
            <a:r>
              <a:t>Si, dans le local ou l'emplacement, toutes les pièces nues accessibles sont consignées, les paragraphes 7.</a:t>
            </a:r>
          </a:p>
          <a:p>
            <a:pPr>
              <a:defRPr sz="1600"/>
            </a:pPr>
            <a:r>
              <a:t>3.</a:t>
            </a:r>
          </a:p>
          <a:p>
            <a:pPr>
              <a:defRPr sz="1600"/>
            </a:pPr>
            <a:r>
              <a:t>5.</a:t>
            </a:r>
          </a:p>
          <a:p>
            <a:pPr>
              <a:defRPr sz="1600"/>
            </a:pPr>
            <a:r>
              <a:t>1 et 7.</a:t>
            </a:r>
          </a:p>
          <a:p>
            <a:pPr>
              <a:defRPr sz="1600"/>
            </a:pPr>
            <a:r>
              <a:t>3.</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7.3.5.4 Opérations d'ordre non électrique realisees dans l'environnement des</a:t>
            </a:r>
          </a:p>
        </p:txBody>
      </p:sp>
      <p:sp>
        <p:nvSpPr>
          <p:cNvPr id="3" name="Content Placeholder 2"/>
          <p:cNvSpPr>
            <a:spLocks noGrp="1"/>
          </p:cNvSpPr>
          <p:nvPr>
            <p:ph idx="1"/>
          </p:nvPr>
        </p:nvSpPr>
        <p:spPr/>
        <p:txBody>
          <a:bodyPr/>
          <a:lstStyle/>
          <a:p>
            <a:pPr>
              <a:defRPr sz="1600"/>
            </a:pPr>
            <a:r>
              <a:t>canalisations isolées consignées  Pour les OPERATIONS d'ORDRE NON ELECTRIQUE, les EXECUTANTS ne sont pas habilités, mais formés vis-à-vis du risque électrique.</a:t>
            </a:r>
          </a:p>
          <a:p>
            <a:pPr>
              <a:defRPr sz="1600"/>
            </a:pPr>
            <a:r>
              <a:t>Ils travaillent sous la responsabilité d'un CHARGE DE CHANTIER habilité ou non (voir 7.</a:t>
            </a:r>
          </a:p>
          <a:p>
            <a:pPr>
              <a:defRPr sz="1600"/>
            </a:pPr>
            <a:r>
              <a:t>4.</a:t>
            </a:r>
          </a:p>
          <a:p>
            <a:pPr>
              <a:defRPr sz="1600"/>
            </a:pPr>
            <a:r>
              <a:t>8 et 7.</a:t>
            </a:r>
          </a:p>
          <a:p>
            <a:pPr>
              <a:defRPr sz="1600"/>
            </a:pPr>
            <a:r>
              <a:t>4.</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7.3.6 Mesures particulières relatives à la mise hors tension</a:t>
            </a:r>
          </a:p>
        </p:txBody>
      </p:sp>
      <p:sp>
        <p:nvSpPr>
          <p:cNvPr id="3" name="Content Placeholder 2"/>
          <p:cNvSpPr>
            <a:spLocks noGrp="1"/>
          </p:cNvSpPr>
          <p:nvPr>
            <p:ph idx="1"/>
          </p:nvPr>
        </p:nvSpPr>
        <p:spPr/>
        <p:txBody>
          <a:bodyPr/>
          <a:lstStyle/>
          <a:p>
            <a:pPr>
              <a:defRPr sz="1600"/>
            </a:pPr>
            <a:r>
              <a:t>Ce paragraphe expose les mesures à respecter pour la réalisation d'OPERATIONS d'ORDRE NON ELECTRIQUE dans l'ENVIRONNEMENT des CANALISATIONS ISOLEES, une fois la MISE HORS TENSION réalisée et complétée par les mesures compensatoires.</a:t>
            </a:r>
          </a:p>
          <a:p>
            <a:pPr>
              <a:defRPr sz="1600"/>
            </a:pPr>
            <a:r>
              <a:t>Les OPERATIONS réalisées dans l'ENVIRONNEMENT des CANALISATIONS ISOLEES après MISE HORS TENSION sont des OPERATIONS d'ORDRE NON ELECTRIQUE.</a:t>
            </a:r>
          </a:p>
          <a:p>
            <a:pPr>
              <a:defRPr sz="1600"/>
            </a:pPr>
            <a:r>
              <a:t>UTE  -  85  -  NF C 18-510  Pour ces OPERATIONS, les EXECUTANTS ne sont pas habilités, mais formés vis-à-vis du risque électrique.</a:t>
            </a:r>
          </a:p>
          <a:p>
            <a:pPr>
              <a:defRPr sz="1600"/>
            </a:pPr>
            <a:r>
              <a:t>Ils travaillent sous la responsabilité d'un CHARGE DE CHANTIER habilité ou non (voir.</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7.4.8 et 7.4.9).</a:t>
            </a:r>
          </a:p>
        </p:txBody>
      </p:sp>
      <p:sp>
        <p:nvSpPr>
          <p:cNvPr id="3" name="Content Placeholder 2"/>
          <p:cNvSpPr>
            <a:spLocks noGrp="1"/>
          </p:cNvSpPr>
          <p:nvPr>
            <p:ph idx="1"/>
          </p:nvPr>
        </p:nvSpPr>
        <p:spPr/>
        <p:txBody>
          <a:bodyPr/>
          <a:lstStyle/>
          <a:p>
            <a:pPr>
              <a:defRPr sz="1600"/>
            </a:pPr>
            <a:r>
              <a:t>Avant de commencer son travail, le CHARGE DE CHANTIER doit recevoir, après une MISE HORS TENSION effectuée par l'exploitant, un CERTIFICAT POUR TIERS après MISE HORS TENSION.</a:t>
            </a:r>
          </a:p>
          <a:p>
            <a:pPr>
              <a:defRPr sz="1600"/>
            </a:pPr>
            <a:r>
              <a:t>En basse tension, après MISE HORS TENSION et après un examen visuel de la CANALISATION ISOLEE, le personnel est autorisé à la toucher ou à la déplacer, à condition de ne pas l'endommager et de ne pas exercer de contraintes sur elle, ses accessoires et ses aboutissants.</a:t>
            </a:r>
          </a:p>
          <a:p>
            <a:pPr>
              <a:defRPr sz="1600"/>
            </a:pPr>
            <a:r>
              <a:t>En haute tension, il est interdit de toucher ou de déplacer la canalisation sans l'accord du CHEF D'ETABLISSEMENT ou du CHARGE D'EXPLOITATION ELECTRIQUE.</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 Rôle des différents acteurs dans le cadre d'un travail hors tension ou d'une</a:t>
            </a:r>
          </a:p>
        </p:txBody>
      </p:sp>
      <p:sp>
        <p:nvSpPr>
          <p:cNvPr id="3" name="Content Placeholder 2"/>
          <p:cNvSpPr>
            <a:spLocks noGrp="1"/>
          </p:cNvSpPr>
          <p:nvPr>
            <p:ph idx="1"/>
          </p:nvPr>
        </p:nvSpPr>
        <p:spPr/>
        <p:txBody>
          <a:bodyPr/>
          <a:lstStyle/>
          <a:p>
            <a:pPr>
              <a:defRPr sz="1600"/>
            </a:pPr>
            <a:r>
              <a:t>opération hors tension.</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7.4.1 Rôle de l'employeur</a:t>
            </a:r>
          </a:p>
        </p:txBody>
      </p:sp>
      <p:sp>
        <p:nvSpPr>
          <p:cNvPr id="3" name="Content Placeholder 2"/>
          <p:cNvSpPr>
            <a:spLocks noGrp="1"/>
          </p:cNvSpPr>
          <p:nvPr>
            <p:ph idx="1"/>
          </p:nvPr>
        </p:nvSpPr>
        <p:spPr/>
        <p:txBody>
          <a:bodyPr/>
          <a:lstStyle/>
          <a:p>
            <a:pPr>
              <a:defRPr sz="1600"/>
            </a:pPr>
            <a:r>
              <a:t>Les prescriptions du 4.</a:t>
            </a:r>
          </a:p>
          <a:p>
            <a:pPr>
              <a:defRPr sz="1600"/>
            </a:pPr>
            <a:r>
              <a:t>5.</a:t>
            </a:r>
          </a:p>
          <a:p>
            <a:pPr>
              <a:defRPr sz="1600"/>
            </a:pPr>
            <a:r>
              <a:t>2.</a:t>
            </a:r>
          </a:p>
          <a:p>
            <a:pPr>
              <a:defRPr sz="1600"/>
            </a:pPr>
            <a:r>
              <a:t>1.</a:t>
            </a:r>
          </a:p>
          <a:p>
            <a:pPr>
              <a:defRPr sz="1600"/>
            </a:pPr>
            <a:r>
              <a:t>1 s'appliquent.</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7.4.2 Rôle du chef d'établissement</a:t>
            </a:r>
          </a:p>
        </p:txBody>
      </p:sp>
      <p:sp>
        <p:nvSpPr>
          <p:cNvPr id="3" name="Content Placeholder 2"/>
          <p:cNvSpPr>
            <a:spLocks noGrp="1"/>
          </p:cNvSpPr>
          <p:nvPr>
            <p:ph idx="1"/>
          </p:nvPr>
        </p:nvSpPr>
        <p:spPr/>
        <p:txBody>
          <a:bodyPr/>
          <a:lstStyle/>
          <a:p>
            <a:pPr>
              <a:defRPr sz="1600"/>
            </a:pPr>
            <a:r>
              <a:t>Quand le CHEF D'ETABLISSEMENT, dans le cadre de ses responsabilités décrites au 4.</a:t>
            </a:r>
          </a:p>
          <a:p>
            <a:pPr>
              <a:defRPr sz="1600"/>
            </a:pPr>
            <a:r>
              <a:t>5.</a:t>
            </a:r>
          </a:p>
          <a:p>
            <a:pPr>
              <a:defRPr sz="1600"/>
            </a:pPr>
            <a:r>
              <a:t>2.</a:t>
            </a:r>
          </a:p>
          <a:p>
            <a:pPr>
              <a:defRPr sz="1600"/>
            </a:pPr>
            <a:r>
              <a:t>1.</a:t>
            </a:r>
          </a:p>
          <a:p>
            <a:pPr>
              <a:defRPr sz="1600"/>
            </a:pPr>
            <a:r>
              <a:t>2, décide de réaliser des TRAVAUX HORS TENSION ou des OPERATIONS HORS TENSION, il peut confier, par délégation, au CHARGE D'EXPLOITATION ELECTRIQUE ou, par contrat, à une ENTREPRISE EXTERIEURE le soin de faire réaliser les opérations de CONSIGNATION ou de MISE HORS TENSION en vue de travaux à effectuer par un CHARGE DE TRAVAUX ou par un CHARGE DE CHANTIER.</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7.4.3 Rôle du donneur d'ordre</a:t>
            </a:r>
          </a:p>
        </p:txBody>
      </p:sp>
      <p:sp>
        <p:nvSpPr>
          <p:cNvPr id="3" name="Content Placeholder 2"/>
          <p:cNvSpPr>
            <a:spLocks noGrp="1"/>
          </p:cNvSpPr>
          <p:nvPr>
            <p:ph idx="1"/>
          </p:nvPr>
        </p:nvSpPr>
        <p:spPr/>
        <p:txBody>
          <a:bodyPr/>
          <a:lstStyle/>
          <a:p>
            <a:pPr>
              <a:defRPr sz="1600"/>
            </a:pPr>
            <a:r>
              <a:t>Les prescriptions du 4.</a:t>
            </a:r>
          </a:p>
          <a:p>
            <a:pPr>
              <a:defRPr sz="1600"/>
            </a:pPr>
            <a:r>
              <a:t>5.</a:t>
            </a:r>
          </a:p>
          <a:p>
            <a:pPr>
              <a:defRPr sz="1600"/>
            </a:pPr>
            <a:r>
              <a:t>1.</a:t>
            </a:r>
          </a:p>
          <a:p>
            <a:pPr>
              <a:defRPr sz="1600"/>
            </a:pPr>
            <a:r>
              <a:t>4 s'appliquent.</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7.4.4 Rôle du chargé d'exploitation électrique</a:t>
            </a:r>
          </a:p>
        </p:txBody>
      </p:sp>
      <p:sp>
        <p:nvSpPr>
          <p:cNvPr id="3" name="Content Placeholder 2"/>
          <p:cNvSpPr>
            <a:spLocks noGrp="1"/>
          </p:cNvSpPr>
          <p:nvPr>
            <p:ph idx="1"/>
          </p:nvPr>
        </p:nvSpPr>
        <p:spPr/>
        <p:txBody>
          <a:bodyPr/>
          <a:lstStyle/>
          <a:p>
            <a:pPr>
              <a:defRPr sz="1600"/>
            </a:pPr>
            <a:r>
              <a:t>Le CHARGE D'EXPLOITATION ELECTRIQUE, en complément de ses responsabilités décrites en.</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4.5.2.2 :</a:t>
            </a:r>
          </a:p>
        </p:txBody>
      </p:sp>
      <p:sp>
        <p:nvSpPr>
          <p:cNvPr id="3" name="Content Placeholder 2"/>
          <p:cNvSpPr>
            <a:spLocks noGrp="1"/>
          </p:cNvSpPr>
          <p:nvPr>
            <p:ph idx="1"/>
          </p:nvPr>
        </p:nvSpPr>
        <p:spPr/>
        <p:txBody>
          <a:bodyPr/>
          <a:lstStyle/>
          <a:p>
            <a:pPr>
              <a:defRPr sz="1600"/>
            </a:pPr>
            <a:r>
              <a:t>· organise la préparation des TRAVAUX HORS TENSION ou des OPERATIONS HORS TENSION ;.</a:t>
            </a:r>
          </a:p>
          <a:p>
            <a:pPr>
              <a:defRPr sz="1600"/>
            </a:pPr>
            <a:r>
              <a:t>identifie et mandate les CHARGES DE CONSIGNATION et, dans certains cas, le ou les CHARGES DE TRAVAUX ;  · veille à remettre en service les OUVRAGES ou les INSTALLATIONS, lorsque les TRAVAUX ou les OPERATIONS sont terminés.</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7.4.5 Rôle du charge de consignation</a:t>
            </a:r>
          </a:p>
        </p:txBody>
      </p:sp>
      <p:sp>
        <p:nvSpPr>
          <p:cNvPr id="3" name="Content Placeholder 2"/>
          <p:cNvSpPr>
            <a:spLocks noGrp="1"/>
          </p:cNvSpPr>
          <p:nvPr>
            <p:ph idx="1"/>
          </p:nvPr>
        </p:nvSpPr>
        <p:spPr/>
        <p:txBody>
          <a:bodyPr/>
          <a:lstStyle/>
          <a:p>
            <a:pPr>
              <a:defRPr sz="1600"/>
            </a:pPr>
            <a:r>
              <a:t>En complément des prescriptions générales données en 4.</a:t>
            </a:r>
          </a:p>
          <a:p>
            <a:pPr>
              <a:defRPr sz="1600"/>
            </a:pPr>
            <a:r>
              <a:t>5.</a:t>
            </a:r>
          </a:p>
          <a:p>
            <a:pPr>
              <a:defRPr sz="1600"/>
            </a:pPr>
            <a:r>
              <a:t>2.</a:t>
            </a:r>
          </a:p>
          <a:p>
            <a:pPr>
              <a:defRPr sz="1600"/>
            </a:pPr>
            <a:r>
              <a:t>4, le CHARGE DE CONSIGNATION doit être titulaire d'une HABILITATION symboles BC ou HC.</a:t>
            </a:r>
          </a:p>
          <a:p>
            <a:pPr>
              <a:defRPr sz="1600"/>
            </a:pPr>
            <a:r>
              <a:t>Sous l'autorité du CHARGE D'EXPLOITATION :.</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7.4.6 Rôle du charge de travaux pour les travaux hors tension</a:t>
            </a:r>
          </a:p>
        </p:txBody>
      </p:sp>
      <p:sp>
        <p:nvSpPr>
          <p:cNvPr id="3" name="Content Placeholder 2"/>
          <p:cNvSpPr>
            <a:spLocks noGrp="1"/>
          </p:cNvSpPr>
          <p:nvPr>
            <p:ph idx="1"/>
          </p:nvPr>
        </p:nvSpPr>
        <p:spPr/>
        <p:txBody>
          <a:bodyPr/>
          <a:lstStyle/>
          <a:p>
            <a:pPr>
              <a:defRPr sz="1600"/>
            </a:pPr>
            <a:r>
              <a:t>En complément des prescriptions générales données en 4.</a:t>
            </a:r>
          </a:p>
          <a:p>
            <a:pPr>
              <a:defRPr sz="1600"/>
            </a:pPr>
            <a:r>
              <a:t>5.</a:t>
            </a:r>
          </a:p>
          <a:p>
            <a:pPr>
              <a:defRPr sz="1600"/>
            </a:pPr>
            <a:r>
              <a:t>2.</a:t>
            </a:r>
          </a:p>
          <a:p>
            <a:pPr>
              <a:defRPr sz="1600"/>
            </a:pPr>
            <a:r>
              <a:t>5, le CHARGE DE TRAVAUX, pour les TRAVAUX HORS TENSION, doit être habilite symboles B2 ou H2.</a:t>
            </a:r>
          </a:p>
          <a:p>
            <a:pPr>
              <a:defRPr sz="1600"/>
            </a:pPr>
            <a:r>
              <a:t>Il doit respecter les prescriptions ci-après.</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7.4.6.1 Avant d'entreprendre le travail</a:t>
            </a:r>
          </a:p>
        </p:txBody>
      </p:sp>
      <p:sp>
        <p:nvSpPr>
          <p:cNvPr id="3" name="Content Placeholder 2"/>
          <p:cNvSpPr>
            <a:spLocks noGrp="1"/>
          </p:cNvSpPr>
          <p:nvPr>
            <p:ph idx="1"/>
          </p:nvPr>
        </p:nvSpPr>
        <p:spPr/>
        <p:txBody>
          <a:bodyPr/>
          <a:lstStyle/>
          <a:p>
            <a:pPr>
              <a:defRPr sz="1600"/>
            </a:pPr>
            <a:r>
              <a:t>Le CHARGE DE TRAVAUX doit :  · participer à l'analyse du risque électrique et à la préparation du travail ou, à défaut, s'approprier la préparation du travail, avant la réalisation des TRAVAUX HORS TENSION ;  · avoir reçu tous les éléments nécessaires pour garantir l'exécution des travaux en sécurité ;  · avoir reçu du CHARGE DE CONSIGNATION :  o soit l'ATTESTATION DE CONSIGNATION EN UNE ETAPE ;  o soit l'ATTESTATION DE PREMIERE ETAPE DE CONSIGNATION et, dans ce cas, savoir réaliser la deuxième étape.</a:t>
            </a:r>
          </a:p>
          <a:p>
            <a:pPr>
              <a:defRPr sz="1600"/>
            </a:pPr>
            <a:r>
              <a:t>· vérifier l'adéquation entre l'HABILITATION des OPERATEURS et le travail confié ;  · lire et contresigner l'ATTESTATION DE CONSIGNATION ;  · consulter les éléments d'information à sa disposition, notamment les plans ;  · identifier l'OUVRAGE ou l'INSTALLATION sur lequel il va operer et notamment, ses limites ;  · vérifier sur place que les éléments de la préparation du travail sont cohérents avec les risques de l'OPERATION ;  · s'assurer que les conditions atmosphériques sont compatibles avec le travail envisagé ;  · déterminer le mode d'action et la chronologie des PHASES DE TRAVAIL à réaliser, en tenant compte des opérations mentionnées dans l'ATTESTATION DE CONSIGNATION et des éléments de la préparation du travail ;  · dans le cas d'une CONSIGNATION EN DEUX ETAPES, réaliser la deuxième étape en vérifiant L'ABSENCE DE TENSION et, dans les cas prévus, immédiatement effectuer une MISE A LA TERRE ET EN COURT-CIRCUIT aux emplacements retenus ;.</a:t>
            </a:r>
          </a:p>
          <a:p>
            <a:pPr>
              <a:defRPr sz="1600"/>
            </a:pPr>
            <a:r>
              <a:t>dans tous les cas, effectuer une VERIFICATION D'ABSENCE DE TENSION sur le lieu de travail, avant d'entreprendre le travail prévu ;  · lorsque nécessaire, réaliser l'équipotentialité du POSTE DE TRAVAIL  ;  · effectuer le BALISAGE de la ZONE DE TRAVAIL ;  · informer les EXECUTANTS :  o de la nature des travaux ;  o des mesures de prévention prises et, notamment, des modalités de SURVEILLANCE ;  o de la répartition des tâches et de l'organisation de la hiérarchie au sein de l'équipe ;  o des précautions à respecter ;  o des limites de la ZONE DE TRAVAIL ;  o du comportement à adopter en cas de difficulté ;  o des dispositions à prendre en fin de travail ou en cas d'interruption du travail, notamment celles relatives au point de rassemblement.</a:t>
            </a:r>
          </a:p>
          <a:p>
            <a:pPr>
              <a:defRPr sz="1600"/>
            </a:pPr>
            <a:r>
              <a:t>· mettre en place les modalités de SURVEILLANCE nécessaires ;.</a:t>
            </a:r>
          </a:p>
          <a:p>
            <a:pPr>
              <a:defRPr sz="1600"/>
            </a:pPr>
            <a:r>
              <a:t>donner les ordres pour le commencement des travaux.</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7.4.6.2 Pendant les travaux</a:t>
            </a:r>
          </a:p>
        </p:txBody>
      </p:sp>
      <p:sp>
        <p:nvSpPr>
          <p:cNvPr id="3" name="Content Placeholder 2"/>
          <p:cNvSpPr>
            <a:spLocks noGrp="1"/>
          </p:cNvSpPr>
          <p:nvPr>
            <p:ph idx="1"/>
          </p:nvPr>
        </p:nvSpPr>
        <p:spPr/>
        <p:txBody>
          <a:bodyPr/>
          <a:lstStyle/>
          <a:p>
            <a:pPr>
              <a:defRPr sz="1600"/>
            </a:pPr>
            <a:r>
              <a:t>Le CHARGE DE TRAVAUX doit :  · veiller à l'application des mesures de prévention prises ;  · assurer la SURVEILLANCE de son personnel qui doit être permanente en cas de risques particuliers ;  · veiller à la bonne exécution du travail ;  · veiller au bon emploi de l'outillage et du matériel de sécurité.</a:t>
            </a:r>
          </a:p>
          <a:p>
            <a:pPr>
              <a:defRPr sz="1600"/>
            </a:pPr>
            <a:r>
              <a:t>En cas d'interruption temporaire des travaux sans remise de l'AVIS DE FIN DE TRAVAIL, le CHARGE DE TRAVAUX doit :  · donner aux EXECUTANTS l'ordre d'interrompre les travaux et les rassembler au point convenu ;  · assurer la sécurité aux abords de la ZONE DE TRAVAIL  ;  · interdire aux EXECUTANTS tout nouvel accès à la ZONE DE TRAVAIL tant qu'un nouvel ordre ne leur aura pas été signifié ;.</a:t>
            </a:r>
          </a:p>
          <a:p>
            <a:pPr>
              <a:defRPr sz="1600"/>
            </a:pPr>
            <a:r>
              <a:t>remettre l'avis d'interruption de travail au CHARGE DE CONSIGNATION.</a:t>
            </a:r>
          </a:p>
          <a:p>
            <a:pPr>
              <a:defRPr sz="1600"/>
            </a:pPr>
            <a:r>
              <a:t>A la reprise des travaux, le CHARGE DE TRAVAUX doit :  · recevoir l'autorisation de reprise du CHARGE DE CONSIGNATION ;  · s'assurer que les mesures de prévention prises à l'origine des travaux sont toujours valables ;  · confirmer les instructions correspondantes et s'assurer qu'elles sont bien comprises ;  · donner l'ordre de reprise du travail.</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7.4.6.3 A la fin des travaux</a:t>
            </a:r>
          </a:p>
        </p:txBody>
      </p:sp>
      <p:sp>
        <p:nvSpPr>
          <p:cNvPr id="3" name="Content Placeholder 2"/>
          <p:cNvSpPr>
            <a:spLocks noGrp="1"/>
          </p:cNvSpPr>
          <p:nvPr>
            <p:ph idx="1"/>
          </p:nvPr>
        </p:nvSpPr>
        <p:spPr/>
        <p:txBody>
          <a:bodyPr/>
          <a:lstStyle/>
          <a:p>
            <a:pPr>
              <a:defRPr sz="1600"/>
            </a:pPr>
            <a:r>
              <a:t>Le CHARGE DE TRAVAUX doit :  · s'assurer de la bonne exécution du travail et de l'enlèvement de tous les outils ;  · rassembler le personnel au point convenu et lui signifier l'interdiction définitive de tout nouvel accès à la ZONE DE TRAVAIL, quelle qu'en soit la raison ;  · procéder à l'enlèvement du BALISAGE de la ZONE DE TRAVAIL ;  · procéder à l'enlèvement des EQUIPEMENTS DE MISE A LA TERRE ET EN COURT-CIRCUIT et des dispositifs d'équipotentialité éventuellement posés par lui-même et, si nécessaire, des dispositifs de signalisation associés, tout en prenant les precautions qui s'y rapportent ;.</a:t>
            </a:r>
          </a:p>
          <a:p>
            <a:pPr>
              <a:defRPr sz="1600"/>
            </a:pPr>
            <a:r>
              <a:t>remettre au CHARGE DE CONSIGNATION L'AVIS DE FIN DE TRAVAIL et transmettre tous les éléments pour la mise a jour des plans de l'OUVRAGE ou de l'INSTALLATION suite aux travaux effectués.</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7.4.7 Rôle du chargé de travaux pour les opérations après suppression du voisinage</a:t>
            </a:r>
          </a:p>
        </p:txBody>
      </p:sp>
      <p:sp>
        <p:nvSpPr>
          <p:cNvPr id="3" name="Content Placeholder 2"/>
          <p:cNvSpPr>
            <a:spLocks noGrp="1"/>
          </p:cNvSpPr>
          <p:nvPr>
            <p:ph idx="1"/>
          </p:nvPr>
        </p:nvSpPr>
        <p:spPr/>
        <p:txBody>
          <a:bodyPr/>
          <a:lstStyle/>
          <a:p>
            <a:pPr>
              <a:defRPr sz="1600"/>
            </a:pPr>
            <a:r>
              <a:t>En complément des prescriptions générales énoncées en 4.</a:t>
            </a:r>
          </a:p>
          <a:p>
            <a:pPr>
              <a:defRPr sz="1600"/>
            </a:pPr>
            <a:r>
              <a:t>5.</a:t>
            </a:r>
          </a:p>
          <a:p>
            <a:pPr>
              <a:defRPr sz="1600"/>
            </a:pPr>
            <a:r>
              <a:t>2.</a:t>
            </a:r>
          </a:p>
          <a:p>
            <a:pPr>
              <a:defRPr sz="1600"/>
            </a:pPr>
            <a:r>
              <a:t>5, le CHARGE DE TRAVAUX doit être habilité symboles B2 ou H2 et respecter les prescriptions suivantes.</a:t>
            </a:r>
          </a:p>
          <a:p>
            <a:pPr>
              <a:defRPr sz="1600"/>
            </a:pPr>
            <a:r>
              <a:t>Avant d'entreprendre un TRAVAIL d'ORDRE NON ELECTRIQUE, il doit avoir reçu du CHEF D'ETABLISSEMENT ou du CHARGE D'EXPLOITATION ELECTRIQUE une AUTORISATION DE TRAVAIL précisant qu'il n'y a pas de présence de pièces nues sous tension dans les limites de la ZONE DE TRAVAIL définie.</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7.4.8 Rôle du charge de chantier dans le cadre d'opérations d'ordre non électrique</a:t>
            </a:r>
          </a:p>
        </p:txBody>
      </p:sp>
      <p:sp>
        <p:nvSpPr>
          <p:cNvPr id="3" name="Content Placeholder 2"/>
          <p:cNvSpPr>
            <a:spLocks noGrp="1"/>
          </p:cNvSpPr>
          <p:nvPr>
            <p:ph idx="1"/>
          </p:nvPr>
        </p:nvSpPr>
        <p:spPr/>
        <p:txBody>
          <a:bodyPr/>
          <a:lstStyle/>
          <a:p>
            <a:pPr>
              <a:defRPr sz="1600"/>
            </a:pPr>
            <a:r>
              <a:t>concourant à l'exploitation de l'ouvrage ou de l'installation  En complément des prescriptions générales énoncées au 4.</a:t>
            </a:r>
          </a:p>
          <a:p>
            <a:pPr>
              <a:defRPr sz="1600"/>
            </a:pPr>
            <a:r>
              <a:t>5.</a:t>
            </a:r>
          </a:p>
          <a:p>
            <a:pPr>
              <a:defRPr sz="1600"/>
            </a:pPr>
            <a:r>
              <a:t>2.</a:t>
            </a:r>
          </a:p>
          <a:p>
            <a:pPr>
              <a:defRPr sz="1600"/>
            </a:pPr>
            <a:r>
              <a:t>8, le CHARGE DE CHANTIER doit être habilité symboles B0 ou H0 et respecter les prescriptions suivantes.</a:t>
            </a:r>
          </a:p>
          <a:p>
            <a:pPr>
              <a:defRPr sz="1600"/>
            </a:pPr>
            <a:r>
              <a:t>Avant d'entreprendre un TRAVAIL d'ORDRE NON ELECTRIQUE, il doit avoir reçu du CHARGE D'EXPLOITATION ELECTRIQUE une AUTORISATION DE TRAVAIL précisant qu'il n'y a pas de VOISINAGE dans les limites de la ZONE DE TRAVAIL définie.</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7.4.9 Rôle du CHARGE DE CHANTIER DANS le CADRE D'OPERATIONS D'ORDRE NON ELectrique</a:t>
            </a:r>
          </a:p>
        </p:txBody>
      </p:sp>
      <p:sp>
        <p:nvSpPr>
          <p:cNvPr id="3" name="Content Placeholder 2"/>
          <p:cNvSpPr>
            <a:spLocks noGrp="1"/>
          </p:cNvSpPr>
          <p:nvPr>
            <p:ph idx="1"/>
          </p:nvPr>
        </p:nvSpPr>
        <p:spPr/>
        <p:txBody>
          <a:bodyPr/>
          <a:lstStyle/>
          <a:p>
            <a:pPr>
              <a:defRPr sz="1600"/>
            </a:pPr>
            <a:r>
              <a:t>autres que les opérations du 7.</a:t>
            </a:r>
          </a:p>
          <a:p>
            <a:pPr>
              <a:defRPr sz="1600"/>
            </a:pPr>
            <a:r>
              <a:t>4.</a:t>
            </a:r>
          </a:p>
          <a:p>
            <a:pPr>
              <a:defRPr sz="1600"/>
            </a:pPr>
            <a:r>
              <a:t>8  En complément des prescriptions générales données au 4.</a:t>
            </a:r>
          </a:p>
          <a:p>
            <a:pPr>
              <a:defRPr sz="1600"/>
            </a:pPr>
            <a:r>
              <a:t>5.</a:t>
            </a:r>
          </a:p>
          <a:p>
            <a:pPr>
              <a:defRPr sz="1600"/>
            </a:pPr>
            <a:r>
              <a:t>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7.4.10 Rôle de l'exécutant de travaux d'ordre électrique ou non</a:t>
            </a:r>
          </a:p>
        </p:txBody>
      </p:sp>
      <p:sp>
        <p:nvSpPr>
          <p:cNvPr id="3" name="Content Placeholder 2"/>
          <p:cNvSpPr>
            <a:spLocks noGrp="1"/>
          </p:cNvSpPr>
          <p:nvPr>
            <p:ph idx="1"/>
          </p:nvPr>
        </p:nvSpPr>
        <p:spPr/>
        <p:txBody>
          <a:bodyPr/>
          <a:lstStyle/>
          <a:p>
            <a:pPr>
              <a:defRPr sz="1600"/>
            </a:pPr>
            <a:r>
              <a:t>En complément des prescriptions générales données au 4.</a:t>
            </a:r>
          </a:p>
          <a:p>
            <a:pPr>
              <a:defRPr sz="1600"/>
            </a:pPr>
            <a:r>
              <a:t>5.</a:t>
            </a:r>
          </a:p>
          <a:p>
            <a:pPr>
              <a:defRPr sz="1600"/>
            </a:pPr>
            <a:r>
              <a:t>2.</a:t>
            </a:r>
          </a:p>
          <a:p>
            <a:pPr>
              <a:defRPr sz="1600"/>
            </a:pPr>
            <a:r>
              <a:t>9, l'EXECUTANT doit respecter les prescriptions suivantes.</a:t>
            </a:r>
          </a:p>
          <a:p>
            <a:pPr>
              <a:defRPr sz="1600"/>
            </a:pPr>
            <a:r>
              <a:t>L'EXECUTANT de TRAVAUX d'ORDRE ELECTRIQUE doit être habilite pour des TRAVAUX HORS TENSION, symboles B1 ou H1, et suivre les instructions du CHARGE DE TRAVAUX.</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 Formation à la prévention du risque électrique et Habilitation</a:t>
            </a:r>
          </a:p>
        </p:txBody>
      </p:sp>
      <p:sp>
        <p:nvSpPr>
          <p:cNvPr id="3" name="Content Placeholder 2"/>
          <p:cNvSpPr>
            <a:spLocks noGrp="1"/>
          </p:cNvSpPr>
          <p:nvPr>
            <p:ph idx="1"/>
          </p:nvPr>
        </p:nvSpPr>
        <p:spPr/>
        <p:txBody>
          <a:bodyPr/>
          <a:lstStyle/>
          <a:p>
            <a:pPr>
              <a:defRPr sz="1600"/>
            </a:pPr>
            <a:r>
              <a:t>Les prescriptions des paragraphes suivants viennent en complément des prescriptions générales de l'Article 5.</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7.5.1 Chargé d'exploitation électrique</a:t>
            </a:r>
          </a:p>
        </p:txBody>
      </p:sp>
      <p:sp>
        <p:nvSpPr>
          <p:cNvPr id="3" name="Content Placeholder 2"/>
          <p:cNvSpPr>
            <a:spLocks noGrp="1"/>
          </p:cNvSpPr>
          <p:nvPr>
            <p:ph idx="1"/>
          </p:nvPr>
        </p:nvSpPr>
        <p:spPr/>
        <p:txBody>
          <a:bodyPr/>
          <a:lstStyle/>
          <a:p>
            <a:pPr>
              <a:defRPr sz="1600"/>
            </a:pPr>
            <a:r>
              <a:t>Le CHARGE D'EXPLOITATION ELECTRIQUE doit, en complement de ses missions d'EXPLOITATION de l'OUVRAGE ou de l'INSTALLATION, avoir reçu une formation à la prévention du risque électrique lui permettant de faire réaliser une CONSIGNATION ou une MISE HORS TENSION ; il doit aussi, participer à la préparation du travail et à la rédaction d'INSTRUCTIONS DE SECURITE, remettre une AUTORISATION DE TRAVAIL ou un CERTIFICAT POUR TIERS et réceptionner un AVIS DE FIN DE TRAVAIL.</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7.5.2 Chargé de consignation</a:t>
            </a:r>
          </a:p>
        </p:txBody>
      </p:sp>
      <p:sp>
        <p:nvSpPr>
          <p:cNvPr id="3" name="Content Placeholder 2"/>
          <p:cNvSpPr>
            <a:spLocks noGrp="1"/>
          </p:cNvSpPr>
          <p:nvPr>
            <p:ph idx="1"/>
          </p:nvPr>
        </p:nvSpPr>
        <p:spPr/>
        <p:txBody>
          <a:bodyPr/>
          <a:lstStyle/>
          <a:p>
            <a:pPr>
              <a:defRPr sz="1600"/>
            </a:pPr>
            <a:r>
              <a:t>La formation à la prévention du risque électrique pour le CHARGE DE CONSIGNATION doit comprendre la connaissance des OUVRAGES ou des INSTALLATIONS (ou des types d'OUVRAGES ou d'INSTALLATIONS) qu'il doit consigner ou mettre hors tension.</a:t>
            </a:r>
          </a:p>
          <a:p>
            <a:pPr>
              <a:defRPr sz="1600"/>
            </a:pPr>
            <a:r>
              <a:t>Elle doit, en outre, intégrer toutes les notions et prescriptions de l'ENVIRONNEMENT électrique, lui permettant d'évoluer dans tous les cas de figure.</a:t>
            </a:r>
          </a:p>
          <a:p>
            <a:pPr>
              <a:defRPr sz="1600"/>
            </a:pPr>
            <a:r>
              <a:t>Le CHARGE DE CONSIGNATION doit avoir une HABILITATION symboles BC ou HC pour pouvoir réaliser ou prendre en charge une CONSIGNATION ou une MISE HORS TENSION.</a:t>
            </a:r>
          </a:p>
          <a:p>
            <a:pPr>
              <a:defRPr sz="1600"/>
            </a:pPr>
            <a:r>
              <a:t>Ces deux HABILITATIONS sont indépendantes des HABILITATIONS pour TRAVAUX.</a:t>
            </a:r>
          </a:p>
          <a:p>
            <a:pPr>
              <a:defRPr sz="1600"/>
            </a:pPr>
            <a:r>
              <a:t>Les CONSIGNATIONS ou les MISES HORS TENSION peuvent aussi être réalisées en présence de pièces nues sous tension d'autres OUVRAGES OU INSTALLATIONS du même domaine de tension.</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 Charge de travaux</a:t>
            </a:r>
          </a:p>
        </p:txBody>
      </p:sp>
      <p:sp>
        <p:nvSpPr>
          <p:cNvPr id="3" name="Content Placeholder 2"/>
          <p:cNvSpPr>
            <a:spLocks noGrp="1"/>
          </p:cNvSpPr>
          <p:nvPr>
            <p:ph idx="1"/>
          </p:nvPr>
        </p:nvSpPr>
        <p:spPr/>
        <p:txBody>
          <a:bodyPr/>
          <a:lstStyle/>
          <a:p>
            <a:pPr>
              <a:defRPr sz="1600"/>
            </a:pPr>
            <a:r>
              <a:t>La formation à la prévention du risque électrique du CHARGE DE TRAVAUX doit comprendre la connaissance des zones dans lesquelles il est amené à évoluer et l'application des prescriptions dans ces zones.</a:t>
            </a:r>
          </a:p>
          <a:p>
            <a:pPr>
              <a:defRPr sz="1600"/>
            </a:pPr>
            <a:r>
              <a:t>Elle doit, en outre, comprendre la maîtrise des opérations de CONSIGNATION qui peuvent lui incomber dans le cas d'une CONSIGNATION EN DEUX ETAPES et des risques associés pour assurer sa propre sécurité et celle de son équipe.</a:t>
            </a:r>
          </a:p>
          <a:p>
            <a:pPr>
              <a:defRPr sz="1600"/>
            </a:pPr>
            <a:r>
              <a:t>Le CHARGE DE TRAVAUX pour TRAVAUX HORS TENSION OU OPERATIONS HORS TENSION doit être habilité a minima symboles B2 ou H2.</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7.5.4 Chargé de chantier</a:t>
            </a:r>
          </a:p>
        </p:txBody>
      </p:sp>
      <p:sp>
        <p:nvSpPr>
          <p:cNvPr id="3" name="Content Placeholder 2"/>
          <p:cNvSpPr>
            <a:spLocks noGrp="1"/>
          </p:cNvSpPr>
          <p:nvPr>
            <p:ph idx="1"/>
          </p:nvPr>
        </p:nvSpPr>
        <p:spPr/>
        <p:txBody>
          <a:bodyPr/>
          <a:lstStyle/>
          <a:p>
            <a:pPr>
              <a:defRPr sz="1600"/>
            </a:pPr>
            <a:r>
              <a:t>Lorsque l'OPERATION d'ORDRE NON ELECTRIQUE concourt à l'EXPLOITATION de l'OUVRAGE ou de l'INSTALLATION, le CHARGE DE CHANTIER doit être habilité symboles BO (voisinage simple), HO (voisinage simple) ou H0V (voisinage renforcé).</a:t>
            </a:r>
          </a:p>
          <a:p>
            <a:pPr>
              <a:defRPr sz="1600"/>
            </a:pPr>
            <a:r>
              <a:t>NF C 18-510  -  90  -  UTE.</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7.5.5 Exécutant</a:t>
            </a:r>
          </a:p>
        </p:txBody>
      </p:sp>
      <p:sp>
        <p:nvSpPr>
          <p:cNvPr id="3" name="Content Placeholder 2"/>
          <p:cNvSpPr>
            <a:spLocks noGrp="1"/>
          </p:cNvSpPr>
          <p:nvPr>
            <p:ph idx="1"/>
          </p:nvPr>
        </p:nvSpPr>
        <p:spPr/>
        <p:txBody>
          <a:bodyPr/>
          <a:lstStyle/>
          <a:p>
            <a:pPr>
              <a:defRPr sz="1600"/>
            </a:pPr>
            <a:r>
              <a:t>La formation à la prévention du risque électrique de l'EXECUTANT, pour les TRAVAUX d'ORDRE ELECTRIQUE HORS TENSION, doit comprendre la connaissance des règles des TRAVAUX HORS TENSION qui le concernent et le respect de la ZONE DE TRAVAIL.</a:t>
            </a:r>
          </a:p>
          <a:p>
            <a:pPr>
              <a:defRPr sz="1600"/>
            </a:pPr>
            <a:r>
              <a:t>L'EXECUTANT pour TRAVAUX d'ORDRE ELECTRIQUE HORS TENSION doit être habilite a minima symboles B1 ou H1.</a:t>
            </a:r>
          </a:p>
          <a:p>
            <a:pPr>
              <a:defRPr sz="1600"/>
            </a:pPr>
            <a:r>
              <a:t>Pour les OPERATIONS d'ORDRE NON ELECTRIQUE, les EXECUTANTS doivent être formés à la prévention du risque électrique suivant les prescriptions qui les concernent, mais ne sont pas habilités.</a:t>
            </a:r>
          </a:p>
          <a:p>
            <a:pPr>
              <a:defRPr sz="1600"/>
            </a:pPr>
            <a:r>
              <a:t>UTE  -  91  -  NF C 18-510.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TRAVAUX SOUS TENSION</a:t>
            </a:r>
          </a:p>
        </p:txBody>
      </p:sp>
      <p:sp>
        <p:nvSpPr>
          <p:cNvPr id="3" name="Content Placeholder 2"/>
          <p:cNvSpPr>
            <a:spLocks noGrp="1"/>
          </p:cNvSpPr>
          <p:nvPr>
            <p:ph idx="1"/>
          </p:nvPr>
        </p:nvSpPr>
        <p:spPr/>
        <p:txBody>
          <a:bodyPr/>
          <a:lstStyle/>
          <a:p>
            <a:pPr>
              <a:defRPr sz="1600"/>
            </a:pPr>
            <a:r>
              <a:t>Cet article énonce les prescriptions applicables aux TRAVAUX SOUS TENSION relevant de deux cadres réglementaires différents, selon qu'il s'agit des OUVRAGES ou des INSTALLATIONS.</a:t>
            </a:r>
          </a:p>
          <a:p>
            <a:pPr>
              <a:defRPr sz="1600"/>
            </a:pPr>
            <a:r>
              <a:t>II complète les prescriptions des Articles 4, 5 et 6 pour les OPERATIONS concernées.</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8.1.1 Le cadre réglementaire</a:t>
            </a:r>
          </a:p>
        </p:txBody>
      </p:sp>
      <p:sp>
        <p:nvSpPr>
          <p:cNvPr id="3" name="Content Placeholder 2"/>
          <p:cNvSpPr>
            <a:spLocks noGrp="1"/>
          </p:cNvSpPr>
          <p:nvPr>
            <p:ph idx="1"/>
          </p:nvPr>
        </p:nvSpPr>
        <p:spPr/>
        <p:txBody>
          <a:bodyPr/>
          <a:lstStyle/>
          <a:p>
            <a:pPr>
              <a:defRPr sz="1600"/>
            </a:pPr>
            <a:r>
              <a:t>Il existe deux cadres réglementaires pour les TRAVAUX SOUS TENSION (TST) ; l'un s'applique aux OUVRAGES de distribution d'énergie électrique au sens de la loi du 15 juin 1906 et l'autre aux INSTALLATIONS électriques :.</a:t>
            </a:r>
          </a:p>
          <a:p>
            <a:pPr>
              <a:defRPr sz="1600"/>
            </a:pPr>
            <a:r>
              <a:t>le décret 82-167 du 16 février 1982 pour les OUVRAGES de distribution d'énergie électrique ;  · le code du travail pour les INSTALLATIONS électriques.</a:t>
            </a:r>
          </a:p>
          <a:p>
            <a:pPr>
              <a:defRPr sz="1600"/>
            </a:pPr>
            <a:r>
              <a:t>Les TRAVAUX SOUS TENSION doivent être encadrés par les DOCUMENTS DE REFERENCE différents selon les deux cadres réglementaires.</a:t>
            </a:r>
          </a:p>
          <a:p>
            <a:pPr>
              <a:defRPr sz="1600"/>
            </a:pPr>
            <a:r>
              <a:t>Pour les OUVRAGES, les DOCUMENTS DE REFERENCE sont :  · les Conditions d'Exécution du Travail sous tension (CET) ;  · les Fiches Techniques (FT) relatives à chaque type d'outil, de matériel, d'équipement et de produit ;.</a:t>
            </a:r>
          </a:p>
          <a:p>
            <a:pPr>
              <a:defRPr sz="1600"/>
            </a:pPr>
            <a:r>
              <a:t>les programmes de formation aux TRAVAUX SOUS TENSION.</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8.1.2 Présentation des risques encourus au cours des TST</a:t>
            </a:r>
          </a:p>
        </p:txBody>
      </p:sp>
      <p:sp>
        <p:nvSpPr>
          <p:cNvPr id="3" name="Content Placeholder 2"/>
          <p:cNvSpPr>
            <a:spLocks noGrp="1"/>
          </p:cNvSpPr>
          <p:nvPr>
            <p:ph idx="1"/>
          </p:nvPr>
        </p:nvSpPr>
        <p:spPr/>
        <p:txBody>
          <a:bodyPr/>
          <a:lstStyle/>
          <a:p>
            <a:pPr>
              <a:defRPr sz="1600"/>
            </a:pPr>
            <a:r>
              <a:t>Le TRAVAIL SOUS TENSION est une OPERATION d'ORDRE ELECTRIQUE, au cours de laquelle un OPERATEUR :  · entre en contact avec des pièces nues sous tension en basse tension ou en haute tension ;  · pénètre dans la ZONE DE TRAVAIL SOUS TENSION en haute tension, soit avec des parties de son corps, soit par l'intermédiaire d'outils, de matériels, de matériaux conducteurs ou d'équipements.</a:t>
            </a:r>
          </a:p>
          <a:p>
            <a:pPr>
              <a:defRPr sz="1600"/>
            </a:pPr>
            <a:r>
              <a:t>Il existe d'autres OPERATIONS d'ORDRE ELECTRIQUE en basse tension au cours desquelles l'opérateur entre délibérément en contact avec des pièces nues sous tension, mais qui ne sont pas considérées comme des travaux sous tension (voir Articles 10 et 11).</a:t>
            </a:r>
          </a:p>
          <a:p>
            <a:pPr>
              <a:defRPr sz="1600"/>
            </a:pPr>
            <a:r>
              <a:t>La réalisation des TRAVAUX SOUS TENSION impose de se prémunir, notamment contre les risques d'électrisation et de court-circuit.</a:t>
            </a:r>
          </a:p>
          <a:p>
            <a:pPr>
              <a:defRPr sz="1600"/>
            </a:pPr>
            <a:r>
              <a:t>NF C 18-510  -  92  -  UTE.</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8.2.1 Disposition pour les ouvrages</a:t>
            </a:r>
          </a:p>
        </p:txBody>
      </p:sp>
      <p:sp>
        <p:nvSpPr>
          <p:cNvPr id="3" name="Content Placeholder 2"/>
          <p:cNvSpPr>
            <a:spLocks noGrp="1"/>
          </p:cNvSpPr>
          <p:nvPr>
            <p:ph idx="1"/>
          </p:nvPr>
        </p:nvSpPr>
        <p:spPr/>
        <p:txBody>
          <a:bodyPr/>
          <a:lstStyle/>
          <a:p>
            <a:pPr>
              <a:defRPr sz="1600"/>
            </a:pPr>
            <a:r>
              <a:t>En complément des dispositions de l'Article 5, les dispositions suivantes doivent être appliquées.</a:t>
            </a:r>
          </a:p>
          <a:p>
            <a:pPr>
              <a:defRPr sz="1600"/>
            </a:pPr>
            <a:r>
              <a:t>L'EMPLOYEUR doit s'assurer qu'avant toute formation aux TRAVAUX SOUS TENSION, son personnel a les capacités, les compétences et une expérience suffisante des OPERATIONS d'ORDRE ELECTRIQUE autres que des TST et pour le même DOMAINE DE TENSION.</a:t>
            </a:r>
          </a:p>
          <a:p>
            <a:pPr>
              <a:defRPr sz="1600"/>
            </a:pPr>
            <a:r>
              <a:t>La formation, intégrant notamment les risques d'électrisation et de court-circuit, doit être adaptée au type de TRAVAUX que la personne est amenée à réaliser dans le cadre de son HABILITATION TST.</a:t>
            </a:r>
          </a:p>
          <a:p>
            <a:pPr>
              <a:defRPr sz="1600"/>
            </a:pPr>
            <a:r>
              <a:t>Le personnel appelé à effectuer des TRAVAUX SOUS TENSION sur les OUVRAGES de distribution d'énergie électrique doit être formé et recyclé, par un établissement « agréé »&gt; selon un programme approuvé par un organisme : le Comité des Travaux Sous Tension.</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8.2.1.1 Conditions d'attribution de l'habilitation</a:t>
            </a:r>
          </a:p>
        </p:txBody>
      </p:sp>
      <p:sp>
        <p:nvSpPr>
          <p:cNvPr id="3" name="Content Placeholder 2"/>
          <p:cNvSpPr>
            <a:spLocks noGrp="1"/>
          </p:cNvSpPr>
          <p:nvPr>
            <p:ph idx="1"/>
          </p:nvPr>
        </p:nvSpPr>
        <p:spPr/>
        <p:txBody>
          <a:bodyPr/>
          <a:lstStyle/>
          <a:p>
            <a:pPr>
              <a:defRPr sz="1600"/>
            </a:pPr>
            <a:r>
              <a:t>A l'issue de la formation, l'EMPLOYEUR habilite le personnel et lui remet un titre d'HABILITATION, dont le symbole porte la lettre T pour les TRAVAUX SOUS TENSION ou la lettre N pour le nettoyage sous tension.</a:t>
            </a:r>
          </a:p>
          <a:p>
            <a:pPr>
              <a:defRPr sz="1600"/>
            </a:pPr>
            <a:r>
              <a:t>Le titre d'HABILITATION doit préciser, dans la rubrique « indications supplémentaires », en complément des prescriptions du 5.</a:t>
            </a:r>
          </a:p>
          <a:p>
            <a:pPr>
              <a:defRPr sz="1600"/>
            </a:pPr>
            <a:r>
              <a:t>7.</a:t>
            </a:r>
          </a:p>
          <a:p>
            <a:pPr>
              <a:defRPr sz="1600"/>
            </a:pPr>
            <a:r>
              <a:t>5, les points suivants :  · la ou les METHODES DE TRAVAIL SOUS TENSION qui peuvent être pratiquées par l'intéressé ;  · les limites des attributions qui lui sont confiées ;  · la nature des TRAVAUX qui peuvent lui être confiés.</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8.2.1.2 Suivi du titre d'habilitation</a:t>
            </a:r>
          </a:p>
        </p:txBody>
      </p:sp>
      <p:sp>
        <p:nvSpPr>
          <p:cNvPr id="3" name="Content Placeholder 2"/>
          <p:cNvSpPr>
            <a:spLocks noGrp="1"/>
          </p:cNvSpPr>
          <p:nvPr>
            <p:ph idx="1"/>
          </p:nvPr>
        </p:nvSpPr>
        <p:spPr/>
        <p:txBody>
          <a:bodyPr/>
          <a:lstStyle/>
          <a:p>
            <a:pPr>
              <a:defRPr sz="1600"/>
            </a:pPr>
            <a:r>
              <a:t>Les conditions de suivi du titre d'HABILITATION à appliquer sont celles du 5.</a:t>
            </a:r>
          </a:p>
          <a:p>
            <a:pPr>
              <a:defRPr sz="1600"/>
            </a:pPr>
            <a:r>
              <a:t>4.</a:t>
            </a:r>
          </a:p>
          <a:p>
            <a:pPr>
              <a:defRPr sz="1600"/>
            </a:pPr>
            <a:r>
              <a:t>La durée de validité du titre d'HABILITATION est d'un an.</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8.2.1.3 Maintien des compétences - Recyclage</a:t>
            </a:r>
          </a:p>
        </p:txBody>
      </p:sp>
      <p:sp>
        <p:nvSpPr>
          <p:cNvPr id="3" name="Content Placeholder 2"/>
          <p:cNvSpPr>
            <a:spLocks noGrp="1"/>
          </p:cNvSpPr>
          <p:nvPr>
            <p:ph idx="1"/>
          </p:nvPr>
        </p:nvSpPr>
        <p:spPr/>
        <p:txBody>
          <a:bodyPr/>
          <a:lstStyle/>
          <a:p>
            <a:pPr>
              <a:defRPr sz="1600"/>
            </a:pPr>
            <a:r>
              <a:t>Les conditions de maintien des compétences à appliquer sont celles du 5.</a:t>
            </a:r>
          </a:p>
          <a:p>
            <a:pPr>
              <a:defRPr sz="1600"/>
            </a:pPr>
            <a:r>
              <a:t>5.</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8.2.2 Dispositions pour les installations</a:t>
            </a:r>
          </a:p>
        </p:txBody>
      </p:sp>
      <p:sp>
        <p:nvSpPr>
          <p:cNvPr id="3" name="Content Placeholder 2"/>
          <p:cNvSpPr>
            <a:spLocks noGrp="1"/>
          </p:cNvSpPr>
          <p:nvPr>
            <p:ph idx="1"/>
          </p:nvPr>
        </p:nvSpPr>
        <p:spPr/>
        <p:txBody>
          <a:bodyPr/>
          <a:lstStyle/>
          <a:p>
            <a:pPr>
              <a:defRPr sz="1600"/>
            </a:pPr>
            <a:r>
              <a:t>En complément des dispositions de l'Article 5, les dispositions suivantes doivent être appliquées.</a:t>
            </a:r>
          </a:p>
          <a:p>
            <a:pPr>
              <a:defRPr sz="1600"/>
            </a:pPr>
            <a:r>
              <a:t>L'EMPLOYEUR doit s'assurer qu'avant toute formation aux TRAVAUX SOUS TENSION, son personnel a les capacités, les compétences et l'expérience professionnelle requises dans le domaine des OPERATIONS d'ORDRE ELECTRIQUE autres que des TST et pour le même DOMAINE DE TENSION.</a:t>
            </a:r>
          </a:p>
          <a:p>
            <a:pPr>
              <a:defRPr sz="1600"/>
            </a:pPr>
            <a:r>
              <a:t>La formation à la prévention du risque électrique doit être adaptée au type d'opérations que la personne est amenée à réaliser dans le cadre de son HABILITATION TST.</a:t>
            </a:r>
          </a:p>
          <a:p>
            <a:pPr>
              <a:defRPr sz="1600"/>
            </a:pPr>
            <a:r>
              <a:t>Le personnel appelé à effectuer des TRAVAUX SOUS TENSION sur les INSTALLATIONS électriques doit être formé sur la base des modes opératoires élaborés à cet effet sous forme de normes.</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8.2.2.1 Conditions d'attribution de l'habilitation</a:t>
            </a:r>
          </a:p>
        </p:txBody>
      </p:sp>
      <p:sp>
        <p:nvSpPr>
          <p:cNvPr id="3" name="Content Placeholder 2"/>
          <p:cNvSpPr>
            <a:spLocks noGrp="1"/>
          </p:cNvSpPr>
          <p:nvPr>
            <p:ph idx="1"/>
          </p:nvPr>
        </p:nvSpPr>
        <p:spPr/>
        <p:txBody>
          <a:bodyPr/>
          <a:lstStyle/>
          <a:p>
            <a:pPr>
              <a:defRPr sz="1600"/>
            </a:pPr>
            <a:r>
              <a:t>A l'issue de la formation, le salarié doit être certifié par un evaluateur dans le cadre d'une certification de personne.</a:t>
            </a:r>
          </a:p>
          <a:p>
            <a:pPr>
              <a:defRPr sz="1600"/>
            </a:pPr>
            <a:r>
              <a:t>L'EMPLOYEUR habilite le personnel au vu de cette certification de personne et lui remet un titre d'HABILITATION, dont le symbole porte la lettre T pour les TRAVAUX SOUS TENSION ou la lettre N pour le nettoyage sous tension.</a:t>
            </a:r>
          </a:p>
          <a:p>
            <a:pPr>
              <a:defRPr sz="1600"/>
            </a:pPr>
            <a:r>
              <a:t>Le titre d'HABILITATION doit préciser, dans la rubrique « indications supplémentaires », en complément des prescriptions du 5.</a:t>
            </a:r>
          </a:p>
          <a:p>
            <a:pPr>
              <a:defRPr sz="1600"/>
            </a:pPr>
            <a:r>
              <a:t>7.</a:t>
            </a:r>
          </a:p>
          <a:p>
            <a:pPr>
              <a:defRPr sz="1600"/>
            </a:pPr>
            <a:r>
              <a:t>5, les points suivants :  · la ou les METHODES DE TRAVAIL SOUS TENSION qui peuvent être pratiquées par l'intéressé ;  UTE  -  93  -  NF C 18-510  · les limites des attributions qui lui sont confiées ;  · la nature des TRAVAUX qui peuvent lui être confiés.</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8.2.2.2 Suivi du titre d'habilitation</a:t>
            </a:r>
          </a:p>
        </p:txBody>
      </p:sp>
      <p:sp>
        <p:nvSpPr>
          <p:cNvPr id="3" name="Content Placeholder 2"/>
          <p:cNvSpPr>
            <a:spLocks noGrp="1"/>
          </p:cNvSpPr>
          <p:nvPr>
            <p:ph idx="1"/>
          </p:nvPr>
        </p:nvSpPr>
        <p:spPr/>
        <p:txBody>
          <a:bodyPr/>
          <a:lstStyle/>
          <a:p>
            <a:pPr>
              <a:defRPr sz="1600"/>
            </a:pPr>
            <a:r>
              <a:t>Les conditions de suivi du titre d'HABILITATION à appliquer sont celles du 5.</a:t>
            </a:r>
          </a:p>
          <a:p>
            <a:pPr>
              <a:defRPr sz="1600"/>
            </a:pPr>
            <a:r>
              <a:t>4.</a:t>
            </a:r>
          </a:p>
          <a:p>
            <a:pPr>
              <a:defRPr sz="1600"/>
            </a:pPr>
            <a:r>
              <a:t>La durée de validité du titre d'HABILITATION est d'un an.</a:t>
            </a:r>
          </a:p>
          <a:p>
            <a:pPr>
              <a:defRPr sz="1600"/>
            </a:pPr>
            <a:r>
              <a:t>NOTE Les conditions de validité et de renouvellement de la certification à l'occasion du suivi du titre d'HABILITATION sont à l'étude.</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8.2.2.3 Maintien des compétences - Recyclage</a:t>
            </a:r>
          </a:p>
        </p:txBody>
      </p:sp>
      <p:sp>
        <p:nvSpPr>
          <p:cNvPr id="3" name="Content Placeholder 2"/>
          <p:cNvSpPr>
            <a:spLocks noGrp="1"/>
          </p:cNvSpPr>
          <p:nvPr>
            <p:ph idx="1"/>
          </p:nvPr>
        </p:nvSpPr>
        <p:spPr/>
        <p:txBody>
          <a:bodyPr/>
          <a:lstStyle/>
          <a:p>
            <a:pPr>
              <a:defRPr sz="1600"/>
            </a:pPr>
            <a:r>
              <a:t>Les conditions de maintien des compétences à appliquer sont celles du 5.</a:t>
            </a:r>
          </a:p>
          <a:p>
            <a:pPr>
              <a:defRPr sz="1600"/>
            </a:pPr>
            <a:r>
              <a:t>5.</a:t>
            </a:r>
          </a:p>
          <a:p>
            <a:pPr>
              <a:defRPr sz="1600"/>
            </a:pPr>
            <a:r>
              <a:t>NOTE Les conditions de validité et de renouvellement de la certification à l'occasion du maintien des compétences sont à l'étude.</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8.3 Méthodes de travail sous tension</a:t>
            </a:r>
          </a:p>
        </p:txBody>
      </p:sp>
      <p:sp>
        <p:nvSpPr>
          <p:cNvPr id="3" name="Content Placeholder 2"/>
          <p:cNvSpPr>
            <a:spLocks noGrp="1"/>
          </p:cNvSpPr>
          <p:nvPr>
            <p:ph idx="1"/>
          </p:nvPr>
        </p:nvSpPr>
        <p:spPr/>
        <p:txBody>
          <a:bodyPr/>
          <a:lstStyle/>
          <a:p>
            <a:pPr>
              <a:defRPr sz="1600"/>
            </a:pPr>
            <a:r>
              <a:t>On distingue trois METHODES DE TRAVAIL SOUS TENSION selon la situation de l'OPERATEUR par rapport aux pièces sous tension et selon les moyens qu'il emploie pour se prémunir contre les risques d'électrisation et de court-circuit.</a:t>
            </a:r>
          </a:p>
          <a:p>
            <a:pPr>
              <a:defRPr sz="1600"/>
            </a:pPr>
            <a:r>
              <a:t>Ces différentes méthodes peuvent être mises en œuvre séparément ou de manière combinée ou être appliquées successivement au cours d'un même chantier, conformément aux DOCUMENTS DE REFERENCE.</a:t>
            </a:r>
          </a:p>
          <a:p>
            <a:pPr>
              <a:defRPr sz="1600"/>
            </a:pPr>
            <a:r>
              <a:t>8.</a:t>
            </a:r>
          </a:p>
          <a:p>
            <a:pPr>
              <a:defRPr sz="1600"/>
            </a:pPr>
            <a:r>
              <a:t>3.</a:t>
            </a:r>
          </a:p>
          <a:p>
            <a:pPr>
              <a:defRPr sz="1600"/>
            </a:pPr>
            <a:r>
              <a:t>1  Travail au contact  L'OPERATEUR, lui-même protégé en fonction du niveau de tension des pièces sur lesquelles il travaille, pénètre dans la zone située entre les pièces nues sous tension et la DISTANCE MINIMALE D'APPROCHE (DMA).</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8.3.2 Travail à distance</a:t>
            </a:r>
          </a:p>
        </p:txBody>
      </p:sp>
      <p:sp>
        <p:nvSpPr>
          <p:cNvPr id="3" name="Content Placeholder 2"/>
          <p:cNvSpPr>
            <a:spLocks noGrp="1"/>
          </p:cNvSpPr>
          <p:nvPr>
            <p:ph idx="1"/>
          </p:nvPr>
        </p:nvSpPr>
        <p:spPr/>
        <p:txBody>
          <a:bodyPr/>
          <a:lstStyle/>
          <a:p>
            <a:pPr>
              <a:defRPr sz="1600"/>
            </a:pPr>
            <a:r>
              <a:t>L'OPERATEUR se tient, sauf emploi de dispositifs de protection appropriés conformes aux DOCUMENTS DE REFERENCE, au-delà de la DISTANCE MINIMALE D'APPROCHE et travaille sur les pièces nues sous tension à l'aide d'outils fixes à l'extrémité de perches ou de cordes isolantes, dont l'isolement est approprié au niveau de tension des pièces sur lesquelles il travaille.</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8.3.3 Travail au potentiel</a:t>
            </a:r>
          </a:p>
        </p:txBody>
      </p:sp>
      <p:sp>
        <p:nvSpPr>
          <p:cNvPr id="3" name="Content Placeholder 2"/>
          <p:cNvSpPr>
            <a:spLocks noGrp="1"/>
          </p:cNvSpPr>
          <p:nvPr>
            <p:ph idx="1"/>
          </p:nvPr>
        </p:nvSpPr>
        <p:spPr/>
        <p:txBody>
          <a:bodyPr/>
          <a:lstStyle/>
          <a:p>
            <a:pPr>
              <a:defRPr sz="1600"/>
            </a:pPr>
            <a:r>
              <a:t>L'OPERATEUR se met au potentiel des pièces sur lesquelles il travaille.</a:t>
            </a:r>
          </a:p>
          <a:p>
            <a:pPr>
              <a:defRPr sz="1600"/>
            </a:pPr>
            <a:r>
              <a:t>A chaque instant, avec les outils et pièces conductrices qu'il manipule, il doit conserver par rapport à toutes les pièces de son ENVIRONNEMENT qui sont à un potentiel different de celui sur lequel il travaille, une distance supérieure ou égale à la DISTANCE MINIMALE D'APPROCHE (DMA), sauf dispositions particulières conformes aux DOCUMENTS DE REFERENCE.</a:t>
            </a:r>
          </a:p>
          <a:p>
            <a:pPr>
              <a:defRPr sz="1600"/>
            </a:pPr>
            <a:r>
              <a:t>Pendant son transfert du potentiel de la terre au potentiel des pièces nues sous tension (et vice-versa), l'OPERATEUR n'est relié à aucun potentiel.</a:t>
            </a:r>
          </a:p>
          <a:p>
            <a:pPr>
              <a:defRPr sz="1600"/>
            </a:pPr>
            <a:r>
              <a:t>On dit qu'il est « à potentiel flottant ».</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8.4.1 Travaux sous tension, hors tension et au voisinage</a:t>
            </a:r>
          </a:p>
        </p:txBody>
      </p:sp>
      <p:sp>
        <p:nvSpPr>
          <p:cNvPr id="3" name="Content Placeholder 2"/>
          <p:cNvSpPr>
            <a:spLocks noGrp="1"/>
          </p:cNvSpPr>
          <p:nvPr>
            <p:ph idx="1"/>
          </p:nvPr>
        </p:nvSpPr>
        <p:spPr/>
        <p:txBody>
          <a:bodyPr/>
          <a:lstStyle/>
          <a:p>
            <a:pPr>
              <a:defRPr sz="1600"/>
            </a:pPr>
            <a:r>
              <a:t>Un chantier peut comporter des PHASES DE TRAVAIL successives :  • de TRAVAUX SOUS TENSION,  · de TRAVAUX HORS TENSION,  • de TRAVAUX au VOISINAGE SIMPLE (zone 1) et RENFORCE (zones 2 et 4).</a:t>
            </a:r>
          </a:p>
          <a:p>
            <a:pPr>
              <a:defRPr sz="1600"/>
            </a:pPr>
            <a:r>
              <a:t>NF C 18-510  -  94  -  UTE  Ces PHASES DE TRAVAIL doivent être distinctes ; seule, leur réalisation séquentielle est autorisée.</a:t>
            </a:r>
          </a:p>
          <a:p>
            <a:pPr>
              <a:defRPr sz="1600"/>
            </a:pPr>
            <a:r>
              <a:t>Selon la PHASE DE TRAVAIL, les prescriptions des articles correspondants s'appliquent.</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8.4.2 Participation de personnel non habilite symbole T sur un chantier TST</a:t>
            </a:r>
          </a:p>
        </p:txBody>
      </p:sp>
      <p:sp>
        <p:nvSpPr>
          <p:cNvPr id="3" name="Content Placeholder 2"/>
          <p:cNvSpPr>
            <a:spLocks noGrp="1"/>
          </p:cNvSpPr>
          <p:nvPr>
            <p:ph idx="1"/>
          </p:nvPr>
        </p:nvSpPr>
        <p:spPr/>
        <p:txBody>
          <a:bodyPr/>
          <a:lstStyle/>
          <a:p>
            <a:pPr>
              <a:defRPr sz="1600"/>
            </a:pPr>
            <a:r>
              <a:t>Lorsqu'un chantier TST comporte des sequences d'OPERATIONS d'ORDRE NON ELECTRIQUE effectuées dans la zone 1 ou dans la zone 2 et que cette OPERATION d'ORDRE NON ELECTRIQUE nécessite une aide en personnel, ce personnel est habilite mais pas obligatoirement habilité symbole lettre T.</a:t>
            </a:r>
          </a:p>
          <a:p>
            <a:pPr>
              <a:defRPr sz="1600"/>
            </a:pPr>
            <a:r>
              <a:t>NOTE Dans ce cas, le personnel habilite non T est sous la seule responsabilité du CHARGE DE TRAVAUX TST.</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8.5 Documents de référence</a:t>
            </a:r>
          </a:p>
        </p:txBody>
      </p:sp>
      <p:sp>
        <p:nvSpPr>
          <p:cNvPr id="3" name="Content Placeholder 2"/>
          <p:cNvSpPr>
            <a:spLocks noGrp="1"/>
          </p:cNvSpPr>
          <p:nvPr>
            <p:ph idx="1"/>
          </p:nvPr>
        </p:nvSpPr>
        <p:spPr/>
        <p:txBody>
          <a:bodyPr/>
          <a:lstStyle/>
          <a:p>
            <a:pPr>
              <a:defRPr sz="1600"/>
            </a:pPr>
            <a:r>
              <a:t>Les DOCUMENTS DE REFERENCE sont applicables conformément au 8.</a:t>
            </a:r>
          </a:p>
          <a:p>
            <a:pPr>
              <a:defRPr sz="1600"/>
            </a:pPr>
            <a:r>
              <a:t>1.</a:t>
            </a:r>
          </a:p>
          <a:p>
            <a:pPr>
              <a:defRPr sz="1600"/>
            </a:pPr>
            <a:r>
              <a:t>1.</a:t>
            </a:r>
          </a:p>
          <a:p>
            <a:pPr>
              <a:defRPr sz="1600"/>
            </a:pPr>
            <a:r>
              <a:t>Leur contenu est détaillé ci-après.</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8.5.1 TST sur les ouvrages - Conditions d'Execution du Travail, Fiches Techniques</a:t>
            </a:r>
          </a:p>
        </p:txBody>
      </p:sp>
      <p:sp>
        <p:nvSpPr>
          <p:cNvPr id="3" name="Content Placeholder 2"/>
          <p:cNvSpPr>
            <a:spLocks noGrp="1"/>
          </p:cNvSpPr>
          <p:nvPr>
            <p:ph idx="1"/>
          </p:nvPr>
        </p:nvSpPr>
        <p:spPr/>
        <p:txBody>
          <a:bodyPr/>
          <a:lstStyle/>
          <a:p>
            <a:pPr>
              <a:defRPr sz="1600"/>
            </a:pPr>
            <a:r>
              <a:t>Les CONDITIONS D'EXECUTION DU TRAVAIL (CET) fixent les modalités suivant lesquelles le travail est préparé, les outils employés, le travail exécuté et vérifié.</a:t>
            </a:r>
          </a:p>
          <a:p>
            <a:pPr>
              <a:defRPr sz="1600"/>
            </a:pPr>
            <a:r>
              <a:t>Les FICHES TECHNIQUES (FT) relatives à chaque type d'outils, matériels, équipements et produits décrivent leurs caractéristiques et leurs conditions d'emploi.</a:t>
            </a:r>
          </a:p>
          <a:p>
            <a:pPr>
              <a:defRPr sz="1600"/>
            </a:pPr>
            <a:r>
              <a:t>Les FICHES TECHNIQUES précisent, en outre, lorsque c'est nécessaire, les conditions particulières de conservation, d'entretien, de transport, de vérification et de contrôle des outils.</a:t>
            </a:r>
          </a:p>
          <a:p>
            <a:pPr>
              <a:defRPr sz="1600"/>
            </a:pPr>
            <a:r>
              <a:t>Les outils, les matériels, les équipements de travail ou les produits doivent être soumis à un contrôle périodique selon les modalités indiquées dans les CET, les FT et les notices d'instructions du fabricant.</a:t>
            </a:r>
          </a:p>
          <a:p>
            <a:pPr>
              <a:defRPr sz="1600"/>
            </a:pPr>
            <a:r>
              <a:t>Toute détérioration constatée sur un outil, un materiel, un EQUIPEMENT DE PROTECTION INDIVIDUELLE, un vêtement de travail ou un produit doivent entraîner l'application des dispositions prévues par les CET, les FT et les notices d'instructions des fabricants.</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8.5.2 TST sur les installations - Normes spécifiques et référentiels</a:t>
            </a:r>
          </a:p>
        </p:txBody>
      </p:sp>
      <p:sp>
        <p:nvSpPr>
          <p:cNvPr id="3" name="Content Placeholder 2"/>
          <p:cNvSpPr>
            <a:spLocks noGrp="1"/>
          </p:cNvSpPr>
          <p:nvPr>
            <p:ph idx="1"/>
          </p:nvPr>
        </p:nvSpPr>
        <p:spPr/>
        <p:txBody>
          <a:bodyPr/>
          <a:lstStyle/>
          <a:p>
            <a:pPr>
              <a:defRPr sz="1600"/>
            </a:pPr>
            <a:r>
              <a:t>Les normes spécifiques déclinent les modes opératoires ainsi que les conditions d'utilisation et d'entretien :  · des équipements de travail appropriés aux conditions et caractéristiques des TRAVAUX à effectuer ;  · des EQUIPEMENTS DE PROTECTION INDIVIDUELLE et des vêtements de travail appropriés aux risques et aux conditions dans lesquelles les TRAVAUX sont effectués.</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8.6 Outil, matériel, équipement de travail, équipement de protection individuelle,</a:t>
            </a:r>
          </a:p>
        </p:txBody>
      </p:sp>
      <p:sp>
        <p:nvSpPr>
          <p:cNvPr id="3" name="Content Placeholder 2"/>
          <p:cNvSpPr>
            <a:spLocks noGrp="1"/>
          </p:cNvSpPr>
          <p:nvPr>
            <p:ph idx="1"/>
          </p:nvPr>
        </p:nvSpPr>
        <p:spPr/>
        <p:txBody>
          <a:bodyPr/>
          <a:lstStyle/>
          <a:p>
            <a:pPr>
              <a:defRPr sz="1600"/>
            </a:pPr>
            <a:r>
              <a:t>vêtement de travail et produit  Les prescriptions suivantes complètent celles des paragraphes 4.</a:t>
            </a:r>
          </a:p>
          <a:p>
            <a:pPr>
              <a:defRPr sz="1600"/>
            </a:pPr>
            <a:r>
              <a:t>3.</a:t>
            </a:r>
          </a:p>
          <a:p>
            <a:pPr>
              <a:defRPr sz="1600"/>
            </a:pPr>
            <a:r>
              <a:t>2 et 4.</a:t>
            </a:r>
          </a:p>
          <a:p>
            <a:pPr>
              <a:defRPr sz="1600"/>
            </a:pPr>
            <a:r>
              <a:t>3.</a:t>
            </a:r>
          </a:p>
          <a:p>
            <a:pPr>
              <a:defRPr sz="1600"/>
            </a:pPr>
            <a:r>
              <a:t>3.</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8.7 Régime spécial d'exploitation</a:t>
            </a:r>
          </a:p>
        </p:txBody>
      </p:sp>
      <p:sp>
        <p:nvSpPr>
          <p:cNvPr id="3" name="Content Placeholder 2"/>
          <p:cNvSpPr>
            <a:spLocks noGrp="1"/>
          </p:cNvSpPr>
          <p:nvPr>
            <p:ph idx="1"/>
          </p:nvPr>
        </p:nvSpPr>
        <p:spPr/>
        <p:txBody>
          <a:bodyPr/>
          <a:lstStyle/>
          <a:p>
            <a:pPr>
              <a:defRPr sz="1600"/>
            </a:pPr>
            <a:r>
              <a:t>Le REGIME SPECIAL D'EXPLOITATION (RSE) est un ensemble de dispositions qui contribue à la protection des personnes travaillant sous tension sur des OUVRAGES ou des INSTALLATIONS.</a:t>
            </a:r>
          </a:p>
          <a:p>
            <a:pPr>
              <a:defRPr sz="1600"/>
            </a:pPr>
            <a:r>
              <a:t>Le choix du type RSE est defini lors de la préparation du travail.</a:t>
            </a:r>
          </a:p>
          <a:p>
            <a:pPr>
              <a:defRPr sz="1600"/>
            </a:pPr>
            <a:r>
              <a:t>Le CHARGE D'EXPLOITATION ELECTRIQUE prend les mesures nécessaires pour mettre en REGIME SPECIAL D'EXPLOITATION, l'OUVRAGE ou l'INSTALLATION sur lequel le travail est effectué.</a:t>
            </a:r>
          </a:p>
          <a:p>
            <a:pPr>
              <a:defRPr sz="1600"/>
            </a:pPr>
            <a:r>
              <a:t>Ce régime est maintenu jusqu'à la restitution de l'AUTORISATION DE TRAVAIL SOUS TENSION (ATST).</a:t>
            </a:r>
          </a:p>
          <a:p>
            <a:pPr>
              <a:defRPr sz="1600"/>
            </a:pPr>
            <a:r>
              <a:t>UTE  -  95  -  NF C 18-510  Ce régime comporte les mesures suivantes :  · l'interdiction, sans accord préalable du CHARGE DE TRAVAUX, de toute remise en service volontaire de l'OUVRAGE ou de l'INSTALLATION, après son déclenchement ;  · des dispositions particulières fixées dans les DOCUMENTS DE REFERENCE et adaptées à la nature et au niveau de tension de l'OUVRAGE ou de l'INSTALLATION ainsi qu'au travail effectué.</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8.8 Conditions atmosphériques</a:t>
            </a:r>
          </a:p>
        </p:txBody>
      </p:sp>
      <p:sp>
        <p:nvSpPr>
          <p:cNvPr id="3" name="Content Placeholder 2"/>
          <p:cNvSpPr>
            <a:spLocks noGrp="1"/>
          </p:cNvSpPr>
          <p:nvPr>
            <p:ph idx="1"/>
          </p:nvPr>
        </p:nvSpPr>
        <p:spPr/>
        <p:txBody>
          <a:bodyPr/>
          <a:lstStyle/>
          <a:p>
            <a:pPr>
              <a:defRPr sz="1600"/>
            </a:pPr>
            <a:r>
              <a:t>Les prescriptions particulières relatives aux limitations apportées aux TRAVAUX SOUS TENSION en fonction des différentes conditions atmosphériques sont précisées dans les DOCUMENTS DE REFERENCE.</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8.9 Organisation des travaux</a:t>
            </a:r>
          </a:p>
        </p:txBody>
      </p:sp>
      <p:sp>
        <p:nvSpPr>
          <p:cNvPr id="3" name="Content Placeholder 2"/>
          <p:cNvSpPr>
            <a:spLocks noGrp="1"/>
          </p:cNvSpPr>
          <p:nvPr>
            <p:ph idx="1"/>
          </p:nvPr>
        </p:nvSpPr>
        <p:spPr/>
        <p:txBody>
          <a:bodyPr/>
          <a:lstStyle/>
          <a:p>
            <a:pPr>
              <a:defRPr sz="1600"/>
            </a:pPr>
            <a:r>
              <a:t>La mise en œuvre des TRAVAUX SOUS TENSION est réalisée conformément aux dispositions du 8.</a:t>
            </a:r>
          </a:p>
          <a:p>
            <a:pPr>
              <a:defRPr sz="1600"/>
            </a:pPr>
            <a:r>
              <a:t>9.</a:t>
            </a:r>
          </a:p>
          <a:p>
            <a:pPr>
              <a:defRPr sz="1600"/>
            </a:pPr>
            <a:r>
              <a:t>1, selon une procédure générale applicable à toute situation.</a:t>
            </a:r>
          </a:p>
          <a:p>
            <a:pPr>
              <a:defRPr sz="1600"/>
            </a:pPr>
            <a:r>
              <a:t>En basse tension et pour des TRAVAUX répétitifs, elle peut en outre être réalisée conformément aux dispositions du 8.</a:t>
            </a:r>
          </a:p>
          <a:p>
            <a:pPr>
              <a:defRPr sz="1600"/>
            </a:pPr>
            <a:r>
              <a:t>9.</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8.9.1.1 Besoin initial</a:t>
            </a:r>
          </a:p>
        </p:txBody>
      </p:sp>
      <p:sp>
        <p:nvSpPr>
          <p:cNvPr id="3" name="Content Placeholder 2"/>
          <p:cNvSpPr>
            <a:spLocks noGrp="1"/>
          </p:cNvSpPr>
          <p:nvPr>
            <p:ph idx="1"/>
          </p:nvPr>
        </p:nvSpPr>
        <p:spPr/>
        <p:txBody>
          <a:bodyPr/>
          <a:lstStyle/>
          <a:p>
            <a:pPr>
              <a:defRPr sz="1600"/>
            </a:pPr>
            <a:r>
              <a:t>Le besoin initial de travail peut être exprimé :  · soit par le CHEF D'ÉTABLISSEMENT en charge de l'OUVRAGE ou de l'INSTALLATION concernés ;  · soit par un DONNEUR D'ORDRE qui n'est pas le CHEF D'ETABLISSEMENT.</a:t>
            </a:r>
          </a:p>
          <a:p>
            <a:pPr>
              <a:defRPr sz="1600"/>
            </a:pPr>
            <a:r>
              <a:t>Il doit se traduire par une décision du CHEF D'ETABLISSEMENT concerne qui, dans le cas d'un travail sur une INSTALLATION, justifie par écrit la necessite de travailler sous tension.</a:t>
            </a:r>
          </a:p>
          <a:p>
            <a:pPr>
              <a:defRPr sz="1600"/>
            </a:pPr>
            <a:r>
              <a:t>En cas de recours à une ENTREPRISE EXTERIEURE, cette décision doit prendre la forme d'une DEMANDE DE TRAVAIL SOUS TENSION adressée à l'ENTREPRISE EXTERIEURE.</a:t>
            </a:r>
          </a:p>
          <a:p>
            <a:pPr>
              <a:defRPr sz="1600"/>
            </a:pPr>
            <a:r>
              <a:t>La DEMANDE DE TRAVAIL SOUS TENSION peut prendre la forme d'une commande pour un TRAVAIL ponctuel ou un ensemble d'OPERATIONS, précisant que tout ou partie doit être execute SOUS TENSION.</a:t>
            </a:r>
          </a:p>
          <a:p>
            <a:pPr>
              <a:defRPr sz="1600"/>
            </a:pPr>
            <a:r>
              <a:t>Dans le cas contraire, elle est exprimée sous la forme définie par le CHEF D'ETABLISSEMENT, qui est également l'EMPLOYEUR des personnes en charge du TRAVAIL SOUS TENSION.</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8.9.1.2 Préparation du travail</a:t>
            </a:r>
          </a:p>
        </p:txBody>
      </p:sp>
      <p:sp>
        <p:nvSpPr>
          <p:cNvPr id="3" name="Content Placeholder 2"/>
          <p:cNvSpPr>
            <a:spLocks noGrp="1"/>
          </p:cNvSpPr>
          <p:nvPr>
            <p:ph idx="1"/>
          </p:nvPr>
        </p:nvSpPr>
        <p:spPr/>
        <p:txBody>
          <a:bodyPr/>
          <a:lstStyle/>
          <a:p>
            <a:pPr>
              <a:defRPr sz="1600"/>
            </a:pPr>
            <a:r>
              <a:t>La préparation du travail sous tension doit être réalisée sous la responsabilité de l'EMPLOYEUR par une personne désignée à cet effet.</a:t>
            </a:r>
          </a:p>
          <a:p>
            <a:pPr>
              <a:defRPr sz="1600"/>
            </a:pPr>
            <a:r>
              <a:t>Si le CHARGE DE TRAVAUX ne participe pas à cette préparation, elle doit lui être transmise et il doit se l'approprier avant le commencement des travaux.</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8.9.1.3 Désignation des opérateurs</a:t>
            </a:r>
          </a:p>
        </p:txBody>
      </p:sp>
      <p:sp>
        <p:nvSpPr>
          <p:cNvPr id="3" name="Content Placeholder 2"/>
          <p:cNvSpPr>
            <a:spLocks noGrp="1"/>
          </p:cNvSpPr>
          <p:nvPr>
            <p:ph idx="1"/>
          </p:nvPr>
        </p:nvSpPr>
        <p:spPr/>
        <p:txBody>
          <a:bodyPr/>
          <a:lstStyle/>
          <a:p>
            <a:pPr>
              <a:defRPr sz="1600"/>
            </a:pPr>
            <a:r>
              <a:t>Si les TRAVAUX SOUS TENSION sont réalisés par une ENTREPRISE EXTERIEURE, la DEMANDE DE TRAVAIL SOUS TENSION est adressée à l'EMPLOYEUR des personnes chargées de l'exécution des TRAVAUX.</a:t>
            </a:r>
          </a:p>
          <a:p>
            <a:pPr>
              <a:defRPr sz="1600"/>
            </a:pPr>
            <a:r>
              <a:t>La DEMANDE DE TRAVAIL SOUS TENSION précise la nature des TRAVAUX, la ou les parties de l'OUVRAGE ou de l'INSTALLATION concernées et, le cas échéant, les particularités d'exécution résultant de la préparation du travail.</a:t>
            </a:r>
          </a:p>
          <a:p>
            <a:pPr>
              <a:defRPr sz="1600"/>
            </a:pPr>
            <a:r>
              <a:t>Pour les INSTALLATIONS, elle précise, en outre, la justification des TRAVAUX SOUS TENSION.</a:t>
            </a:r>
          </a:p>
          <a:p>
            <a:pPr>
              <a:defRPr sz="1600"/>
            </a:pPr>
            <a:r>
              <a:t>NF C 18-510  -  96  -  UTE  Au vu de cette demande, l'EMPLOYEUR designe l'équipe d'exécution par un ORDRE DE TRAVAIL SOUS TENSION (OTST), reprenant, entre autres, les points de la DEMANDE DE TRAVAIL SOUS TENSION qui précisent la nature des TRAVAUX, la partie de l'OUVRAGE ou de l'INSTALLATION concernée et, le cas échéant, les particularités d'exécution résultant de la préparation du travail.</a:t>
            </a:r>
          </a:p>
          <a:p>
            <a:pPr>
              <a:defRPr sz="1600"/>
            </a:pPr>
            <a:r>
              <a:t>L'OTST est adressé par l'EMPLOYEUR au CHARGE DE TRAVAUX désigné ; il est communiqué, le cas échéant, au CHEF D'ETABLISSEMENT.</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8.9.1.4 Exécution du travail</a:t>
            </a:r>
          </a:p>
        </p:txBody>
      </p:sp>
      <p:sp>
        <p:nvSpPr>
          <p:cNvPr id="3" name="Content Placeholder 2"/>
          <p:cNvSpPr>
            <a:spLocks noGrp="1"/>
          </p:cNvSpPr>
          <p:nvPr>
            <p:ph idx="1"/>
          </p:nvPr>
        </p:nvSpPr>
        <p:spPr/>
        <p:txBody>
          <a:bodyPr/>
          <a:lstStyle/>
          <a:p>
            <a:pPr>
              <a:defRPr sz="1600"/>
            </a:pPr>
            <a:r>
              <a:t>Au vu de l'OTST, le CHEF D'ETABLISSEMENT en charge de l'OUVRAGE ou de l'INSTALLATION concernés, délivre une AUTORISATION DE TRAVAIL SOUS TENSION (ATST) qui précise les modalités d'accès à l'OUVRAGE ou à l'INSTALLATION, ainsi que les modalités de relève du CHARGE DE TRAVAUX en cas de suspension des TRAVAUX.</a:t>
            </a:r>
          </a:p>
          <a:p>
            <a:pPr>
              <a:defRPr sz="1600"/>
            </a:pPr>
            <a:r>
              <a:t>Pour le CHARGE DE TRAVAUX, l'exécution des TRAVAUX est conditionnée par la délivrance préalable d'un OTST et d'une ATST.</a:t>
            </a:r>
          </a:p>
          <a:p>
            <a:pPr>
              <a:defRPr sz="1600"/>
            </a:pPr>
            <a:r>
              <a:t>A la fin des TRAVAUX, le CHARGE DE TRAVAUX remet l'AVIS DE FIN DE TRAVAIL au CHEF D'ETABLISSEMENT ou au CHARGE D'EXPLOITATION ELECTRIQUE.</a:t>
            </a:r>
          </a:p>
          <a:p>
            <a:pPr>
              <a:defRPr sz="1600"/>
            </a:pPr>
            <a:r>
              <a:t>Le cas échéant, il informe également son EMPLOYEUR ou la personne competente dans la forme qui lui est precisee.</a:t>
            </a:r>
          </a:p>
          <a:p>
            <a:pPr>
              <a:defRPr sz="1600"/>
            </a:pPr>
            <a:r>
              <a:t>L'AUTORISATION DE TRAVAIL SOUS TENSION et l'AVIS DE FIN DE TRAVAIL sont établis en deux exemplaires et vises d'une part par le CHARGE DE TRAVAUX, d'autre part par le CHEF D'ETABLISSEMENT ou par le CHARGE D'EXPLOITATION ELECTRIQUE.</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8.9.2 Procédure applicable en basse tension</a:t>
            </a:r>
          </a:p>
        </p:txBody>
      </p:sp>
      <p:sp>
        <p:nvSpPr>
          <p:cNvPr id="3" name="Content Placeholder 2"/>
          <p:cNvSpPr>
            <a:spLocks noGrp="1"/>
          </p:cNvSpPr>
          <p:nvPr>
            <p:ph idx="1"/>
          </p:nvPr>
        </p:nvSpPr>
        <p:spPr/>
        <p:txBody>
          <a:bodyPr/>
          <a:lstStyle/>
          <a:p>
            <a:pPr>
              <a:defRPr sz="1600"/>
            </a:pPr>
            <a:r>
              <a:t>En basse tension, la procédure générale est applicable sans restriction.</a:t>
            </a:r>
          </a:p>
          <a:p>
            <a:pPr>
              <a:defRPr sz="1600"/>
            </a:pPr>
            <a:r>
              <a:t>Cependant, pour répondre à des besoins répétitifs sur un OUVRAGE ou une INSTALLATION, la DEMANDE DE TRAVAUX SOUS TENSION, l'OTST et l'ATST peuvent être remplacés, en tout ou en partie, par une INSTRUCTION DE TRAVAIL SOUS TENSION (ITST).</a:t>
            </a:r>
          </a:p>
          <a:p>
            <a:pPr>
              <a:defRPr sz="1600"/>
            </a:pPr>
            <a:r>
              <a:t>L'ITST doit répondre à tous les besoins satisfaits par les documents qu'elle remplace.</a:t>
            </a:r>
          </a:p>
          <a:p>
            <a:pPr>
              <a:defRPr sz="1600"/>
            </a:pPr>
            <a:r>
              <a:t>Elle est rédigée et signée par l'EMPLOYEUR, qui la remet au CHARGE DE TRAVAUX.</a:t>
            </a:r>
          </a:p>
          <a:p>
            <a:pPr>
              <a:defRPr sz="1600"/>
            </a:pPr>
            <a:r>
              <a:t>Si l'EMPLOYEUR n'est pas le CHEF D'ÉTABLISSEMENT concerné par les TRAVAUX SOUS TENSION, le CHEF D'ETABLISSEMENT et l'EMPLOYEUR doivent échanger, de façon formelle et enregistrée, les informations pertinentes pour permettre l'établissement de l'ITST, en précisant notamment :  · l'objet des TRAVAUX ;  · les règles d'accès à l'OUVRAGE ou à l'INSTALLATION ;  · les dispositions relevant de la coordination lors de l'achèvement des TRAVAUX ;  · toutes autres modalités d'exécution estimées pertinentes.</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8.10.1 Travaux sur les installations de contrôle, de télétransmission et de</a:t>
            </a:r>
          </a:p>
        </p:txBody>
      </p:sp>
      <p:sp>
        <p:nvSpPr>
          <p:cNvPr id="3" name="Content Placeholder 2"/>
          <p:cNvSpPr>
            <a:spLocks noGrp="1"/>
          </p:cNvSpPr>
          <p:nvPr>
            <p:ph idx="1"/>
          </p:nvPr>
        </p:nvSpPr>
        <p:spPr/>
        <p:txBody>
          <a:bodyPr/>
          <a:lstStyle/>
          <a:p>
            <a:pPr>
              <a:defRPr sz="1600"/>
            </a:pPr>
            <a:r>
              <a:t>télécommunication pouvant être le siège de tensions induites  Ces TRAVAUX concernent l'ensemble des installations et matériels des domaines TBT et BT qui servent à l'élaboration, la transmission et la restitution de signaux d'information.</a:t>
            </a:r>
          </a:p>
          <a:p>
            <a:pPr>
              <a:defRPr sz="1600"/>
            </a:pPr>
            <a:r>
              <a:t>Pour ces TRAVAUX particuliers, la formation et l'HABILITATION doivent répondre au 8.</a:t>
            </a:r>
          </a:p>
          <a:p>
            <a:pPr>
              <a:defRPr sz="1600"/>
            </a:pPr>
            <a:r>
              <a:t>2, mais doivent être adaptées à l'OPERATION.</a:t>
            </a:r>
          </a:p>
          <a:p>
            <a:pPr>
              <a:defRPr sz="1600"/>
            </a:pPr>
            <a:r>
              <a:t>Pour pouvoir effectuer ces TRAVAUX SOUS TENSION, il faut tenir compte de la tension réelle rencontrée sur l'OUVRAGE ou l'INSTALLATION, au cours ou du fait de ces TRAVAUX ; cette tension peut être différente de la tension nominale.</a:t>
            </a:r>
          </a:p>
          <a:p>
            <a:pPr>
              <a:defRPr sz="1600"/>
            </a:pPr>
            <a:r>
              <a:t>Il faut alors s'assurer que le personnel a été forme pour ce type de travail en tenant compte des niveaux de tension, de la méthode de TRAVAIL SOUS TENSION et de la nature de l'OUVRAGE ou de l'INSTALLATION.</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8.10.2 Mise en place de protections isolantes pour des tiers sur un ouvrage de</a:t>
            </a:r>
          </a:p>
        </p:txBody>
      </p:sp>
      <p:sp>
        <p:nvSpPr>
          <p:cNvPr id="3" name="Content Placeholder 2"/>
          <p:cNvSpPr>
            <a:spLocks noGrp="1"/>
          </p:cNvSpPr>
          <p:nvPr>
            <p:ph idx="1"/>
          </p:nvPr>
        </p:nvSpPr>
        <p:spPr/>
        <p:txBody>
          <a:bodyPr/>
          <a:lstStyle/>
          <a:p>
            <a:pPr>
              <a:defRPr sz="1600"/>
            </a:pPr>
            <a:r>
              <a:t>distribution d'énergie électrique en vue de procéder à une mise hors de portée par isolation  La mise en place de protections isolantes pour des tiers sur des pièces nues sous tension sur un OUVRAGE de distribution d'énergie électrique est un TRAVAIL SOUS TENSION.</a:t>
            </a:r>
          </a:p>
          <a:p>
            <a:pPr>
              <a:defRPr sz="1600"/>
            </a:pPr>
            <a:r>
              <a:t>Elle doit être réalisée par du personnel habilité TST (symboles B1T ou B2T, H1T ou H2T).</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8.10.3 Mise en place de protections isolantes sur une installation en vue de travaux</a:t>
            </a:r>
          </a:p>
        </p:txBody>
      </p:sp>
      <p:sp>
        <p:nvSpPr>
          <p:cNvPr id="3" name="Content Placeholder 2"/>
          <p:cNvSpPr>
            <a:spLocks noGrp="1"/>
          </p:cNvSpPr>
          <p:nvPr>
            <p:ph idx="1"/>
          </p:nvPr>
        </p:nvSpPr>
        <p:spPr/>
        <p:txBody>
          <a:bodyPr/>
          <a:lstStyle/>
          <a:p>
            <a:pPr>
              <a:defRPr sz="1600"/>
            </a:pPr>
            <a:r>
              <a:t>ou d'opérations spécifiques dans le voisinage  En haute tension, la mise en place de protections isolantes sur des pièces nues sous tension d'une INSTALLATION est un TRAVAIL SOUS TENSION.</a:t>
            </a:r>
          </a:p>
          <a:p>
            <a:pPr>
              <a:defRPr sz="1600"/>
            </a:pPr>
            <a:r>
              <a:t>Elle doit être realisee par du personnel habilité TST (symboles H1T ou H2T).</a:t>
            </a:r>
          </a:p>
          <a:p>
            <a:pPr>
              <a:defRPr sz="1600"/>
            </a:pPr>
            <a:r>
              <a:t>En basse tension, la mise en place de protections isolantes sur des pièces nues sous tension d'une INSTALLATION peut être un TRAVAIL SOUS TENSION.</a:t>
            </a:r>
          </a:p>
          <a:p>
            <a:pPr>
              <a:defRPr sz="1600"/>
            </a:pPr>
            <a:r>
              <a:t>Dans ce cas, elle doit être réalisée par du personnel habilité TST (symboles B1T ou B2T).</a:t>
            </a:r>
          </a:p>
          <a:p>
            <a:pPr>
              <a:defRPr sz="1600"/>
            </a:pPr>
            <a:r>
              <a:t>D'autres possibilités de mise en place sont précisées au 9.</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8.10.4 Travaux sous tension sur les accumulateurs et batteries d'accumulateurs</a:t>
            </a:r>
          </a:p>
        </p:txBody>
      </p:sp>
      <p:sp>
        <p:nvSpPr>
          <p:cNvPr id="3" name="Content Placeholder 2"/>
          <p:cNvSpPr>
            <a:spLocks noGrp="1"/>
          </p:cNvSpPr>
          <p:nvPr>
            <p:ph idx="1"/>
          </p:nvPr>
        </p:nvSpPr>
        <p:spPr/>
        <p:txBody>
          <a:bodyPr/>
          <a:lstStyle/>
          <a:p>
            <a:pPr>
              <a:defRPr sz="1600"/>
            </a:pPr>
            <a:r>
              <a:t>Pour les OUVRAGES, les dispositions a prendre en compte sont explicitees dans les DOCUMENTS DE REFERENCE.</a:t>
            </a:r>
          </a:p>
          <a:p>
            <a:pPr>
              <a:defRPr sz="1600"/>
            </a:pPr>
            <a:r>
              <a:t>Pour les INSTALLATIONS, elles sont explicitees dans les normes spécifiques aux ACCUMULATEURS et aux BATTERIES D'ACCUMULATEURS.</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8.10.5 Travaux sous tension sur les installations photovoltaïques</a:t>
            </a:r>
          </a:p>
        </p:txBody>
      </p:sp>
      <p:sp>
        <p:nvSpPr>
          <p:cNvPr id="3" name="Content Placeholder 2"/>
          <p:cNvSpPr>
            <a:spLocks noGrp="1"/>
          </p:cNvSpPr>
          <p:nvPr>
            <p:ph idx="1"/>
          </p:nvPr>
        </p:nvSpPr>
        <p:spPr/>
        <p:txBody>
          <a:bodyPr/>
          <a:lstStyle/>
          <a:p>
            <a:pPr>
              <a:defRPr sz="1600"/>
            </a:pPr>
            <a:r>
              <a:t>Pour les INSTALLATIONS photovoltaïques, les dispositions à prendre en compte sont explicitées dans les normes spécifiques à ces INSTALLATIONS.</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8.11 Travaux de nettoyage sous tension</a:t>
            </a:r>
          </a:p>
        </p:txBody>
      </p:sp>
      <p:sp>
        <p:nvSpPr>
          <p:cNvPr id="3" name="Content Placeholder 2"/>
          <p:cNvSpPr>
            <a:spLocks noGrp="1"/>
          </p:cNvSpPr>
          <p:nvPr>
            <p:ph idx="1"/>
          </p:nvPr>
        </p:nvSpPr>
        <p:spPr/>
        <p:txBody>
          <a:bodyPr/>
          <a:lstStyle/>
          <a:p>
            <a:pPr>
              <a:defRPr sz="1600"/>
            </a:pPr>
            <a:r>
              <a:t>Les TRAVAUX de NETTOYAGE SOUS TENSION, sur les OUVRAGES ou les INSTALLATIONS électriques SOUS TENSION, sont réalisés par différentes techniques (exemples : aspiration, pulvérisation, lavage, etc.</a:t>
            </a:r>
          </a:p>
          <a:p>
            <a:pPr>
              <a:defRPr sz="1600"/>
            </a:pPr>
            <a:r>
              <a:t>).</a:t>
            </a:r>
          </a:p>
          <a:p>
            <a:pPr>
              <a:defRPr sz="1600"/>
            </a:pPr>
            <a:r>
              <a:t>Ils doivent être exécutés conformément aux DOCUMENTS DE REFERENCE.</a:t>
            </a:r>
          </a:p>
          <a:p>
            <a:pPr>
              <a:defRPr sz="1600"/>
            </a:pPr>
            <a:r>
              <a:t>Pour pouvoir effectuer des TRAVAUX de NETTOYAGE SOUS TENSION, le personnel doit avoir suivi une formation specifique et être titulaire d'une HABILITATION NETTOYAGE SOUS TENSION (symboles B1N, B2N, H1N ou H2N).</a:t>
            </a:r>
          </a:p>
          <a:p>
            <a:pPr>
              <a:defRPr sz="1600"/>
            </a:pPr>
            <a:r>
              <a:t>Cette HABILITATION relève des prescriptions d'HABILITATION aux TST (voir 8.</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8.12.1 Rôle de l'employeur</a:t>
            </a:r>
          </a:p>
        </p:txBody>
      </p:sp>
      <p:sp>
        <p:nvSpPr>
          <p:cNvPr id="3" name="Content Placeholder 2"/>
          <p:cNvSpPr>
            <a:spLocks noGrp="1"/>
          </p:cNvSpPr>
          <p:nvPr>
            <p:ph idx="1"/>
          </p:nvPr>
        </p:nvSpPr>
        <p:spPr/>
        <p:txBody>
          <a:bodyPr/>
          <a:lstStyle/>
          <a:p>
            <a:pPr>
              <a:defRPr sz="1600"/>
            </a:pPr>
            <a:r>
              <a:t>L'EMPLOYEUR de l'entreprise chargée d'effectuer les TRAVAUX SOUS TENSION désigne, par écrit, le CHARGE DE TRAVAUX, délivre l'ORDRE DE TRAVAIL SOUS TENSION et demande l'AUTORISATION D'ACCES au CHEF D'ETABLISSEMENT concerne par les TRAVAUX.</a:t>
            </a:r>
          </a:p>
          <a:p>
            <a:pPr>
              <a:defRPr sz="1600"/>
            </a:pPr>
            <a:r>
              <a:t>Parmi les attributions qui lui incombent en application du 4.</a:t>
            </a:r>
          </a:p>
          <a:p>
            <a:pPr>
              <a:defRPr sz="1600"/>
            </a:pPr>
            <a:r>
              <a:t>5.</a:t>
            </a:r>
          </a:p>
          <a:p>
            <a:pPr>
              <a:defRPr sz="1600"/>
            </a:pPr>
            <a:r>
              <a:t>2.</a:t>
            </a:r>
          </a:p>
          <a:p>
            <a:pPr>
              <a:defRPr sz="1600"/>
            </a:pPr>
            <a:r>
              <a:t>1.</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8.12.2 Rôle du chef d'établissement</a:t>
            </a:r>
          </a:p>
        </p:txBody>
      </p:sp>
      <p:sp>
        <p:nvSpPr>
          <p:cNvPr id="3" name="Content Placeholder 2"/>
          <p:cNvSpPr>
            <a:spLocks noGrp="1"/>
          </p:cNvSpPr>
          <p:nvPr>
            <p:ph idx="1"/>
          </p:nvPr>
        </p:nvSpPr>
        <p:spPr/>
        <p:txBody>
          <a:bodyPr/>
          <a:lstStyle/>
          <a:p>
            <a:pPr>
              <a:defRPr sz="1600"/>
            </a:pPr>
            <a:r>
              <a:t>Dans tous les cas, les TRAVAUX SOUS TENSION ne peuvent être entrepris qu'après autorisation écrite du CHEF D'ETABLISSEMENT pour lequel ils sont effectués.</a:t>
            </a:r>
          </a:p>
          <a:p>
            <a:pPr>
              <a:defRPr sz="1600"/>
            </a:pPr>
            <a:r>
              <a:t>Pour les INSTALLATIONS électriques, cette autorisation doit justifier la necessite de travailler Sous TENSION.</a:t>
            </a:r>
          </a:p>
          <a:p>
            <a:pPr>
              <a:defRPr sz="1600"/>
            </a:pPr>
            <a:r>
              <a:t>Parmi les attributions qui lui incombent en application du 4.</a:t>
            </a:r>
          </a:p>
          <a:p>
            <a:pPr>
              <a:defRPr sz="1600"/>
            </a:pPr>
            <a:r>
              <a:t>5.</a:t>
            </a:r>
          </a:p>
          <a:p>
            <a:pPr>
              <a:defRPr sz="1600"/>
            </a:pPr>
            <a:r>
              <a:t>2.</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8.12.3 Rôle du donneur d'ordre</a:t>
            </a:r>
          </a:p>
        </p:txBody>
      </p:sp>
      <p:sp>
        <p:nvSpPr>
          <p:cNvPr id="3" name="Content Placeholder 2"/>
          <p:cNvSpPr>
            <a:spLocks noGrp="1"/>
          </p:cNvSpPr>
          <p:nvPr>
            <p:ph idx="1"/>
          </p:nvPr>
        </p:nvSpPr>
        <p:spPr/>
        <p:txBody>
          <a:bodyPr/>
          <a:lstStyle/>
          <a:p>
            <a:pPr>
              <a:defRPr sz="1600"/>
            </a:pPr>
            <a:r>
              <a:t>Pour les OUVRAGES, la DEMANDE DE TRAVAIL SOUS TENSION peut être emise par un DONNEUR D'ORDRE externe à l'établissement.</a:t>
            </a:r>
          </a:p>
          <a:p>
            <a:pPr>
              <a:defRPr sz="1600"/>
            </a:pPr>
            <a:r>
              <a:t>Elle doit être adressee au CHEF D'ETABLISSEMENT en charge de l'établissement dans lequel les TRAVAUX SOUS TENSION sont demandés.</a:t>
            </a:r>
          </a:p>
          <a:p>
            <a:pPr>
              <a:defRPr sz="1600"/>
            </a:pPr>
            <a:r>
              <a:t>Ce dernier conserve la décision d'autoriser ou non, la réalisation des TRAVAUX SOUS TENSION.</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8.12.4 Rôle du chargé d'exploitation électrique</a:t>
            </a:r>
          </a:p>
        </p:txBody>
      </p:sp>
      <p:sp>
        <p:nvSpPr>
          <p:cNvPr id="3" name="Content Placeholder 2"/>
          <p:cNvSpPr>
            <a:spLocks noGrp="1"/>
          </p:cNvSpPr>
          <p:nvPr>
            <p:ph idx="1"/>
          </p:nvPr>
        </p:nvSpPr>
        <p:spPr/>
        <p:txBody>
          <a:bodyPr/>
          <a:lstStyle/>
          <a:p>
            <a:pPr>
              <a:defRPr sz="1600"/>
            </a:pPr>
            <a:r>
              <a:t>Le CHARGE D'EXPLOITATION ELECTRIQUE, avant de donner l'accès à l'OUVRAGE ou à l'INSTALLATION concernes par les TRAVAUX SOUS TENSION, prend des dispositions d'EXPLOITATION pour permettre la réalisation des TRAVAUX SOUS TENSION en sécurité.</a:t>
            </a:r>
          </a:p>
          <a:p>
            <a:pPr>
              <a:defRPr sz="1600"/>
            </a:pPr>
            <a:r>
              <a:t>Le CHARGE D'EXPLOITATION ELECTRIQUE, si cela est nécessaire, prend les mesures pour mettre en application les dispositions du REGIME SPECIAL D'EXPLOITATION (RSE) pour l'OUVRAGE ou L'INSTALLATION, sur lequel le travail est effectuée.</a:t>
            </a:r>
          </a:p>
          <a:p>
            <a:pPr>
              <a:defRPr sz="1600"/>
            </a:pPr>
            <a:r>
              <a:t>UTE  -  99  -  NF C 18-510  Le CHARGE D'EXPLOITATION ELECTRIQUE donne l'accès à l'OUVRAGE ou à l'INSTALLATION, sous la forme d'une AUTORISATION DE TRAVAIL SOUS TENSION (ATST) ou d'une INSTRUCTION DE TRAVAIL SOUS TENSION (ITST) pour la durée des TRAVAUX SOUS TENSION.</a:t>
            </a:r>
          </a:p>
          <a:p>
            <a:pPr>
              <a:defRPr sz="1600"/>
            </a:pPr>
            <a:r>
              <a:t>Le CHARGE D'EXPLOITATION ELECTRIQUE reprend l'exploitation normale de l'OUVRAGE ou de L'INSTALLATION, après avoir reçu un AVIS DE FIN DE TRAVAIL du CHARGE DE TRAVAUX.</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8.12.5 Rôle du charge de travaux</a:t>
            </a:r>
          </a:p>
        </p:txBody>
      </p:sp>
      <p:sp>
        <p:nvSpPr>
          <p:cNvPr id="3" name="Content Placeholder 2"/>
          <p:cNvSpPr>
            <a:spLocks noGrp="1"/>
          </p:cNvSpPr>
          <p:nvPr>
            <p:ph idx="1"/>
          </p:nvPr>
        </p:nvSpPr>
        <p:spPr/>
        <p:txBody>
          <a:bodyPr/>
          <a:lstStyle/>
          <a:p>
            <a:pPr>
              <a:defRPr sz="1600"/>
            </a:pPr>
            <a:r>
              <a:t>Le CHARGE DE TRAVAUX, designe par son EMPLOYEUR, habilite symboles B2T ou H2T, ne peut engager des TRAVAUX SOUS TENSION qu'après avoir reçu un ORDRE DE TRAVAIL SOUS TENSION (OTST) et une AUTORISATION DE TRAVAIL SOUS TENSION (ATST) ou une INSTRUCTION DE TRAVAIL SOUS TENSION (ITST).</a:t>
            </a:r>
          </a:p>
          <a:p>
            <a:pPr>
              <a:defRPr sz="1600"/>
            </a:pPr>
            <a:r>
              <a:t>Sur la base de la préparation du travail, il identifie ou reconnaît l'identification de l'OUVRAGE ou de l'INSTALLATION sur lequel il doit travailler.</a:t>
            </a:r>
          </a:p>
          <a:p>
            <a:pPr>
              <a:defRPr sz="1600"/>
            </a:pPr>
            <a:r>
              <a:t>Il assure la direction effective du chantier.</a:t>
            </a:r>
          </a:p>
          <a:p>
            <a:pPr>
              <a:defRPr sz="1600"/>
            </a:pPr>
            <a:r>
              <a:t>II vérifie sur place si le travail peut être realise conformément aux instructions reçues, notamment pour les phases TST.</a:t>
            </a:r>
          </a:p>
          <a:p>
            <a:pPr>
              <a:defRPr sz="1600"/>
            </a:pPr>
            <a:r>
              <a:t>S'il decide de ne pas engager les TRAVAUX, il rend compte à son EMPLOYEUR et, le cas échéant, informe selon les modalités prescrites, le CHEF D'ETABLISSEMENT ou le CHARGE D'EXPLOITATION ELECTRIQUE.</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8.12.5.1 Direction et surveillance des travaux</a:t>
            </a:r>
          </a:p>
        </p:txBody>
      </p:sp>
      <p:sp>
        <p:nvSpPr>
          <p:cNvPr id="3" name="Content Placeholder 2"/>
          <p:cNvSpPr>
            <a:spLocks noGrp="1"/>
          </p:cNvSpPr>
          <p:nvPr>
            <p:ph idx="1"/>
          </p:nvPr>
        </p:nvSpPr>
        <p:spPr/>
        <p:txBody>
          <a:bodyPr/>
          <a:lstStyle/>
          <a:p>
            <a:pPr>
              <a:defRPr sz="1600"/>
            </a:pPr>
            <a:r>
              <a:t>Le CHARGE DE TRAVAUX doit assurer la direction effective et la SURVEILLANCE globale des TRAVAUX et prendre les mesures de tous ordres.</a:t>
            </a:r>
          </a:p>
          <a:p>
            <a:pPr>
              <a:defRPr sz="1600"/>
            </a:pPr>
            <a:r>
              <a:t>La surveillance pendant les PHASES DE TRAVAIL SOUS TENSION doit être conforme aux DOCUMENTS DE REFERENCE.</a:t>
            </a:r>
          </a:p>
          <a:p>
            <a:pPr>
              <a:defRPr sz="1600"/>
            </a:pPr>
            <a:r>
              <a:t>Si les TRAVAUX SOUS TENSION doivent être interrompus, le CHARGE DE TRAVAUX vérifie que la sécurité vis-à-vis des tiers et la sûreté de l'OUVRAGE ou de l'INSTALLATION est assurée.</a:t>
            </a:r>
          </a:p>
          <a:p>
            <a:pPr>
              <a:defRPr sz="1600"/>
            </a:pPr>
            <a:r>
              <a:t>Si une INTERRUPTION DU TRAVAIL semble devoir compromettre, par sa durée probable, le moment prévu pour la fin des TRAVAUX, le CHARGE DE TRAVAUX en informe son EMPLOYEUR ainsi que le CHEF D'ETABLISSEMENT ou le CHARGE D'EXPLOITATION ELECTRIQUE selon les modalités prescrites.</a:t>
            </a:r>
          </a:p>
          <a:p>
            <a:pPr>
              <a:defRPr sz="1600"/>
            </a:pPr>
            <a:r>
              <a:t>Si l'étendue ou la complexité des TRAVAUX ne permet pas au CHARGE DE TRAVAUX d'assurer personnellement la surveillance, le CHARGE DE TRAVAUX doit désigner, pour le seconder :.</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8.12.5.2 Fin des travaux</a:t>
            </a:r>
          </a:p>
        </p:txBody>
      </p:sp>
      <p:sp>
        <p:nvSpPr>
          <p:cNvPr id="3" name="Content Placeholder 2"/>
          <p:cNvSpPr>
            <a:spLocks noGrp="1"/>
          </p:cNvSpPr>
          <p:nvPr>
            <p:ph idx="1"/>
          </p:nvPr>
        </p:nvSpPr>
        <p:spPr/>
        <p:txBody>
          <a:bodyPr/>
          <a:lstStyle/>
          <a:p>
            <a:pPr>
              <a:defRPr sz="1600"/>
            </a:pPr>
            <a:r>
              <a:t>A la fin des TRAVAUX, le CHARGE DE TRAVAUX rassemble les EXECUTANTS, vérifie la bonne exécution du travail puis les informe de la fin des TRAVAUX.</a:t>
            </a:r>
          </a:p>
          <a:p>
            <a:pPr>
              <a:defRPr sz="1600"/>
            </a:pPr>
            <a:r>
              <a:t>Si les TRAVAUX ont été exécutés dans le cadre d'une ATST, le CHARGE DE TRAVAUX remet en main propre ou transmet au CHEF D'ETABLISSEMENT ou au CHARGE D'EXPLOITATION ELECTRIQUE, par MESSAGE COLLATIONNE, L'AVIS DE FIN DE TRAVAIL.</a:t>
            </a:r>
          </a:p>
          <a:p>
            <a:pPr>
              <a:defRPr sz="1600"/>
            </a:pPr>
            <a:r>
              <a:t>NF C 18-510  -  100  -  UTE  Si les TRAVAUX ont été exécutés dans le cadre d'une ITST, le CHARGE DE TRAVAUX signale la fin des TRAVAUX a son EMPLOYEUR ainsi qu'au CHEF D'ETABLISSEMENT ou au CHARGE D'EXPLOITATION ELECTRIQUE selon les modalités prescrites.</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8.12.6 Rôle des exécutants</a:t>
            </a:r>
          </a:p>
        </p:txBody>
      </p:sp>
      <p:sp>
        <p:nvSpPr>
          <p:cNvPr id="3" name="Content Placeholder 2"/>
          <p:cNvSpPr>
            <a:spLocks noGrp="1"/>
          </p:cNvSpPr>
          <p:nvPr>
            <p:ph idx="1"/>
          </p:nvPr>
        </p:nvSpPr>
        <p:spPr/>
        <p:txBody>
          <a:bodyPr/>
          <a:lstStyle/>
          <a:p>
            <a:pPr>
              <a:defRPr sz="1600"/>
            </a:pPr>
            <a:r>
              <a:t>Les EXECUTANTS respectent les ordres et instructions donnes par le CHARGE DE TRAVAUX.</a:t>
            </a:r>
          </a:p>
          <a:p>
            <a:pPr>
              <a:defRPr sz="1600"/>
            </a:pPr>
            <a:r>
              <a:t>UTE  -  101  -  NF C 18-510.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OPERATIONS DANS L'ENVIRONNEMENT</a:t>
            </a:r>
          </a:p>
        </p:txBody>
      </p:sp>
      <p:sp>
        <p:nvSpPr>
          <p:cNvPr id="3" name="Content Placeholder 2"/>
          <p:cNvSpPr>
            <a:spLocks noGrp="1"/>
          </p:cNvSpPr>
          <p:nvPr>
            <p:ph idx="1"/>
          </p:nvPr>
        </p:nvSpPr>
        <p:spPr/>
        <p:txBody>
          <a:bodyPr/>
          <a:lstStyle/>
          <a:p>
            <a:pPr>
              <a:defRPr sz="1600"/>
            </a:pPr>
            <a:r>
              <a:t>Le présent article donne les prescriptions à appliquer pour les OPERATIONS à réaliser dans l'ENVIRONNEMENT, en complément des autres articles, tels que les TRAVAUX HORS TENSION (Article 7), les INTERVENTIONS BASSE TENSION (Article 10), les ESSAIS, MESURAGES, VERIFICATIONS et les MANŒUVRES (Article 11).</a:t>
            </a:r>
          </a:p>
          <a:p>
            <a:pPr>
              <a:defRPr sz="1600"/>
            </a:pPr>
            <a:r>
              <a:t>Cet article traite :  · des OPERATIONS après avoir procédé à une MISE HORS DE PORTEE ;  · des OPERATIONS d'ORDRE ELECTRIQUE au VOISINAGE SIMPLE et au VOISINAGE RENFORCE ;.</a:t>
            </a:r>
          </a:p>
          <a:p>
            <a:pPr>
              <a:defRPr sz="1600"/>
            </a:pPr>
            <a:r>
              <a:t>des OPERATIONS d'ORDRE ELECTRIQUE OU D'ORDRE NON ELECTRIQUE dans l'ENVIRONNEMENT électrique sur des OUVRAGES et des INSTALLATIONS ;  · des OPERATIONS d'ORDRE NON ELECTRIQUE au VOISINAGE SIMPLE BT et HT, et au VOISINAGE RENFORCE HT ;  · des OPERATIONS d'ORDRE NON ELECTRIQUE à proximité des conducteurs nus ;.</a:t>
            </a:r>
          </a:p>
          <a:p>
            <a:pPr>
              <a:defRPr sz="1600"/>
            </a:pPr>
            <a:r>
              <a:t>des OPERATIONS d'ORDRE ELECTRIQUE ou d'ORDRE NON ELECTRIQUE dans l'ENVIRONNEMENT des CANALISATIONS ISOLEES.</a:t>
            </a:r>
          </a:p>
          <a:p>
            <a:pPr>
              <a:defRPr sz="1600"/>
            </a:pPr>
            <a:r>
              <a:t>Cet article ne traite pas des TRAVAUX HORS TENSION après CONSIGNATION OU MISE HORS TENSION des OUVRAGES ou des INSTALLATIONS (voir Article 7).</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9.1 Principes de prévention vis-à-vis de l'environnement électrique</a:t>
            </a:r>
          </a:p>
        </p:txBody>
      </p:sp>
      <p:sp>
        <p:nvSpPr>
          <p:cNvPr id="3" name="Content Placeholder 2"/>
          <p:cNvSpPr>
            <a:spLocks noGrp="1"/>
          </p:cNvSpPr>
          <p:nvPr>
            <p:ph idx="1"/>
          </p:nvPr>
        </p:nvSpPr>
        <p:spPr/>
        <p:txBody>
          <a:bodyPr/>
          <a:lstStyle/>
          <a:p>
            <a:pPr>
              <a:defRPr sz="1600"/>
            </a:pPr>
            <a:r>
              <a:t>Au cours d'OPERATIONS d'ORDRE ELECTRIQUE ou d'ORDRE NON ELECTRIQUE, le personnel peut être amené à s'approcher des pièces nues sous tension ou des CANALISATIONS ISOLEES.</a:t>
            </a:r>
          </a:p>
          <a:p>
            <a:pPr>
              <a:defRPr sz="1600"/>
            </a:pPr>
            <a:r>
              <a:t>Dans ce cas, des moyens de protection doivent être mis en œuvre pour empêcher tout contact avec ces pièces nues ou toute atteinte aux CANALISATIONS ISOLEES.</a:t>
            </a:r>
          </a:p>
          <a:p>
            <a:pPr>
              <a:defRPr sz="1600"/>
            </a:pPr>
            <a:r>
              <a:t>Les principes d'appréciation des distances d'approche des pièces nues sous tension sont précisés au 4.</a:t>
            </a:r>
          </a:p>
          <a:p>
            <a:pPr>
              <a:defRPr sz="1600"/>
            </a:pPr>
            <a:r>
              <a:t>1.</a:t>
            </a:r>
          </a:p>
          <a:p>
            <a:pPr>
              <a:defRPr sz="1600"/>
            </a:pPr>
            <a:r>
              <a:t>2.</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9.2.1 Mise hors de portee par éloignement</a:t>
            </a:r>
          </a:p>
        </p:txBody>
      </p:sp>
      <p:sp>
        <p:nvSpPr>
          <p:cNvPr id="3" name="Content Placeholder 2"/>
          <p:cNvSpPr>
            <a:spLocks noGrp="1"/>
          </p:cNvSpPr>
          <p:nvPr>
            <p:ph idx="1"/>
          </p:nvPr>
        </p:nvSpPr>
        <p:spPr/>
        <p:txBody>
          <a:bodyPr/>
          <a:lstStyle/>
          <a:p>
            <a:pPr>
              <a:defRPr sz="1600"/>
            </a:pPr>
            <a:r>
              <a:t>La MISE HORS DE PORTEE par ELOIGNEMENT consiste à réduire le risque, soit en déplaçant l'OUVRAGE ou l'INSTALLATION électrique, soit en deplaçant ou restreignant la ZONE D'EVOLUTION de l'OPERATEUR, soit en combinant ces deux options.</a:t>
            </a:r>
          </a:p>
          <a:p>
            <a:pPr>
              <a:defRPr sz="1600"/>
            </a:pPr>
            <a:r>
              <a:t>UTE  -  103  -  NF C 18-510  Ce principe trouve notamment son application, vis-à-vis de la DLVS, lors de l'utilisation d'engins de grande dimension (grues, nacelles, échafaudages, monte-charges, pompes à béton, camions bennes, engins agricoles, échelles de pompiers, citernes à grains, etc.</a:t>
            </a:r>
          </a:p>
          <a:p>
            <a:pPr>
              <a:defRPr sz="1600"/>
            </a:pPr>
            <a:r>
              <a:t>), à proximité de lignes aériennes à conducteurs nus.</a:t>
            </a:r>
          </a:p>
          <a:p>
            <a:pPr>
              <a:defRPr sz="1600"/>
            </a:pPr>
            <a:r>
              <a:t>Pour ces engins, des mesures visant à restreindre les ZONES D'EVOLUTION peuvent être adoptées, telles que limitation de l'évolution des organes mobiles (tourelles, bras, potences, etc.</a:t>
            </a:r>
          </a:p>
          <a:p>
            <a:pPr>
              <a:defRPr sz="1600"/>
            </a:pPr>
            <a:r>
              <a:t>), BALISAGE des itinéraires, surveillance, détecteurs, etc.</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9.2.2 Mise hors de portée par pose d'obstacles</a:t>
            </a:r>
          </a:p>
        </p:txBody>
      </p:sp>
      <p:sp>
        <p:nvSpPr>
          <p:cNvPr id="3" name="Content Placeholder 2"/>
          <p:cNvSpPr>
            <a:spLocks noGrp="1"/>
          </p:cNvSpPr>
          <p:nvPr>
            <p:ph idx="1"/>
          </p:nvPr>
        </p:nvSpPr>
        <p:spPr/>
        <p:txBody>
          <a:bodyPr/>
          <a:lstStyle/>
          <a:p>
            <a:pPr>
              <a:defRPr sz="1600"/>
            </a:pPr>
            <a:r>
              <a:t>Un OBSTACLE est un dispositif empêchant le contact accidentel ou involontaire avec des pièces nues sous tension d'un OUVRAGE ou d'une INSTALLATION.</a:t>
            </a:r>
          </a:p>
          <a:p>
            <a:pPr>
              <a:defRPr sz="1600"/>
            </a:pPr>
            <a:r>
              <a:t>Les OBSTACLES comprennent les parois fixes et rigides et certains ECRANS.</a:t>
            </a:r>
          </a:p>
          <a:p>
            <a:pPr>
              <a:defRPr sz="1600"/>
            </a:pPr>
            <a:r>
              <a:t>Ils recouvrent des moyens très divers, tels que panneaux, cloisons, façades, grillages, etc.</a:t>
            </a:r>
          </a:p>
          <a:p>
            <a:pPr>
              <a:defRPr sz="1600"/>
            </a:pPr>
            <a:r>
              <a:t>, fixes ou amovibles, de toutes dimensions, en matériaux isolants ou conducteurs.</a:t>
            </a:r>
          </a:p>
          <a:p>
            <a:pPr>
              <a:defRPr sz="1600"/>
            </a:pPr>
            <a:r>
              <a:t>Ils doivent avoir une résistance mécanique adaptée aux contraintes auxquelles ils sont soumis pendant le temps où ils assurent cette fonction et doivent être choisis en conséquence.</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9.2.3 Mise hors de portée par pose d'isolations</a:t>
            </a:r>
          </a:p>
        </p:txBody>
      </p:sp>
      <p:sp>
        <p:nvSpPr>
          <p:cNvPr id="3" name="Content Placeholder 2"/>
          <p:cNvSpPr>
            <a:spLocks noGrp="1"/>
          </p:cNvSpPr>
          <p:nvPr>
            <p:ph idx="1"/>
          </p:nvPr>
        </p:nvSpPr>
        <p:spPr/>
        <p:txBody>
          <a:bodyPr/>
          <a:lstStyle/>
          <a:p>
            <a:pPr>
              <a:defRPr sz="1600"/>
            </a:pPr>
            <a:r>
              <a:t>Une ISOLATION est un dispositif amovible assurant l'ISOLATION des pièces conductrices.</a:t>
            </a:r>
          </a:p>
          <a:p>
            <a:pPr>
              <a:defRPr sz="1600"/>
            </a:pPr>
            <a:r>
              <a:t>Les ISOLATIONS comprennent les ECRANS isolants, les NAPPES isolantes et les PROTECTEURS.</a:t>
            </a:r>
          </a:p>
          <a:p>
            <a:pPr>
              <a:defRPr sz="1600"/>
            </a:pPr>
            <a:r>
              <a:t>Elles protègent d'un choc électrique résultant d'un contact fortuit, mais ne sont pas conçues pour qu'on prenne appui sur elles.</a:t>
            </a:r>
          </a:p>
          <a:p>
            <a:pPr>
              <a:defRPr sz="1600"/>
            </a:pPr>
            <a:r>
              <a:t>Un ECRAN est un dispositif isolant ou conducteur, disposé à distance des pièces nues sous tension, pouvant constituer une ISOLATION s'il est isolant, ou un OBSTACLE s'il a les caractéristiques mécaniques suffisantes.</a:t>
            </a:r>
          </a:p>
          <a:p>
            <a:pPr>
              <a:defRPr sz="1600"/>
            </a:pPr>
            <a:r>
              <a:t>Une NAPPE est une protection isolante souple.</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9.2.4 Mise en œuvre des obstacles et des isolations</a:t>
            </a:r>
          </a:p>
        </p:txBody>
      </p:sp>
      <p:sp>
        <p:nvSpPr>
          <p:cNvPr id="3" name="Content Placeholder 2"/>
          <p:cNvSpPr>
            <a:spLocks noGrp="1"/>
          </p:cNvSpPr>
          <p:nvPr>
            <p:ph idx="1"/>
          </p:nvPr>
        </p:nvSpPr>
        <p:spPr/>
        <p:txBody>
          <a:bodyPr/>
          <a:lstStyle/>
          <a:p>
            <a:pPr>
              <a:defRPr sz="1600"/>
            </a:pPr>
            <a:r>
              <a:t>Les prescriptions de pose et de dépose des OBSTACLES et des ISOLATIONS dépendent :  · de la tension de l'OUVRAGE ou de l'INSTALLATION électrique ;  · de la ZONE D'ENVIRONNEMENT dans laquelle ils sont installés ;  · de leur nature ;  · des caractéristiques géométriques de l'OUVRAGE ou de l'INSTALLATION.</a:t>
            </a:r>
          </a:p>
          <a:p>
            <a:pPr>
              <a:defRPr sz="1600"/>
            </a:pPr>
            <a:r>
              <a:t>Une fois posés, les ECRANS métalliques doivent être mis à la terre pour fixer leur potentiel.</a:t>
            </a:r>
          </a:p>
          <a:p>
            <a:pPr>
              <a:defRPr sz="1600"/>
            </a:pPr>
            <a:r>
              <a:t>En basse tension, la mise en œuvre des NAPPES ISOLANTES souples peut être réalisée selon deux méthodes :  · l'HABILLAGE de pièces nues sous tension, qui consiste à isoler provisoirement ces pièces nues et qui implique un contact volontaire de ces pièces avec la NAPPE.</a:t>
            </a:r>
          </a:p>
          <a:p>
            <a:pPr>
              <a:defRPr sz="1600"/>
            </a:pPr>
            <a:r>
              <a:t>L'OPERATEUR doit maîtriser les efforts mécaniques sur les parties actives.</a:t>
            </a:r>
          </a:p>
          <a:p>
            <a:pPr>
              <a:defRPr sz="1600"/>
            </a:pPr>
            <a:r>
              <a:t>L'HABILLAGE est un TRAVAIL SOUS TENSION (TST).</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9.2.4.1 Mise en place et retrait des obstacles et des isolations en basse tension</a:t>
            </a:r>
          </a:p>
        </p:txBody>
      </p:sp>
      <p:sp>
        <p:nvSpPr>
          <p:cNvPr id="3" name="Content Placeholder 2"/>
          <p:cNvSpPr>
            <a:spLocks noGrp="1"/>
          </p:cNvSpPr>
          <p:nvPr>
            <p:ph idx="1"/>
          </p:nvPr>
        </p:nvSpPr>
        <p:spPr/>
        <p:txBody>
          <a:bodyPr/>
          <a:lstStyle/>
          <a:p>
            <a:pPr>
              <a:defRPr sz="1600"/>
            </a:pPr>
            <a:r>
              <a:t>Dans la ZONE DE VOISINAGE SIMPLE (zone 1), la mise en place ou le retrait d'OBSTACLES doit être effectué par un personnel habilité symboles BO ou B1, sous la responsabilité d'un CHARGE DE CHANTIER habilité symbole BO ou d'un CHARGE DE TRAVAUX habilité symbole B2.</a:t>
            </a:r>
          </a:p>
          <a:p>
            <a:pPr>
              <a:defRPr sz="1600"/>
            </a:pPr>
            <a:r>
              <a:t>Les conditions d'approche de ces OBSTACLES doivent être adaptées à leurs caractéristiques électriques et mécaniques.</a:t>
            </a:r>
          </a:p>
          <a:p>
            <a:pPr>
              <a:defRPr sz="1600"/>
            </a:pPr>
            <a:r>
              <a:t>Dans la ZONE DE VOISINAGE RENFORCE (zone 4), la mise en place et le retrait d'OBSTACLES ou d'ISOLATIONS doivent respecter les prescriptions suivantes :.</a:t>
            </a:r>
          </a:p>
          <a:p>
            <a:pPr>
              <a:defRPr sz="1600"/>
            </a:pPr>
            <a:r>
              <a:t>dans tous les cas, l'HABILLAGE, la mise en place ou le retrait de PROTECTEURS ou d'ECRANS isolants sur des pièces nues sous tension doivent être réalisés après CONSIGNATION (voir Article 7) ou dans le cadre d'un TRAVAIL SOUS TENSION (voir Article 8) ;.</a:t>
            </a:r>
          </a:p>
          <a:p>
            <a:pPr>
              <a:defRPr sz="1600"/>
            </a:pPr>
            <a:r>
              <a:t>dans tous les cas, un OBSTACLE non isolant ou partiellement isolant ne doit être mis en place et retiré qu'après CONSIGNATION de l'OUVRAGE ou de l'INSTALLATION concernés.</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9.2.4.2 Mise en place et retrait des obstacles et des isolations en haute tension</a:t>
            </a:r>
          </a:p>
        </p:txBody>
      </p:sp>
      <p:sp>
        <p:nvSpPr>
          <p:cNvPr id="3" name="Content Placeholder 2"/>
          <p:cNvSpPr>
            <a:spLocks noGrp="1"/>
          </p:cNvSpPr>
          <p:nvPr>
            <p:ph idx="1"/>
          </p:nvPr>
        </p:nvSpPr>
        <p:spPr/>
        <p:txBody>
          <a:bodyPr/>
          <a:lstStyle/>
          <a:p>
            <a:pPr>
              <a:defRPr sz="1600"/>
            </a:pPr>
            <a:r>
              <a:t>Dans la ZONE DE VOISINAGE SIMPLE (zone 1), la mise en place et le retrait d'OBSTACLES est inutile dans la mesure où la limite inférieure de cette zone n'est jamais franchie.</a:t>
            </a:r>
          </a:p>
          <a:p>
            <a:pPr>
              <a:defRPr sz="1600"/>
            </a:pPr>
            <a:r>
              <a:t>Dans la ZONE DE VOISINAGE RENFORCE HT (zone 2), la mise en place ou le retrait d'OBSTACLES doivent être réalisés dans le cadre des TRAVAUX AU VOISINAGE, à condition de ne pas pénétrer dans la zone 3.</a:t>
            </a:r>
          </a:p>
          <a:p>
            <a:pPr>
              <a:defRPr sz="1600"/>
            </a:pPr>
            <a:r>
              <a:t>Ces opérations sont effectuées par du personnel habilité symboles H1V ou H2V.</a:t>
            </a:r>
          </a:p>
          <a:p>
            <a:pPr>
              <a:defRPr sz="1600"/>
            </a:pPr>
            <a:r>
              <a:t>Les OBSTACLES posés doivent procurer une protection efficace des personnes en fonction des TRAVAUX à réaliser.</a:t>
            </a:r>
          </a:p>
          <a:p>
            <a:pPr>
              <a:defRPr sz="1600"/>
            </a:pPr>
            <a:r>
              <a:t>Dans la zone des TRAVAUX SOUS TENSION HT (zone 3) :  · la mise en place ou le retrait des OBSTACLES sont réalisés après CONSIGNATION (voir Article 7) ou dans le cadre de TRAVAUX SOUS TENSION (voir Article 8) ;.</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 Présence de pièces nues sous tension en champ libre</a:t>
            </a:r>
          </a:p>
        </p:txBody>
      </p:sp>
      <p:sp>
        <p:nvSpPr>
          <p:cNvPr id="3" name="Content Placeholder 2"/>
          <p:cNvSpPr>
            <a:spLocks noGrp="1"/>
          </p:cNvSpPr>
          <p:nvPr>
            <p:ph idx="1"/>
          </p:nvPr>
        </p:nvSpPr>
        <p:spPr/>
        <p:txBody>
          <a:bodyPr/>
          <a:lstStyle/>
          <a:p>
            <a:pPr>
              <a:defRPr sz="1600"/>
            </a:pPr>
            <a:r>
              <a:t>Le présent paragraphe détaille les prescriptions à appliquer, dans les zones définies à l'Article 6 autour de pièces nues sous tension en champ libre, tant pour les parties aériennes des OUVRAGES ou des INSTALLATIONS que pour les parties des OUVRAGES ou des INSTALLATIONS situées à l'intérieur des LOCAUX ET EMPLACEMENTS D'ACCES RESERVE AUX ELECTRICIENS (voir.</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9.3.1 à 9.3.5).</a:t>
            </a:r>
          </a:p>
        </p:txBody>
      </p:sp>
      <p:sp>
        <p:nvSpPr>
          <p:cNvPr id="3" name="Content Placeholder 2"/>
          <p:cNvSpPr>
            <a:spLocks noGrp="1"/>
          </p:cNvSpPr>
          <p:nvPr>
            <p:ph idx="1"/>
          </p:nvPr>
        </p:nvSpPr>
        <p:spPr/>
        <p:txBody>
          <a:bodyPr/>
          <a:lstStyle/>
          <a:p>
            <a:pPr>
              <a:defRPr sz="1600"/>
            </a:pPr>
            <a:r>
              <a:t>Il traite aussi des prescriptions à appliquer dans les zones définies pour les TRAVAUX d'ORDRE NON ELECTRIQUE dans l'ENVIRONNEMENT des lignes aériennes en conducteurs nus, à l'exception de ceux visant la maintenance, la réparation, la construction des OUVRAGES ou la réalisation des INSTALLATIONS électriques (voir 9.</a:t>
            </a:r>
          </a:p>
          <a:p>
            <a:pPr>
              <a:defRPr sz="1600"/>
            </a:pPr>
            <a:r>
              <a:t>3.</a:t>
            </a:r>
          </a:p>
          <a:p>
            <a:pPr>
              <a:defRPr sz="1600"/>
            </a:pPr>
            <a:r>
              <a:t>6).</a:t>
            </a:r>
          </a:p>
          <a:p>
            <a:pPr>
              <a:defRPr sz="1600"/>
            </a:pPr>
            <a:r>
              <a:t>UTE  -  105  -  NF C 18-510.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9.3.1 Zone d'investigation - Zone 0</a:t>
            </a:r>
          </a:p>
        </p:txBody>
      </p:sp>
      <p:sp>
        <p:nvSpPr>
          <p:cNvPr id="3" name="Content Placeholder 2"/>
          <p:cNvSpPr>
            <a:spLocks noGrp="1"/>
          </p:cNvSpPr>
          <p:nvPr>
            <p:ph idx="1"/>
          </p:nvPr>
        </p:nvSpPr>
        <p:spPr/>
        <p:txBody>
          <a:bodyPr/>
          <a:lstStyle/>
          <a:p>
            <a:pPr>
              <a:defRPr sz="1600"/>
            </a:pPr>
            <a:r>
              <a:t>Dans cette zone 0, les activités, quelles qu'elles soient, sont soumises à l'obligation de procéder à une évaluation du risque électrique et à celle de ne pas franchir la DISTANCE LIMITE DE VOISINAGE SIMPLE (DLVS).</a:t>
            </a:r>
          </a:p>
          <a:p>
            <a:pPr>
              <a:defRPr sz="1600"/>
            </a:pPr>
            <a:r>
              <a:t>Pour tous TRAVAUX OU OPERATIONS, une INSTRUCTION DE SECURITE doit être établie s'il existe un risque de franchissement de la DLVS.</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9.3.2 Zone de voisinage simple - Zone 1</a:t>
            </a:r>
          </a:p>
        </p:txBody>
      </p:sp>
      <p:sp>
        <p:nvSpPr>
          <p:cNvPr id="3" name="Content Placeholder 2"/>
          <p:cNvSpPr>
            <a:spLocks noGrp="1"/>
          </p:cNvSpPr>
          <p:nvPr>
            <p:ph idx="1"/>
          </p:nvPr>
        </p:nvSpPr>
        <p:spPr/>
        <p:txBody>
          <a:bodyPr/>
          <a:lstStyle/>
          <a:p>
            <a:pPr>
              <a:defRPr sz="1600"/>
            </a:pPr>
            <a:r>
              <a:t>Pour les OPERATIONS d'ORDRE ELECTRIQUE et pour les OPERATIONS d'ORDRE NON ELECTRIQUE visant la maintenance, la réparation des OUVRAGES ou des INSTALLATIONS, ou la construction des OUVRAGES ou la réalisation des INSTALLATIONS, les PERSONNES HABILITEES ou surveillées appelées à opérer dans la zone 1, doivent être désignées par leur EMPLOYEUR.</a:t>
            </a:r>
          </a:p>
          <a:p>
            <a:pPr>
              <a:defRPr sz="1600"/>
            </a:pPr>
            <a:r>
              <a:t>L'accès de ces personnes à la zone 1 est subordonné à la délivrance d'une autorisation d'accès par le CHEF D'ETABLISSEMENT ou le CHARGE D'EXPLOITATION ELECTRIQUE de l'OUVRAGE ou de l'INSTALLATION.</a:t>
            </a:r>
          </a:p>
          <a:p>
            <a:pPr>
              <a:defRPr sz="1600"/>
            </a:pPr>
            <a:r>
              <a:t>Les OPERATIONS d'ORDRE NON ELECTRIQUE, autres que les OPERATIONS ci-dessus, exécutées dans l'ENVIRONNEMENT des OUVRAGES ou des INSTALLATIONS électriques sont traitées au 9.</a:t>
            </a:r>
          </a:p>
          <a:p>
            <a:pPr>
              <a:defRPr sz="1600"/>
            </a:pPr>
            <a:r>
              <a:t>3.</a:t>
            </a:r>
          </a:p>
          <a:p>
            <a:pPr>
              <a:defRPr sz="1600"/>
            </a:pPr>
            <a:r>
              <a:t>6.</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9.3.2.1 Zone de voisinage simple en basse tension</a:t>
            </a:r>
          </a:p>
        </p:txBody>
      </p:sp>
      <p:sp>
        <p:nvSpPr>
          <p:cNvPr id="3" name="Content Placeholder 2"/>
          <p:cNvSpPr>
            <a:spLocks noGrp="1"/>
          </p:cNvSpPr>
          <p:nvPr>
            <p:ph idx="1"/>
          </p:nvPr>
        </p:nvSpPr>
        <p:spPr/>
        <p:txBody>
          <a:bodyPr/>
          <a:lstStyle/>
          <a:p>
            <a:pPr>
              <a:defRPr sz="1600"/>
            </a:pPr>
            <a:r>
              <a:t>Les TRAVAUX d'ORDRE ELECTRIQUE doivent être exécutés sous la conduite d'un CHARGE DE TRAVAUX habilité symbole B2, qui se maintient et maintient son équipe à l'extérieur de la DISTANCE LIMITE DE VOISINAGE RENFORCE (DLVR) ou de la DISTANCE MINIMALE D'APPROCHE (DMA) par tout moyen approprié.</a:t>
            </a:r>
          </a:p>
          <a:p>
            <a:pPr>
              <a:defRPr sz="1600"/>
            </a:pPr>
            <a:r>
              <a:t>Le personnel EXECUTANT doit posséder une HABILITATION symbole B1.</a:t>
            </a:r>
          </a:p>
          <a:p>
            <a:pPr>
              <a:defRPr sz="1600"/>
            </a:pPr>
            <a:r>
              <a:t>Les INTERVENTIONS BT doivent être executees sous la conduite d'un CHARGE D'INTERVENTION GENERALE habilité symbole BR, qui se maintient a l'extérieur de la DLVR ou DMA par tout moyen approprié.</a:t>
            </a:r>
          </a:p>
          <a:p>
            <a:pPr>
              <a:defRPr sz="1600"/>
            </a:pPr>
            <a:r>
              <a:t>Si ce CHARGE D'INTERVENTION a un EXECUTANT, l'EXECUTANT doit être habilité symbole B1.</a:t>
            </a:r>
          </a:p>
          <a:p>
            <a:pPr>
              <a:defRPr sz="1600"/>
            </a:pPr>
            <a:r>
              <a:t>Les OPERATIONS SPECIFIQUES, telles qu'ESSAI, MESURAGE, VERIFICATION OU MANŒUVRE, doivent être exécutées sous la conduite d'un CHARGE D'OPERATION SPECIFIQUE habilité (voir symbole à l'Article 11), qui se maintient a l'extérieur de la DLVR ou DMA par tout moyen approprié.</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9.3.2.2 Zone de voisinage simple en haute tension</a:t>
            </a:r>
          </a:p>
        </p:txBody>
      </p:sp>
      <p:sp>
        <p:nvSpPr>
          <p:cNvPr id="3" name="Content Placeholder 2"/>
          <p:cNvSpPr>
            <a:spLocks noGrp="1"/>
          </p:cNvSpPr>
          <p:nvPr>
            <p:ph idx="1"/>
          </p:nvPr>
        </p:nvSpPr>
        <p:spPr/>
        <p:txBody>
          <a:bodyPr/>
          <a:lstStyle/>
          <a:p>
            <a:pPr>
              <a:defRPr sz="1600"/>
            </a:pPr>
            <a:r>
              <a:t>Les OPERATIONS d'ORDRE ELECTRIQUE doivent être exécutées sous la conduite d'un CHARGE DE TRAVAUX habilité symbole H2, ou sous la conduite d'un CHARGE D'OPERATION SPECIFIQUE habilité d'un symbole tel que défini à l'Article 11, qui se maintient et maintient son équipe à l'extérieur de la DISTANCE LIMITE DE VOISINAGE RENFORCE (DLVR) par tout moyen approprié.</a:t>
            </a:r>
          </a:p>
          <a:p>
            <a:pPr>
              <a:defRPr sz="1600"/>
            </a:pPr>
            <a:r>
              <a:t>Le personnel EXECUTANT doit posséder une HABILITATION symbole H1.</a:t>
            </a:r>
          </a:p>
          <a:p>
            <a:pPr>
              <a:defRPr sz="1600"/>
            </a:pPr>
            <a:r>
              <a:t>Les OPERATIONS d'ORDRE NON ELECTRIQUE visant la maintenance, la réparation des OUVRAGES ou des INSTALLATIONS, la construction des OUVRAGES ou la réalisation des INSTALLATIONS  NF C 18-510  -  106  -  UTE  doivent être exécutées sous la conduite d'un CHARGE DE CHANTIER habilité symbole HO, qui se maintient et maintient son équipe au delà de la DLVR par tout moyen approprié.</a:t>
            </a:r>
          </a:p>
          <a:p>
            <a:pPr>
              <a:defRPr sz="1600"/>
            </a:pPr>
            <a:r>
              <a:t>Le personnel EXECUTANT des OPERATIONS d'ORDRE NON ELECTRIQUE doit :  · soit posséder une HABILITATION symbole HO ;  · soit, s'il n'est pas habilité, avoir reçu de son EMPLOYEUR une INSTRUCTION DE SECURITE et être surveille, de manière permanente, par un SURVEILLANT DE SECURITE ELECTRIQUE DE LIMITE OU SURVEILLANT DE SECURITE ELECTRIQUE D'OPERATION ET D'ACCOMPAGNEMENT désigné à cet effet et habilité symbole H0.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9.3.3.1 Dispositions générales</a:t>
            </a:r>
          </a:p>
        </p:txBody>
      </p:sp>
      <p:sp>
        <p:nvSpPr>
          <p:cNvPr id="3" name="Content Placeholder 2"/>
          <p:cNvSpPr>
            <a:spLocks noGrp="1"/>
          </p:cNvSpPr>
          <p:nvPr>
            <p:ph idx="1"/>
          </p:nvPr>
        </p:nvSpPr>
        <p:spPr/>
        <p:txBody>
          <a:bodyPr/>
          <a:lstStyle/>
          <a:p>
            <a:pPr>
              <a:defRPr sz="1600"/>
            </a:pPr>
            <a:r>
              <a:t>Pour les OPERATIONS d'ORDRE ELECTRIQUE et d'ORDRE NON ELECTRIQUE visant la maintenance ou la réparation des OUVRAGES ou des INSTALLATIONS, la construction des OUVRAGES ou la réalisation des INSTALLATIONS, les PERSONNES HABILITEES appelées à opérer dans la zone 2 doivent être désignées par leur EMPLOYEUR.</a:t>
            </a:r>
          </a:p>
          <a:p>
            <a:pPr>
              <a:defRPr sz="1600"/>
            </a:pPr>
            <a:r>
              <a:t>L'accès de ces personnes à la zone 2 est subordonné à la délivrance d'une autorisation par le CHARGE D'EXPLOITATION ELECTRIQUE de l'OUVRAGE ou de l'INSTALLATION comme, par exemple, une AUTORISATION DE TRAVAIL.</a:t>
            </a:r>
          </a:p>
          <a:p>
            <a:pPr>
              <a:defRPr sz="1600"/>
            </a:pPr>
            <a:r>
              <a:t>Les OPERATIONS d'ORDRE NON ELECTRIQUE, autres que les OPERATIONS ci-dessus, exécutées dans l'ENVIRONNEMENT des OUVRAGES ou des INSTALLATIONS électriques, sont traitées au 9.</a:t>
            </a:r>
          </a:p>
          <a:p>
            <a:pPr>
              <a:defRPr sz="1600"/>
            </a:pPr>
            <a:r>
              <a:t>3.</a:t>
            </a:r>
          </a:p>
          <a:p>
            <a:pPr>
              <a:defRPr sz="1600"/>
            </a:pPr>
            <a:r>
              <a:t>6.</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9.3.3.2 Opérations d'ordre électrique</a:t>
            </a:r>
          </a:p>
        </p:txBody>
      </p:sp>
      <p:sp>
        <p:nvSpPr>
          <p:cNvPr id="3" name="Content Placeholder 2"/>
          <p:cNvSpPr>
            <a:spLocks noGrp="1"/>
          </p:cNvSpPr>
          <p:nvPr>
            <p:ph idx="1"/>
          </p:nvPr>
        </p:nvSpPr>
        <p:spPr/>
        <p:txBody>
          <a:bodyPr/>
          <a:lstStyle/>
          <a:p>
            <a:pPr>
              <a:defRPr sz="1600"/>
            </a:pPr>
            <a:r>
              <a:t>Les OPERATIONS d'ORDRE ELECTRIQUE HT doivent être exécutées sous la conduite d'un CHARGE DE TRAVAUX habilité symbole H2V ou d'un CHARGE D'OPERATION SPECIFIQUE habilite (voir symbole à l'Article 11), qui se maintient et maintient son équipe à l'extérieur de la DMA par tout moyen approprié.</a:t>
            </a:r>
          </a:p>
          <a:p>
            <a:pPr>
              <a:defRPr sz="1600"/>
            </a:pPr>
            <a:r>
              <a:t>Le personnel EXECUTANT doit posseder une HABILITATION symbole H1V.</a:t>
            </a:r>
          </a:p>
          <a:p>
            <a:pPr>
              <a:defRPr sz="1600"/>
            </a:pPr>
            <a:r>
              <a:t>La surveillance obligatoire doit être assurée par un SURVEILLANT DE SECURITE ELECTRIQUE DE LIMITE habilité symboles H1V ou H2V.</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9.3.3.3 Opérations d'ordre non électrique</a:t>
            </a:r>
          </a:p>
        </p:txBody>
      </p:sp>
      <p:sp>
        <p:nvSpPr>
          <p:cNvPr id="3" name="Content Placeholder 2"/>
          <p:cNvSpPr>
            <a:spLocks noGrp="1"/>
          </p:cNvSpPr>
          <p:nvPr>
            <p:ph idx="1"/>
          </p:nvPr>
        </p:nvSpPr>
        <p:spPr/>
        <p:txBody>
          <a:bodyPr/>
          <a:lstStyle/>
          <a:p>
            <a:pPr>
              <a:defRPr sz="1600"/>
            </a:pPr>
            <a:r>
              <a:t>Seules, les OPERATIONS d'ORDRE NON ELECTRIQUE visant la maintenance ou la réparation des OUVRAGES ou des INSTALLATIONS, la construction des OUVRAGES ou la réalisation des INSTALLATIONS, sont autorisées dans cette zone.</a:t>
            </a:r>
          </a:p>
          <a:p>
            <a:pPr>
              <a:defRPr sz="1600"/>
            </a:pPr>
            <a:r>
              <a:t>Elles doivent être exécutées sous la conduite d'un CHARGE DE CHANTIER habilité symbole HOV, qui se maintient et maintient son équipe à l'extérieur de la DMA par tout moyen approprié.</a:t>
            </a:r>
          </a:p>
          <a:p>
            <a:pPr>
              <a:defRPr sz="1600"/>
            </a:pPr>
            <a:r>
              <a:t>Le personnel EXECUTANT doit posséder une HABILITATION symbole H0V.</a:t>
            </a:r>
          </a:p>
          <a:p>
            <a:pPr>
              <a:defRPr sz="1600"/>
            </a:pPr>
            <a:r>
              <a:t>La surveillance obligatoire doit être assurée par un SURVEILLANT DE SECURITE ELECTRIQUE DE LIMITE habilité symbole H0V.</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9.3.4 Zone de travaux sous tension HT - Zone 3</a:t>
            </a:r>
          </a:p>
        </p:txBody>
      </p:sp>
      <p:sp>
        <p:nvSpPr>
          <p:cNvPr id="3" name="Content Placeholder 2"/>
          <p:cNvSpPr>
            <a:spLocks noGrp="1"/>
          </p:cNvSpPr>
          <p:nvPr>
            <p:ph idx="1"/>
          </p:nvPr>
        </p:nvSpPr>
        <p:spPr/>
        <p:txBody>
          <a:bodyPr/>
          <a:lstStyle/>
          <a:p>
            <a:pPr>
              <a:defRPr sz="1600"/>
            </a:pPr>
            <a:r>
              <a:t>Seuls les TRAVAUX SOUS TENSION sont autorisés dans la zone 3.</a:t>
            </a:r>
          </a:p>
          <a:p>
            <a:pPr>
              <a:defRPr sz="1600"/>
            </a:pPr>
            <a:r>
              <a:t>Les personnes appelées à travailler dans la zone 3 doivent être designees et habilitées par leur EMPLOYEUR.</a:t>
            </a:r>
          </a:p>
          <a:p>
            <a:pPr>
              <a:defRPr sz="1600"/>
            </a:pPr>
            <a:r>
              <a:t>L'accès de ces personnes à la zone 3 est subordonné à la délivrance, par le CHARGE D'EXPLOITATION ELECTRIQUE, d'une autorisation suivant les dispositions de l'Article 8.</a:t>
            </a:r>
          </a:p>
          <a:p>
            <a:pPr>
              <a:defRPr sz="1600"/>
            </a:pPr>
            <a:r>
              <a:t>Les TRAVAUX SOUS TENSION HT doivent être executes sous la conduite d'un CHARGE DE TRAVAUX habilité symboles H2T ou H2N.</a:t>
            </a:r>
          </a:p>
          <a:p>
            <a:pPr>
              <a:defRPr sz="1600"/>
            </a:pPr>
            <a:r>
              <a:t>Le personnel EXECUTANT doit posséder une HABILITATION symboles H1T ou H1N.</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9.3.5.1 Dispositions générales</a:t>
            </a:r>
          </a:p>
        </p:txBody>
      </p:sp>
      <p:sp>
        <p:nvSpPr>
          <p:cNvPr id="3" name="Content Placeholder 2"/>
          <p:cNvSpPr>
            <a:spLocks noGrp="1"/>
          </p:cNvSpPr>
          <p:nvPr>
            <p:ph idx="1"/>
          </p:nvPr>
        </p:nvSpPr>
        <p:spPr/>
        <p:txBody>
          <a:bodyPr/>
          <a:lstStyle/>
          <a:p>
            <a:pPr>
              <a:defRPr sz="1600"/>
            </a:pPr>
            <a:r>
              <a:t>La zone 4 appelée ZONE DE VOISINAGE RENFORCE couvre les domaines BT et TBT.</a:t>
            </a:r>
          </a:p>
          <a:p>
            <a:pPr>
              <a:defRPr sz="1600"/>
            </a:pPr>
            <a:r>
              <a:t>Seules, les OPERATIONS d'ORDRE ELECTRIQUE y sont autorisées.</a:t>
            </a:r>
          </a:p>
          <a:p>
            <a:pPr>
              <a:defRPr sz="1600"/>
            </a:pPr>
            <a:r>
              <a:t>Les personnes appelées à travailler dans cette zone sont désignées et habilitées par leur EMPLOYEUR.</a:t>
            </a:r>
          </a:p>
          <a:p>
            <a:pPr>
              <a:defRPr sz="1600"/>
            </a:pPr>
            <a:r>
              <a:t>L'accès de ces personnes à la zone 4 est subordonné à la délivrance d'une autorisation par le CHARGE D'EXPLOITATION ELECTRIQUE, par exemple une AUTORISATION DE TRAVAIL ou une AUTORISATION D'INTERVENTION ou une AUTORISATION DE TRAVAIL SOUS TENSION (ATST) ou une INSTRUCTION DE TRAVAIL SOUS TENSION (ITST).</a:t>
            </a:r>
          </a:p>
          <a:p>
            <a:pPr>
              <a:defRPr sz="1600"/>
            </a:pPr>
            <a:r>
              <a:t>Dans cette zone, peuvent être exécutés :  · d'une part les opérations de NAPPAGE telles que définies au 9.</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9.3.5.2 Modalités d'exécution des travaux hors tension au voisinage</a:t>
            </a:r>
          </a:p>
        </p:txBody>
      </p:sp>
      <p:sp>
        <p:nvSpPr>
          <p:cNvPr id="3" name="Content Placeholder 2"/>
          <p:cNvSpPr>
            <a:spLocks noGrp="1"/>
          </p:cNvSpPr>
          <p:nvPr>
            <p:ph idx="1"/>
          </p:nvPr>
        </p:nvSpPr>
        <p:spPr/>
        <p:txBody>
          <a:bodyPr/>
          <a:lstStyle/>
          <a:p>
            <a:pPr>
              <a:defRPr sz="1600"/>
            </a:pPr>
            <a:r>
              <a:t>Les OPERATEURS sont particulièrement exposés au risque électrique en zone 4, en raison de son exiguïté.</a:t>
            </a:r>
          </a:p>
          <a:p>
            <a:pPr>
              <a:defRPr sz="1600"/>
            </a:pPr>
            <a:r>
              <a:t>En conséquence, l'exécution des OPERATIONS d'ORDRE ELECTRIQUE doit respecter les prescriptions suivantes :  · avant de commencer le travail proprement dit, supprimer les situations de présence de tension BT en zone 4 par MISE HORS DE PORTEE, OBSTACLE OU ISOLATION ou, si impossibilité, en imposant le port des EPI et vêtements de travail adaptés, ainsi que l'utilisation des outils isolants ou isolés ;  · éviter les efforts physiques dans des positions inconfortables, à l'origine de perte de maîtrise des gestes.</a:t>
            </a:r>
          </a:p>
          <a:p>
            <a:pPr>
              <a:defRPr sz="1600"/>
            </a:pPr>
            <a:r>
              <a:t>Si ces prescriptions ne peuvent être respectées, la situation doit être réévaluée et d'autres méthodes de travail doivent être utilisées (TRAVAIL HORS TENSION suivant l'Article 7 ou TRAVAIL SOUS TENSION suivant l'Article 8).</a:t>
            </a:r>
          </a:p>
          <a:p>
            <a:pPr>
              <a:defRPr sz="1600"/>
            </a:pPr>
            <a:r>
              <a:t>L'application des prescriptions précédentes impose, en matière d'organisation, de mettre en permanence à disposition et à portée des OPERATEURS les équipements nécessaires, notamment les NAPPES, épingles et ECRANS isolants, le DISPOSITIF DE VERIFICATION D'ABSENCE DE TENSION, les EPI, les vêtements de travail, les outils isolants et isolés.</a:t>
            </a:r>
          </a:p>
          <a:p>
            <a:pPr>
              <a:defRPr sz="1600"/>
            </a:pPr>
            <a:r>
              <a:t>DANS LA ZONE 4, EN BASSE TENSION, LE TRAVAIL SANS GANTS ISOLANTS ET SANS ECRAN FACIAL EST INTERDIT  NF C 18-510  -  108  -  UTE.</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9.3.6 Prescriptions particulières pour les travaux d'ordre non électrique dans</a:t>
            </a:r>
          </a:p>
        </p:txBody>
      </p:sp>
      <p:sp>
        <p:nvSpPr>
          <p:cNvPr id="3" name="Content Placeholder 2"/>
          <p:cNvSpPr>
            <a:spLocks noGrp="1"/>
          </p:cNvSpPr>
          <p:nvPr>
            <p:ph idx="1"/>
          </p:nvPr>
        </p:nvSpPr>
        <p:spPr/>
        <p:txBody>
          <a:bodyPr/>
          <a:lstStyle/>
          <a:p>
            <a:pPr>
              <a:defRPr sz="1600"/>
            </a:pPr>
            <a:r>
              <a:t>l'environnement de lignes aériennes en conducteurs nus.</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9.3.6.1 Procédure générale</a:t>
            </a:r>
          </a:p>
        </p:txBody>
      </p:sp>
      <p:sp>
        <p:nvSpPr>
          <p:cNvPr id="3" name="Content Placeholder 2"/>
          <p:cNvSpPr>
            <a:spLocks noGrp="1"/>
          </p:cNvSpPr>
          <p:nvPr>
            <p:ph idx="1"/>
          </p:nvPr>
        </p:nvSpPr>
        <p:spPr/>
        <p:txBody>
          <a:bodyPr/>
          <a:lstStyle/>
          <a:p>
            <a:pPr>
              <a:defRPr sz="1600"/>
            </a:pPr>
            <a:r>
              <a:t>En vue de réaliser des TRAVAUX d'ORDRE NON ELECTRIQUE dans l'ENVIRONNEMENT de lignes aériennes en conducteurs nus, autres que ceux visant la maintenance, la réparation ou la construction des OUVRAGES ou des INSTALLATIONS électriques, un échange d'informations entre le demandeur (DONNEUR D'ORDRE ou maître d'ouvrage) et l'exploitant doit avoir lieu, conformément à la réglementation.</a:t>
            </a:r>
          </a:p>
          <a:p>
            <a:pPr>
              <a:defRPr sz="1600"/>
            </a:pPr>
            <a:r>
              <a:t>Si les TRAVAUX sont exécutés à plus de 3 m en BT et HTA ou à plus de 5 m en HTB des pièces nues sous tension, les prescriptions propres à la zone 0 doivent être appliquées (voir 9.</a:t>
            </a:r>
          </a:p>
          <a:p>
            <a:pPr>
              <a:defRPr sz="1600"/>
            </a:pPr>
            <a:r>
              <a:t>3.</a:t>
            </a:r>
          </a:p>
          <a:p>
            <a:pPr>
              <a:defRPr sz="1600"/>
            </a:pPr>
            <a:r>
              <a:t>1).</a:t>
            </a:r>
          </a:p>
          <a:p>
            <a:pPr>
              <a:defRPr sz="1600"/>
            </a:pPr>
            <a:r>
              <a:t>Si les TRAVAUX sont executes a moins de 3 m en BT et HTA ou a moins de 5 m en HTB, avant de lancer ces TRAVAUX, l'entreprise en charge des TRAVAUX et l'exploitant doivent procéder à un échange écrit d'informations.</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9.4 Locaux et emplacements d'accès réservé aux électriciens</a:t>
            </a:r>
          </a:p>
        </p:txBody>
      </p:sp>
      <p:sp>
        <p:nvSpPr>
          <p:cNvPr id="3" name="Content Placeholder 2"/>
          <p:cNvSpPr>
            <a:spLocks noGrp="1"/>
          </p:cNvSpPr>
          <p:nvPr>
            <p:ph idx="1"/>
          </p:nvPr>
        </p:nvSpPr>
        <p:spPr/>
        <p:txBody>
          <a:bodyPr/>
          <a:lstStyle/>
          <a:p>
            <a:pPr>
              <a:defRPr sz="1600"/>
            </a:pPr>
            <a:r>
              <a:t>Les LOCAUX ET EMPLACEMENTS D'ACCES RESERVE AUX ELECTRICIENS doivent être identifiés et delimites clairement par le CHEF D'ETABLISSEMENT.</a:t>
            </a:r>
          </a:p>
          <a:p>
            <a:pPr>
              <a:defRPr sz="1600"/>
            </a:pPr>
            <a:r>
              <a:t>Ils doivent être signales et maintenus fermés au moyen des dispositifs de fermeture prévus par la réglementation.</a:t>
            </a:r>
          </a:p>
          <a:p>
            <a:pPr>
              <a:defRPr sz="1600"/>
            </a:pPr>
            <a:r>
              <a:t>Dans les LOCAUX ET EMPLACEMENTS D'ACCES RESERVE AUX ELECTRICIENS, il est interdit, sauf autorisation du CHEF D'ETABLISSEMENT ou du CHARGE D'EXPLOITATION ELECTRIQUE, d'entreposer du matériel autre que des pièces de rechange de MATERIEL électrique.</a:t>
            </a:r>
          </a:p>
          <a:p>
            <a:pPr>
              <a:defRPr sz="1600"/>
            </a:pPr>
            <a:r>
              <a:t>Les cheminements vers et à l'intérieur de ces locaux doivent rester dégages en permanence.</a:t>
            </a:r>
          </a:p>
          <a:p>
            <a:pPr>
              <a:defRPr sz="1600"/>
            </a:pPr>
            <a:r>
              <a:t>L'accès aux LOCAUX ET EMPLACEMENTS D'ACCES RESERVE AUX ELECTRICIENS est permis :  · aux personnes nommément désignées et habilitées par leur EMPLOYEUR ;  · aux personnes non habilitées, informees des INSTRUCTIONS DE SECURITE établies par le CHEF D'ETABLISSEMENT ou par le CHARGE D'EXPLOITATION ELECTRIQUE, à condition qu'elles soient placees sous la SURVEILLANCE permanente d'un SURVEILLANT DE SECURITE ELECTRIQUE D'OPERATION ET D'ACCOMPAGNEMENT habilité.</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9.5 Ouverture d'une enveloppe électrique en basse tension</a:t>
            </a:r>
          </a:p>
        </p:txBody>
      </p:sp>
      <p:sp>
        <p:nvSpPr>
          <p:cNvPr id="3" name="Content Placeholder 2"/>
          <p:cNvSpPr>
            <a:spLocks noGrp="1"/>
          </p:cNvSpPr>
          <p:nvPr>
            <p:ph idx="1"/>
          </p:nvPr>
        </p:nvSpPr>
        <p:spPr/>
        <p:txBody>
          <a:bodyPr/>
          <a:lstStyle/>
          <a:p>
            <a:pPr>
              <a:defRPr sz="1600"/>
            </a:pPr>
            <a:r>
              <a:t>Lorsqu'au cours d'une OPERATION d'ORDRE ELECTRIQUE, une personne est amenée à supprimer une protection contre les contacts directs (par exemple, en ouvrant une armoire contenant du MATERIEL électrique), les pièces nues sous tension du domaine BT devenant alors accessibles, un BALISAGE doit être effectué pour interdire l'accès à ces pièces nues sous tension, sauf si la personne fait elle-même obstacle (voir Figures 13 à 15).</a:t>
            </a:r>
          </a:p>
          <a:p>
            <a:pPr>
              <a:defRPr sz="1600"/>
            </a:pPr>
            <a:r>
              <a:t>NF C 18-510  -  110  -  UTE  A line drawing of a tall, rectangular, two-door cabinet, viewed from a slightly elevated, three-quarter perspective, showing the front and left side.</a:t>
            </a:r>
          </a:p>
          <a:p>
            <a:pPr>
              <a:defRPr sz="1600"/>
            </a:pPr>
            <a:r>
              <a:t>The cabinet has a flat top and bottom.</a:t>
            </a:r>
          </a:p>
          <a:p>
            <a:pPr>
              <a:defRPr sz="1600"/>
            </a:pPr>
            <a:r>
              <a:t>The front of the cabinet consists of two vertical doors that meet in the middle.</a:t>
            </a:r>
          </a:p>
          <a:p>
            <a:pPr>
              <a:defRPr sz="1600"/>
            </a:pPr>
            <a:r>
              <a:t>Each door has a triangular warning sign with a lightning bolt symbol inside, positioned in the upper half of the door.</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9.6.1 Travaux d'ordre électrique</a:t>
            </a:r>
          </a:p>
        </p:txBody>
      </p:sp>
      <p:sp>
        <p:nvSpPr>
          <p:cNvPr id="3" name="Content Placeholder 2"/>
          <p:cNvSpPr>
            <a:spLocks noGrp="1"/>
          </p:cNvSpPr>
          <p:nvPr>
            <p:ph idx="1"/>
          </p:nvPr>
        </p:nvSpPr>
        <p:spPr/>
        <p:txBody>
          <a:bodyPr/>
          <a:lstStyle/>
          <a:p>
            <a:pPr>
              <a:defRPr sz="1600"/>
            </a:pPr>
            <a:r>
              <a:t>Lorsque des monteurs ascensionnent les supports de lignes aériennes maintenues sous tension, les prescriptions d'ENVIRONNEMENT à appliquer sont celles de la zone 1 tant qu'ils ne franchissent pas la DISTANCE MINIMALE D'APPROCHE (DMA) ou la DLVR en BT, ou la DISTANCE LIMITE DE VOISINAGE RENFORCE (DLVR) en HT.</a:t>
            </a:r>
          </a:p>
          <a:p>
            <a:pPr>
              <a:defRPr sz="1600"/>
            </a:pPr>
            <a:r>
              <a:t>Pour éviter le franchissement de la DLVR, des précautions doivent être prises en materialisant les limites des zones, par exemple par BALISAGE.</a:t>
            </a:r>
          </a:p>
          <a:p>
            <a:pPr>
              <a:defRPr sz="1600"/>
            </a:pPr>
            <a:r>
              <a:t>S'ils franchissent cette limite :  · en basse tension, ils pénètrent dans la zone 4 et doivent respecter les prescriptions de cette zone ;  · en haute tension, ils pénètrent dans la zone 2 et doivent respecter les prescriptions de cette zone.</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9.6.2 Travaux d'ordre non électrique</a:t>
            </a:r>
          </a:p>
        </p:txBody>
      </p:sp>
      <p:sp>
        <p:nvSpPr>
          <p:cNvPr id="3" name="Content Placeholder 2"/>
          <p:cNvSpPr>
            <a:spLocks noGrp="1"/>
          </p:cNvSpPr>
          <p:nvPr>
            <p:ph idx="1"/>
          </p:nvPr>
        </p:nvSpPr>
        <p:spPr/>
        <p:txBody>
          <a:bodyPr/>
          <a:lstStyle/>
          <a:p>
            <a:pPr>
              <a:defRPr sz="1600"/>
            </a:pPr>
            <a:r>
              <a:t>En fonction des distances et des niveaux de tension, les prescriptions à respecter sont celles des zones 1 et 2.</a:t>
            </a:r>
          </a:p>
          <a:p>
            <a:pPr>
              <a:defRPr sz="1600"/>
            </a:pPr>
            <a:r>
              <a:t>Dans les zones 3 et 4, les TRAVAUX d'ORDRE NON ELECTRIQUE sont interdits.</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 Canalisations isolées</a:t>
            </a:r>
          </a:p>
        </p:txBody>
      </p:sp>
      <p:sp>
        <p:nvSpPr>
          <p:cNvPr id="3" name="Content Placeholder 2"/>
          <p:cNvSpPr>
            <a:spLocks noGrp="1"/>
          </p:cNvSpPr>
          <p:nvPr>
            <p:ph idx="1"/>
          </p:nvPr>
        </p:nvSpPr>
        <p:spPr/>
        <p:txBody>
          <a:bodyPr/>
          <a:lstStyle/>
          <a:p>
            <a:pPr>
              <a:defRPr sz="1600"/>
            </a:pPr>
            <a:r>
              <a:t>Les dispositions de ce paragraphe concernent les OPERATIONS d'ORDRE ELECTRIQUE et d'ORDRE NON ELECTRIQUE dans l'ENVIRONNEMENT des CANALISATIONS ISOLEES des OUVRAGES ou des INSTALLATIONS fixes, qu'elles soient effectuées à une distance inférieure ou supérieure à la DISTANCE LIMITE D'APPROCHE PRUDENTE (DLAP).</a:t>
            </a:r>
          </a:p>
          <a:p>
            <a:pPr>
              <a:defRPr sz="1600"/>
            </a:pPr>
            <a:r>
              <a:t>Pour les EXECUTANTS, le travail dans l'ENVIRONNEMENT d'une CANALISATION ISOLEE n'est pas conditionné par la possession d'un titre d'HABILITATION, dans la mesure où les TRAVAUX envisagés ne nécessitent pas de déplacer ou de nettoyer la canalisation.</a:t>
            </a:r>
          </a:p>
          <a:p>
            <a:pPr>
              <a:defRPr sz="1600"/>
            </a:pPr>
            <a:r>
              <a:t>Pour les CHARGES DE CHANTIER, le niveau de compétence requis en prévention du risque électrique dépend de l'OPERATION qui leur est confiée ; il est précise dans les paragraphes qui suivent.</a:t>
            </a:r>
          </a:p>
          <a:p>
            <a:pPr>
              <a:defRPr sz="1600"/>
            </a:pPr>
            <a:r>
              <a:t>NF C 18-510  -  112  -  UTE.</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9.7.1 Analyse du risque électrique</a:t>
            </a:r>
          </a:p>
        </p:txBody>
      </p:sp>
      <p:sp>
        <p:nvSpPr>
          <p:cNvPr id="3" name="Content Placeholder 2"/>
          <p:cNvSpPr>
            <a:spLocks noGrp="1"/>
          </p:cNvSpPr>
          <p:nvPr>
            <p:ph idx="1"/>
          </p:nvPr>
        </p:nvSpPr>
        <p:spPr/>
        <p:txBody>
          <a:bodyPr/>
          <a:lstStyle/>
          <a:p>
            <a:pPr>
              <a:defRPr sz="1600"/>
            </a:pPr>
            <a:r>
              <a:t>Lorsque des TRAVAUX sont envisagés, le DONNEUR D'ORDRE doit se poser la question de la présence ou non, dans l'espace du chantier, de CANALISATIONS ISOLEES visibles ou invisibles.</a:t>
            </a:r>
          </a:p>
          <a:p>
            <a:pPr>
              <a:defRPr sz="1600"/>
            </a:pPr>
            <a:r>
              <a:t>Il doit s'adresser aux exploitants, propriétaires ou utilisateurs des OUVRAGES ou des INSTALLATIONS qui delivrent toutes les informations nécessaires à l'exécution des travaux en sécurité, et, le cas échéant, il doit se rendre sur place.</a:t>
            </a:r>
          </a:p>
          <a:p>
            <a:pPr>
              <a:defRPr sz="1600"/>
            </a:pPr>
            <a:r>
              <a:t>Le résultat de cette enquête est transmis aux intervenants.</a:t>
            </a:r>
          </a:p>
          <a:p>
            <a:pPr>
              <a:defRPr sz="1600"/>
            </a:pPr>
            <a:r>
              <a:t>L'ensemble de cette démarche est réalisé dans le respect des réglementations en vigueur.</a:t>
            </a:r>
          </a:p>
          <a:p>
            <a:pPr>
              <a:defRPr sz="1600"/>
            </a:pPr>
            <a:r>
              <a:t>Si, à l'issue de ce processus, il s'avère, en tenant compte des marges d'incertitude, que la ZONE DE TRAVAIL est à une distance supérieure à la DLAP (voir 6.</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 Canalisations isolées visibles</a:t>
            </a:r>
          </a:p>
        </p:txBody>
      </p:sp>
      <p:sp>
        <p:nvSpPr>
          <p:cNvPr id="3" name="Content Placeholder 2"/>
          <p:cNvSpPr>
            <a:spLocks noGrp="1"/>
          </p:cNvSpPr>
          <p:nvPr>
            <p:ph idx="1"/>
          </p:nvPr>
        </p:nvSpPr>
        <p:spPr/>
        <p:txBody>
          <a:bodyPr/>
          <a:lstStyle/>
          <a:p>
            <a:pPr>
              <a:defRPr sz="1600"/>
            </a:pPr>
            <a:r>
              <a:t>Les CANALISATIONS ISOLEES visibles et l'organisation de leur ENVIRONNEMENT sont définies au 6.</a:t>
            </a:r>
          </a:p>
          <a:p>
            <a:pPr>
              <a:defRPr sz="1600"/>
            </a:pPr>
            <a:r>
              <a:t>6.</a:t>
            </a:r>
          </a:p>
          <a:p>
            <a:pPr>
              <a:defRPr sz="1600"/>
            </a:pPr>
            <a:r>
              <a:t>1.</a:t>
            </a:r>
          </a:p>
          <a:p>
            <a:pPr>
              <a:defRPr sz="1600"/>
            </a:pPr>
            <a:r>
              <a:t>Leur principal facteur de risque est la dégradation de leur isolation.</a:t>
            </a:r>
          </a:p>
          <a:p>
            <a:pPr>
              <a:defRPr sz="1600"/>
            </a:pPr>
            <a:r>
              <a:t>Pour cette raison, en toute circonstance, une activité dans la ZONE D'APPROCHE PRUDENTE (DLAP = 50 cm) d'un conducteur isolé visible doit :  · donner lieu à un examen général de l'état de ce conducteur ;  · éviter tout contact inutile avec lui.</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9.7.2.1 Activités sans risque pour les canalisations ou sans necessite de contact</a:t>
            </a:r>
          </a:p>
        </p:txBody>
      </p:sp>
      <p:sp>
        <p:nvSpPr>
          <p:cNvPr id="3" name="Content Placeholder 2"/>
          <p:cNvSpPr>
            <a:spLocks noGrp="1"/>
          </p:cNvSpPr>
          <p:nvPr>
            <p:ph idx="1"/>
          </p:nvPr>
        </p:nvSpPr>
        <p:spPr/>
        <p:txBody>
          <a:bodyPr/>
          <a:lstStyle/>
          <a:p>
            <a:pPr>
              <a:defRPr sz="1600"/>
            </a:pPr>
            <a:r>
              <a:t>avec elles  Les activités sans risque pour la canalisation sont celles pour lesquelles l'analyse des risques indique l'absence de risque électrique du fait des moyens et des modes opératoires mis en œuvre.</a:t>
            </a:r>
          </a:p>
          <a:p>
            <a:pPr>
              <a:defRPr sz="1600"/>
            </a:pPr>
            <a:r>
              <a:t>UTE  -  113  -  NF C 18-510  Dans cette situation :  · les canalisations peuvent rester sous tension ;  · la pénétration dans la ZONE D'APPROCHE PRUDENTE doit être évitée ;  · si cette dernière condition ne peut être respectée, les OPERATEURS doivent être avertis des mesures de prévention applicables dans la ZONE D'APPROCHE PRUDENTE (9.</a:t>
            </a:r>
          </a:p>
          <a:p>
            <a:pPr>
              <a:defRPr sz="1600"/>
            </a:pPr>
            <a:r>
              <a:t>7.</a:t>
            </a:r>
          </a:p>
          <a:p>
            <a:pPr>
              <a:defRPr sz="1600"/>
            </a:pPr>
            <a:r>
              <a:t>2.</a:t>
            </a:r>
          </a:p>
          <a:p>
            <a:pPr>
              <a:defRPr sz="1600"/>
            </a:pPr>
            <a:r>
              <a:t>3).</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9.7.2.2 Activités sans nécessité de contact, mais susceptibles de porter atteinte à</a:t>
            </a:r>
          </a:p>
        </p:txBody>
      </p:sp>
      <p:sp>
        <p:nvSpPr>
          <p:cNvPr id="3" name="Content Placeholder 2"/>
          <p:cNvSpPr>
            <a:spLocks noGrp="1"/>
          </p:cNvSpPr>
          <p:nvPr>
            <p:ph idx="1"/>
          </p:nvPr>
        </p:nvSpPr>
        <p:spPr/>
        <p:txBody>
          <a:bodyPr/>
          <a:lstStyle/>
          <a:p>
            <a:pPr>
              <a:defRPr sz="1600"/>
            </a:pPr>
            <a:r>
              <a:t>l'intégrité des canalisations  Ces activités sont celles pour lesquelles l'analyse de la situation indique que les risques d'endommagement de la canalisation existent.</a:t>
            </a:r>
          </a:p>
          <a:p>
            <a:pPr>
              <a:defRPr sz="1600"/>
            </a:pPr>
            <a:r>
              <a:t>Elles comprennent, notamment, les activités engageant la ZONE D'APPROCHE PRUDENTE avec des outils ou matériels à main ou mécaniques, ou avec des projections, etc.</a:t>
            </a:r>
          </a:p>
          <a:p>
            <a:pPr>
              <a:defRPr sz="1600"/>
            </a:pPr>
            <a:r>
              <a:t>Dans ces situations :  · les mesures à prendre, notamment les PROCEDURES D'ACCES, DE SUIVI ET DE CONTROLE, doivent être établies en concertation avec l'exploitant de l'OUVRAGE ou de l'INSTALLATION ;  · priorité doit être accordée aux modes opératoires les plus adaptés pour la ou les canalisations concernées et à la CONSIGNATION OU MISE HORS TENSION de celles-ci ;  · à défaut de CONSIGNATION ou de MISE HORS TENSION, les mesures de mise HORS DE PORTEE avec, le cas échéant, une mesure de SURVEILLANCE doivent être définies.</a:t>
            </a:r>
          </a:p>
          <a:p>
            <a:pPr>
              <a:defRPr sz="1600"/>
            </a:pPr>
            <a:r>
              <a:t>Dans ce cas, ces opérations doivent être exécutées sous la conduite d'un CHARGE DE CHANTIER titulaire d'une HABILITATION symboles BO ou HO compatible avec les conditions de l'ENVIRONNEMENT électrique.</a:t>
            </a:r>
          </a:p>
          <a:p>
            <a:pPr>
              <a:defRPr sz="1600"/>
            </a:pPr>
            <a:r>
              <a:t>Si la tension électrique de la canalisation est supprimée par CONSIGNATION, l'exécution de l'OPERATION est conditionnée par la délivrance au CHARGE DE CHANTIER d'une AUTORISATION DE TRAVAIL ou d'un CERTIFICAT POUR TIERS après CONSIGNATION, selon des dispositions du 7.</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9.7.2.3 Activités sans risque pour la canalisation, mais nécessitant d'entrer en</a:t>
            </a:r>
          </a:p>
        </p:txBody>
      </p:sp>
      <p:sp>
        <p:nvSpPr>
          <p:cNvPr id="3" name="Content Placeholder 2"/>
          <p:cNvSpPr>
            <a:spLocks noGrp="1"/>
          </p:cNvSpPr>
          <p:nvPr>
            <p:ph idx="1"/>
          </p:nvPr>
        </p:nvSpPr>
        <p:spPr/>
        <p:txBody>
          <a:bodyPr/>
          <a:lstStyle/>
          <a:p>
            <a:pPr>
              <a:defRPr sz="1600"/>
            </a:pPr>
            <a:r>
              <a:t>contact avec elle sans la déplacer  Ces activités sont celles pour lesquelles l'analyse de la situation indique :  · qu'il n'est techniquement pas possible de travailler sans entrer en contact avec la CANALISATION ISOLEE ;.</a:t>
            </a:r>
          </a:p>
          <a:p>
            <a:pPr>
              <a:defRPr sz="1600"/>
            </a:pPr>
            <a:r>
              <a:t>que le contact pourra s'effectuer sans déplacement de la canalisation, et sans contraintes pour ses extrémités et accessoires ;  · que les risques d'endommagement de l'isolation de la canalisation sont exclus.</a:t>
            </a:r>
          </a:p>
          <a:p>
            <a:pPr>
              <a:defRPr sz="1600"/>
            </a:pPr>
            <a:r>
              <a:t>Ces activités doivent être exécutées sous la conduite d'un CHARGE DE CHANTIER titulaire d'une HABILITATION symboles BO ou HO compatible avec les conditions de l'ENVIRONNEMENT électrique.</a:t>
            </a:r>
          </a:p>
          <a:p>
            <a:pPr>
              <a:defRPr sz="1600"/>
            </a:pPr>
            <a:r>
              <a:t>Pour réaliser ces activités :  · la CONSIGNATION de la canalisation doit être envisagée en priorité ;.</a:t>
            </a:r>
          </a:p>
          <a:p>
            <a:pPr>
              <a:defRPr sz="1600"/>
            </a:pPr>
            <a:r>
              <a:t>si la CONSIGNATION n'est pas possible, la canalisation doit être MISE HORS TENSION ou, en dernier lieu, maintenue sous tension ;  · dans tous les cas, l'état général de la canalisation doit être examiné en vue de prendre toute mesure de prévention complémentaire appropriée.</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9.7.2.4.1 Activités nécessitant d'écarter ou de deformer un conducteur BT isole</a:t>
            </a:r>
          </a:p>
        </p:txBody>
      </p:sp>
      <p:sp>
        <p:nvSpPr>
          <p:cNvPr id="3" name="Content Placeholder 2"/>
          <p:cNvSpPr>
            <a:spLocks noGrp="1"/>
          </p:cNvSpPr>
          <p:nvPr>
            <p:ph idx="1"/>
          </p:nvPr>
        </p:nvSpPr>
        <p:spPr/>
        <p:txBody>
          <a:bodyPr/>
          <a:lstStyle/>
          <a:p>
            <a:pPr>
              <a:defRPr sz="1600"/>
            </a:pPr>
            <a:r>
              <a:t>souple  Les TRAVAUX effectués dans l'ENVIRONNEMENT de canalisations, de câbles ou de fils isolés du domaine BT peuvent nécessiter d'avoir à écarter ou déformer ces conducteurs.</a:t>
            </a:r>
          </a:p>
          <a:p>
            <a:pPr>
              <a:defRPr sz="1600"/>
            </a:pPr>
            <a:r>
              <a:t>Cette situation est caractéristique de TRAVAUX d'ORDRE ELECTRIQUE menés sur une partie d'un OUVRAGE ou d'une INSTALLATION occupant un espace commun avec d'autres parties d'un OUVRAGE ou d'une INSTALLATION, tels que la recherche d'un câble dans un faisceau de câbles ou l'exécution d'une INTERVENTION BT dans une armoire électrique.</a:t>
            </a:r>
          </a:p>
          <a:p>
            <a:pPr>
              <a:defRPr sz="1600"/>
            </a:pPr>
            <a:r>
              <a:t>Les risques résultent d'un défaut d'intégrité de l'isolation des conducteurs, d'une déconnexion fortuite d'une extrémité ou d'un endommagement d'une isolation.</a:t>
            </a:r>
          </a:p>
          <a:p>
            <a:pPr>
              <a:defRPr sz="1600"/>
            </a:pPr>
            <a:r>
              <a:t>Pour ces TRAVAUX :  · l'usage d'outils susceptibles d'endommager l'isolation est prohibé ;  · la suppression de la tension des conducteurs doit être envisagée en priorité ;  · à défaut, l'opération doit être réalisée avec des EPI (notamment, écran facial et gants) adaptés à la tension la plus élevée presente et sans faire usage d'outils conducteurs.</a:t>
            </a:r>
          </a:p>
          <a:p>
            <a:pPr>
              <a:defRPr sz="1600"/>
            </a:pPr>
            <a:r>
              <a:t>Ces activités relèvent d'OPERATIONS d'ORDRE ELECTRIQUE.</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9.7.2.4.2 Déplacement d'une canalisation électrique isolée</a:t>
            </a:r>
          </a:p>
        </p:txBody>
      </p:sp>
      <p:sp>
        <p:nvSpPr>
          <p:cNvPr id="3" name="Content Placeholder 2"/>
          <p:cNvSpPr>
            <a:spLocks noGrp="1"/>
          </p:cNvSpPr>
          <p:nvPr>
            <p:ph idx="1"/>
          </p:nvPr>
        </p:nvSpPr>
        <p:spPr/>
        <p:txBody>
          <a:bodyPr/>
          <a:lstStyle/>
          <a:p>
            <a:pPr>
              <a:defRPr sz="1600"/>
            </a:pPr>
            <a:r>
              <a:t>Quelle que soit la tension électrique, le déplacement d'une CANALISATION ISOLEE consiste à en modifier le tracé sans modifier sa composition entre les deux extrémités maintenues à leur place.</a:t>
            </a:r>
          </a:p>
          <a:p>
            <a:pPr>
              <a:defRPr sz="1600"/>
            </a:pPr>
            <a:r>
              <a:t>C'est une OPERATION d'ORDRE ELECTRIQUE.</a:t>
            </a:r>
          </a:p>
          <a:p>
            <a:pPr>
              <a:defRPr sz="1600"/>
            </a:pPr>
            <a:r>
              <a:t>UTE  -  115  -  NF C 18-510.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9.7.2.4.2.1 Principes d'exécution</a:t>
            </a:r>
          </a:p>
        </p:txBody>
      </p:sp>
      <p:sp>
        <p:nvSpPr>
          <p:cNvPr id="3" name="Content Placeholder 2"/>
          <p:cNvSpPr>
            <a:spLocks noGrp="1"/>
          </p:cNvSpPr>
          <p:nvPr>
            <p:ph idx="1"/>
          </p:nvPr>
        </p:nvSpPr>
        <p:spPr/>
        <p:txBody>
          <a:bodyPr/>
          <a:lstStyle/>
          <a:p>
            <a:pPr>
              <a:defRPr sz="1600"/>
            </a:pPr>
            <a:r>
              <a:t>Après s'être assuré du bon état apparent de la canalisation, cette OPERATION doit être conduite en veillant :  · à ne pas exercer de traction mécanique sur les extrémités maintenues à leur place, ainsi que sur les connexions des accessoires inclus dans la partie déplacée ;  · à respecter les mesures de préservation durant toute l'OPERATION, notamment les contraintes d'effort et les rayons de courbure, fixées par le fabricant de la canalisation ;  · à ne pas endommager l'enveloppe de la canalisation lors des diverses tâches composant l'OPERATION.</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9.7.2.4.2.2 Modalités d'exécution</a:t>
            </a:r>
          </a:p>
        </p:txBody>
      </p:sp>
      <p:sp>
        <p:nvSpPr>
          <p:cNvPr id="3" name="Content Placeholder 2"/>
          <p:cNvSpPr>
            <a:spLocks noGrp="1"/>
          </p:cNvSpPr>
          <p:nvPr>
            <p:ph idx="1"/>
          </p:nvPr>
        </p:nvSpPr>
        <p:spPr/>
        <p:txBody>
          <a:bodyPr/>
          <a:lstStyle/>
          <a:p>
            <a:pPr>
              <a:defRPr sz="1600"/>
            </a:pPr>
            <a:r>
              <a:t>L'OPERATION doit faire l'objet d'une INSTRUCTION DE SECURITE qui prend en compte les prescriptions de l'exploitant de l'OUVRAGE ou de l'INSTALLATION, définit le mode opératoire, en précise les modalités d'exécution, notamment les PROCEDURES D'ACCES, DE SUIVI ET DE CONTROLE, et se conforme aux dispositions suivantes :  · la canalisation électrique est identifiée et repérée sous l'autorité de l'exploitant ;  · le déplacement doit être réalisé prioritairement, hors tension ;  · il peut néanmoins être réalisé sous tension, à condition de prévenir tout risque de choc électrique ou de court-circuit et, notamment, de n'exercer aucune contrainte sur une extrémité ou un accessoire ;.</a:t>
            </a:r>
          </a:p>
          <a:p>
            <a:pPr>
              <a:defRPr sz="1600"/>
            </a:pPr>
            <a:r>
              <a:t>dans ce dernier cas, donner lieu à la délivrance d'une AUTORISATION DE TRAVAIL indiquant l'état électrique de la canalisation ;  · à l'issue du déplacement, la remise sous tension doit être réalisée en veillant à éloigner les personnes de la canalisation déplacée après le contrôle de l'état de l'OUVRAGE ou de L'INSTALLATION.</a:t>
            </a:r>
          </a:p>
          <a:p>
            <a:pPr>
              <a:defRPr sz="1600"/>
            </a:pPr>
            <a:r>
              <a:t>L'OPERATION doit être exécutée sous la conduite d'un CHARGE D'INTERVENTION GENERALE OU d'un CHARGE DE TRAVAUX titulaires d'une HABILITATION symboles BR, B2 ou H2 compatible avec les conditions de l'ENVIRONNEMENT électrique.</a:t>
            </a:r>
          </a:p>
          <a:p>
            <a:pPr>
              <a:defRPr sz="1600"/>
            </a:pPr>
            <a:r>
              <a:t>Les EXECUTANTS doivent être titulaires d'une HABILITATION symboles B1 ou H1 compatible avec les conditions de l'ENVIRONNEMENT électrique.</a:t>
            </a:r>
          </a:p>
          <a:p>
            <a:pPr>
              <a:defRPr sz="1600"/>
            </a:pPr>
            <a:r>
              <a:t>Tous les participants doivent être formes au mode opératoire defini.</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9.7.2.4.3 Soutènement d'une canalisation électrique isolée</a:t>
            </a:r>
          </a:p>
        </p:txBody>
      </p:sp>
      <p:sp>
        <p:nvSpPr>
          <p:cNvPr id="3" name="Content Placeholder 2"/>
          <p:cNvSpPr>
            <a:spLocks noGrp="1"/>
          </p:cNvSpPr>
          <p:nvPr>
            <p:ph idx="1"/>
          </p:nvPr>
        </p:nvSpPr>
        <p:spPr/>
        <p:txBody>
          <a:bodyPr/>
          <a:lstStyle/>
          <a:p>
            <a:pPr>
              <a:defRPr sz="1600"/>
            </a:pPr>
            <a:r>
              <a:t>Le soutènement d'une canalisation s'applique à une canalisation enterrée qui vient d'être mise à l'air libre.</a:t>
            </a:r>
          </a:p>
          <a:p>
            <a:pPr>
              <a:defRPr sz="1600"/>
            </a:pPr>
            <a:r>
              <a:t>Il vise à contenir dans les limites prescrites par son fabricant, les contraintes mécaniques auxquelles est soumise la canalisation du fait de son poids durant son séjour à l'air libre.</a:t>
            </a:r>
          </a:p>
          <a:p>
            <a:pPr>
              <a:defRPr sz="1600"/>
            </a:pPr>
            <a:r>
              <a:t>Son exécution est soumise aux principes énoncés pour les déplacements au 9.</a:t>
            </a:r>
          </a:p>
          <a:p>
            <a:pPr>
              <a:defRPr sz="1600"/>
            </a:pPr>
            <a:r>
              <a:t>7.</a:t>
            </a:r>
          </a:p>
          <a:p>
            <a:pPr>
              <a:defRPr sz="1600"/>
            </a:pPr>
            <a:r>
              <a:t>2.</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9.7.2.4.4 Nettoyage d'une canalisation électrique isolée</a:t>
            </a:r>
          </a:p>
        </p:txBody>
      </p:sp>
      <p:sp>
        <p:nvSpPr>
          <p:cNvPr id="3" name="Content Placeholder 2"/>
          <p:cNvSpPr>
            <a:spLocks noGrp="1"/>
          </p:cNvSpPr>
          <p:nvPr>
            <p:ph idx="1"/>
          </p:nvPr>
        </p:nvSpPr>
        <p:spPr/>
        <p:txBody>
          <a:bodyPr/>
          <a:lstStyle/>
          <a:p>
            <a:pPr>
              <a:defRPr sz="1600"/>
            </a:pPr>
            <a:r>
              <a:t>Le nettoyage d'une CANALISATION ISOLEE en vue d'une OPERATION d'ORDRE ELECTRIQUE ultérieure sur cette canalisation est une OPERATION d'ORDRE ELECTRIQUE.</a:t>
            </a:r>
          </a:p>
          <a:p>
            <a:pPr>
              <a:defRPr sz="1600"/>
            </a:pPr>
            <a:r>
              <a:t>Son mode opératoire doit viser :  · à préserver l'intégrité de l'isolation ;  · à prévenir tout risque de choc électrique et de court-circuit.</a:t>
            </a:r>
          </a:p>
          <a:p>
            <a:pPr>
              <a:defRPr sz="1600"/>
            </a:pPr>
            <a:r>
              <a:t>Son exécution doit être couverte par un document d'accès approprié (AUTORISATION D'ACCES, ATTESTATION DE CONSIGNATION, etc.</a:t>
            </a:r>
          </a:p>
          <a:p>
            <a:pPr>
              <a:defRPr sz="1600"/>
            </a:pPr>
            <a:r>
              <a:t>) et confiée à des personnes formées au mode opératoire retenu et titulaires, a minima, d'une HABILITATION symboles B1 ou H1 compatible avec les conditions de l'ENVIRONNEMENT électrique.</a:t>
            </a:r>
          </a:p>
          <a:p>
            <a:pPr>
              <a:defRPr sz="1600"/>
            </a:pPr>
            <a:r>
              <a:t>Tout nettoyage ayant une autre finalité doit être realise hors tension.</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9.7.2.5 Mise en présence fortuite d'une partie active accessible</a:t>
            </a:r>
          </a:p>
        </p:txBody>
      </p:sp>
      <p:sp>
        <p:nvSpPr>
          <p:cNvPr id="3" name="Content Placeholder 2"/>
          <p:cNvSpPr>
            <a:spLocks noGrp="1"/>
          </p:cNvSpPr>
          <p:nvPr>
            <p:ph idx="1"/>
          </p:nvPr>
        </p:nvSpPr>
        <p:spPr/>
        <p:txBody>
          <a:bodyPr/>
          <a:lstStyle/>
          <a:p>
            <a:pPr>
              <a:defRPr sz="1600"/>
            </a:pPr>
            <a:r>
              <a:t>La mise en présence fortuite d'une partie active accessible d'une canalisation peut résulter, notamment d'une dégradation (coupure, usure, arrachement) de l'enveloppe d'un conducteur, d'un raccordement d'une extrémité laissant apparaître une PARTIE ACTIVE nue, ou dune extrémité de câble laissée à l'abandon sans protection.</a:t>
            </a:r>
          </a:p>
          <a:p>
            <a:pPr>
              <a:defRPr sz="1600"/>
            </a:pPr>
            <a:r>
              <a:t>Dans cette situation, il faut :  · considérer la canalisation, le câble ou le conducteur comme étant sous tension ;  · interrompre l'OPERATION en cours  ;  · prévenir l'exploitant et, le cas échéant, son EMPLOYEUR.</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9.7.3 Canalisations invisibles enterrées</a:t>
            </a:r>
          </a:p>
        </p:txBody>
      </p:sp>
      <p:sp>
        <p:nvSpPr>
          <p:cNvPr id="3" name="Content Placeholder 2"/>
          <p:cNvSpPr>
            <a:spLocks noGrp="1"/>
          </p:cNvSpPr>
          <p:nvPr>
            <p:ph idx="1"/>
          </p:nvPr>
        </p:nvSpPr>
        <p:spPr/>
        <p:txBody>
          <a:bodyPr/>
          <a:lstStyle/>
          <a:p>
            <a:pPr>
              <a:defRPr sz="1600"/>
            </a:pPr>
            <a:r>
              <a:t>Les canalisations invisibles enterrées sont définies avec leurs ZONES D'ENVIRONNEMENT au 6.</a:t>
            </a:r>
          </a:p>
          <a:p>
            <a:pPr>
              <a:defRPr sz="1600"/>
            </a:pPr>
            <a:r>
              <a:t>6.</a:t>
            </a:r>
          </a:p>
          <a:p>
            <a:pPr>
              <a:defRPr sz="1600"/>
            </a:pPr>
            <a:r>
              <a:t>2.</a:t>
            </a:r>
          </a:p>
          <a:p>
            <a:pPr>
              <a:defRPr sz="1600"/>
            </a:pPr>
            <a:r>
              <a:t>1.</a:t>
            </a:r>
          </a:p>
          <a:p>
            <a:pPr>
              <a:defRPr sz="1600"/>
            </a:pPr>
            <a:r>
              <a:t>Leur principal facteur de risque est leur endommagement lors de TRAVAUX.</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9.7.3.1 Principes d'exécution</a:t>
            </a:r>
          </a:p>
        </p:txBody>
      </p:sp>
      <p:sp>
        <p:nvSpPr>
          <p:cNvPr id="3" name="Content Placeholder 2"/>
          <p:cNvSpPr>
            <a:spLocks noGrp="1"/>
          </p:cNvSpPr>
          <p:nvPr>
            <p:ph idx="1"/>
          </p:nvPr>
        </p:nvSpPr>
        <p:spPr/>
        <p:txBody>
          <a:bodyPr/>
          <a:lstStyle/>
          <a:p>
            <a:pPr>
              <a:defRPr sz="1600"/>
            </a:pPr>
            <a:r>
              <a:t>Les mesures de prévention doivent viser à :  · prévenir le risque d'endommagement d'une canalisation ;  · préserver l'intégrité de la canalisation après sa mise à l'air libre ;  · protéger les personnes du risque électrique ;  · savoir réagir en cas de dommage effectif.</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9.7.3.1.1 Prévenir le risque d'endommagement d'une canalisation</a:t>
            </a:r>
          </a:p>
        </p:txBody>
      </p:sp>
      <p:sp>
        <p:nvSpPr>
          <p:cNvPr id="3" name="Content Placeholder 2"/>
          <p:cNvSpPr>
            <a:spLocks noGrp="1"/>
          </p:cNvSpPr>
          <p:nvPr>
            <p:ph idx="1"/>
          </p:nvPr>
        </p:nvSpPr>
        <p:spPr/>
        <p:txBody>
          <a:bodyPr/>
          <a:lstStyle/>
          <a:p>
            <a:pPr>
              <a:defRPr sz="1600"/>
            </a:pPr>
            <a:r>
              <a:t>La prévention du risque d'endommagement d'une canalisation enterrée repose notamment :  · sur une localisation, aussi précise que possible de la canalisation et sur la connaissance de la marge d'incertitude de cette localisation ;  · sur la matérialisation au sol de la zone soumise au risque d'endommagement lors du terrassement ;  · sur le choix d'un mode opératoire approprié aux conditions d'exécution et sur une mise en œuvre de ce mode opératoire qui respecte l'intégrité de la canalisation.</a:t>
            </a:r>
          </a:p>
          <a:p>
            <a:pPr>
              <a:defRPr sz="1600"/>
            </a:pPr>
            <a:r>
              <a:t>La localisation de la canalisation doit être menée en liaison avec l'exploitant, en se conformant aux procédures d'information et de coordination réglementaires applicables aux travaux dans l'ENVIRONNEMENT des OUVRAGES.</a:t>
            </a:r>
          </a:p>
          <a:p>
            <a:pPr>
              <a:defRPr sz="1600"/>
            </a:pPr>
            <a:r>
              <a:t>Cette démarche permet de recueillir les éléments nécessaires à la détermination du volume contenant, de manière certaine, la canalisation, et d'en déduire sa projection au sol.</a:t>
            </a:r>
          </a:p>
          <a:p>
            <a:pPr>
              <a:defRPr sz="1600"/>
            </a:pPr>
            <a:r>
              <a:t>Ces éléments connus et entretenus par l'exploitant comprennent, notamment, la localisation théorique de la canalisation avec sa marge d'incertitude, son trace, la configuration et les dimensions de sa section.</a:t>
            </a:r>
          </a:p>
          <a:p>
            <a:pPr>
              <a:defRPr sz="1600"/>
            </a:pPr>
            <a:r>
              <a:t>La projection au sol du volume contenant, de manière certaine, la canalisation doit être matérialisée (marquage, piquetage, etc.</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9.7.3.1.2 Préserver l'intégrité de la canalisation après sa mise à l'air libre</a:t>
            </a:r>
          </a:p>
        </p:txBody>
      </p:sp>
      <p:sp>
        <p:nvSpPr>
          <p:cNvPr id="3" name="Content Placeholder 2"/>
          <p:cNvSpPr>
            <a:spLocks noGrp="1"/>
          </p:cNvSpPr>
          <p:nvPr>
            <p:ph idx="1"/>
          </p:nvPr>
        </p:nvSpPr>
        <p:spPr/>
        <p:txBody>
          <a:bodyPr/>
          <a:lstStyle/>
          <a:p>
            <a:pPr>
              <a:defRPr sz="1600"/>
            </a:pPr>
            <a:r>
              <a:t>Après sa mise a l'air libre, la canalisation doit être considérée comme une CANALISATION ISOLEE visible, soumise, a ce titre, aux prescriptions du 9.</a:t>
            </a:r>
          </a:p>
          <a:p>
            <a:pPr>
              <a:defRPr sz="1600"/>
            </a:pPr>
            <a:r>
              <a:t>7.</a:t>
            </a:r>
          </a:p>
          <a:p>
            <a:pPr>
              <a:defRPr sz="1600"/>
            </a:pPr>
            <a:r>
              <a:t>2.</a:t>
            </a:r>
          </a:p>
          <a:p>
            <a:pPr>
              <a:defRPr sz="1600"/>
            </a:pPr>
            <a:r>
              <a:t>En outre, des dispositions doivent être prises pour préserver son intégrité jusqu'à la fin des TRAVAUX.</a:t>
            </a:r>
          </a:p>
          <a:p>
            <a:pPr>
              <a:defRPr sz="1600"/>
            </a:pPr>
            <a:r>
              <a:t>En particulier, il est interdit :  · de monter sur la canalisation et ses accessoires ;  · d'arroser la canalisation et ses accessoires ;  · de les déplacer sans instructions (voir 9.</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9.7.3.1.3 Protéger les personnes</a:t>
            </a:r>
          </a:p>
        </p:txBody>
      </p:sp>
      <p:sp>
        <p:nvSpPr>
          <p:cNvPr id="3" name="Content Placeholder 2"/>
          <p:cNvSpPr>
            <a:spLocks noGrp="1"/>
          </p:cNvSpPr>
          <p:nvPr>
            <p:ph idx="1"/>
          </p:nvPr>
        </p:nvSpPr>
        <p:spPr/>
        <p:txBody>
          <a:bodyPr/>
          <a:lstStyle/>
          <a:p>
            <a:pPr>
              <a:defRPr sz="1600"/>
            </a:pPr>
            <a:r>
              <a:t>Tout terrassement susceptible d'engager en projection horizontale une zone située à moins de 1,5 mètre d'une CANALISATION ISOLEE enterrée doit faire l'objet, entre l'entreprise en charge des TRAVAUX et l'exploitant, d'un échange écrit dans les formes réglementaires visant à éliminer ou, à défaut, réduire le risque électrique presente par la canalisation.</a:t>
            </a:r>
          </a:p>
          <a:p>
            <a:pPr>
              <a:defRPr sz="1600"/>
            </a:pPr>
            <a:r>
              <a:t>Quand l'exploitant estime qu'il n'est pas possible de mettre hors tension la canalisation, il le précise par écrit et fait connaître au demandeur les recommandations propres à assurer la protection des personnes.</a:t>
            </a:r>
          </a:p>
          <a:p>
            <a:pPr>
              <a:defRPr sz="1600"/>
            </a:pPr>
            <a:r>
              <a:t>Dans ce cas, les travaux sont surveillés de façon permanente par une personne compétente, désignée à cet effet, et qui alerte les travailleurs dès qu'ils s'approchent, ou approchent les outils, matériels ou engins qu'ils utilisent, à moins de 1,5 mètre des canalisations.</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9.7.3.1.4 Savoir réagir en cas de dommage effectif</a:t>
            </a:r>
          </a:p>
        </p:txBody>
      </p:sp>
      <p:sp>
        <p:nvSpPr>
          <p:cNvPr id="3" name="Content Placeholder 2"/>
          <p:cNvSpPr>
            <a:spLocks noGrp="1"/>
          </p:cNvSpPr>
          <p:nvPr>
            <p:ph idx="1"/>
          </p:nvPr>
        </p:nvSpPr>
        <p:spPr/>
        <p:txBody>
          <a:bodyPr/>
          <a:lstStyle/>
          <a:p>
            <a:pPr>
              <a:defRPr sz="1600"/>
            </a:pPr>
            <a:r>
              <a:t>Tout endommagement de la canalisation doit être signalé à l'exploitant de réseau.</a:t>
            </a:r>
          </a:p>
          <a:p>
            <a:pPr>
              <a:defRPr sz="1600"/>
            </a:pPr>
            <a:r>
              <a:t>En cas d'accident d'origine électrique, à la suite de la mise à nue de la PARTIE ACTIVE de la canalisation, les mesures de prévention à adopter sont précisées au 13.</a:t>
            </a:r>
          </a:p>
          <a:p>
            <a:pPr>
              <a:defRPr sz="1600"/>
            </a:pPr>
            <a:r>
              <a:t>3.</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9.7.3.2 Modalités d'exécution</a:t>
            </a:r>
          </a:p>
        </p:txBody>
      </p:sp>
      <p:sp>
        <p:nvSpPr>
          <p:cNvPr id="3" name="Content Placeholder 2"/>
          <p:cNvSpPr>
            <a:spLocks noGrp="1"/>
          </p:cNvSpPr>
          <p:nvPr>
            <p:ph idx="1"/>
          </p:nvPr>
        </p:nvSpPr>
        <p:spPr/>
        <p:txBody>
          <a:bodyPr/>
          <a:lstStyle/>
          <a:p>
            <a:pPr>
              <a:defRPr sz="1600"/>
            </a:pPr>
            <a:r>
              <a:t>Dans ce qui suit, n'est pris en compte que le cas de terrassements menés dans le cadre d'une OPERATION d'ORDRE NON ELECTRIQUE visant, au plus à mettre a jour les canalisations.</a:t>
            </a:r>
          </a:p>
          <a:p>
            <a:pPr>
              <a:defRPr sz="1600"/>
            </a:pPr>
            <a:r>
              <a:t>L'organisation du chantier pour la prévention du risque électrique dépend de l'état électrique de la canalisation (hors ou sous tension).</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9.7.3.2.1 Canalisations électriques hors tension</a:t>
            </a:r>
          </a:p>
        </p:txBody>
      </p:sp>
      <p:sp>
        <p:nvSpPr>
          <p:cNvPr id="3" name="Content Placeholder 2"/>
          <p:cNvSpPr>
            <a:spLocks noGrp="1"/>
          </p:cNvSpPr>
          <p:nvPr>
            <p:ph idx="1"/>
          </p:nvPr>
        </p:nvSpPr>
        <p:spPr/>
        <p:txBody>
          <a:bodyPr/>
          <a:lstStyle/>
          <a:p>
            <a:pPr>
              <a:defRPr sz="1600"/>
            </a:pPr>
            <a:r>
              <a:t>Dans le cas de canalisations électriques hors tension, l'exécution du terrassement est conditionnée à la délivrance, par les exploitants concernés, d'une AUTORISATION DE TRAVAIL OU d'un CERTIFICAT POUR TIERS après CONSIGNATION OU MISE HORS TENSION, en fonction des conditions précisées au 7.</a:t>
            </a:r>
          </a:p>
          <a:p>
            <a:pPr>
              <a:defRPr sz="1600"/>
            </a:pPr>
            <a:r>
              <a:t>3.</a:t>
            </a:r>
          </a:p>
          <a:p>
            <a:pPr>
              <a:defRPr sz="1600"/>
            </a:pPr>
            <a:r>
              <a:t>2.</a:t>
            </a:r>
          </a:p>
          <a:p>
            <a:pPr>
              <a:defRPr sz="1600"/>
            </a:pPr>
            <a:r>
              <a:t>1.</a:t>
            </a:r>
          </a:p>
          <a:p>
            <a:pPr>
              <a:defRPr sz="1600"/>
            </a:pPr>
            <a:r>
              <a:t>1.</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9.7.3.2.2 Canalisations électriques sous tension</a:t>
            </a:r>
          </a:p>
        </p:txBody>
      </p:sp>
      <p:sp>
        <p:nvSpPr>
          <p:cNvPr id="3" name="Content Placeholder 2"/>
          <p:cNvSpPr>
            <a:spLocks noGrp="1"/>
          </p:cNvSpPr>
          <p:nvPr>
            <p:ph idx="1"/>
          </p:nvPr>
        </p:nvSpPr>
        <p:spPr/>
        <p:txBody>
          <a:bodyPr/>
          <a:lstStyle/>
          <a:p>
            <a:pPr>
              <a:defRPr sz="1600"/>
            </a:pPr>
            <a:r>
              <a:t>Dans le cas de canalisations électriques sous tension, l'EMPLOYEUR en charge du terrassement établit, en liaison avec l'exploitant, une INSTRUCTION DE SECURITE précisant les mesures de prévention des risques de choc électrique et de court-circuit, ainsi que les PROCEDURES D'ACCES, DE SUIVI ET DE CONTROLE et il notifie cette instruction au CHARGE DE CHANTIER.</a:t>
            </a:r>
          </a:p>
          <a:p>
            <a:pPr>
              <a:defRPr sz="1600"/>
            </a:pPr>
            <a:r>
              <a:t>L'OPERATION d'ORDRE NON ELECTRIQUE doit être exécutée sous la conduite d'un CHARGE DE CHANTIER titulaire d'une HABILITATION symboles BO ou HO compatible avec les conditions de l'ENVIRONNEMENT électrique.</a:t>
            </a:r>
          </a:p>
          <a:p>
            <a:pPr>
              <a:defRPr sz="1600"/>
            </a:pPr>
            <a:r>
              <a:t>L'OPERATEUR, le conducteur d'engin, sont formés à la prévention du risque électrique.</a:t>
            </a:r>
          </a:p>
          <a:p>
            <a:pPr>
              <a:defRPr sz="1600"/>
            </a:pPr>
            <a:r>
              <a:t>La personne en charge de la surveillance permanente doit être titulaire d'une HABILITATION symboles BO ou HO compatible avec les conditions de l'ENVIRONNEMENT électrique.</a:t>
            </a:r>
          </a:p>
          <a:p>
            <a:pPr>
              <a:defRPr sz="1600"/>
            </a:pPr>
            <a:r>
              <a:t>UTE  -  119  -  NF C 18-510.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9.7.4 Canalisations invisibles noyées ou encastrées</a:t>
            </a:r>
          </a:p>
        </p:txBody>
      </p:sp>
      <p:sp>
        <p:nvSpPr>
          <p:cNvPr id="3" name="Content Placeholder 2"/>
          <p:cNvSpPr>
            <a:spLocks noGrp="1"/>
          </p:cNvSpPr>
          <p:nvPr>
            <p:ph idx="1"/>
          </p:nvPr>
        </p:nvSpPr>
        <p:spPr/>
        <p:txBody>
          <a:bodyPr/>
          <a:lstStyle/>
          <a:p>
            <a:pPr>
              <a:defRPr sz="1600"/>
            </a:pPr>
            <a:r>
              <a:t>Les canalisations invisibles noyees ou encastrees sont définies avec leurs ZONES D'ENVIRONNEMENT au 6.</a:t>
            </a:r>
          </a:p>
          <a:p>
            <a:pPr>
              <a:defRPr sz="1600"/>
            </a:pPr>
            <a:r>
              <a:t>6.</a:t>
            </a:r>
          </a:p>
          <a:p>
            <a:pPr>
              <a:defRPr sz="1600"/>
            </a:pPr>
            <a:r>
              <a:t>2.</a:t>
            </a:r>
          </a:p>
          <a:p>
            <a:pPr>
              <a:defRPr sz="1600"/>
            </a:pPr>
            <a:r>
              <a:t>2.</a:t>
            </a:r>
          </a:p>
          <a:p>
            <a:pPr>
              <a:defRPr sz="1600"/>
            </a:pPr>
            <a:r>
              <a:t>Leur principal facteur de risque est l'endommagement accidentel de leur isolation, lors de travaux de creusement, perçage ou découpage du matériau dans lequel elles sont insérées.</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9.7.4.1 Principes d'exécution</a:t>
            </a:r>
          </a:p>
        </p:txBody>
      </p:sp>
      <p:sp>
        <p:nvSpPr>
          <p:cNvPr id="3" name="Content Placeholder 2"/>
          <p:cNvSpPr>
            <a:spLocks noGrp="1"/>
          </p:cNvSpPr>
          <p:nvPr>
            <p:ph idx="1"/>
          </p:nvPr>
        </p:nvSpPr>
        <p:spPr/>
        <p:txBody>
          <a:bodyPr/>
          <a:lstStyle/>
          <a:p>
            <a:pPr>
              <a:defRPr sz="1600"/>
            </a:pPr>
            <a:r>
              <a:t>Tout perçage, creusement, découpage d'un matériau susceptible de contenir une canalisation électrique doit être précédé par un examen visant à s'assurer que la zone concernée est libre de toute CANALISATION NOYEE OU ENCASTREE.</a:t>
            </a:r>
          </a:p>
          <a:p>
            <a:pPr>
              <a:defRPr sz="1600"/>
            </a:pPr>
            <a:r>
              <a:t>On peut à cet effet :  · Déterminer, autour de l'emplacement concerné par les TRAVAUX, les tracés présumés des canalisations, en recueillant tous les renseignements disponibles sur l'OUVRAGE ou L'INSTALLATION, en analysant les lieux et en sondant les matériaux de la manière la plus appropriée, notamment à l'aide d'un dispositif de détection ;  · repérer à la surface du matériau la projection de ces tracés présumés.</a:t>
            </a:r>
          </a:p>
          <a:p>
            <a:pPr>
              <a:defRPr sz="1600"/>
            </a:pPr>
            <a:r>
              <a:t>S'il n'est pas possible de réaliser les TRAVAUX projetés à l'écart des tracés présumés :  · l'OUVRAGE ou l'INSTALLATION concernés doivent être mis hors tension ;  · les opérations de perçage, creusement, découpage, doivent être conduites en portant attention au comportement de l'outil et à la matière récupérée pour prévenir ou détecter un éventuel endommagement d'une canalisation ;  · lors de la remise sous tension, les dispositions doivent être prises pour éviter d'exposer les personnes aux conséquences d'éventuels courts-circuits ou contacts indirects ;  · à l'issue des TRAVAUX, la vérification de l'isolement de l'OUVRAGE ou de l'INSTALLATION doit être réalisée en cas de doute sur son intégrité.</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9.7.4.2 Modalités d'exécution</a:t>
            </a:r>
          </a:p>
        </p:txBody>
      </p:sp>
      <p:sp>
        <p:nvSpPr>
          <p:cNvPr id="3" name="Content Placeholder 2"/>
          <p:cNvSpPr>
            <a:spLocks noGrp="1"/>
          </p:cNvSpPr>
          <p:nvPr>
            <p:ph idx="1"/>
          </p:nvPr>
        </p:nvSpPr>
        <p:spPr/>
        <p:txBody>
          <a:bodyPr/>
          <a:lstStyle/>
          <a:p>
            <a:pPr>
              <a:defRPr sz="1600"/>
            </a:pPr>
            <a:r>
              <a:t>Les tâches de perçage, creusement, decoupage sont des OPERATIONS d'ORDRE NON ELECTRIQUE.</a:t>
            </a:r>
          </a:p>
          <a:p>
            <a:pPr>
              <a:defRPr sz="1600"/>
            </a:pPr>
            <a:r>
              <a:t>Il appartient à l'EMPLOYEUR en charge de ces tâches :  · de prendre en compte, dans l'analyse des risques, les dispositions énoncées au paragraphe précédent ;.</a:t>
            </a:r>
          </a:p>
          <a:p>
            <a:pPr>
              <a:defRPr sz="1600"/>
            </a:pPr>
            <a:r>
              <a:t>de participer, le cas échéant, en liaison avec le CHEF D'ÉTABLISSEMENT ou avec la personne en charge de l'OUVRAGE ou de l'INSTALLATION, à l'établissement des modalités d'exécution des CONSIGNATIONS, des MISES HORS TENSION ou des remises en tension et, notamment, à la mise en place des PROCEDURES D'ACCES, DE SUIVI ET DE CONTROLE ;  · d'informer ses salariés des dispositions précédentes.</a:t>
            </a:r>
          </a:p>
          <a:p>
            <a:pPr>
              <a:defRPr sz="1600"/>
            </a:pPr>
            <a:r>
              <a:t>NF C 18-510  -  120  -  UTE  L'OPERATION peut être exécutée sous la conduite d'une personne titulaire d'une HABILITATION compatible avec les tâches qui lui sont confiées.</a:t>
            </a:r>
          </a:p>
          <a:p>
            <a:pPr>
              <a:defRPr sz="1600"/>
            </a:pPr>
            <a:r>
              <a:t>Elle est notamment qualifiée pour gérer la PROCEDURE D'ACCES, DE SUIVI ET DE CONTROLE.</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 Rôle et compétence des différents acteurs dans l'environnement</a:t>
            </a:r>
          </a:p>
        </p:txBody>
      </p:sp>
      <p:sp>
        <p:nvSpPr>
          <p:cNvPr id="3" name="Content Placeholder 2"/>
          <p:cNvSpPr>
            <a:spLocks noGrp="1"/>
          </p:cNvSpPr>
          <p:nvPr>
            <p:ph idx="1"/>
          </p:nvPr>
        </p:nvSpPr>
        <p:spPr/>
        <p:txBody>
          <a:bodyPr/>
          <a:lstStyle/>
          <a:p>
            <a:pPr>
              <a:defRPr sz="1600"/>
            </a:pPr>
            <a:r>
              <a:t>Les prescriptions suivantes précisent, pour les opérations dans l'ENVIRONNEMENT, les dispositions générales du 4.</a:t>
            </a:r>
          </a:p>
          <a:p>
            <a:pPr>
              <a:defRPr sz="1600"/>
            </a:pPr>
            <a:r>
              <a:t>5.</a:t>
            </a:r>
          </a:p>
          <a:p>
            <a:pPr>
              <a:defRPr sz="1600"/>
            </a:pPr>
            <a:r>
              <a:t>2.</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9.8.1 Rôle de l'employeur</a:t>
            </a:r>
          </a:p>
        </p:txBody>
      </p:sp>
      <p:sp>
        <p:nvSpPr>
          <p:cNvPr id="3" name="Content Placeholder 2"/>
          <p:cNvSpPr>
            <a:spLocks noGrp="1"/>
          </p:cNvSpPr>
          <p:nvPr>
            <p:ph idx="1"/>
          </p:nvPr>
        </p:nvSpPr>
        <p:spPr/>
        <p:txBody>
          <a:bodyPr/>
          <a:lstStyle/>
          <a:p>
            <a:pPr>
              <a:defRPr sz="1600"/>
            </a:pPr>
            <a:r>
              <a:t>L'EMPLOYEUR, en complément des prescriptions du 4.</a:t>
            </a:r>
          </a:p>
          <a:p>
            <a:pPr>
              <a:defRPr sz="1600"/>
            </a:pPr>
            <a:r>
              <a:t>5.</a:t>
            </a:r>
          </a:p>
          <a:p>
            <a:pPr>
              <a:defRPr sz="1600"/>
            </a:pPr>
            <a:r>
              <a:t>2.</a:t>
            </a:r>
          </a:p>
          <a:p>
            <a:pPr>
              <a:defRPr sz="1600"/>
            </a:pPr>
            <a:r>
              <a:t>1.</a:t>
            </a:r>
          </a:p>
          <a:p>
            <a:pPr>
              <a:defRPr sz="1600"/>
            </a:pPr>
            <a:r>
              <a:t>1 et en fonction de la nature des OPERATIONS à effectuer, doit :  · évaluer les risques liés à la présence d'OUVRAGES ou d'INSTALLATIONS dans l'ENVIRONNEMENT des OPERATIONS ;  · définir, en liaison avec le ou les exploitants, les conditions d'exécution des OPERATIONS prévues ;  · définir les ZONES dans lesquelles les OPERATEURS vont travailler ;  · établir les INSTRUCTIONS DE SECURITE nécessaires ;.</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9.8.2 Rôle du chef d'établissement</a:t>
            </a:r>
          </a:p>
        </p:txBody>
      </p:sp>
      <p:sp>
        <p:nvSpPr>
          <p:cNvPr id="3" name="Content Placeholder 2"/>
          <p:cNvSpPr>
            <a:spLocks noGrp="1"/>
          </p:cNvSpPr>
          <p:nvPr>
            <p:ph idx="1"/>
          </p:nvPr>
        </p:nvSpPr>
        <p:spPr/>
        <p:txBody>
          <a:bodyPr/>
          <a:lstStyle/>
          <a:p>
            <a:pPr>
              <a:defRPr sz="1600"/>
            </a:pPr>
            <a:r>
              <a:t>Le CHEF D'ETABLISSEMENT, en complément des prescriptions du 4.</a:t>
            </a:r>
          </a:p>
          <a:p>
            <a:pPr>
              <a:defRPr sz="1600"/>
            </a:pPr>
            <a:r>
              <a:t>5.</a:t>
            </a:r>
          </a:p>
          <a:p>
            <a:pPr>
              <a:defRPr sz="1600"/>
            </a:pPr>
            <a:r>
              <a:t>2.</a:t>
            </a:r>
          </a:p>
          <a:p>
            <a:pPr>
              <a:defRPr sz="1600"/>
            </a:pPr>
            <a:r>
              <a:t>1.</a:t>
            </a:r>
          </a:p>
          <a:p>
            <a:pPr>
              <a:defRPr sz="1600"/>
            </a:pPr>
            <a:r>
              <a:t>2 et en fonction de la nature du travail à effectuer, doit :  · organiser et mettre en place les procédures pour que les TRAVAUX soient réalisés en sécurité dans l'ENVIRONNEMENT des OUVRAGES ou des INSTALLATIONS ;  · transmettre les informations nécessaires à l'élaboration des INSTRUCTIONS DE SECURITE ;  · autoriser l'accès aux OUVRAGES ou aux INSTALLATIONS en précisant les zones autorisées.</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9.8.3 Rôle du donneur d'ordre</a:t>
            </a:r>
          </a:p>
        </p:txBody>
      </p:sp>
      <p:sp>
        <p:nvSpPr>
          <p:cNvPr id="3" name="Content Placeholder 2"/>
          <p:cNvSpPr>
            <a:spLocks noGrp="1"/>
          </p:cNvSpPr>
          <p:nvPr>
            <p:ph idx="1"/>
          </p:nvPr>
        </p:nvSpPr>
        <p:spPr/>
        <p:txBody>
          <a:bodyPr/>
          <a:lstStyle/>
          <a:p>
            <a:pPr>
              <a:defRPr sz="1600"/>
            </a:pPr>
            <a:r>
              <a:t>Le DONNEUR D'ORDRE, en complément des prescriptions du 4.</a:t>
            </a:r>
          </a:p>
          <a:p>
            <a:pPr>
              <a:defRPr sz="1600"/>
            </a:pPr>
            <a:r>
              <a:t>5.</a:t>
            </a:r>
          </a:p>
          <a:p>
            <a:pPr>
              <a:defRPr sz="1600"/>
            </a:pPr>
            <a:r>
              <a:t>1.</a:t>
            </a:r>
          </a:p>
          <a:p>
            <a:pPr>
              <a:defRPr sz="1600"/>
            </a:pPr>
            <a:r>
              <a:t>4 et en fonction de la nature du travail à effectuer, doit :  · évaluer les risques liés à la présence d'OUVRAGES ou d'INSTALLATIONS dans l'ENVIRONNEMENT des OPERATIONS ;  · définir, en liaison avec le CHEF D'ÉTABLISSEMENT ou l'exploitant, les conditions d'exécution des OPERATIONS prévues et, si nécessaire, les conditions de raccordement à des OUVRAGES ou des INSTALLATIONS existants.</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9.8.4 Rôle du charge d'exploitation électrique</a:t>
            </a:r>
          </a:p>
        </p:txBody>
      </p:sp>
      <p:sp>
        <p:nvSpPr>
          <p:cNvPr id="3" name="Content Placeholder 2"/>
          <p:cNvSpPr>
            <a:spLocks noGrp="1"/>
          </p:cNvSpPr>
          <p:nvPr>
            <p:ph idx="1"/>
          </p:nvPr>
        </p:nvSpPr>
        <p:spPr/>
        <p:txBody>
          <a:bodyPr/>
          <a:lstStyle/>
          <a:p>
            <a:pPr>
              <a:defRPr sz="1600"/>
            </a:pPr>
            <a:r>
              <a:t>En fonction de la nature du travail à effectuer, le CHARGE D'EXPLOITATION ELECTRIQUE, doit, en complément des prescriptions du 4.</a:t>
            </a:r>
          </a:p>
          <a:p>
            <a:pPr>
              <a:defRPr sz="1600"/>
            </a:pPr>
            <a:r>
              <a:t>5.</a:t>
            </a:r>
          </a:p>
          <a:p>
            <a:pPr>
              <a:defRPr sz="1600"/>
            </a:pPr>
            <a:r>
              <a:t>2.</a:t>
            </a:r>
          </a:p>
          <a:p>
            <a:pPr>
              <a:defRPr sz="1600"/>
            </a:pPr>
            <a:r>
              <a:t>2 :  · donner à l'ENTREPRISE EXTERIEURE toute information pour effectuer les OPERATIONS et pour établir les INSTRUCTIONS DE SECURITE ;  · prendre les dispositions d'exploitation et de prévention permettant d'éliminer le risque électrique, en fonction des mesures décidées lors de la préparation du travail ;  · autoriser l'accès aux OUVRAGES ou aux INSTALLATIONS en précisant les zones autorisées ;  · prendre des mesures compensatoires (déplacement de circuits, remplacement de circuits, etc.</a:t>
            </a:r>
          </a:p>
          <a:p>
            <a:pPr>
              <a:defRPr sz="1600"/>
            </a:pPr>
            <a:r>
              <a:t>) et toute mesure permettant d'éliminer le risque.</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9.8.5 Rôle du chargé de travaux</a:t>
            </a:r>
          </a:p>
        </p:txBody>
      </p:sp>
      <p:sp>
        <p:nvSpPr>
          <p:cNvPr id="3" name="Content Placeholder 2"/>
          <p:cNvSpPr>
            <a:spLocks noGrp="1"/>
          </p:cNvSpPr>
          <p:nvPr>
            <p:ph idx="1"/>
          </p:nvPr>
        </p:nvSpPr>
        <p:spPr/>
        <p:txBody>
          <a:bodyPr/>
          <a:lstStyle/>
          <a:p>
            <a:pPr>
              <a:defRPr sz="1600"/>
            </a:pPr>
            <a:r>
              <a:t>Le CHARGE DE TRAVAUX, en complément des prescriptions du 4.</a:t>
            </a:r>
          </a:p>
          <a:p>
            <a:pPr>
              <a:defRPr sz="1600"/>
            </a:pPr>
            <a:r>
              <a:t>5.</a:t>
            </a:r>
          </a:p>
          <a:p>
            <a:pPr>
              <a:defRPr sz="1600"/>
            </a:pPr>
            <a:r>
              <a:t>2.</a:t>
            </a:r>
          </a:p>
          <a:p>
            <a:pPr>
              <a:defRPr sz="1600"/>
            </a:pPr>
            <a:r>
              <a:t>5, doit :  · s'assurer que l'HABILITATION du personnel et son équipement sont adéquats pour opérer dans l'ENVIRONNEMENT électrique de son chantier ;  · organiser et contrôler la surveillance du personnel dans la zone de VOISINAGE ;  · vérifier et, le cas échéant, mettre en place le BALISAGE et les protections (OBSTACLE, ECRAN, etc.</a:t>
            </a:r>
          </a:p>
          <a:p>
            <a:pPr>
              <a:defRPr sz="1600"/>
            </a:pPr>
            <a:r>
              <a:t>) ;  · gérer les PROCEDURES D'ACCES, DE SUIVI ET DE CONTROLE requises par l'ENVIRONNEMENT électrique de son chantier et, notamment, s'assurer qu'il dispose de toutes les autorisations appropriées pour les ZONES dans lesquelles il opère.</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9.8.6 Rôle du chargé de chantier</a:t>
            </a:r>
          </a:p>
        </p:txBody>
      </p:sp>
      <p:sp>
        <p:nvSpPr>
          <p:cNvPr id="3" name="Content Placeholder 2"/>
          <p:cNvSpPr>
            <a:spLocks noGrp="1"/>
          </p:cNvSpPr>
          <p:nvPr>
            <p:ph idx="1"/>
          </p:nvPr>
        </p:nvSpPr>
        <p:spPr/>
        <p:txBody>
          <a:bodyPr/>
          <a:lstStyle/>
          <a:p>
            <a:pPr>
              <a:defRPr sz="1600"/>
            </a:pPr>
            <a:r>
              <a:t>Le CHARGE DE CHANTIER doit respecter les prescriptions du 4.</a:t>
            </a:r>
          </a:p>
          <a:p>
            <a:pPr>
              <a:defRPr sz="1600"/>
            </a:pPr>
            <a:r>
              <a:t>5.</a:t>
            </a:r>
          </a:p>
          <a:p>
            <a:pPr>
              <a:defRPr sz="1600"/>
            </a:pPr>
            <a:r>
              <a:t>2.</a:t>
            </a:r>
          </a:p>
          <a:p>
            <a:pPr>
              <a:defRPr sz="1600"/>
            </a:pPr>
            <a:r>
              <a:t>8.</a:t>
            </a:r>
          </a:p>
          <a:p>
            <a:pPr>
              <a:defRPr sz="1600"/>
            </a:pPr>
            <a:r>
              <a:t>Trois cas sont à considérer.</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9.8.6.2 Chargé de chantier habilité symboles B0 ou H0</a:t>
            </a:r>
          </a:p>
        </p:txBody>
      </p:sp>
      <p:sp>
        <p:nvSpPr>
          <p:cNvPr id="3" name="Content Placeholder 2"/>
          <p:cNvSpPr>
            <a:spLocks noGrp="1"/>
          </p:cNvSpPr>
          <p:nvPr>
            <p:ph idx="1"/>
          </p:nvPr>
        </p:nvSpPr>
        <p:spPr/>
        <p:txBody>
          <a:bodyPr/>
          <a:lstStyle/>
          <a:p>
            <a:pPr>
              <a:defRPr sz="1600"/>
            </a:pPr>
            <a:r>
              <a:t>Le CHARGE DE CHANTIER habilité symboles BO ou HO peut réaliser un TRAVAIL d'ORDRE NON ELECTRIQUE concourant à l'EXPLOITATION des OUVRAGES ou des INSTALLATIONS dans la ZONE DE VOISINAGE SIMPLE (zone 1).</a:t>
            </a:r>
          </a:p>
          <a:p>
            <a:pPr>
              <a:defRPr sz="1600"/>
            </a:pPr>
            <a:r>
              <a:t>En zone 1, le personnel placé sous sa responsabilité doit être habilité symboles B0 ou H0.</a:t>
            </a:r>
          </a:p>
          <a:p>
            <a:pPr>
              <a:defRPr sz="1600"/>
            </a:pPr>
            <a:r>
              <a:t>doit : Le CHARGE DE CHANTIER.</a:t>
            </a:r>
          </a:p>
          <a:p>
            <a:pPr>
              <a:defRPr sz="1600"/>
            </a:pPr>
            <a:r>
              <a:t>avoir reçu une AUTORISATION DE TRAVAIL du CHEF D'ETABLISSEMENT ou du CHARGE D'EXPLOITATION ELECTRIQUE ;  · prendre connaissance des INSTRUCTIONS DE SECURITE et les faire appliquer ;  · baliser la ZONE DE TRAVAIL ;  · s'assurer que les protections prévues sont en place ;  · organiser et contrôler la surveillance des personnes placées sous son autorité, en fonction de leurs HABILITATIONS et des ZONES D'ENVIRONNEMENT auxquelles elles doivent accéder ;  · gérer les PROCEDURES D'ACCES, DE SUIVI ET DE CONTROLE requises par l'ENVIRONNEMENT de son chantier et, notamment, s'assurer qu'il dispose, pour lui-même et pour son personnel, de toutes les autorisations d'accès appropriées aux ZONES D'ENVIRONNEMENT dans lesquelles ils opèrent.</a:t>
            </a:r>
          </a:p>
          <a:p>
            <a:pPr>
              <a:defRPr sz="1600"/>
            </a:pPr>
            <a:r>
              <a:t>NF C 18-510  -  122  -  UTE.</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9.8.6.3 Charge de chantier habilite symbole HOV</a:t>
            </a:r>
          </a:p>
        </p:txBody>
      </p:sp>
      <p:sp>
        <p:nvSpPr>
          <p:cNvPr id="3" name="Content Placeholder 2"/>
          <p:cNvSpPr>
            <a:spLocks noGrp="1"/>
          </p:cNvSpPr>
          <p:nvPr>
            <p:ph idx="1"/>
          </p:nvPr>
        </p:nvSpPr>
        <p:spPr/>
        <p:txBody>
          <a:bodyPr/>
          <a:lstStyle/>
          <a:p>
            <a:pPr>
              <a:defRPr sz="1600"/>
            </a:pPr>
            <a:r>
              <a:t>Le CHARGE DE CHANTIER habilite symbole HOV peut realiser un TRAVAIL d'ORDRE NON ELECTRIQUE concourant à l'EXPLOITATION des OUVRAGES ou des INSTALLATIONS dans la ZONE DE VOISINAGE RENFORCE HT (zone 2).</a:t>
            </a:r>
          </a:p>
          <a:p>
            <a:pPr>
              <a:defRPr sz="1600"/>
            </a:pPr>
            <a:r>
              <a:t>En zone 2, le personnel placé sous sa responsabilité doit être habilité symbole H0V.</a:t>
            </a:r>
          </a:p>
          <a:p>
            <a:pPr>
              <a:defRPr sz="1600"/>
            </a:pPr>
            <a:r>
              <a:t>Le CHARGE DE CHANTIER doit :.</a:t>
            </a:r>
          </a:p>
          <a:p>
            <a:pPr>
              <a:defRPr sz="1600"/>
            </a:pPr>
            <a:r>
              <a:t>avoir reçu une AUTORISATION DE TRAVAIL du CHEF D'ETABLISSEMENT ou du CHARGE D'EXPLOITATION ELECTRIQUE ;  · prendre connaissance des INSTRUCTIONS DE SECURITE et les faire appliquer  · baliser la ZONE DE TRAVAIL ;  ;  · s'assurer que les protections prévues sont en place ;  · organiser et contrôler la surveillance des personnes sous son autorité, en fonction de leurs HABILITATIONS et des ZONES D'ENVIRONNEMENT auxquelles elles doivent accéder ;  · gérer les PROCEDURES D'ACCES, DE SUIVI ET DE CONTROLE requises par l'ENVIRONNEMENT de son chantier et, notamment, s'assurer qu'il dispose, pour lui-même et pour son personnel, de toutes les autorisations d'accès appropriées aux ZONES D'ENVIRONNEMENT dans lesquelles ils opèrent.</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9.8.7 Rôle des surveillants de sécurité électrique</a:t>
            </a:r>
          </a:p>
        </p:txBody>
      </p:sp>
      <p:sp>
        <p:nvSpPr>
          <p:cNvPr id="3" name="Content Placeholder 2"/>
          <p:cNvSpPr>
            <a:spLocks noGrp="1"/>
          </p:cNvSpPr>
          <p:nvPr>
            <p:ph idx="1"/>
          </p:nvPr>
        </p:nvSpPr>
        <p:spPr/>
        <p:txBody>
          <a:bodyPr/>
          <a:lstStyle/>
          <a:p>
            <a:pPr>
              <a:defRPr sz="1600"/>
            </a:pPr>
            <a:r>
              <a:t>Au cours des OPERATIONS à réaliser dans les différentes ZONES D'ENVIRONNEMENT, le CHARGE DE TRAVAUX ou le CHARGE DE CHANTIER habilite doit definir les types de SURVEILLANCE à prévoir en fonction des risques, definir et confier la mission à remplir par le ou les SURVEILLANTS DE SECURITE ELECTRIQUE.</a:t>
            </a:r>
          </a:p>
          <a:p>
            <a:pPr>
              <a:defRPr sz="1600"/>
            </a:pPr>
            <a:r>
              <a:t>En complément du 4.</a:t>
            </a:r>
          </a:p>
          <a:p>
            <a:pPr>
              <a:defRPr sz="1600"/>
            </a:pPr>
            <a:r>
              <a:t>5.</a:t>
            </a:r>
          </a:p>
          <a:p>
            <a:pPr>
              <a:defRPr sz="1600"/>
            </a:pPr>
            <a:r>
              <a:t>2.</a:t>
            </a:r>
          </a:p>
          <a:p>
            <a:pPr>
              <a:defRPr sz="1600"/>
            </a:pPr>
            <a:r>
              <a:t>10, les prescriptions suivantes s'appliquent :  Le SURVEILLANT DE SECURITE ELECTRIQUE est non habilité ou habilité symboles chiffre 0, 1, 2 ou habilité symbole BR, selon les limites de tension, le type d'OUVRAGE ou d'INSTALLATION et la nature des OPERATIONS.</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9.8.7.1 Rôle du surveillant de sécurité électrique d'opération et d'accompagnement</a:t>
            </a:r>
          </a:p>
        </p:txBody>
      </p:sp>
      <p:sp>
        <p:nvSpPr>
          <p:cNvPr id="3" name="Content Placeholder 2"/>
          <p:cNvSpPr>
            <a:spLocks noGrp="1"/>
          </p:cNvSpPr>
          <p:nvPr>
            <p:ph idx="1"/>
          </p:nvPr>
        </p:nvSpPr>
        <p:spPr/>
        <p:txBody>
          <a:bodyPr/>
          <a:lstStyle/>
          <a:p>
            <a:pPr>
              <a:defRPr sz="1600"/>
            </a:pPr>
            <a:r>
              <a:t>Le SURVEILLANT DE SECURITE ELECTRIQUE D'OPERATION ET D'ACCOMPAGNEMENT a pour rôle de surveiller une ou des personnes se trouvant dans le VOISINAGE ou dans un LOCAL D'ACCES RESERVE AUX ELECTRICIENS Si :  • soit ces personnes ne disposent pas de l'HABILITATION suffisante pour y accéder ;  • soit le CHARGE DE TRAVAUX ne peut pas assurer la surveillance au cours d'une OPERATION.</a:t>
            </a:r>
          </a:p>
          <a:p>
            <a:pPr>
              <a:defRPr sz="1600"/>
            </a:pPr>
            <a:r>
              <a:t>Dans le cas d'une OPERATION, la personne est QUALIFIEE dans le domaine électrique et choisie par le CHARGE DE TRAVAUX.</a:t>
            </a:r>
          </a:p>
          <a:p>
            <a:pPr>
              <a:defRPr sz="1600"/>
            </a:pPr>
            <a:r>
              <a:t>Elle possède une connaissance approfondie en matière de prévention du risque électrique.</a:t>
            </a:r>
          </a:p>
          <a:p>
            <a:pPr>
              <a:defRPr sz="1600"/>
            </a:pPr>
            <a:r>
              <a:t>Elle est capable de faire appliquer les INSTRUCTIONS DE SECURITE, y compris en cas d'accident électrique.</a:t>
            </a:r>
          </a:p>
          <a:p>
            <a:pPr>
              <a:defRPr sz="1600"/>
            </a:pPr>
            <a:r>
              <a:t>Cette personne se consacre à cette SURVEILLANCE pendant toutes les phases où les EXECUTANTS se trouvent en présence du risque électrique.</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9.8.7.2 Rôle du surveillant de sécurité électrique de limite</a:t>
            </a:r>
          </a:p>
        </p:txBody>
      </p:sp>
      <p:sp>
        <p:nvSpPr>
          <p:cNvPr id="3" name="Content Placeholder 2"/>
          <p:cNvSpPr>
            <a:spLocks noGrp="1"/>
          </p:cNvSpPr>
          <p:nvPr>
            <p:ph idx="1"/>
          </p:nvPr>
        </p:nvSpPr>
        <p:spPr/>
        <p:txBody>
          <a:bodyPr/>
          <a:lstStyle/>
          <a:p>
            <a:pPr>
              <a:defRPr sz="1600"/>
            </a:pPr>
            <a:r>
              <a:t>Le SURVEILLANT DE SECURITE ELECTRIQUE DE LIMITE doit s'assurer que le personnel et les engins ou outils qu'il surveille ne dépassent pas les limites fixées pour prevenir le risque électrique.</a:t>
            </a:r>
          </a:p>
          <a:p>
            <a:pPr>
              <a:defRPr sz="1600"/>
            </a:pPr>
            <a:r>
              <a:t>Ces limites ont été définies lors de la préparation du travail ou par l'INSTRUCTION DE SECURITE.</a:t>
            </a:r>
          </a:p>
          <a:p>
            <a:pPr>
              <a:defRPr sz="1600"/>
            </a:pPr>
            <a:r>
              <a:t>Il est choisi par le CHARGE DE TRAVAUX, le CHARGE DE CHANTIER, ou le CHARGE D'INTERVENTION GENERALE parmi les personnes possédant les compétences et l'HABILITATION nécessaires.</a:t>
            </a:r>
          </a:p>
          <a:p>
            <a:pPr>
              <a:defRPr sz="1600"/>
            </a:pPr>
            <a:r>
              <a:t>UTE  -  123  -  NF C 18-510  Il a autorité en matière de sécurité électrique sur les personnes qu'il surveille.</a:t>
            </a:r>
          </a:p>
          <a:p>
            <a:pPr>
              <a:defRPr sz="1600"/>
            </a:pPr>
            <a:r>
              <a:t>Son HABILITATION est adaptée à la tâche qui lui est confiée.</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9.8.8 Rôle des exécutants habilités ou non</a:t>
            </a:r>
          </a:p>
        </p:txBody>
      </p:sp>
      <p:sp>
        <p:nvSpPr>
          <p:cNvPr id="3" name="Content Placeholder 2"/>
          <p:cNvSpPr>
            <a:spLocks noGrp="1"/>
          </p:cNvSpPr>
          <p:nvPr>
            <p:ph idx="1"/>
          </p:nvPr>
        </p:nvSpPr>
        <p:spPr/>
        <p:txBody>
          <a:bodyPr/>
          <a:lstStyle/>
          <a:p>
            <a:pPr>
              <a:defRPr sz="1600"/>
            </a:pPr>
            <a:r>
              <a:t>Les EXECUTANTS, habilités ou non, doivent, au sens du présent document, être formés à la prévention du risque électrique.</a:t>
            </a:r>
          </a:p>
          <a:p>
            <a:pPr>
              <a:defRPr sz="1600"/>
            </a:pPr>
            <a:r>
              <a:t>En complément du 4.</a:t>
            </a:r>
          </a:p>
          <a:p>
            <a:pPr>
              <a:defRPr sz="1600"/>
            </a:pPr>
            <a:r>
              <a:t>5.</a:t>
            </a:r>
          </a:p>
          <a:p>
            <a:pPr>
              <a:defRPr sz="1600"/>
            </a:pPr>
            <a:r>
              <a:t>2.</a:t>
            </a:r>
          </a:p>
          <a:p>
            <a:pPr>
              <a:defRPr sz="1600"/>
            </a:pPr>
            <a:r>
              <a:t>9, les EXECUTANTS doivent  :  · assurer leur propre sécurité ;  · respecter les limites de la ZONE DE TRAVAIL et les limites des chemins d'accès qui leur sont prescrites ;  · avertir le CHARGE DE TRAVAUX ou le CHARGE DE CHANTIER, s'ils estiment que les tâches qui leur sont confiées ne sont pas compatibles avec leur HABILITATION ou leur formation.</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9.8.9 Rôle des personnes formées non habilitées</a:t>
            </a:r>
          </a:p>
        </p:txBody>
      </p:sp>
      <p:sp>
        <p:nvSpPr>
          <p:cNvPr id="3" name="Content Placeholder 2"/>
          <p:cNvSpPr>
            <a:spLocks noGrp="1"/>
          </p:cNvSpPr>
          <p:nvPr>
            <p:ph idx="1"/>
          </p:nvPr>
        </p:nvSpPr>
        <p:spPr/>
        <p:txBody>
          <a:bodyPr/>
          <a:lstStyle/>
          <a:p>
            <a:pPr>
              <a:defRPr sz="1600"/>
            </a:pPr>
            <a:r>
              <a:t>Ce paragraphe s'applique aux personnes formées non habilitées (personnes ORDINAIRES) réalisant des TRAVAUX d'ORDRE NON ELECTRIQUE de type bâtiment et travaux publics :  · en zone 0, mais à proximité de pièces nues en champ libre, avec risque de franchissement éventuel de la DLVS (3 m ou 5 m) ;  · à proximité de CANALISATIONS ISOLEES visibles ou invisibles.</a:t>
            </a:r>
          </a:p>
          <a:p>
            <a:pPr>
              <a:defRPr sz="1600"/>
            </a:pPr>
            <a:r>
              <a:t>Le personnel non habilité doit :  · être formé aux prescriptions de prévention du risque électrique ;  · connaître les dangers liés à l'endommagement des OUVRAGES ou des INSTALLATIONS électriques ;  · connaître les conditions d'approche des OUVRAGES ou des INSTALLATIONS électriques dans la ZONE DE TRAVAIL et les limites de cette zone ;  · savoir intégrer le risque électrique dans l'utilisation de l'outillage ou du matériel ;  · être informé de la nécessité d'avertir le CHARGE DE CHANTIER de tout dommage porte aux OUVRAGES ou aux INSTALLATIONS durant les TRAVAUX.</a:t>
            </a:r>
          </a:p>
          <a:p>
            <a:pPr>
              <a:defRPr sz="1600"/>
            </a:pPr>
            <a:r>
              <a:t>NF C 18-510  -  124  -  UTE  (Page blanche)  UTE  -  125  -  NF C 18-510.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INTERVENTIONS BT</a:t>
            </a:r>
          </a:p>
        </p:txBody>
      </p:sp>
      <p:sp>
        <p:nvSpPr>
          <p:cNvPr id="3" name="Content Placeholder 2"/>
          <p:cNvSpPr>
            <a:spLocks noGrp="1"/>
          </p:cNvSpPr>
          <p:nvPr>
            <p:ph idx="1"/>
          </p:nvPr>
        </p:nvSpPr>
        <p:spPr/>
        <p:txBody>
          <a:bodyPr/>
          <a:lstStyle/>
          <a:p>
            <a:pPr>
              <a:defRPr sz="1600"/>
            </a:pPr>
            <a:r>
              <a:t>Cet article expose les principes et procédés généraux applicables aux INTERVENTIONS BASSE TENSION (BT).</a:t>
            </a:r>
          </a:p>
          <a:p>
            <a:pPr>
              <a:defRPr sz="1600"/>
            </a:pPr>
            <a:r>
              <a:t>Il traite :  · des critères qualifiant les INTERVENTIONS BT (10.</a:t>
            </a:r>
          </a:p>
          <a:p>
            <a:pPr>
              <a:defRPr sz="1600"/>
            </a:pPr>
            <a:r>
              <a:t>1) ;  · des règles s'appliquant à toutes les INTERVENTIONS BT (10.</a:t>
            </a:r>
          </a:p>
          <a:p>
            <a:pPr>
              <a:defRPr sz="1600"/>
            </a:pPr>
            <a:r>
              <a:t>2)  :  · des règles s'appliquant aux INTERVENTIONS BT GENERALES (10.</a:t>
            </a:r>
          </a:p>
          <a:p>
            <a:pPr>
              <a:defRPr sz="1600"/>
            </a:pPr>
            <a:r>
              <a:t>3) ;  · des règles s'appliquant aux INTERVENTIONS BT ELEMENTAIRES (10.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10.1 Critères généraux d'une intervention BT</a:t>
            </a:r>
          </a:p>
        </p:txBody>
      </p:sp>
      <p:sp>
        <p:nvSpPr>
          <p:cNvPr id="3" name="Content Placeholder 2"/>
          <p:cNvSpPr>
            <a:spLocks noGrp="1"/>
          </p:cNvSpPr>
          <p:nvPr>
            <p:ph idx="1"/>
          </p:nvPr>
        </p:nvSpPr>
        <p:spPr/>
        <p:txBody>
          <a:bodyPr/>
          <a:lstStyle/>
          <a:p>
            <a:pPr>
              <a:defRPr sz="1600"/>
            </a:pPr>
            <a:r>
              <a:t>Une INTERVENTION BT est une OPERATION d'ORDRE ELECTRIQUE simple du domaine BT ou TBT, de courte durée, effectuée sur un MATERIEL électrique ou sur une partie de faible étendue d'une INSTALLATION ou encore sur les annexes des OUVRAGES de transport ou de distribution d'énergie.</a:t>
            </a:r>
          </a:p>
          <a:p>
            <a:pPr>
              <a:defRPr sz="1600"/>
            </a:pPr>
            <a:r>
              <a:t>Toute opération qui ne répond pas aux critères ci-dessus doit être assimilée à un TRAVAIL et respecter les prescriptions des Articles 7, 8 ou 9 ou, pour une OPERATION SPECIFIQUE, celles de l'Article 11.</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10.1.1 Critères spécifiques aux interventions BT générales</a:t>
            </a:r>
          </a:p>
        </p:txBody>
      </p:sp>
      <p:sp>
        <p:nvSpPr>
          <p:cNvPr id="3" name="Content Placeholder 2"/>
          <p:cNvSpPr>
            <a:spLocks noGrp="1"/>
          </p:cNvSpPr>
          <p:nvPr>
            <p:ph idx="1"/>
          </p:nvPr>
        </p:nvSpPr>
        <p:spPr/>
        <p:txBody>
          <a:bodyPr/>
          <a:lstStyle/>
          <a:p>
            <a:pPr>
              <a:defRPr sz="1600"/>
            </a:pPr>
            <a:r>
              <a:t>Les INTERVENTIONS BT GENERALES sont limitées par les caractéristiques physiques des circuits sur lesquels elles sont autorisées.</a:t>
            </a:r>
          </a:p>
          <a:p>
            <a:pPr>
              <a:defRPr sz="1600"/>
            </a:pPr>
            <a:r>
              <a:t>Elles sont reservees a des circuits répondant aux caractéristiques ci-dessous :  · alimentés en BT ou TBT ;  · protégés contre les courts-circuits par un dispositif de protection de courant assigné inférieur ou égal à 63 A, en courant alternatif, et inférieur ou égal à 32 A, en courant continu.</a:t>
            </a:r>
          </a:p>
          <a:p>
            <a:pPr>
              <a:defRPr sz="1600"/>
            </a:pPr>
            <a:r>
              <a:t>Pour les opérations de connexion/déconnexion en présence de tension, il n'est possible d'intervenir que sur des circuits protégés contre les surintensités et soumis à des tensions inférieures ou égales à 500 V, en courant alternatif, et 750 V, en courant continu, de section inférieure ou égale à 6 mm2 cuivre (10 mm2 aluminium) pour les circuits de puissance et à 10 mm2 cuivre (16 mm2 aluminium) pour les circuits de commande et de contrôle.</a:t>
            </a:r>
          </a:p>
          <a:p>
            <a:pPr>
              <a:defRPr sz="1600"/>
            </a:pPr>
            <a:r>
              <a:t>Sur les INSTALLATIONS PV, les INTERVENTIONS BT GENERALES sont autorisées sur les circuits continus non protégés contre les courts-circuits par un dispositif de protection.</a:t>
            </a:r>
          </a:p>
          <a:p>
            <a:pPr>
              <a:defRPr sz="1600"/>
            </a:pPr>
            <a:r>
              <a:t>Les limites des sections, pour les circuits continus de puissance de ces INSTALLATIONS, sont portées à 10 mm2 cuivre (16 mm2 aluminium), pour tenir compte des chutes de tension (voir 12.</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10.1.2 Critères spécifiques aux interventions BT élémentaires</a:t>
            </a:r>
          </a:p>
        </p:txBody>
      </p:sp>
      <p:sp>
        <p:nvSpPr>
          <p:cNvPr id="3" name="Content Placeholder 2"/>
          <p:cNvSpPr>
            <a:spLocks noGrp="1"/>
          </p:cNvSpPr>
          <p:nvPr>
            <p:ph idx="1"/>
          </p:nvPr>
        </p:nvSpPr>
        <p:spPr/>
        <p:txBody>
          <a:bodyPr/>
          <a:lstStyle/>
          <a:p>
            <a:pPr>
              <a:defRPr sz="1600"/>
            </a:pPr>
            <a:r>
              <a:t>Les INTERVENTIONS BT ELEMENTAIRES sont limitées par les caractéristiques physiques des circuits sur lesquels elles sont autorisées.</a:t>
            </a:r>
          </a:p>
          <a:p>
            <a:pPr>
              <a:defRPr sz="1600"/>
            </a:pPr>
            <a:r>
              <a:t>Elles sont réservées a des circuits terminaux répondant aux caractéristiques ci-dessous :  · alimentés sous une tension inférieure ou égale à 400 V, en courant alternatif, et 600 V, en courant continu ;  · protégés contre les courts-circuits par des dispositifs de protection de courant assigné au plus egal a 32 A en courant alternatif, et inférieur ou égal à 16 A en courant continu ;  · de sections inférieures ou égales à 6 mm2 cuivre (10 mm2 aluminium) ;  NF C 18-510  -  126  -  UTE  · disposant d'un organe de coupure qui assure la fonction de sectionnement et qui permet la MISE HORS TENSION dans des conditions de sécurité.</a:t>
            </a:r>
          </a:p>
          <a:p>
            <a:pPr>
              <a:defRPr sz="1600"/>
            </a:pPr>
            <a:r>
              <a:t>Toute opération qui ne répond pas aux critères généraux et aux critères ci-dessus n'est pas une INTERVENTION BT ELEMENTAIRE.</a:t>
            </a:r>
          </a:p>
          <a:p>
            <a:pPr>
              <a:defRPr sz="1600"/>
            </a:pPr>
            <a:r>
              <a:t>Une telle opération doit être classée, en fonction de ses caractéristiques, parmi les autres types d'opérations définis aux Articles 7, 8, 9, 10 et 11, notamment l'INTERVENTION BT GENERALE.</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10.2.1 Généralités</a:t>
            </a:r>
          </a:p>
        </p:txBody>
      </p:sp>
      <p:sp>
        <p:nvSpPr>
          <p:cNvPr id="3" name="Content Placeholder 2"/>
          <p:cNvSpPr>
            <a:spLocks noGrp="1"/>
          </p:cNvSpPr>
          <p:nvPr>
            <p:ph idx="1"/>
          </p:nvPr>
        </p:nvSpPr>
        <p:spPr/>
        <p:txBody>
          <a:bodyPr/>
          <a:lstStyle/>
          <a:p>
            <a:pPr>
              <a:defRPr sz="1600"/>
            </a:pPr>
            <a:r>
              <a:t>Les personnes réalisant une INTERVENTION BT doivent appliquer les prescriptions définies en 10.</a:t>
            </a:r>
          </a:p>
          <a:p>
            <a:pPr>
              <a:defRPr sz="1600"/>
            </a:pPr>
            <a:r>
              <a:t>2.</a:t>
            </a:r>
          </a:p>
          <a:p>
            <a:pPr>
              <a:defRPr sz="1600"/>
            </a:pPr>
            <a:r>
              <a:t>Un CHARGE D'INTERVENTION doit :  · avoir été désigné par son EMPLOYEUR ;  · recevoir une AUTORISATION D'INTERVENTION délivrée par le CHEF D'ETABLISSEMENT ou le CHARGE D'EXPLOITATION ELECTRIQUE, ou être autorisé à acceder à l'INSTALLATION par la personne responsable de l'installation autorisant l'accès.</a:t>
            </a:r>
          </a:p>
          <a:p>
            <a:pPr>
              <a:defRPr sz="1600"/>
            </a:pPr>
            <a:r>
              <a:t>L'ensemble de ces dispositions doit être formalise sur un bon de travail ou une solution équivalente qui vaut AUTORISATION D'INTERVENTION.</a:t>
            </a:r>
          </a:p>
          <a:p>
            <a:pPr>
              <a:defRPr sz="1600"/>
            </a:pPr>
            <a:r>
              <a:t>Pendant l'INTERVENTION BT, un CHARGE D'INTERVENTION doit :  · assurer sa sécurité, celle de son entourage et, le cas échéant, celle de son EXECUTANT ;  · disposer du matériel, de l'outillage et des équipements de travail et de protection individuelle adaptés à sa mission ;.</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10.2.2.1 Chez un particulier</a:t>
            </a:r>
          </a:p>
        </p:txBody>
      </p:sp>
      <p:sp>
        <p:nvSpPr>
          <p:cNvPr id="3" name="Content Placeholder 2"/>
          <p:cNvSpPr>
            <a:spLocks noGrp="1"/>
          </p:cNvSpPr>
          <p:nvPr>
            <p:ph idx="1"/>
          </p:nvPr>
        </p:nvSpPr>
        <p:spPr/>
        <p:txBody>
          <a:bodyPr/>
          <a:lstStyle/>
          <a:p>
            <a:pPr>
              <a:defRPr sz="1600"/>
            </a:pPr>
            <a:r>
              <a:t>Dans le cas d'une INTERVENTION BT chez un particulier, le CHARGE D'INTERVENTION ayant seul la connaissance du risque électrique doit informer le particulier des étapes de son INTERVENTION BT dans lesquelles le risque électrique apparaît et, après échange, prendre les mesures nécessaires pour se protéger et protéger le particulier (la personne et les biens).</a:t>
            </a:r>
          </a:p>
          <a:p>
            <a:pPr>
              <a:defRPr sz="1600"/>
            </a:pPr>
            <a:r>
              <a:t>Le CHARGE D'INTERVENTION doit demander au particulier de l'autoriser à accéder aux INSTALLATIONS, lui faire part de l'existence de risques particuliers et, le cas échéant, lui communiquer les dispositions ou les contraintes à respecter pour la coupure et le rétablissement du courant.</a:t>
            </a:r>
          </a:p>
          <a:p>
            <a:pPr>
              <a:defRPr sz="1600"/>
            </a:pPr>
            <a:r>
              <a:t>Le rôle du particulier se limite à autoriser l'accès, la CONSIGNATION ou la MISE HORS TENSION et la remise sous tension, ainsi qu'à répondre aux questions posées par le CHARGE D'INTERVENTION.</a:t>
            </a:r>
          </a:p>
          <a:p>
            <a:pPr>
              <a:defRPr sz="1600"/>
            </a:pPr>
            <a:r>
              <a:t>Sauf dispositions particulières, la demande d'INTERVENTION BT faite par le particulier vaut autorisation d'accès.</a:t>
            </a:r>
          </a:p>
          <a:p>
            <a:pPr>
              <a:defRPr sz="1600"/>
            </a:pPr>
            <a:r>
              <a:t>Dans ce cas, l'autorisation d'accès peut être verbale.</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10.2.2.2 Autres situations</a:t>
            </a:r>
          </a:p>
        </p:txBody>
      </p:sp>
      <p:sp>
        <p:nvSpPr>
          <p:cNvPr id="3" name="Content Placeholder 2"/>
          <p:cNvSpPr>
            <a:spLocks noGrp="1"/>
          </p:cNvSpPr>
          <p:nvPr>
            <p:ph idx="1"/>
          </p:nvPr>
        </p:nvSpPr>
        <p:spPr/>
        <p:txBody>
          <a:bodyPr/>
          <a:lstStyle/>
          <a:p>
            <a:pPr>
              <a:defRPr sz="1600"/>
            </a:pPr>
            <a:r>
              <a:t>Il arrive que l'INTERVENTION BT se déroule dans un local alors que le responsable de L'INSTALLATION électrique n'est pas sur place ou que ce dernier, bien que présent, n'a pas les compétences pour assurer pleinement le rôle de CHEF D'ETABLISSEMENT ou de CHARGE D'EXPLOITATION ELECTRIQUE.</a:t>
            </a:r>
          </a:p>
          <a:p>
            <a:pPr>
              <a:defRPr sz="1600"/>
            </a:pPr>
            <a:r>
              <a:t>Dans ce cas, le rôle de la personne chargée d'accueillir le CHARGE D'INTERVENTION dans les locaux se limite à autoriser l'accès, la CONSIGNATION ou la MISE HORS TENSION et la remise sous tension, ainsi qu'à répondre aux questions posées par le CHARGE D'INTERVENTION.</a:t>
            </a:r>
          </a:p>
          <a:p>
            <a:pPr>
              <a:defRPr sz="1600"/>
            </a:pPr>
            <a:r>
              <a:t>Sauf dispositions particulières, la demande d'INTERVENTION BT faite dans ce cadre-là vaut autorisation d'accès.</a:t>
            </a:r>
          </a:p>
          <a:p>
            <a:pPr>
              <a:defRPr sz="1600"/>
            </a:pPr>
            <a:r>
              <a:t>Dans ce cas, l'autorisation d'accès peut être verbale.</a:t>
            </a:r>
          </a:p>
          <a:p>
            <a:pPr>
              <a:defRPr sz="1600"/>
            </a:pPr>
            <a:r>
              <a:t>UTE  -  127  -  NF C 18-510.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10.3.1 Généralités</a:t>
            </a:r>
          </a:p>
        </p:txBody>
      </p:sp>
      <p:sp>
        <p:nvSpPr>
          <p:cNvPr id="3" name="Content Placeholder 2"/>
          <p:cNvSpPr>
            <a:spLocks noGrp="1"/>
          </p:cNvSpPr>
          <p:nvPr>
            <p:ph idx="1"/>
          </p:nvPr>
        </p:nvSpPr>
        <p:spPr/>
        <p:txBody>
          <a:bodyPr/>
          <a:lstStyle/>
          <a:p>
            <a:pPr>
              <a:defRPr sz="1600"/>
            </a:pPr>
            <a:r>
              <a:t>Les INTERVENTIONS BT GENERALES recouvrent les opérations de maintenance, de remise en état de fonctionnement, de mise en service partielle et temporaire, et les opérations de CONNEXION et de DECONNEXION en présence de tension.</a:t>
            </a:r>
          </a:p>
          <a:p>
            <a:pPr>
              <a:defRPr sz="1600"/>
            </a:pPr>
            <a:r>
              <a:t>Ces INTERVENTIONS BT GENERALES sont réalisées par une personne qualifiée, capable de gérer, en temps réel, l'enchaînement des tâches qu'elle réalise.</a:t>
            </a:r>
          </a:p>
          <a:p>
            <a:pPr>
              <a:defRPr sz="1600"/>
            </a:pPr>
            <a:r>
              <a:t>Un CHARGE D'INTERVENTION GENERALE peut travailler, le cas échéant, avec un EXECUTANT.</a:t>
            </a:r>
          </a:p>
          <a:p>
            <a:pPr>
              <a:defRPr sz="1600"/>
            </a:pPr>
            <a:r>
              <a:t>Le CHARGE D'INTERVENTION GENERALE doit avoir une capacité d'analyse et la connaissance suffisante du fonctionnement de l'INSTALLATION ou du MATERIEL électrique sur lesquels il opère.</a:t>
            </a:r>
          </a:p>
          <a:p>
            <a:pPr>
              <a:defRPr sz="1600"/>
            </a:pPr>
            <a:r>
              <a:t>Cette connaissance doit résulter :  · d'un apprentissage et d'une pratique des types d'INSTALLATIONS et MATERIELS électriques considérés ;  · d'une consultation de documents et de schémas existants.</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10.3.2 Procedure d'accès, de suivi et de contrôle</a:t>
            </a:r>
          </a:p>
        </p:txBody>
      </p:sp>
      <p:sp>
        <p:nvSpPr>
          <p:cNvPr id="3" name="Content Placeholder 2"/>
          <p:cNvSpPr>
            <a:spLocks noGrp="1"/>
          </p:cNvSpPr>
          <p:nvPr>
            <p:ph idx="1"/>
          </p:nvPr>
        </p:nvSpPr>
        <p:spPr/>
        <p:txBody>
          <a:bodyPr/>
          <a:lstStyle/>
          <a:p>
            <a:pPr>
              <a:defRPr sz="1600"/>
            </a:pPr>
            <a:r>
              <a:t>Un CHARGE D'INTERVENTION GENERALE doit être habilite symbole BR.</a:t>
            </a:r>
          </a:p>
          <a:p>
            <a:pPr>
              <a:defRPr sz="1600"/>
            </a:pPr>
            <a:r>
              <a:t>Son titre d'HABILITATION doit préciser son périmètre d'intervention (par exemple, types d'INSTALLATIONS).</a:t>
            </a:r>
          </a:p>
          <a:p>
            <a:pPr>
              <a:defRPr sz="1600"/>
            </a:pPr>
            <a:r>
              <a:t>La PROCEDURE D'ACCES, DE SUIVI ET DE CONTROLE est appliquée par la personne autorisant l'accès à l'INSTALLATION ou par le CHEF D'ETABLISSEMENT ou le CHARGE D'EXPLOITATION ELECTRIQUE.</a:t>
            </a:r>
          </a:p>
          <a:p>
            <a:pPr>
              <a:defRPr sz="1600"/>
            </a:pPr>
            <a:r>
              <a:t>Elle doit :  · préalablement à l'INTERVENTION BT GENERALE, mettre en place un échange d'informations entre le CHARGE D'INTERVENTION GENERALE et la personne autorisant l'accès à l'INSTALLATION ou le CHEF D'ETABLISSEMENT ou le CHARGE D'EXPLOITATION ELECTRIQUE SOUS une forme enregistrée qui vaut AUTORISATION D'INTERVENTION ; cet échange doit, notamment, porter sur les descriptions de l'anomalie constatée, la partie de l'INSTALLATION concernée, les circonstances de la découverte, les contraintes opérationnelles existantes ;.</a:t>
            </a:r>
          </a:p>
          <a:p>
            <a:pPr>
              <a:defRPr sz="1600"/>
            </a:pPr>
            <a:r>
              <a:t>en fin d'INTERVENTION BT, informer le CHEF D'ETABLISSEMENT, le CHARGE D'EXPLOITATION ELECTRIQUE ou la personne ayant autorisé l'accès sur l'achèvement des travaux, l'état de l'INSTALLATION et les reserves eventuelles.</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10.3.3 Déroulement des interventions BT générales</a:t>
            </a:r>
          </a:p>
        </p:txBody>
      </p:sp>
      <p:sp>
        <p:nvSpPr>
          <p:cNvPr id="3" name="Content Placeholder 2"/>
          <p:cNvSpPr>
            <a:spLocks noGrp="1"/>
          </p:cNvSpPr>
          <p:nvPr>
            <p:ph idx="1"/>
          </p:nvPr>
        </p:nvSpPr>
        <p:spPr/>
        <p:txBody>
          <a:bodyPr/>
          <a:lstStyle/>
          <a:p>
            <a:pPr>
              <a:defRPr sz="1600"/>
            </a:pPr>
            <a:r>
              <a:t>L'INTERVENTION BT GENERALE, dans le cas d'un dépannage, doit se dérouler suivant les trois étapes et en respectant les prescriptions correspondantes décrites ci-après :  · étape 1 : recherche et localisation des défauts ;  · étape 2 : élimination des défauts, réparation ou remplacement de l'élément défectueux ou d'une partie du MATERIEL électrique ;  · étape 3 : réglage et vérification du fonctionnement après réparation.</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10.3.3.1 Etape 1 - Recherche et localisation des défauts</a:t>
            </a:r>
          </a:p>
        </p:txBody>
      </p:sp>
      <p:sp>
        <p:nvSpPr>
          <p:cNvPr id="3" name="Content Placeholder 2"/>
          <p:cNvSpPr>
            <a:spLocks noGrp="1"/>
          </p:cNvSpPr>
          <p:nvPr>
            <p:ph idx="1"/>
          </p:nvPr>
        </p:nvSpPr>
        <p:spPr/>
        <p:txBody>
          <a:bodyPr/>
          <a:lstStyle/>
          <a:p>
            <a:pPr>
              <a:defRPr sz="1600"/>
            </a:pPr>
            <a:r>
              <a:t>La recherche et la localisation des défauts sont précédées par une phase de recueil de l'information disponible.</a:t>
            </a:r>
          </a:p>
          <a:p>
            <a:pPr>
              <a:defRPr sz="1600"/>
            </a:pPr>
            <a:r>
              <a:t>Cette phase fait notamment appel :.</a:t>
            </a:r>
          </a:p>
          <a:p>
            <a:pPr>
              <a:defRPr sz="1600"/>
            </a:pPr>
            <a:r>
              <a:t>aux indications que fournit le responsable de l'INSTALLATION ou le CHEF D'ETABLISSEMENT ou le CHARGE D'EXPLOITATION ELECTRIQUE sur la manifestation de l'anomalie, les particularités techniques et fonctionnelles de l'INSTALLATION, les prescriptions de sécurité spécifiques de l'INSTALLATION et l'existence éventuelle de procédures de dépannage ;  · à l'examen des plans et des schémas du dossier technique réglementaire à jour ;  · à la consultation de l'historique et des registres réglementaires de l'INSTALLATION ;  · à l'examen de l'INSTALLATION elle-même et, le cas échéant, aux connaissances acquises lors de la maintenance de cette INSTALLATION.</a:t>
            </a:r>
          </a:p>
          <a:p>
            <a:pPr>
              <a:defRPr sz="1600"/>
            </a:pPr>
            <a:r>
              <a:t>La recherche et la localisation des défauts peuvent nécessiter la présence de tension, par exemple à l'occasion de :  · contrôles de fonctionnement ;  · MESURAGES de grandeurs électriques ;  · OPERATIONS particulières dans la recherche de défauts ;  · CONNEXIONS OU DECONNEXIONS de conducteurs.</a:t>
            </a:r>
          </a:p>
          <a:p>
            <a:pPr>
              <a:defRPr sz="1600"/>
            </a:pPr>
            <a:r>
              <a:t>UTE  -  129  -  NF C 18-510.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10.3.3.1.1 Contrôle de fonctionnement</a:t>
            </a:r>
          </a:p>
        </p:txBody>
      </p:sp>
      <p:sp>
        <p:nvSpPr>
          <p:cNvPr id="3" name="Content Placeholder 2"/>
          <p:cNvSpPr>
            <a:spLocks noGrp="1"/>
          </p:cNvSpPr>
          <p:nvPr>
            <p:ph idx="1"/>
          </p:nvPr>
        </p:nvSpPr>
        <p:spPr/>
        <p:txBody>
          <a:bodyPr/>
          <a:lstStyle/>
          <a:p>
            <a:pPr>
              <a:defRPr sz="1600"/>
            </a:pPr>
            <a:r>
              <a:t>Les contrôles de fonctionnement concernent, par exemple, le contrôle d'une phase, de la température de réglage d'un thermostat ou d'un fin de course.</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10.3.3.1.2 Mesurage des grandeurs électriques</a:t>
            </a:r>
          </a:p>
        </p:txBody>
      </p:sp>
      <p:sp>
        <p:nvSpPr>
          <p:cNvPr id="3" name="Content Placeholder 2"/>
          <p:cNvSpPr>
            <a:spLocks noGrp="1"/>
          </p:cNvSpPr>
          <p:nvPr>
            <p:ph idx="1"/>
          </p:nvPr>
        </p:nvSpPr>
        <p:spPr/>
        <p:txBody>
          <a:bodyPr/>
          <a:lstStyle/>
          <a:p>
            <a:pPr>
              <a:defRPr sz="1600"/>
            </a:pPr>
            <a:r>
              <a:t>Les MESURAGES concernent les mesures électriques, telles que les mesures d'intensité, de tension, de puissance, de résistance, de résistance de prise de terre, de continuité, d'isolement.</a:t>
            </a:r>
          </a:p>
          <a:p>
            <a:pPr>
              <a:defRPr sz="1600"/>
            </a:pPr>
            <a:r>
              <a:t>Les MESURAGES effectués dans le VOISINAGE électrique doivent respecter les dispositions de l'Article 9.</a:t>
            </a:r>
          </a:p>
          <a:p>
            <a:pPr>
              <a:defRPr sz="1600"/>
            </a:pPr>
            <a:r>
              <a:t>Les MESURAGES de grandeurs électriques entraînent pour les OPERATEURS, le plus souvent, le risque de s'approcher de pièces nues sous tension et de manipuler des appareils dont les connexions sont mises en contact avec des pièces nues sous tension, d'une valeur connue ou non connue, mais dont on estime l'ordre de grandeur.</a:t>
            </a:r>
          </a:p>
          <a:p>
            <a:pPr>
              <a:defRPr sz="1600"/>
            </a:pPr>
            <a:r>
              <a:t>Le personnel qui procède à une opération de MESURAGE doit :  · pouvoir identifier la ZONE D'ENVIRONNEMENT dans laquelle il réalise les MESURAGES et appliquer les mesures de protection qui s'y rapportent ;  · utiliser les matériels, outillages et équipements de travail (voir 4.</a:t>
            </a:r>
          </a:p>
          <a:p>
            <a:pPr>
              <a:defRPr sz="1600"/>
            </a:pPr>
            <a:r>
              <a:t>3.</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10.3.3.1.3 Opérations particulières dans la recherche de défauts</a:t>
            </a:r>
          </a:p>
        </p:txBody>
      </p:sp>
      <p:sp>
        <p:nvSpPr>
          <p:cNvPr id="3" name="Content Placeholder 2"/>
          <p:cNvSpPr>
            <a:spLocks noGrp="1"/>
          </p:cNvSpPr>
          <p:nvPr>
            <p:ph idx="1"/>
          </p:nvPr>
        </p:nvSpPr>
        <p:spPr/>
        <p:txBody>
          <a:bodyPr/>
          <a:lstStyle/>
          <a:p>
            <a:pPr>
              <a:defRPr sz="1600"/>
            </a:pPr>
            <a:r>
              <a:t>Des opérations particulières, telles que la suppression d'une protection, l'élimination temporaire d'un verrouillage électrique (par exemple, détecteur de position d'un élément mécanique) et le « forçage &gt; manuel de relais ou de contacteur électromagnétiques visent notamment à s'affranchir, momentanément, d'une sécurité électrique.</a:t>
            </a:r>
          </a:p>
          <a:p>
            <a:pPr>
              <a:defRPr sz="1600"/>
            </a:pPr>
            <a:r>
              <a:t>Elles ne doivent être exécutées qu'après examen des conséquences qu'elles peuvent engendrer et qu'après avoir pris les dispositions permettant d'éviter tout risque (par exemple, mise en mouvement, démarrage involontaire) pour les personnes et pour le matériel.</a:t>
            </a:r>
          </a:p>
          <a:p>
            <a:pPr>
              <a:defRPr sz="1600"/>
            </a:pPr>
            <a:r>
              <a:t>Dans le cas où il existe des procédures de recherche de défauts préparées à l'avance, elles doivent être appliquées.</a:t>
            </a:r>
          </a:p>
          <a:p>
            <a:pPr>
              <a:defRPr sz="1600"/>
            </a:pPr>
            <a:r>
              <a:t>A la fin de l'opération de recherche de défaut, le CHARGE D'INTERVENTION GENERALE doit remettre en ordre les dispositifs sur lesquels il est intervenu, avant de poursuivre les autres étapes de l'INTERVENTION BT GENERALE.</a:t>
            </a:r>
          </a:p>
          <a:p>
            <a:pPr>
              <a:defRPr sz="1600"/>
            </a:pPr>
            <a:r>
              <a:t>Avant la fin de son INTERVENTION BT, il s'assure du bon fonctionnement des dispositifs sur lesquels il est intervenu.</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10.3.3.1.4 Mise en œuvre des operations de connexion et déconnexion de</a:t>
            </a:r>
          </a:p>
        </p:txBody>
      </p:sp>
      <p:sp>
        <p:nvSpPr>
          <p:cNvPr id="3" name="Content Placeholder 2"/>
          <p:cNvSpPr>
            <a:spLocks noGrp="1"/>
          </p:cNvSpPr>
          <p:nvPr>
            <p:ph idx="1"/>
          </p:nvPr>
        </p:nvSpPr>
        <p:spPr/>
        <p:txBody>
          <a:bodyPr/>
          <a:lstStyle/>
          <a:p>
            <a:pPr>
              <a:defRPr sz="1600"/>
            </a:pPr>
            <a:r>
              <a:t>conducteurs, de parties d'installation, de matériel électrique  La CONNEXION et la DECONNEXION en présence de tension de conducteurs, de circuits, de parties d'INSTALLATION, de MATERIEL électrique entraînent pour les OPERATEURS le risque de s'approcher de pièces nues sous tension et de manipuler des outils mis en contact avec des pièces nues sous tension.</a:t>
            </a:r>
          </a:p>
          <a:p>
            <a:pPr>
              <a:defRPr sz="1600"/>
            </a:pPr>
            <a:r>
              <a:t>NF C 18-510  -  130  -  UTE  Elles sont autorisées sous réserve de respecter les conditions et les limitations (en complément du 10.</a:t>
            </a:r>
          </a:p>
          <a:p>
            <a:pPr>
              <a:defRPr sz="1600"/>
            </a:pPr>
            <a:r>
              <a:t>2) ci-après :  · mesurer ou évaluer l'intensité du courant dans le circuit avant de procéder à la connexion/déconnexion ;  · ne connecter ou déconnecter qu'un seul potentiel à la fois ;  · immédiatement après chaque déconnexion, isoler l'extrémité du conducteur au moyen d'un dispositif isolant approprié, tel que capuchon isolant.</a:t>
            </a:r>
          </a:p>
          <a:p>
            <a:pPr>
              <a:defRPr sz="1600"/>
            </a:pPr>
            <a:r>
              <a:t>Le personnel procédant à ces opérations doit  :  · appliquer les mesures de protection qui se rapportent à la ZONE D'ENVIRONNEMENT dans laquelle il opère ;  · utiliser les matériels, outillages et équipements de travail (voir 4.</a:t>
            </a:r>
          </a:p>
          <a:p>
            <a:pPr>
              <a:defRPr sz="1600"/>
            </a:pPr>
            <a:r>
              <a:t>3.</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10.3.3.2 Etape 2 - Elimination du (des) défaut(s), réparation ou remplacement de</a:t>
            </a:r>
          </a:p>
        </p:txBody>
      </p:sp>
      <p:sp>
        <p:nvSpPr>
          <p:cNvPr id="3" name="Content Placeholder 2"/>
          <p:cNvSpPr>
            <a:spLocks noGrp="1"/>
          </p:cNvSpPr>
          <p:nvPr>
            <p:ph idx="1"/>
          </p:nvPr>
        </p:nvSpPr>
        <p:spPr/>
        <p:txBody>
          <a:bodyPr/>
          <a:lstStyle/>
          <a:p>
            <a:pPr>
              <a:defRPr sz="1600"/>
            </a:pPr>
            <a:r>
              <a:t>l'élément défectueux ou d'une partie du matériel électrique  Cette étape, composée de l'élimination du défaut, puis de la réparation ou du remplacement de l'élément défectueux ou d'une partie du MATERIEL doit être effectuée après CONSIGNATION.</a:t>
            </a:r>
          </a:p>
          <a:p>
            <a:pPr>
              <a:defRPr sz="1600"/>
            </a:pPr>
            <a:r>
              <a:t>Les opérations de la CONSIGNATION et les modalités d'application détaillées ci-dessous sont prises en application du 7.</a:t>
            </a:r>
          </a:p>
          <a:p>
            <a:pPr>
              <a:defRPr sz="1600"/>
            </a:pPr>
            <a:r>
              <a:t>1.</a:t>
            </a:r>
          </a:p>
          <a:p>
            <a:pPr>
              <a:defRPr sz="1600"/>
            </a:pPr>
            <a:r>
              <a:t>5.</a:t>
            </a:r>
          </a:p>
          <a:p>
            <a:pPr>
              <a:defRPr sz="1600"/>
            </a:pPr>
            <a:r>
              <a:t>1.</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10.3.3.3 Etape 3 : Réglages et vérification du fonctionnement du matériel électrique</a:t>
            </a:r>
          </a:p>
        </p:txBody>
      </p:sp>
      <p:sp>
        <p:nvSpPr>
          <p:cNvPr id="3" name="Content Placeholder 2"/>
          <p:cNvSpPr>
            <a:spLocks noGrp="1"/>
          </p:cNvSpPr>
          <p:nvPr>
            <p:ph idx="1"/>
          </p:nvPr>
        </p:nvSpPr>
        <p:spPr/>
        <p:txBody>
          <a:bodyPr/>
          <a:lstStyle/>
          <a:p>
            <a:pPr>
              <a:defRPr sz="1600"/>
            </a:pPr>
            <a:r>
              <a:t>ou de l'appareil après réparation  Après la réparation, les réglages et la vérification du fonctionnement du MATERIEL ou de la partie d'INSTALLATION électrique peuvent nécessiter la remise sous tension du MATERIEL électrique ou de la partie d'INSTALLATION concernée.</a:t>
            </a:r>
          </a:p>
          <a:p>
            <a:pPr>
              <a:defRPr sz="1600"/>
            </a:pPr>
            <a:r>
              <a:t>Le CHARGE D'INTERVENTION GENERALE doit s'assurer que les réglages ou les réparations répondent aux critères de fonctionnement du MATERIEL électrique ou de l'INSTALLATION sur lequel il opère.</a:t>
            </a:r>
          </a:p>
          <a:p>
            <a:pPr>
              <a:defRPr sz="1600"/>
            </a:pPr>
            <a:r>
              <a:t>Il peut alors, au besoin, reprendre les opérations de contrôle, d'ESSAIS et de MESURAGE.</a:t>
            </a:r>
          </a:p>
          <a:p>
            <a:pPr>
              <a:defRPr sz="1600"/>
            </a:pPr>
            <a:r>
              <a:t>L'INTERVENTION BT GENERALE est considérée comme terminée, si le MATERIEL électrique ou la partie d'INSTALLATION sur lequel il est intervenu fonctionne :  · avec les organes affectés à la commande (boutons de commande, interrupteurs, etc.</a:t>
            </a:r>
          </a:p>
          <a:p>
            <a:pPr>
              <a:defRPr sz="1600"/>
            </a:pPr>
            <a:r>
              <a:t>) ;  · avec les réglages normaux (de course, de niveau, de température, etc.</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10.3.3.4 Fin de l'intervention BT</a:t>
            </a:r>
          </a:p>
        </p:txBody>
      </p:sp>
      <p:sp>
        <p:nvSpPr>
          <p:cNvPr id="3" name="Content Placeholder 2"/>
          <p:cNvSpPr>
            <a:spLocks noGrp="1"/>
          </p:cNvSpPr>
          <p:nvPr>
            <p:ph idx="1"/>
          </p:nvPr>
        </p:nvSpPr>
        <p:spPr/>
        <p:txBody>
          <a:bodyPr/>
          <a:lstStyle/>
          <a:p>
            <a:pPr>
              <a:defRPr sz="1600"/>
            </a:pPr>
            <a:r>
              <a:t>En fin d'INTERVENTION BT GENERALE, le CHARGE D'INTERVENTION GENERALE :  · veille à la remise en situation de service du MATERIEL ou de la partie de l'INSTALLATION, notamment à la fermeture des capots et des portes et à la remise en place de toutes les protections électriques et mécaniques qu'il a été conduit à ouvrir, déposer, démonter ;  · remet le MATERIEL électrique ou la partie d'INSTALLATION au responsable de l'INSTALLATION ou au CHEF D'ETABLISSEMENT ou au CHARGE D'EXPLOITATION ELECTRIQUE ;  · rend compte de la nature des opérations effectuées, provisoire ou définitive, en suivant les instructions reçues et en utilisant les formulaires en usage dans l'établissement pour cette INSTALLATION.</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10.3.4 Opérations particulières de connexion et de déconnexion</a:t>
            </a:r>
          </a:p>
        </p:txBody>
      </p:sp>
      <p:sp>
        <p:nvSpPr>
          <p:cNvPr id="3" name="Content Placeholder 2"/>
          <p:cNvSpPr>
            <a:spLocks noGrp="1"/>
          </p:cNvSpPr>
          <p:nvPr>
            <p:ph idx="1"/>
          </p:nvPr>
        </p:nvSpPr>
        <p:spPr/>
        <p:txBody>
          <a:bodyPr/>
          <a:lstStyle/>
          <a:p>
            <a:pPr>
              <a:defRPr sz="1600"/>
            </a:pPr>
            <a:r>
              <a:t>En respectant les prescriptions générales des INTERVENTIONS BT GENERALES, le CHARGE D'INTERVENTION GENERALE, habilité symbole BR, est autorisé à réaliser des CONNEXIONS et des DECONNEXIONS définies au 10.</a:t>
            </a:r>
          </a:p>
          <a:p>
            <a:pPr>
              <a:defRPr sz="1600"/>
            </a:pPr>
            <a:r>
              <a:t>3.</a:t>
            </a:r>
          </a:p>
          <a:p>
            <a:pPr>
              <a:defRPr sz="1600"/>
            </a:pPr>
            <a:r>
              <a:t>3.</a:t>
            </a:r>
          </a:p>
          <a:p>
            <a:pPr>
              <a:defRPr sz="1600"/>
            </a:pPr>
            <a:r>
              <a:t>1.</a:t>
            </a:r>
          </a:p>
          <a:p>
            <a:pPr>
              <a:defRPr sz="1600"/>
            </a:pPr>
            <a:r>
              <a:t>4, pour effectuer des opérations telles que :  · mise en service d'un MATERIEL ou d'une partie d'INSTALLATION ;  · maintenance ponctuelle ;.</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10.4.1 Généralités</a:t>
            </a:r>
          </a:p>
        </p:txBody>
      </p:sp>
      <p:sp>
        <p:nvSpPr>
          <p:cNvPr id="3" name="Content Placeholder 2"/>
          <p:cNvSpPr>
            <a:spLocks noGrp="1"/>
          </p:cNvSpPr>
          <p:nvPr>
            <p:ph idx="1"/>
          </p:nvPr>
        </p:nvSpPr>
        <p:spPr/>
        <p:txBody>
          <a:bodyPr/>
          <a:lstStyle/>
          <a:p>
            <a:pPr>
              <a:defRPr sz="1600"/>
            </a:pPr>
            <a:r>
              <a:t>Une INTERVENTION BT ELEMENTAIRE est une OPERATION D'ORDRE ELECTRIQUE simple, qui doit être exécutée exclusivement hors tension et hors ZONE DE VOISINAGE RENFORCE BT (zone 4) par un CHARGE D'INTERVENTION ELEMENTAIRE habilité symbole BS.</a:t>
            </a:r>
          </a:p>
          <a:p>
            <a:pPr>
              <a:defRPr sz="1600"/>
            </a:pPr>
            <a:r>
              <a:t>Le champ d'application d'une INTERVENTION BT ELEMENTAIRE est strictement limité :  · au remplacement à l'identique d'un fusible BT effectué après avoir vérifié l'absence de tension de part et d'autre du fusible.</a:t>
            </a:r>
          </a:p>
          <a:p>
            <a:pPr>
              <a:defRPr sz="1600"/>
            </a:pPr>
            <a:r>
              <a:t>Toutefois, lorsque l'élément de remplacement à fusion enfermée est monte dans un appareil assurant la protection de l'OPERATEUR contre les risques de contact direct et de projection en cas de fermeture sur court-circuit, il n'y a pas lieu de vérifier la MISE HORS TENSION ;  · au remplacement à l'identique d'une lampe, d'un accessoire d'appareil d'éclairage, d'une prise de courant ou d'un interrupteur ;  · au raccordement d'un élément de MATERIEL électrique à un circuit en attente, protégé contre les courts-circuits (par exemple, le raccordement d'un circulateur de chauffage) ;  · au réarmement d'un dispositif de protection sur une installation et dans un ENVIRONNEMENT qui garantissent la sécurité de l'OPERATEUR.</a:t>
            </a:r>
          </a:p>
          <a:p>
            <a:pPr>
              <a:defRPr sz="1600"/>
            </a:pPr>
            <a:r>
              <a:t>Toute autre opération est exclue de son champ d'application.</a:t>
            </a:r>
          </a:p>
          <a:p>
            <a:pPr>
              <a:defRPr sz="1600"/>
            </a:pPr>
            <a:r>
              <a:t>Un CHARGE D'INTERVENTION ELEMENTAIRE n'a pas d'EXECUTANT sous ses ordres.</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10.4.2 Organisation</a:t>
            </a:r>
          </a:p>
        </p:txBody>
      </p:sp>
      <p:sp>
        <p:nvSpPr>
          <p:cNvPr id="3" name="Content Placeholder 2"/>
          <p:cNvSpPr>
            <a:spLocks noGrp="1"/>
          </p:cNvSpPr>
          <p:nvPr>
            <p:ph idx="1"/>
          </p:nvPr>
        </p:nvSpPr>
        <p:spPr/>
        <p:txBody>
          <a:bodyPr/>
          <a:lstStyle/>
          <a:p>
            <a:pPr>
              <a:defRPr sz="1600"/>
            </a:pPr>
            <a:r>
              <a:t>Le CHARGE D'INTERVENTION ELEMENTAIRE est titulaire d'une HABILITATION symbole BS.</a:t>
            </a:r>
          </a:p>
          <a:p>
            <a:pPr>
              <a:defRPr sz="1600"/>
            </a:pPr>
            <a:r>
              <a:t>Son titre d'HABILITATION precise son périmètre d'INTERVENTION BT.</a:t>
            </a:r>
          </a:p>
          <a:p>
            <a:pPr>
              <a:defRPr sz="1600"/>
            </a:pPr>
            <a:r>
              <a:t>Il doit disposer du matériel, des outillages, des équipements et vêtements de travail adaptés à sa mission et, notamment, d'une paire de gants isolants et d'un DISPOSITIF DE VERIFICATION D'ABSENCE DE TENSION.</a:t>
            </a:r>
          </a:p>
          <a:p>
            <a:pPr>
              <a:defRPr sz="1600"/>
            </a:pPr>
            <a:r>
              <a:t>Il intervient sur ordre de son EMPLOYEUR dans le cadre des missions et tâches qui lui sont confiées et des INSTRUCTIONS DE SECURITE qui lui sont applicables.</a:t>
            </a:r>
          </a:p>
          <a:p>
            <a:pPr>
              <a:defRPr sz="1600"/>
            </a:pPr>
            <a:r>
              <a:t>Du fait de sa formation, il doit :  · savoir apprécier si la tâche qui lui est demandée relève bien du domaine d'application d'une INTERVENTION BT ELEMENTAIRE ;  · savoir mettre hors tension pour son propre compte et, à ce titre, utiliser un DISPOSITIF DE VERIFICATION D'ABSENCE DE TENSION ;  · savoir exécuter les tâches de remplacement et de raccordement qui lui sont confiées en se conformant aux instructions reçues.</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10.4.3 Déroulement d'une intervention BT élémentaire</a:t>
            </a:r>
          </a:p>
        </p:txBody>
      </p:sp>
      <p:sp>
        <p:nvSpPr>
          <p:cNvPr id="3" name="Content Placeholder 2"/>
          <p:cNvSpPr>
            <a:spLocks noGrp="1"/>
          </p:cNvSpPr>
          <p:nvPr>
            <p:ph idx="1"/>
          </p:nvPr>
        </p:nvSpPr>
        <p:spPr/>
        <p:txBody>
          <a:bodyPr/>
          <a:lstStyle/>
          <a:p>
            <a:pPr>
              <a:defRPr sz="1600"/>
            </a:pPr>
            <a:r>
              <a:t>Toute INTERVENTION BT ELEMENTAIRE doit faire l'objet d'une preparation avant l'INTERVENTION BT et d'une analyse complementaire sur le lieu de travail.</a:t>
            </a:r>
          </a:p>
          <a:p>
            <a:pPr>
              <a:defRPr sz="1600"/>
            </a:pPr>
            <a:r>
              <a:t>A ce titre, le CHARGE D'INTERVENTION ELEMENTAIRE :  · ne peut intervenir que sur ordre formalisé de son EMPLOYEUR et, si elle existe, dans le cadre d'une INSTRUCTION DE SECURITE ;  · recueille, sur place, l'accord formalisé du CHARGE D'EXPLOITATION ELECTRIQUE ou, à défaut, les instructions de la personne responsable de l'INSTALLATION.</a:t>
            </a:r>
          </a:p>
          <a:p>
            <a:pPr>
              <a:defRPr sz="1600"/>
            </a:pPr>
            <a:r>
              <a:t>UTE  -  133  -  NF C 18-510  En tenant compte des éléments ci-dessus, le CHARGE D'INTERVENTION ELEMENTAIRE :.</a:t>
            </a:r>
          </a:p>
          <a:p>
            <a:pPr>
              <a:defRPr sz="1600"/>
            </a:pPr>
            <a:r>
              <a:t>s'assure qu'il n'y a pas de pièces nues sous tension dans son périmètre d'INTERVENTION BT;.</a:t>
            </a:r>
          </a:p>
          <a:p>
            <a:pPr>
              <a:defRPr sz="1600"/>
            </a:pPr>
            <a:r>
              <a:t>réalise la MISE HORS TENSION pour son propre compte (PREIDENTIFICATION, SEPARATION, CONDAMNATION conformément au 7.</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10.5 Rôle des différents acteurs</a:t>
            </a:r>
          </a:p>
        </p:txBody>
      </p:sp>
      <p:sp>
        <p:nvSpPr>
          <p:cNvPr id="3" name="Content Placeholder 2"/>
          <p:cNvSpPr>
            <a:spLocks noGrp="1"/>
          </p:cNvSpPr>
          <p:nvPr>
            <p:ph idx="1"/>
          </p:nvPr>
        </p:nvSpPr>
        <p:spPr/>
        <p:txBody>
          <a:bodyPr/>
          <a:lstStyle/>
          <a:p>
            <a:pPr>
              <a:defRPr sz="1600"/>
            </a:pPr>
            <a:r>
              <a:t>Pour qu'une INTERVENTION BT se deroule dans le respect des exigences du présent document, le CHEF D'ETABLISSEMENT, le CHARGE D'EXPLOITATION ELECTRIQUE et le CHARGE D'INTERVENTION doivent respecter les dispositions suivantes.</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10.5.1 Rôle de l'employeur</a:t>
            </a:r>
          </a:p>
        </p:txBody>
      </p:sp>
      <p:sp>
        <p:nvSpPr>
          <p:cNvPr id="3" name="Content Placeholder 2"/>
          <p:cNvSpPr>
            <a:spLocks noGrp="1"/>
          </p:cNvSpPr>
          <p:nvPr>
            <p:ph idx="1"/>
          </p:nvPr>
        </p:nvSpPr>
        <p:spPr/>
        <p:txBody>
          <a:bodyPr/>
          <a:lstStyle/>
          <a:p>
            <a:pPr>
              <a:defRPr sz="1600"/>
            </a:pPr>
            <a:r>
              <a:t>Parmi les tâches qui lui incombent en application des dispositions du 4.</a:t>
            </a:r>
          </a:p>
          <a:p>
            <a:pPr>
              <a:defRPr sz="1600"/>
            </a:pPr>
            <a:r>
              <a:t>5.</a:t>
            </a:r>
          </a:p>
          <a:p>
            <a:pPr>
              <a:defRPr sz="1600"/>
            </a:pPr>
            <a:r>
              <a:t>2.</a:t>
            </a:r>
          </a:p>
          <a:p>
            <a:pPr>
              <a:defRPr sz="1600"/>
            </a:pPr>
            <a:r>
              <a:t>1.</a:t>
            </a:r>
          </a:p>
          <a:p>
            <a:pPr>
              <a:defRPr sz="1600"/>
            </a:pPr>
            <a:r>
              <a:t>1, l'EMPLOYEUR du personnel intervenant veille, particulièrement, à :  · s'assurer de la formation du personnel amené à réaliser une INTERVENTION BT ;  · définir le cadre et les limites de l'INTERVENTION BT, notamment ce qui est interdit ;  · désigner un CHARGE D'INTERVENTION dont la compétence est adaptée aux tâches qu'il lui confie ;  · donner l'ordre d'INTERVENTION formalisé, ponctuel ou permanent ;  · fournir à son personnel les équipements et matériels nécessaires à l'exécution en sécurité des INTERVENTIONS BT ;  · élaborer ou faire élaborer une INSTRUCTION DE SECURITE précisant les conditions d'exécution de l'INTERVENTION BT et la communiquer à son personnel.</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10.5.2 Rôle du chef d'établissement</a:t>
            </a:r>
          </a:p>
        </p:txBody>
      </p:sp>
      <p:sp>
        <p:nvSpPr>
          <p:cNvPr id="3" name="Content Placeholder 2"/>
          <p:cNvSpPr>
            <a:spLocks noGrp="1"/>
          </p:cNvSpPr>
          <p:nvPr>
            <p:ph idx="1"/>
          </p:nvPr>
        </p:nvSpPr>
        <p:spPr/>
        <p:txBody>
          <a:bodyPr/>
          <a:lstStyle/>
          <a:p>
            <a:pPr>
              <a:defRPr sz="1600"/>
            </a:pPr>
            <a:r>
              <a:t>Parmi les tâches qui lui incombent en application des dispositions du 4.</a:t>
            </a:r>
          </a:p>
          <a:p>
            <a:pPr>
              <a:defRPr sz="1600"/>
            </a:pPr>
            <a:r>
              <a:t>5.</a:t>
            </a:r>
          </a:p>
          <a:p>
            <a:pPr>
              <a:defRPr sz="1600"/>
            </a:pPr>
            <a:r>
              <a:t>2.</a:t>
            </a:r>
          </a:p>
          <a:p>
            <a:pPr>
              <a:defRPr sz="1600"/>
            </a:pPr>
            <a:r>
              <a:t>1.</a:t>
            </a:r>
          </a:p>
          <a:p>
            <a:pPr>
              <a:defRPr sz="1600"/>
            </a:pPr>
            <a:r>
              <a:t>2, le CHEF D'ETABLISSEMENT en charge de l'INSTALLATION électrique veille particulièrement à :  · définir les PROCEDURES D'ACCES, DE SUIVI ET DE CONTROLE  ;  · donner au CHARGE D'INTERVENTION l'accès aux INSTALLATIONS ;  · organiser la mise à jour des plans de l'INSTALLATION à l'issue de l'INTERVENTION.</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10.5.3 Rôle du donneur d'ordre</a:t>
            </a:r>
          </a:p>
        </p:txBody>
      </p:sp>
      <p:sp>
        <p:nvSpPr>
          <p:cNvPr id="3" name="Content Placeholder 2"/>
          <p:cNvSpPr>
            <a:spLocks noGrp="1"/>
          </p:cNvSpPr>
          <p:nvPr>
            <p:ph idx="1"/>
          </p:nvPr>
        </p:nvSpPr>
        <p:spPr/>
        <p:txBody>
          <a:bodyPr/>
          <a:lstStyle/>
          <a:p>
            <a:pPr>
              <a:defRPr sz="1600"/>
            </a:pPr>
            <a:r>
              <a:t>Le DONNEUR D'ORDRE, lorsqu'il demande des INTERVENTIONS BT, doit :  · avoir connaissance de la nature de l'INTERVENTION BT et des risques qui existent dans L'INSTALLATION sur laquelle l'INTERVENTION BT est réalisée ;.</a:t>
            </a:r>
          </a:p>
          <a:p>
            <a:pPr>
              <a:defRPr sz="1600"/>
            </a:pPr>
            <a:r>
              <a:t>informer en conséquence l'EMPLOYEUR de l'ENTREPRISE EXTERIEURE, qui veille à l'établissement et à la mise en œuvre pour son propre personnel ;  · organiser, si nécessaire, la coordination des travaux avec l'ENTREPRISE EXTERIEURE.</a:t>
            </a:r>
          </a:p>
          <a:p>
            <a:pPr>
              <a:defRPr sz="1600"/>
            </a:pPr>
            <a:r>
              <a:t>NF C 18-510  -  134  -  UTE.</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10.5.4 Rôle du chargé d'exploitation électrique</a:t>
            </a:r>
          </a:p>
        </p:txBody>
      </p:sp>
      <p:sp>
        <p:nvSpPr>
          <p:cNvPr id="3" name="Content Placeholder 2"/>
          <p:cNvSpPr>
            <a:spLocks noGrp="1"/>
          </p:cNvSpPr>
          <p:nvPr>
            <p:ph idx="1"/>
          </p:nvPr>
        </p:nvSpPr>
        <p:spPr/>
        <p:txBody>
          <a:bodyPr/>
          <a:lstStyle/>
          <a:p>
            <a:pPr>
              <a:defRPr sz="1600"/>
            </a:pPr>
            <a:r>
              <a:t>Le CHARGE D'EXPLOITATION ELECTRIQUE, S'il existe, doit :  · prendre toutes les mesures de protection vis-à-vis de l'ENVIRONNEMENT électrique, en appliquant les prescriptions de l'Article 9 ;  · appliquer et faire appliquer la PROCEDURE D'ACCES, DE SUIVI ET DE CONTROLE ;  · coordonner la ou les INTERVENTIONS BT en cours ;  · définir le cadre et les limites de l'INTERVENTION BT, notamment ce qui est interdit, et confirmer la faisabilité de l'INTERVENTION BT;  · donner au CHARGE D'INTERVENTION l'accès aux INSTALLATIONS ;  · s'informer du début et de la fin de l'INTERVENTION BT ;  · s'assurer que le CHARGE D'INTERVENTION dispose de l'ensemble des éléments (plans, schemas, classement des locaux, etc.</a:t>
            </a:r>
          </a:p>
          <a:p>
            <a:pPr>
              <a:defRPr sz="1600"/>
            </a:pPr>
            <a:r>
              <a:t>) du dossier technique de l'INSTALLATION, notamment ceux répondant à la règlementation en cours ;  · à l'issue de l'INTERVENTION BT, appliquer les dispositions prévues pour la mise à jour des plans.</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10.5.5 Rôle de la personne donnant accès à l'installation</a:t>
            </a:r>
          </a:p>
        </p:txBody>
      </p:sp>
      <p:sp>
        <p:nvSpPr>
          <p:cNvPr id="3" name="Content Placeholder 2"/>
          <p:cNvSpPr>
            <a:spLocks noGrp="1"/>
          </p:cNvSpPr>
          <p:nvPr>
            <p:ph idx="1"/>
          </p:nvPr>
        </p:nvSpPr>
        <p:spPr/>
        <p:txBody>
          <a:bodyPr/>
          <a:lstStyle/>
          <a:p>
            <a:pPr>
              <a:defRPr sz="1600"/>
            </a:pPr>
            <a:r>
              <a:t>Lorsqu'il n'existe pas de CHARGE D'EXPLOITATION ELECTRIQUE, le CHEF D'ETABLISSEMENT autorise lui-même l'accès à l'INSTALLATION, la MISE HORS TENSION et la remise sous tension, ou délègue ces missions à une personne désignée.</a:t>
            </a:r>
          </a:p>
          <a:p>
            <a:pPr>
              <a:defRPr sz="1600"/>
            </a:pPr>
            <a:r>
              <a:t>Lorsque l'INTERVENTION BT est initiée par un particulier, son rôle se borne à donner l'accès, à autoriser la CONSIGNATION ou la MISE HORS TENSION et la remise sous tension, et à répondre aux questions que peut poser le CHARGE D'INTERVENTION.</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10.5.6 Rôle du charge d'intervention générale</a:t>
            </a:r>
          </a:p>
        </p:txBody>
      </p:sp>
      <p:sp>
        <p:nvSpPr>
          <p:cNvPr id="3" name="Content Placeholder 2"/>
          <p:cNvSpPr>
            <a:spLocks noGrp="1"/>
          </p:cNvSpPr>
          <p:nvPr>
            <p:ph idx="1"/>
          </p:nvPr>
        </p:nvSpPr>
        <p:spPr/>
        <p:txBody>
          <a:bodyPr/>
          <a:lstStyle/>
          <a:p>
            <a:pPr>
              <a:defRPr sz="1600"/>
            </a:pPr>
            <a:r>
              <a:t>Parmi les tâches qui lui incombent, le CHARGE D'INTERVENTION GENERALE veille particulièrement à :  · analyser les risques, notamment ceux dus à la présence de pièces nues sous tension accessibles et situées dans le VOISINAGE ou sur lesquelles il doit intervenir ;  · s'assurer qu'il intervient dans le cadre d'une INTERVENTION BT conformément à son titre d'HABILITATION ;  · respecter la PROCEDURE D'ACCES, DE SUIVI ET DE CONTROLE ;.</a:t>
            </a:r>
          </a:p>
          <a:p>
            <a:pPr>
              <a:defRPr sz="1600"/>
            </a:pPr>
            <a:r>
              <a:t>appliquer les dispositions issues de l'analyse du risque électrique (PHASES DE TRAVAIL, tâches individuelles et situation de travail associée) ;  · prendre toutes les mesures de protection vis-à-vis de l'ENVIRONNEMENT électrique, en appliquant les prescriptions de l'Article 9 ;  · mettre en œuvre les moyens de protection collective et individuelle qu'il juge nécessaires pour lui, pour la protection des tiers et, le cas échéant, pour son EXECUTANT ;  · confier à son EXECUTANT éventuel des tâches compatibles avec l'HABILITATION de celui-ci ;  · agir conformément aux instructions données par son EMPLOYEUR.</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10.5.7 Rôle du chargé d'intervention élémentaire</a:t>
            </a:r>
          </a:p>
        </p:txBody>
      </p:sp>
      <p:sp>
        <p:nvSpPr>
          <p:cNvPr id="3" name="Content Placeholder 2"/>
          <p:cNvSpPr>
            <a:spLocks noGrp="1"/>
          </p:cNvSpPr>
          <p:nvPr>
            <p:ph idx="1"/>
          </p:nvPr>
        </p:nvSpPr>
        <p:spPr/>
        <p:txBody>
          <a:bodyPr/>
          <a:lstStyle/>
          <a:p>
            <a:pPr>
              <a:defRPr sz="1600"/>
            </a:pPr>
            <a:r>
              <a:t>Parmi les tâches qui lui incombent, le CHARGE D'INTERVENTION ELEMENTAIRE veille particulièrement à :.</a:t>
            </a:r>
          </a:p>
          <a:p>
            <a:pPr>
              <a:defRPr sz="1600"/>
            </a:pPr>
            <a:r>
              <a:t>s'assurer qu'il intervient dans le cadre d'une INTERVENTION BT ELEMENTAIRES conformément à son titre d'HABILITATION ;  · respecter la PROCEDURE D'ACCES, DE SUIVI ET DE CONTROLE ;  · agir conformément aux instructions données par son EMPLOYEUR ;  · mettre hors tension, dans tous les cas, avant de réaliser son INTERVENTION BT proprement dite.</a:t>
            </a:r>
          </a:p>
          <a:p>
            <a:pPr>
              <a:defRPr sz="1600"/>
            </a:pPr>
            <a:r>
              <a:t>UTE  -  135  -  NF C 18-510.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10.5.8 Rôle de l'exécutant</a:t>
            </a:r>
          </a:p>
        </p:txBody>
      </p:sp>
      <p:sp>
        <p:nvSpPr>
          <p:cNvPr id="3" name="Content Placeholder 2"/>
          <p:cNvSpPr>
            <a:spLocks noGrp="1"/>
          </p:cNvSpPr>
          <p:nvPr>
            <p:ph idx="1"/>
          </p:nvPr>
        </p:nvSpPr>
        <p:spPr/>
        <p:txBody>
          <a:bodyPr/>
          <a:lstStyle/>
          <a:p>
            <a:pPr>
              <a:defRPr sz="1600"/>
            </a:pPr>
            <a:r>
              <a:t>Lorsqu'un EXECUTANT est requis pour une INTERVENTION BT GENERALE, il doit être désigné par son EMPLOYEUR pour assister le CHARGE D'INTERVENTION GENERALE.</a:t>
            </a:r>
          </a:p>
          <a:p>
            <a:pPr>
              <a:defRPr sz="1600"/>
            </a:pPr>
            <a:r>
              <a:t>Il assure sa propre sécurité.</a:t>
            </a:r>
          </a:p>
          <a:p>
            <a:pPr>
              <a:defRPr sz="1600"/>
            </a:pPr>
            <a:r>
              <a:t>L'EXECUTANT doit opérer sous les ordres d'un CHARGE D'INTERVENTION GENERALE.</a:t>
            </a:r>
          </a:p>
          <a:p>
            <a:pPr>
              <a:defRPr sz="1600"/>
            </a:pPr>
            <a:r>
              <a:t>Il ne peut pas opérer seul.</a:t>
            </a:r>
          </a:p>
          <a:p>
            <a:pPr>
              <a:defRPr sz="1600"/>
            </a:pPr>
            <a:r>
              <a:t>Il doit être titulaire d'un titre d'HABILITATION correspondant aux tâches qui lui sont confiées (symboles B1 ou B1V).</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10.6 Formation Habilitation à la prévention du risque électrique et</a:t>
            </a:r>
          </a:p>
        </p:txBody>
      </p:sp>
      <p:sp>
        <p:nvSpPr>
          <p:cNvPr id="3" name="Content Placeholder 2"/>
          <p:cNvSpPr>
            <a:spLocks noGrp="1"/>
          </p:cNvSpPr>
          <p:nvPr>
            <p:ph idx="1"/>
          </p:nvPr>
        </p:nvSpPr>
        <p:spPr/>
        <p:txBody>
          <a:bodyPr/>
          <a:lstStyle/>
          <a:p>
            <a:pPr>
              <a:defRPr sz="1600"/>
            </a:pPr>
            <a:r>
              <a:t>Les prescriptions des paragraphes suivants viennent en complément des prescriptions générales de l'Article 5.</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10.6.1 Formation du chargé d'intervention générale</a:t>
            </a:r>
          </a:p>
        </p:txBody>
      </p:sp>
      <p:sp>
        <p:nvSpPr>
          <p:cNvPr id="3" name="Content Placeholder 2"/>
          <p:cNvSpPr>
            <a:spLocks noGrp="1"/>
          </p:cNvSpPr>
          <p:nvPr>
            <p:ph idx="1"/>
          </p:nvPr>
        </p:nvSpPr>
        <p:spPr/>
        <p:txBody>
          <a:bodyPr/>
          <a:lstStyle/>
          <a:p>
            <a:pPr>
              <a:defRPr sz="1600"/>
            </a:pPr>
            <a:r>
              <a:t>La formation à la prévention du risque électrique et l'HABILITATION aux INTERVENTIONS BT GENERALES doivent être précédées d'une expérience pratique des TRAVAUX HORS TENSION dans le même domaine de tension et de même nature, ou d'une expérience équivalente.</a:t>
            </a:r>
          </a:p>
          <a:p>
            <a:pPr>
              <a:defRPr sz="1600"/>
            </a:pPr>
            <a:r>
              <a:t>La formation d'une PERSONNE HABILITEE symbole BR doit être adaptée au type d'INTERVENTION BT GENERALE qu'elle est appelée à pratiquer.</a:t>
            </a:r>
          </a:p>
          <a:p>
            <a:pPr>
              <a:defRPr sz="1600"/>
            </a:pPr>
            <a:r>
              <a:t>Les programmes de formation à l'HABILITATION symbole BR doivent, notamment, comprendre les points suivants :  · la spécificité de l'INTERVENTION BT GENERALE ;  · la consignation pour son propre compte ;  · la pose et la dépose de protections isolantes en présence de tension BT (comme pour la formation à l'HABILITATION symbole B1V) pour intervenir dans la zone 4 ;.</a:t>
            </a:r>
          </a:p>
          <a:p>
            <a:pPr>
              <a:defRPr sz="1600"/>
            </a:pPr>
            <a:r>
              <a:t>le travail en présence de tension pour pouvoir realiser les CONNEXIONS et les DECONNEXIONS, MESURAGES, OPERATIONS particulières, etc.</a:t>
            </a:r>
          </a:p>
          <a:p>
            <a:pPr>
              <a:defRPr sz="1600"/>
            </a:pPr>
            <a:r>
              <a:t>;  · la réalisation en sécurité des MESURAGES ;  · l'organisation de l'INTERVENTION BT ;  · la protection vis-à-vis du risque électrique et des autres risques éventuels ;  · les PROCEDURES D'ACCES, DE SUIVI ET DE CONTROLE ;  · l'encadrement d'un EXECUTANT ;  · l'usage des EPI ;  · la remise sous tension.</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10.6.2 Formation du chargé d'intervention élémentaire</a:t>
            </a:r>
          </a:p>
        </p:txBody>
      </p:sp>
      <p:sp>
        <p:nvSpPr>
          <p:cNvPr id="3" name="Content Placeholder 2"/>
          <p:cNvSpPr>
            <a:spLocks noGrp="1"/>
          </p:cNvSpPr>
          <p:nvPr>
            <p:ph idx="1"/>
          </p:nvPr>
        </p:nvSpPr>
        <p:spPr/>
        <p:txBody>
          <a:bodyPr/>
          <a:lstStyle/>
          <a:p>
            <a:pPr>
              <a:defRPr sz="1600"/>
            </a:pPr>
            <a:r>
              <a:t>La formation à la prévention du risque électrique de la PERSONNE HABILITEE symbole BS doit être adaptée au type d'INTERVENTION BT ELEMENTAIRE qu'elle est appelée à pratiquer.</a:t>
            </a:r>
          </a:p>
          <a:p>
            <a:pPr>
              <a:defRPr sz="1600"/>
            </a:pPr>
            <a:r>
              <a:t>Les programmes de formation à l'HABILITATION symbole BS doivent, notamment, comprendre les points suivants :  · la spécificité de l'INTERVENTION BT ELEMENTAIRE ;  · la mise en situation pour l'INTERVENTION BT ELEMENTAIRE ;  · le raccordement des conducteurs sur bornier de puissance ou de commande d'un circuit en attente et hors tension ;.</a:t>
            </a:r>
          </a:p>
          <a:p>
            <a:pPr>
              <a:defRPr sz="1600"/>
            </a:pPr>
            <a:r>
              <a:t>la MISE HORS TENSION pour son propre compte ;  · les PROCEDURES D'ACCES, DE SUIVI ET DE CONTROLE ;.</a:t>
            </a:r>
          </a:p>
          <a:p>
            <a:pPr>
              <a:defRPr sz="1600"/>
            </a:pPr>
            <a:r>
              <a:t>l'organisation et la protection de son INTERVENTION BT ;  · la remise sous tension.</a:t>
            </a:r>
          </a:p>
          <a:p>
            <a:pPr>
              <a:defRPr sz="1600"/>
            </a:pPr>
            <a:r>
              <a:t>NF C 18-510  -  136  -  UTE  (Page blanche)  UTE  -  137  -  NF C 18-510.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OPERATIONS SPECIFIQUES D'ESSAI, DE MESURAGE, DE VÉRIFICATION ET</a:t>
            </a:r>
          </a:p>
        </p:txBody>
      </p:sp>
      <p:sp>
        <p:nvSpPr>
          <p:cNvPr id="3" name="Content Placeholder 2"/>
          <p:cNvSpPr>
            <a:spLocks noGrp="1"/>
          </p:cNvSpPr>
          <p:nvPr>
            <p:ph idx="1"/>
          </p:nvPr>
        </p:nvSpPr>
        <p:spPr/>
        <p:txBody>
          <a:bodyPr/>
          <a:lstStyle/>
          <a:p>
            <a:pPr>
              <a:defRPr sz="1600"/>
            </a:pPr>
            <a:r>
              <a:t>DE MANŒUVRE  Cet article énonce les prescriptions relatives aux OPERATIONS SPECIFIQUES d'ESSAI, de MESURAGE, de VERIFICATION et de MANŒUVRE portant sur les OUVRAGES ou les INSTALLATIONS électriques et réalisées par des OPERATEURS uniquement dedies à ce type d'OPERATIONS.</a:t>
            </a:r>
          </a:p>
          <a:p>
            <a:pPr>
              <a:defRPr sz="1600"/>
            </a:pPr>
            <a:r>
              <a:t>II s'appuie sur l'Article 10 pour les INTERVENTIONS BT et sur les Articles 7, 8 et 9, pour les TRAVAUX.</a:t>
            </a:r>
          </a:p>
          <a:p>
            <a:pPr>
              <a:defRPr sz="1600"/>
            </a:pPr>
            <a:r>
              <a:t>Il développe les ESSAIS, les MESURAGES, les VERIFICATIONS et les MANŒUVRES et propose pour des personnes formées et n'ayant que ces natures d'OPERATIONS à faire, le symbole d'HABILITATION dedie.</a:t>
            </a:r>
          </a:p>
          <a:p>
            <a:pPr>
              <a:defRPr sz="1600"/>
            </a:pPr>
            <a:r>
              <a:t>Ce symbole est constitué des lettres BE ou HE suivant le domaine de tension et d'un attribut obligatoire.</a:t>
            </a:r>
          </a:p>
          <a:p>
            <a:pPr>
              <a:defRPr sz="1600"/>
            </a:pPr>
            <a:r>
              <a:t>Un EMPLOYEUR, peut confier a une personne detenant un autre titre d'HABILITATION la réalisation d'ESSAIS, de MESURAGES, de VERIFICATIONS ou de MANŒUVRES si, après une analyse de risque électrique, il s'avère que le titre d'HABILITATION dont dispose la personne, lui permet de maîtriser la prévention du risque électrique avec le même niveau de sécurité que celui du titre d'HABILITATION dedie.</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11.1 Présentation</a:t>
            </a:r>
          </a:p>
        </p:txBody>
      </p:sp>
      <p:sp>
        <p:nvSpPr>
          <p:cNvPr id="3" name="Content Placeholder 2"/>
          <p:cNvSpPr>
            <a:spLocks noGrp="1"/>
          </p:cNvSpPr>
          <p:nvPr>
            <p:ph idx="1"/>
          </p:nvPr>
        </p:nvSpPr>
        <p:spPr/>
        <p:txBody>
          <a:bodyPr/>
          <a:lstStyle/>
          <a:p>
            <a:pPr>
              <a:defRPr sz="1600"/>
            </a:pPr>
            <a:r>
              <a:t>Les ESSAIS, les MESURAGES, les VERIFICATIONS et les MANŒUVRES décrits dans cet article sont des OPERATIONS d'ORDRE ELECTRIQUE exécutées sur des OUVRAGES ou des INSTALLATIONS électriques de toutes tensions.</a:t>
            </a:r>
          </a:p>
          <a:p>
            <a:pPr>
              <a:defRPr sz="1600"/>
            </a:pPr>
            <a:r>
              <a:t>Ces OPERATIONS ne sont pas destinées à modifier les OUVRAGES ou les INSTALLATIONS.</a:t>
            </a:r>
          </a:p>
          <a:p>
            <a:pPr>
              <a:defRPr sz="1600"/>
            </a:pPr>
            <a:r>
              <a:t>Des mesures de prévention doivent être prises pour protéger les personnes présentes sur les lieux de ces OPERATIONS SPECIFIQUES contre le risque électrique et contre les autres risques pouvant résulter de ces OPERATIONS.</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11.2 Essais</a:t>
            </a:r>
          </a:p>
        </p:txBody>
      </p:sp>
      <p:sp>
        <p:nvSpPr>
          <p:cNvPr id="3" name="Content Placeholder 2"/>
          <p:cNvSpPr>
            <a:spLocks noGrp="1"/>
          </p:cNvSpPr>
          <p:nvPr>
            <p:ph idx="1"/>
          </p:nvPr>
        </p:nvSpPr>
        <p:spPr/>
        <p:txBody>
          <a:bodyPr/>
          <a:lstStyle/>
          <a:p>
            <a:pPr>
              <a:defRPr sz="1600"/>
            </a:pPr>
            <a:r>
              <a:t>Les ESSAIS sont des OPERATIONS ayant pour but de verifier qu'un OUVRAGE ou une INSTALLATION fonctionnent conformément à leurs specifications.</a:t>
            </a:r>
          </a:p>
          <a:p>
            <a:pPr>
              <a:defRPr sz="1600"/>
            </a:pPr>
            <a:r>
              <a:t>Ils peuvent revêtir des réalités très diverses : essais de bon fonctionnement à l'issue d'un dépannage, essais de réception d'un OUVRAGE ou d'une INSTALLATION, essais expérimentaux, etc.</a:t>
            </a:r>
          </a:p>
          <a:p>
            <a:pPr>
              <a:defRPr sz="1600"/>
            </a:pPr>
            <a:r>
              <a:t>Leur préparation doit être adaptée dans sa forme à leur complexité.</a:t>
            </a:r>
          </a:p>
          <a:p>
            <a:pPr>
              <a:defRPr sz="1600"/>
            </a:pPr>
            <a:r>
              <a:t>Ils peuvent exposer les personnes au risque électrique dans l'ENVIRONNEMENT des OUVRAGES ou des INSTALLATIONS, notamment lors de la remise sous tension, de la DECONSIGNATION ou dans des situations qui exigent une préparation particulière.</a:t>
            </a:r>
          </a:p>
          <a:p>
            <a:pPr>
              <a:defRPr sz="1600"/>
            </a:pPr>
            <a:r>
              <a:t>Ils peuvent nécessiter de pouvoir consigner ou deconsigner pour son propre compte un OUVRAGE ou une INSTALLATION, d'opérer dans le cadre des INTERVENTIONS BT GENERALES OU des TRAVAUX.</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11.2.1 Procédure d'accès, de suivi et de contrôle</a:t>
            </a:r>
          </a:p>
        </p:txBody>
      </p:sp>
      <p:sp>
        <p:nvSpPr>
          <p:cNvPr id="3" name="Content Placeholder 2"/>
          <p:cNvSpPr>
            <a:spLocks noGrp="1"/>
          </p:cNvSpPr>
          <p:nvPr>
            <p:ph idx="1"/>
          </p:nvPr>
        </p:nvSpPr>
        <p:spPr/>
        <p:txBody>
          <a:bodyPr/>
          <a:lstStyle/>
          <a:p>
            <a:pPr>
              <a:defRPr sz="1600"/>
            </a:pPr>
            <a:r>
              <a:t>L'ensemble des OPERATIONS dans le cadre des ESSAIS respecte les PROCEDURES D'ACCES, DE SUIVI ET DE CONTROLE des Articles 7 à 10.</a:t>
            </a:r>
          </a:p>
          <a:p>
            <a:pPr>
              <a:defRPr sz="1600"/>
            </a:pPr>
            <a:r>
              <a:t>Les autres ESSAIS, tels que ceux réalisés dans les laboratoires d'études et d'essais, sur les plates-formes d'essais ou lors de processus de fabrication en série, font l'objet des procédures définies au 11.</a:t>
            </a:r>
          </a:p>
          <a:p>
            <a:pPr>
              <a:defRPr sz="1600"/>
            </a:pPr>
            <a:r>
              <a:t>2.</a:t>
            </a:r>
          </a:p>
          <a:p>
            <a:pPr>
              <a:defRPr sz="1600"/>
            </a:pPr>
            <a:r>
              <a:t>4.</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11.2.2 Essais mettant en œuvre les principes des travaux</a:t>
            </a:r>
          </a:p>
        </p:txBody>
      </p:sp>
      <p:sp>
        <p:nvSpPr>
          <p:cNvPr id="3" name="Content Placeholder 2"/>
          <p:cNvSpPr>
            <a:spLocks noGrp="1"/>
          </p:cNvSpPr>
          <p:nvPr>
            <p:ph idx="1"/>
          </p:nvPr>
        </p:nvSpPr>
        <p:spPr/>
        <p:txBody>
          <a:bodyPr/>
          <a:lstStyle/>
          <a:p>
            <a:pPr>
              <a:defRPr sz="1600"/>
            </a:pPr>
            <a:r>
              <a:t>Les ESSAIS mettant en œuvre les principes des TRAVAUX sont réalisés par un CHARGE D'ESSAIS, ayant les connaissances et les prérogatives d'un CHARGE DE TRAVAUX, et pouvant consigner pour son propre compte la partie d'OUVRAGE ou d'INSTALLATION sur laquelle il effectue ses ESSAIS.</a:t>
            </a:r>
          </a:p>
          <a:p>
            <a:pPr>
              <a:defRPr sz="1600"/>
            </a:pPr>
            <a:r>
              <a:t>Pour un ESSAI relevant d'un TRAVAIL HORS TENSION, cette personne est habilitée symboles B2V Essai ou H2V Essai.</a:t>
            </a:r>
          </a:p>
          <a:p>
            <a:pPr>
              <a:defRPr sz="1600"/>
            </a:pPr>
            <a:r>
              <a:t>Les EXECUTANTS réalisant des ESSAIS doivent être habilités symboles B1V ou H1V.</a:t>
            </a:r>
          </a:p>
          <a:p>
            <a:pPr>
              <a:defRPr sz="1600"/>
            </a:pPr>
            <a:r>
              <a:t>Pour les ESSAIS mettant en œuvre les principes des TRAVAUX SOUS TENSION, le CHARGE D'ESSAIS doit être habilite symboles B2T ou H2T, avec, dans la rubrique « indications supplémentaires &gt;&gt; du titre d'HABILITATION, une mention spéciale précisant la nature des ESSAIS.</a:t>
            </a:r>
          </a:p>
          <a:p>
            <a:pPr>
              <a:defRPr sz="1600"/>
            </a:pPr>
            <a:r>
              <a:t>Les EXECUTANTS doivent être habilités symboles B1T ou H1T avec la même mention spéciale.</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11.2.3 Essais mettant en œuvre les principes des interventions BT</a:t>
            </a:r>
          </a:p>
        </p:txBody>
      </p:sp>
      <p:sp>
        <p:nvSpPr>
          <p:cNvPr id="3" name="Content Placeholder 2"/>
          <p:cNvSpPr>
            <a:spLocks noGrp="1"/>
          </p:cNvSpPr>
          <p:nvPr>
            <p:ph idx="1"/>
          </p:nvPr>
        </p:nvSpPr>
        <p:spPr/>
        <p:txBody>
          <a:bodyPr/>
          <a:lstStyle/>
          <a:p>
            <a:pPr>
              <a:defRPr sz="1600"/>
            </a:pPr>
            <a:r>
              <a:t>Les ESSAIS mettant en œuvre les principes des INTERVENTIONS BT sont réalisés par un CHARGE D'ESSAIS ayant les connaissances et les prérogatives du CHARGE D'INTERVENTION GENERALE.</a:t>
            </a:r>
          </a:p>
          <a:p>
            <a:pPr>
              <a:defRPr sz="1600"/>
            </a:pPr>
            <a:r>
              <a:t>Les ESSAIS mettant en œuvre les principes des INTERVENTIONS BT doivent suivre les dispositions propres aux ESSAIS réalisés dans le cadre d'INTERVENTION BT GENERALE, en les adaptant si nécessaire.</a:t>
            </a:r>
          </a:p>
          <a:p>
            <a:pPr>
              <a:defRPr sz="1600"/>
            </a:pPr>
            <a:r>
              <a:t>Cette personne est habilitée symbole BR.</a:t>
            </a:r>
          </a:p>
          <a:p>
            <a:pPr>
              <a:defRPr sz="1600"/>
            </a:pPr>
            <a:r>
              <a:t>L'EXECUTANT réalisant des ESSAIS doit être habilité symbole B1V avec, le cas échéant, dans la rubrique « indications supplémentaires &gt; du titre d'HABILITATION, une mention spéciale précisant la nature des ESSAIS.</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11.2.4 Autres essais</a:t>
            </a:r>
          </a:p>
        </p:txBody>
      </p:sp>
      <p:sp>
        <p:nvSpPr>
          <p:cNvPr id="3" name="Content Placeholder 2"/>
          <p:cNvSpPr>
            <a:spLocks noGrp="1"/>
          </p:cNvSpPr>
          <p:nvPr>
            <p:ph idx="1"/>
          </p:nvPr>
        </p:nvSpPr>
        <p:spPr/>
        <p:txBody>
          <a:bodyPr/>
          <a:lstStyle/>
          <a:p>
            <a:pPr>
              <a:defRPr sz="1600"/>
            </a:pPr>
            <a:r>
              <a:t>En raison des particularités ou de la complexité de ces ESSAIS, en particulier lorsque plusieurs DOMAINES DE TENSION sont concernés, les PHASES DE TRAVAIL mises en œuvre et les conditions d'ENVIRONNEMENT dans lesquelles les ESSAIS sont realises, ne permettent pas de les classer dans la catégorie des TRAVAUX ou des INTERVENTIONS BT.</a:t>
            </a:r>
          </a:p>
          <a:p>
            <a:pPr>
              <a:defRPr sz="1600"/>
            </a:pPr>
            <a:r>
              <a:t>Il s'agit notamment, des ESSAIS réalisés dans les laboratoires d'études et d'essais, sur les plates-formes d'essais ou lors de processus de fabrication en série.</a:t>
            </a:r>
          </a:p>
          <a:p>
            <a:pPr>
              <a:defRPr sz="1600"/>
            </a:pPr>
            <a:r>
              <a:t>L'organisation de chaque ESSAI ou type d'ESSAIS est régie par une PROCEDURE D'ACCES, DE SUIVI ET DE CONTROLE comprenant, dans la forme prévue par le CHEF D'ÉTABLISSEMENT :.</a:t>
            </a:r>
          </a:p>
          <a:p>
            <a:pPr>
              <a:defRPr sz="1600"/>
            </a:pPr>
            <a:r>
              <a:t>un document valant autorisation d'essai remis au CHARGE D'ESSAIS par le CHEF D'ETABLISSEMENT ou le CHARGE D'EXPLOITATION ELECTRIQUE ;  · un document valant AVIS DE FIN DE TRAVAIL remis à la fin de l'ESSAI par le CHARGE D'ESSAIS au CHEF D'ETABLISSEMENT ou au CHARGE D'EXPLOITATION ELECTRIQUE.</a:t>
            </a:r>
          </a:p>
          <a:p>
            <a:pPr>
              <a:defRPr sz="1600"/>
            </a:pPr>
            <a:r>
              <a:t>Si les ESSAIS nécessitent des TRAVAUX SOUS TENSION, le personnel charge de réaliser ces TRAVAUX doit être habilité symbole lettre T et la procédure de l'Article 8 doit être appliquée.</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11.2.5 Dispositions particulières pour les essais réalisés avec une source autonome</a:t>
            </a:r>
          </a:p>
        </p:txBody>
      </p:sp>
      <p:sp>
        <p:nvSpPr>
          <p:cNvPr id="3" name="Content Placeholder 2"/>
          <p:cNvSpPr>
            <a:spLocks noGrp="1"/>
          </p:cNvSpPr>
          <p:nvPr>
            <p:ph idx="1"/>
          </p:nvPr>
        </p:nvSpPr>
        <p:spPr/>
        <p:txBody>
          <a:bodyPr/>
          <a:lstStyle/>
          <a:p>
            <a:pPr>
              <a:defRPr sz="1600"/>
            </a:pPr>
            <a:r>
              <a:t>Dans certains cas, pour réaliser les ESSAIS, le CHARGE D'ESSAIS doit utiliser une source autonome.</a:t>
            </a:r>
          </a:p>
          <a:p>
            <a:pPr>
              <a:defRPr sz="1600"/>
            </a:pPr>
            <a:r>
              <a:t>Il peut ainsi agir sur les caractéristiques techniques de la source alimentant ces ESSAIS.</a:t>
            </a:r>
          </a:p>
          <a:p>
            <a:pPr>
              <a:defRPr sz="1600"/>
            </a:pPr>
            <a:r>
              <a:t>Les ESSAIS réalisés avec une source autonome entraînent :  · dans le cadre d'une CONSIGNATION EN DEUX ETAPES :  o la SEPARATION totale de l'OUVRAGE ou de l'INSTALLATION de son alimentation normale dans le cadre d'une PREMIÈRE ÉTAPE DE CONSIGNATION ;  o le transfert de l'OUVRAGE ou de l'INSTALLATION, du CHEF D'ÉTABLISSEMENT ou du CHARGE D'EXPLOITATION ÉLECTRIQUE au CHARGE D'ESSAIS, uniquement pour les ESSAIS concernés.</a:t>
            </a:r>
          </a:p>
          <a:p>
            <a:pPr>
              <a:defRPr sz="1600"/>
            </a:pPr>
            <a:r>
              <a:t>· dans le cadre d'une CONSIGNATION EN UNE ETAPE :  o toutes les OPERATIONS de la CONSIGNATION EN UNE ETAPE ;  o le transfert de l'OUVRAGE ou de l'INSTALLATION, du CHEF D'ÉTABLISSEMENT ou du CHARGE D'EXPLOITATION ÉLECTRIQUE au CHARGE D'ESSAIS, uniquement pour les ESSAIS concernés, si la CONSIGNATION a été réalisée par un CHARGE DE CONSIGNATION ;  o la possibilité pour le CHARGE D'ESSAIS, d'enlever ou déplacer les MISES A LA TERRE ET EN COURT-CIRCUIT posées.</a:t>
            </a:r>
          </a:p>
          <a:p>
            <a:pPr>
              <a:defRPr sz="1600"/>
            </a:pPr>
            <a:r>
              <a:t>Les pièces servant à la connexion de la source autonome doivent être rendues inaccessibles aux personnes non concernées par les ESSAIS.</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11.3 Mesurages</a:t>
            </a:r>
          </a:p>
        </p:txBody>
      </p:sp>
      <p:sp>
        <p:nvSpPr>
          <p:cNvPr id="3" name="Content Placeholder 2"/>
          <p:cNvSpPr>
            <a:spLocks noGrp="1"/>
          </p:cNvSpPr>
          <p:nvPr>
            <p:ph idx="1"/>
          </p:nvPr>
        </p:nvSpPr>
        <p:spPr/>
        <p:txBody>
          <a:bodyPr/>
          <a:lstStyle/>
          <a:p>
            <a:pPr>
              <a:defRPr sz="1600"/>
            </a:pPr>
            <a:r>
              <a:t>Les MESURAGES sont, soit inclus dans le cadre des TRAVAUX, des INTERVENTIONS BT, des OPERATIONS SPECIFIQUES D'ESSAIS ou de VERIFICATION, soit realises par des personnes chargées uniquement de MESURAGES.</a:t>
            </a:r>
          </a:p>
          <a:p>
            <a:pPr>
              <a:defRPr sz="1600"/>
            </a:pPr>
            <a:r>
              <a:t>Pour effectuer les MESURAGES, l'OPERATEUR qui n'est pas titulaire d'une HABILITATION pour OPERATIONS d'ORDRE ELECTRIQUE du DOMAINE DE TENSION approprié, doit être habilité symboles BE Mesurage ou HE Mesurage.</a:t>
            </a:r>
          </a:p>
          <a:p>
            <a:pPr>
              <a:defRPr sz="1600"/>
            </a:pPr>
            <a:r>
              <a:t>NF C 18-510  -  140  -  UTE.</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11.3.1 Contenu des mesurages</a:t>
            </a:r>
          </a:p>
        </p:txBody>
      </p:sp>
      <p:sp>
        <p:nvSpPr>
          <p:cNvPr id="3" name="Content Placeholder 2"/>
          <p:cNvSpPr>
            <a:spLocks noGrp="1"/>
          </p:cNvSpPr>
          <p:nvPr>
            <p:ph idx="1"/>
          </p:nvPr>
        </p:nvSpPr>
        <p:spPr/>
        <p:txBody>
          <a:bodyPr/>
          <a:lstStyle/>
          <a:p>
            <a:pPr>
              <a:defRPr sz="1600"/>
            </a:pPr>
            <a:r>
              <a:t>Les MESURAGES comprennent :  · les mesures électriques réalisées sur les OUVRAGES ou les INSTALLATIONS, telles que mesure d'intensité, de tension, de puissance, de résistance de prise de terre, de continuité, d'isolement, etc.</a:t>
            </a:r>
          </a:p>
          <a:p>
            <a:pPr>
              <a:defRPr sz="1600"/>
            </a:pPr>
            <a:r>
              <a:t>;  · les mesures électriques réalisées dans l'ENVIRONNEMENT électrique des OUVRAGES ou des INSTALLATIONS ;  · les mesures de grandeurs non électriques réalisées dans l'ENVIRONNEMENT électrique des OUVRAGES ou des INSTALLATIONS.</a:t>
            </a:r>
          </a:p>
          <a:p>
            <a:pPr>
              <a:defRPr sz="1600"/>
            </a:pPr>
            <a:r>
              <a:t>La vérification de la concordance de phase, la comparaison des phases et la VERIFICATION D'ABSENCE DE TENSION sont, au plan normatif, incluses dans les procédures des TRAVAUX ou des INTERVENTIONS BT et, à ce titre, ne sont pas considérées comme des MESURAGES.</a:t>
            </a:r>
          </a:p>
          <a:p>
            <a:pPr>
              <a:defRPr sz="1600"/>
            </a:pPr>
            <a:r>
              <a:t>Cependant, comme ces opérations exposent leurs OPERATEURS aux mêmes risques qu'un MESURAGE, les principes de prévention requis pour un MESURAGE, tels qu'ils sont exposés au 11.</a:t>
            </a:r>
          </a:p>
          <a:p>
            <a:pPr>
              <a:defRPr sz="1600"/>
            </a:pPr>
            <a:r>
              <a:t>3.</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11.3.2 Mise en œuvre des mesurages</a:t>
            </a:r>
          </a:p>
        </p:txBody>
      </p:sp>
      <p:sp>
        <p:nvSpPr>
          <p:cNvPr id="3" name="Content Placeholder 2"/>
          <p:cNvSpPr>
            <a:spLocks noGrp="1"/>
          </p:cNvSpPr>
          <p:nvPr>
            <p:ph idx="1"/>
          </p:nvPr>
        </p:nvSpPr>
        <p:spPr/>
        <p:txBody>
          <a:bodyPr/>
          <a:lstStyle/>
          <a:p>
            <a:pPr>
              <a:defRPr sz="1600"/>
            </a:pPr>
            <a:r>
              <a:t>Les MESURAGES de grandeurs électriques entraînent souvent, pour les OPERATEURS, le risque de s'approcher de pièces nues sous tension.</a:t>
            </a:r>
          </a:p>
          <a:p>
            <a:pPr>
              <a:defRPr sz="1600"/>
            </a:pPr>
            <a:r>
              <a:t>Les OPERATEURS peuvent, pour les mesures de grandeurs électriques, manipuler des appareils dont les connexions sont mises en contact avec des pièces sous tension d'une valeur connue ou non connue, mais dont on estime l'ordre de grandeur.</a:t>
            </a:r>
          </a:p>
          <a:p>
            <a:pPr>
              <a:defRPr sz="1600"/>
            </a:pPr>
            <a:r>
              <a:t>Ils peuvent réaliser les MESURAGES du fait de leur compétence, de leur formation et de leur HABILITATION.</a:t>
            </a:r>
          </a:p>
          <a:p>
            <a:pPr>
              <a:defRPr sz="1600"/>
            </a:pPr>
            <a:r>
              <a:t>Le MESURAGE est inclus dans une autre OPERATION relevant des VERIFICATIONS, des ESSAIS, des INTERVENTIONS BT GENERALES ou des TRAVAUX.</a:t>
            </a:r>
          </a:p>
          <a:p>
            <a:pPr>
              <a:defRPr sz="1600"/>
            </a:pPr>
            <a:r>
              <a:t>Le personnel qui procède à un MESURAGE, doit :  · pouvoir identifier la ZONE D'ENVIRONNEMENT dans laquelle il réalise le MESURAGE et appliquer les mesures de protection qui s'y rapportent ;.</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4.3.2 et 4.3.3 ;</a:t>
            </a:r>
          </a:p>
        </p:txBody>
      </p:sp>
      <p:sp>
        <p:nvSpPr>
          <p:cNvPr id="3" name="Content Placeholder 2"/>
          <p:cNvSpPr>
            <a:spLocks noGrp="1"/>
          </p:cNvSpPr>
          <p:nvPr>
            <p:ph idx="1"/>
          </p:nvPr>
        </p:nvSpPr>
        <p:spPr/>
        <p:txBody>
          <a:bodyPr/>
          <a:lstStyle/>
          <a:p>
            <a:pPr>
              <a:defRPr sz="1600"/>
            </a:pPr>
            <a:r>
              <a:t>· utiliser du matériel conforme aux normes, adapté au type de MESURAGE à effectuer et aux tensions qui peuvent être rencontrées (par exemple, les pointes de touche isolées) ;  · vérifier, avant tout MESURAGE, le bon état du matériel de mesurage ;  · veiller particulièrement au risque de court-circuit.</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11.3.3 Risques particuliers relatifs à un transformateur de courant</a:t>
            </a:r>
          </a:p>
        </p:txBody>
      </p:sp>
      <p:sp>
        <p:nvSpPr>
          <p:cNvPr id="3" name="Content Placeholder 2"/>
          <p:cNvSpPr>
            <a:spLocks noGrp="1"/>
          </p:cNvSpPr>
          <p:nvPr>
            <p:ph idx="1"/>
          </p:nvPr>
        </p:nvSpPr>
        <p:spPr/>
        <p:txBody>
          <a:bodyPr/>
          <a:lstStyle/>
          <a:p>
            <a:pPr>
              <a:defRPr sz="1600"/>
            </a:pPr>
            <a:r>
              <a:t>Il est interdit d'ouvrir des circuits alimentés par le secondaire d'un transformateur de courant dont le primaire est sous tension ou susceptible de l'être, afin d'éviter tout risque de destruction ou de montée en potentiel dangereuse.</a:t>
            </a:r>
          </a:p>
          <a:p>
            <a:pPr>
              <a:defRPr sz="1600"/>
            </a:pPr>
            <a:r>
              <a:t>Si l'ouverture des circuits s'avère nécessaire, les bornes secondaires du transformateur doivent être préalablement court- circuitées par un dispositif approprié (boîte à bornes d'essai, etc.</a:t>
            </a:r>
          </a:p>
          <a:p>
            <a:pPr>
              <a:defRPr sz="1600"/>
            </a:pPr>
            <a:r>
              <a:t>).</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11.3.4 Risques particuliers relatifs à l'usage d'une pince ampèremétrique</a:t>
            </a:r>
          </a:p>
        </p:txBody>
      </p:sp>
      <p:sp>
        <p:nvSpPr>
          <p:cNvPr id="3" name="Content Placeholder 2"/>
          <p:cNvSpPr>
            <a:spLocks noGrp="1"/>
          </p:cNvSpPr>
          <p:nvPr>
            <p:ph idx="1"/>
          </p:nvPr>
        </p:nvSpPr>
        <p:spPr/>
        <p:txBody>
          <a:bodyPr/>
          <a:lstStyle/>
          <a:p>
            <a:pPr>
              <a:defRPr sz="1600"/>
            </a:pPr>
            <a:r>
              <a:t>Lorsque le MESURAGE d'un courant alternatif s'effectue au moyen d'une pince ampèremétrique (transformateur de courant), les diverses opérations sont effectuées dans l'ordre suivant :  · raccordement de l'appareil à la pince ampèremétrique ;  · introduction de la pince autour du conducteur en la maintenant ouverte ;  · fermeture progressive de la pince ;  · après MESURAGE ou enregistrement de la mesure, ouverture et retrait de la pince avant d'interrompre la continuité du circuit secondaire (de mesure).</a:t>
            </a:r>
          </a:p>
          <a:p>
            <a:pPr>
              <a:defRPr sz="1600"/>
            </a:pPr>
            <a:r>
              <a:t>UTE  -  141  -  NF C 18-510  Si, au cours de la manœuvre de fermeture progressive de la pince, l'appareil ne fournit aucune indication, il faut retirer immédiatement la pince et vérifier la continuité du circuit de mesurage.</a:t>
            </a:r>
          </a:p>
          <a:p>
            <a:pPr>
              <a:defRPr sz="1600"/>
            </a:pPr>
            <a:r>
              <a:t>Tout changement de l'échelle de mesure sur la pince ampèremétrique doit être précédé de l'ouverture et du retrait de la pince, à moins que la notice du constructeur dispense, sans ambiguïté, de cette obligation.</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11.4 Vérifications</a:t>
            </a:r>
          </a:p>
        </p:txBody>
      </p:sp>
      <p:sp>
        <p:nvSpPr>
          <p:cNvPr id="3" name="Content Placeholder 2"/>
          <p:cNvSpPr>
            <a:spLocks noGrp="1"/>
          </p:cNvSpPr>
          <p:nvPr>
            <p:ph idx="1"/>
          </p:nvPr>
        </p:nvSpPr>
        <p:spPr/>
        <p:txBody>
          <a:bodyPr/>
          <a:lstStyle/>
          <a:p>
            <a:pPr>
              <a:defRPr sz="1600"/>
            </a:pPr>
            <a:r>
              <a:t>Les VERIFICATIONS sont, soit incluses dans le cadre des TRAVAUX, des INTERVENTIONS BT GENERALES ou des OPERATIONS SPECIFIQUES D'ESSAIS, soit réalisées par des personnes chargées uniquement de VERIFICATIONS.</a:t>
            </a:r>
          </a:p>
          <a:p>
            <a:pPr>
              <a:defRPr sz="1600"/>
            </a:pPr>
            <a:r>
              <a:t>Pour effectuer les VERIFICATIONS, l'OPERATEUR qui n'est pas titulaire d'une HABILITATION pour OPERATIONS d'ORDRE ELECTRIQUE du DOMAINE DE TENSION approprié doit être habilite symboles BE Vérification ou HE Vérification.</a:t>
            </a:r>
          </a:p>
          <a:p>
            <a:pPr>
              <a:defRPr sz="1600"/>
            </a:pPr>
            <a:r>
              <a:t>Les VERIFICATIONS ne nécessitent ni demontage, ni remplacement, ni CONSIGNATION ni DECONSIGNATION.</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11.4.1 Contenu des vérifications</a:t>
            </a:r>
          </a:p>
        </p:txBody>
      </p:sp>
      <p:sp>
        <p:nvSpPr>
          <p:cNvPr id="3" name="Content Placeholder 2"/>
          <p:cNvSpPr>
            <a:spLocks noGrp="1"/>
          </p:cNvSpPr>
          <p:nvPr>
            <p:ph idx="1"/>
          </p:nvPr>
        </p:nvSpPr>
        <p:spPr/>
        <p:txBody>
          <a:bodyPr/>
          <a:lstStyle/>
          <a:p>
            <a:pPr>
              <a:defRPr sz="1600"/>
            </a:pPr>
            <a:r>
              <a:t>Les VERIFICATIONS électriques prises en compte par le présent document comprennent les VERIFICATIONS à caractère réglementaire ou non.</a:t>
            </a:r>
          </a:p>
          <a:p>
            <a:pPr>
              <a:defRPr sz="1600"/>
            </a:pPr>
            <a:r>
              <a:t>Ces VERIFICATIONS consistent à effectuer :  · des examens visuels à partir de schémas et dossiers, et des contrôles de l'état des OUVRAGES ou des INSTALLATIONS sur site, notamment des conducteurs et de leurs raccordements ;  · des contrôles techniques permettant de s'assurer, notamment du bon fonctionnement des dispositifs de sécurité, tels que :  o les dispositifs de protection de type différentiel tel que DDR ;  o les dispositifs de coupure d'urgence  ;  o l'éclairage de sécurité.</a:t>
            </a:r>
          </a:p>
          <a:p>
            <a:pPr>
              <a:defRPr sz="1600"/>
            </a:pPr>
            <a:r>
              <a:t>• des MESURAGES concernant, par exemple, la valeur de l'isolement, de la résistance de prise de terre, de la continuité des conducteurs de protection.</a:t>
            </a:r>
          </a:p>
          <a:p>
            <a:pPr>
              <a:defRPr sz="1600"/>
            </a:pPr>
            <a:r>
              <a:t>Les vérifications à caractère fonctionnel relèvent des ESSAIS et sont traitées en 11.</a:t>
            </a:r>
          </a:p>
          <a:p>
            <a:pPr>
              <a:defRPr sz="1600"/>
            </a:pPr>
            <a:r>
              <a:t>2.</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11.4.2 Mise en œuvre des vérifications</a:t>
            </a:r>
          </a:p>
        </p:txBody>
      </p:sp>
      <p:sp>
        <p:nvSpPr>
          <p:cNvPr id="3" name="Content Placeholder 2"/>
          <p:cNvSpPr>
            <a:spLocks noGrp="1"/>
          </p:cNvSpPr>
          <p:nvPr>
            <p:ph idx="1"/>
          </p:nvPr>
        </p:nvSpPr>
        <p:spPr/>
        <p:txBody>
          <a:bodyPr/>
          <a:lstStyle/>
          <a:p>
            <a:pPr>
              <a:defRPr sz="1600"/>
            </a:pPr>
            <a:r>
              <a:t>Lors de la réalisation des VERIFICATIONS au moyen de contrôles techniques et de MESURAGES, les personnes peuvent être exposées au risque électrique dans l'ENVIRONNEMENT des OUVRAGES ou des INSTALLATIONS.</a:t>
            </a:r>
          </a:p>
          <a:p>
            <a:pPr>
              <a:defRPr sz="1600"/>
            </a:pPr>
            <a:r>
              <a:t>L'OPERATEUR charge de la VERIFICATION est autorise a penetrer dans les LOCAUX ET EMPLACEMENTS D'ACCES RESERVE AUX ELECTRICIENS (zone 1) et à ouvrir les armoires et coffrets.</a:t>
            </a:r>
          </a:p>
          <a:p>
            <a:pPr>
              <a:defRPr sz="1600"/>
            </a:pPr>
            <a:r>
              <a:t>Il est aussi autorisé à pénétrer dans la zone 4 en BT (symbole BE Vérification) ou dans la zone 2 en HT (symbole HE Vérification).</a:t>
            </a:r>
          </a:p>
          <a:p>
            <a:pPr>
              <a:defRPr sz="1600"/>
            </a:pPr>
            <a:r>
              <a:t>Il doit porter des EPI et des vêtements de travail correspondant à l'ENVIRONNEMENT électrique qu'il rencontre.</a:t>
            </a:r>
          </a:p>
          <a:p>
            <a:pPr>
              <a:defRPr sz="1600"/>
            </a:pPr>
            <a:r>
              <a:t>Il doit recevoir une autorisation d'accès du CHEF D'ETABLISSEMENT ou du CHARGE D'EXPLOITATION ELECTRIQUE, OU de la personne autorisant l'accès à l'INSTALLATION.</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11.4.3 Cas des vérifications chez les particuliers</a:t>
            </a:r>
          </a:p>
        </p:txBody>
      </p:sp>
      <p:sp>
        <p:nvSpPr>
          <p:cNvPr id="3" name="Content Placeholder 2"/>
          <p:cNvSpPr>
            <a:spLocks noGrp="1"/>
          </p:cNvSpPr>
          <p:nvPr>
            <p:ph idx="1"/>
          </p:nvPr>
        </p:nvSpPr>
        <p:spPr/>
        <p:txBody>
          <a:bodyPr/>
          <a:lstStyle/>
          <a:p>
            <a:pPr>
              <a:defRPr sz="1600"/>
            </a:pPr>
            <a:r>
              <a:t>Dans le cas d'une VERIFICATION BT chez un particulier, le verificateur, ayant seul la connaissance du risque électrique, doit informer le particulier des étapes de sa VERIFICATION ou de son diagnostic, dans lesquelles les risques apparaissent.</a:t>
            </a:r>
          </a:p>
          <a:p>
            <a:pPr>
              <a:defRPr sz="1600"/>
            </a:pPr>
            <a:r>
              <a:t>Après échange avec le particulier, il doit prendre les mesures nécessaires pour se protéger et protéger les personnes et les biens pendant la VERIFICATION.</a:t>
            </a:r>
          </a:p>
          <a:p>
            <a:pPr>
              <a:defRPr sz="1600"/>
            </a:pPr>
            <a:r>
              <a:t>Le verificateur doit demander au particulier l'autorisation d'accéder aux INSTALLATIONS en lui faisant part, s'il les connaît, des risques particuliers liés à la VERIFICATION et, le cas échéant, des dispositions ou des contraintes à respecter pour les interruptions et les remises sous tension.</a:t>
            </a:r>
          </a:p>
          <a:p>
            <a:pPr>
              <a:defRPr sz="1600"/>
            </a:pPr>
            <a:r>
              <a:t>Le rôle du particulier se limite à autoriser l'accès, la MISE HORS TENSION et la remise sous tension.</a:t>
            </a:r>
          </a:p>
          <a:p>
            <a:pPr>
              <a:defRPr sz="1600"/>
            </a:pPr>
            <a:r>
              <a:t>Sauf dispositions spécifiques, la demande de prestation faite par le particulier vaut autorisation d'accès à l'INSTALLATION.</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11.5 Manœuvres</a:t>
            </a:r>
          </a:p>
        </p:txBody>
      </p:sp>
      <p:sp>
        <p:nvSpPr>
          <p:cNvPr id="3" name="Content Placeholder 2"/>
          <p:cNvSpPr>
            <a:spLocks noGrp="1"/>
          </p:cNvSpPr>
          <p:nvPr>
            <p:ph idx="1"/>
          </p:nvPr>
        </p:nvSpPr>
        <p:spPr/>
        <p:txBody>
          <a:bodyPr/>
          <a:lstStyle/>
          <a:p>
            <a:pPr>
              <a:defRPr sz="1600"/>
            </a:pPr>
            <a:r>
              <a:t>Les MANŒUVRES sont des OPERATIONS d'ORDRE ELECTRIQUE effectuées sur des OUVRAGES ou des INSTALLATIONS pour en modifier l'etat.</a:t>
            </a:r>
          </a:p>
          <a:p>
            <a:pPr>
              <a:defRPr sz="1600"/>
            </a:pPr>
            <a:r>
              <a:t>Les MANŒUVRES comprennent les MANŒUVRES D'EXPLOITATION, les MANŒUVRES DE CONSIGNATION et les MANŒUVRES D'URGENCE.</a:t>
            </a:r>
          </a:p>
          <a:p>
            <a:pPr>
              <a:defRPr sz="1600"/>
            </a:pPr>
            <a:r>
              <a:t>Les MANŒUVRES sont, soit incluses dans le cadre des TRAVAUX, des INTERVENTIONS BT ou des OPERATIONS SPECIFIQUES, soit realisees par des personnes realisant uniquement des MANŒUVRES.</a:t>
            </a:r>
          </a:p>
          <a:p>
            <a:pPr>
              <a:defRPr sz="1600"/>
            </a:pPr>
            <a:r>
              <a:t>Pour effectuer les MANŒUVRES, l'OPERATEUR qui n'est pas titulaire d'une HABILITATION pour OPERATIONS d'ORDRE ELECTRIQUE du DOMAINE DE TENSION approprié doit être habilite symboles BE Manœuvre ou HE Manœuvre.</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11.5.1 Les manœuvres d'exploitation</a:t>
            </a:r>
          </a:p>
        </p:txBody>
      </p:sp>
      <p:sp>
        <p:nvSpPr>
          <p:cNvPr id="3" name="Content Placeholder 2"/>
          <p:cNvSpPr>
            <a:spLocks noGrp="1"/>
          </p:cNvSpPr>
          <p:nvPr>
            <p:ph idx="1"/>
          </p:nvPr>
        </p:nvSpPr>
        <p:spPr/>
        <p:txBody>
          <a:bodyPr/>
          <a:lstStyle/>
          <a:p>
            <a:pPr>
              <a:defRPr sz="1600"/>
            </a:pPr>
            <a:r>
              <a:t>Les MANŒUVRES D'EXPLOITATION realisables par une PERSONNE HABILITEE symboles BE Manœuvre ou HE Manœuvre ont pour but :  • soit la modification de l'état électrique d'un OUVRAGE ou d'une INSTALLATION, dans le cadre du fonctionnement normal ;  · soit la mise en marche, le réglage ou l'arrêt d'un équipement, y compris le rearmement d'un relais de protection ;  · soit le branchement ou le debranchement d'équipements amovibles spécialement prévus pour être connectés ou déconnectés sans risques ;  · soit la mise en marche ou l'arrêt de MATERIELS.</a:t>
            </a:r>
          </a:p>
          <a:p>
            <a:pPr>
              <a:defRPr sz="1600"/>
            </a:pPr>
            <a:r>
              <a:t>Les MANŒUVRES D'EXPLOITATION peuvent être effectuées localement ou à distance.</a:t>
            </a:r>
          </a:p>
          <a:p>
            <a:pPr>
              <a:defRPr sz="1600"/>
            </a:pPr>
            <a:r>
              <a:t>Le personnel réalisant des MANŒUVRES D'EXPLOITATION électrique, soit sous la responsabilité du CHEF D'ETABLISSEMENT ou du CHARGE D'EXPLOITATION ELECTRIQUE, soit sous la responsabilité d'un responsable de processus industriel, doit être titulaire d'une HABILITATION aux OPERATIONS d'ORDRE ELECTRIQUE appropriée au DOMAINE DE TENSION et aux conditions d'ENVIRONNEMENT électrique ou titulaire d'une HABILITATION symboles BE Manœuvre ou HE Manœuvre.</a:t>
            </a:r>
          </a:p>
          <a:p>
            <a:pPr>
              <a:defRPr sz="1600"/>
            </a:pPr>
            <a:r>
              <a:t>Il peut être non habilité, si les trois conditions suivantes sont réunies :.</a:t>
            </a:r>
          </a:p>
          <a:p>
            <a:pPr>
              <a:defRPr sz="1600"/>
            </a:pPr>
            <a:r>
              <a:t>l'appareillage à manœuvrer n'est pas situe dans un LOCAL OU EMPLACEMENT D'ACCES RESERVE AUX ELECTRICIENS ou sur un tableau électrique ;  · les risques inhérents à l'OPERATION sont éliminés par construction (indice de protection de code IP2X en BT ou IP3X en HT) ;.</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11.5.2 Les manœuvres de consignation</a:t>
            </a:r>
          </a:p>
        </p:txBody>
      </p:sp>
      <p:sp>
        <p:nvSpPr>
          <p:cNvPr id="3" name="Content Placeholder 2"/>
          <p:cNvSpPr>
            <a:spLocks noGrp="1"/>
          </p:cNvSpPr>
          <p:nvPr>
            <p:ph idx="1"/>
          </p:nvPr>
        </p:nvSpPr>
        <p:spPr/>
        <p:txBody>
          <a:bodyPr/>
          <a:lstStyle/>
          <a:p>
            <a:pPr>
              <a:defRPr sz="1600"/>
            </a:pPr>
            <a:r>
              <a:t>Les MANŒUVRES DE CONSIGNATION ou de DECONSIGNATION d'un OUVRAGE ou d'une INSTALLATION électrique, en vue de réaliser des TRAVAUX HORS TENSION, doivent être effectuées par le CHARGE DE CONSIGNATION ou par un OPERATEUR habilité qui agit sous son ordre.</a:t>
            </a:r>
          </a:p>
          <a:p>
            <a:pPr>
              <a:defRPr sz="1600"/>
            </a:pPr>
            <a:r>
              <a:t>Le personnel qui réalise les MANŒUVRES doit être :  · soit habilité symboles BC ou HC, lorsqu'il est CHARGE DE CONSIGNATION ;  · soit avoir une HABILITATION symboles a minima B1 ou H1, s'il realise des MANŒUVRES dans le cadre d'une CONSIGNATION sur ordre du CHARGE DE CONSIGNATION ; le symbole d'HABILITATION est complete par la lettre V, s'il y a un risque de VOISINAGE RENFORCE ;  • soit être habilité, symboles BE Manœuvre ou HE Manœuvre, s'il réalise uniquement des MANŒUVRES.</a:t>
            </a:r>
          </a:p>
          <a:p>
            <a:pPr>
              <a:defRPr sz="1600"/>
            </a:pPr>
            <a:r>
              <a:t>Ces MANŒUVRES sont réalisées dans le cadre d'une CONSIGNATION et sur ordre du CHARGE DE CONSIGNATION.</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11.5.3 Les manœuvres d'urgence</a:t>
            </a:r>
          </a:p>
        </p:txBody>
      </p:sp>
      <p:sp>
        <p:nvSpPr>
          <p:cNvPr id="3" name="Content Placeholder 2"/>
          <p:cNvSpPr>
            <a:spLocks noGrp="1"/>
          </p:cNvSpPr>
          <p:nvPr>
            <p:ph idx="1"/>
          </p:nvPr>
        </p:nvSpPr>
        <p:spPr/>
        <p:txBody>
          <a:bodyPr/>
          <a:lstStyle/>
          <a:p>
            <a:pPr>
              <a:defRPr sz="1600"/>
            </a:pPr>
            <a:r>
              <a:t>Ce paragraphe ne concerne pas les dispositifs de coupure d'urgence conçus à cet effet.</a:t>
            </a:r>
          </a:p>
          <a:p>
            <a:pPr>
              <a:defRPr sz="1600"/>
            </a:pPr>
            <a:r>
              <a:t>Les MANŒUVRES D'URGENCE peuvent être effectuées par toute personne se trouvant sur les lieux d'un sinistre ou d'un accident, à condition que cette personne ait été formée en conséquence et que ses actes n'aggravent pas la situation.</a:t>
            </a:r>
          </a:p>
          <a:p>
            <a:pPr>
              <a:defRPr sz="1600"/>
            </a:pPr>
            <a:r>
              <a:t>La personne doit se protéger avec des EQUIPEMENTS DE PROTECTION INDIVIDUELLE et des vêtements de travail adaptés à la tension de service et avoir une HABILITATION adaptée à la ZONE D'ENVIRONNEMENT dans laquelle elle opère.</a:t>
            </a:r>
          </a:p>
          <a:p>
            <a:pPr>
              <a:defRPr sz="1600"/>
            </a:pPr>
            <a:r>
              <a:t>Les MANŒUVRES D'URGENCE effectuées sur les réseaux de distribution publique sont réservées à du PERSONNEL QUALIFIE agissant en connaissance de cause ou sous les ordres du CHEF D'ETABLISSEMENT ou du CHARGE D'EXPLOITATION ELECTRIQUE (voir Article 13).</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11.5.4 Protection de l'opérateur au cours des manœuvres</a:t>
            </a:r>
          </a:p>
        </p:txBody>
      </p:sp>
      <p:sp>
        <p:nvSpPr>
          <p:cNvPr id="3" name="Content Placeholder 2"/>
          <p:cNvSpPr>
            <a:spLocks noGrp="1"/>
          </p:cNvSpPr>
          <p:nvPr>
            <p:ph idx="1"/>
          </p:nvPr>
        </p:nvSpPr>
        <p:spPr/>
        <p:txBody>
          <a:bodyPr/>
          <a:lstStyle/>
          <a:p>
            <a:pPr>
              <a:defRPr sz="1600"/>
            </a:pPr>
            <a:r>
              <a:t>Les MANŒUVRES, particulièrement celles conduisant à la remise en tension d'un OUVRAGE ou d'une INSTALLATION, peuvent exposer le personnel à des risques de choc électrique ou de court-circuit.</a:t>
            </a:r>
          </a:p>
          <a:p>
            <a:pPr>
              <a:defRPr sz="1600"/>
            </a:pPr>
            <a:r>
              <a:t>En fonction de l'analyse du risque électrique, l'OPERATEUR utilise les EQUIPEMENTS DE PROTECTION INDIVIDUELLE et les vêtements de travail adaptés pour effectuer les MANŒUVRES.</a:t>
            </a:r>
          </a:p>
          <a:p>
            <a:pPr>
              <a:defRPr sz="1600"/>
            </a:pPr>
            <a:r>
              <a:t>Les mesures retenues doivent répondre aux besoins de protection adaptés à toutes les situations d'ENVIRONNEMENT rencontrées avant, pendant et après la MANŒUVRE.</a:t>
            </a:r>
          </a:p>
          <a:p>
            <a:pPr>
              <a:defRPr sz="1600"/>
            </a:pPr>
            <a:r>
              <a:t>En BT et en HTA, l'OPERATEUR est protege pendant la MANŒUVRE, soit par une poignée isolante, soit par le port de gants de manœuvre isolants completes, le cas échéant, par un tapis isolant.</a:t>
            </a:r>
          </a:p>
          <a:p>
            <a:pPr>
              <a:defRPr sz="1600"/>
            </a:pPr>
            <a:r>
              <a:t>Les gants de manœuvre sont des gants isolants sans protection mécanique supplémentaire, qui protègent contre les contacts indirects dus à des défauts d'isolation des appareils électriques.</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11.6 Formation à la prévention du risque électrique et Habilitation</a:t>
            </a:r>
          </a:p>
        </p:txBody>
      </p:sp>
      <p:sp>
        <p:nvSpPr>
          <p:cNvPr id="3" name="Content Placeholder 2"/>
          <p:cNvSpPr>
            <a:spLocks noGrp="1"/>
          </p:cNvSpPr>
          <p:nvPr>
            <p:ph idx="1"/>
          </p:nvPr>
        </p:nvSpPr>
        <p:spPr/>
        <p:txBody>
          <a:bodyPr/>
          <a:lstStyle/>
          <a:p>
            <a:pPr>
              <a:defRPr sz="1600"/>
            </a:pPr>
            <a:r>
              <a:t>La formation à la prévention du risque électrique et l'HABILITATION du personnel réalisant des ESSAIS, des MESURAGES, des VERIFICATIONS ou des MANŒUVRES doivent être adaptées au type d'OPERATIONS confiées.</a:t>
            </a:r>
          </a:p>
          <a:p>
            <a:pPr>
              <a:defRPr sz="1600"/>
            </a:pPr>
            <a:r>
              <a:t>Les prescriptions des paragraphes suivants viennent en complément des prescriptions générales de l'Article 5.</a:t>
            </a:r>
          </a:p>
          <a:p>
            <a:pPr>
              <a:defRPr sz="1600"/>
            </a:pPr>
            <a:r>
              <a:t>En particulier, pour tous les OPERATEURS, la formation aux prescriptions de l'ENVIRONNEMENT électrique doit être incluse dans le programme de formation.</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11.6.1.1 Formation à la prévention du risque électrique pour les charges d'essais</a:t>
            </a:r>
          </a:p>
        </p:txBody>
      </p:sp>
      <p:sp>
        <p:nvSpPr>
          <p:cNvPr id="3" name="Content Placeholder 2"/>
          <p:cNvSpPr>
            <a:spLocks noGrp="1"/>
          </p:cNvSpPr>
          <p:nvPr>
            <p:ph idx="1"/>
          </p:nvPr>
        </p:nvSpPr>
        <p:spPr/>
        <p:txBody>
          <a:bodyPr/>
          <a:lstStyle/>
          <a:p>
            <a:pPr>
              <a:defRPr sz="1600"/>
            </a:pPr>
            <a:r>
              <a:t>La formation à la prévention du risque électrique pour les CHARGES D'ESSAIS doit correspondre au type d'ESSAIS définis en 11.</a:t>
            </a:r>
          </a:p>
          <a:p>
            <a:pPr>
              <a:defRPr sz="1600"/>
            </a:pPr>
            <a:r>
              <a:t>2.</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11.6.1.1.1 Essais dans le cadre des travaux</a:t>
            </a:r>
          </a:p>
        </p:txBody>
      </p:sp>
      <p:sp>
        <p:nvSpPr>
          <p:cNvPr id="3" name="Content Placeholder 2"/>
          <p:cNvSpPr>
            <a:spLocks noGrp="1"/>
          </p:cNvSpPr>
          <p:nvPr>
            <p:ph idx="1"/>
          </p:nvPr>
        </p:nvSpPr>
        <p:spPr/>
        <p:txBody>
          <a:bodyPr/>
          <a:lstStyle/>
          <a:p>
            <a:pPr>
              <a:defRPr sz="1600"/>
            </a:pPr>
            <a:r>
              <a:t>La formation à la prévention du risque électrique lors de ces ESSAIS doit comprendre une formation de CHARGE DE TRAVAUX (TRAVAUX HORS TENSION, TRAVAUX AU VOISINAGE, TRAVAUX SOUS TENSION).</a:t>
            </a:r>
          </a:p>
          <a:p>
            <a:pPr>
              <a:defRPr sz="1600"/>
            </a:pPr>
            <a:r>
              <a:t>Elle doit comprendre également une formation à la CONSIGNATION pour son propre compte.</a:t>
            </a:r>
          </a:p>
          <a:p>
            <a:pPr>
              <a:defRPr sz="1600"/>
            </a:pPr>
            <a:r>
              <a:t>En BT, la formation conduit à une HABILITATION symbole B2V Essai ou, le cas échéant, symbole B2T, avec une mention spéciale dans la rubrique « indications supplémentaires &gt;&gt; du titre d'HABILITATION.</a:t>
            </a:r>
          </a:p>
          <a:p>
            <a:pPr>
              <a:defRPr sz="1600"/>
            </a:pPr>
            <a:r>
              <a:t>En HT, la formation conduit à une HABILITATION symbole H2V Essai ou, le cas échéant, symbole H2T, avec une mention spéciale dans la rubrique « indications supplémentaires &gt;&gt; du titre d'HABILITATION.</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11.6.1.1.2 Essais dans le cadre des interventions BT</a:t>
            </a:r>
          </a:p>
        </p:txBody>
      </p:sp>
      <p:sp>
        <p:nvSpPr>
          <p:cNvPr id="3" name="Content Placeholder 2"/>
          <p:cNvSpPr>
            <a:spLocks noGrp="1"/>
          </p:cNvSpPr>
          <p:nvPr>
            <p:ph idx="1"/>
          </p:nvPr>
        </p:nvSpPr>
        <p:spPr/>
        <p:txBody>
          <a:bodyPr/>
          <a:lstStyle/>
          <a:p>
            <a:pPr>
              <a:defRPr sz="1600"/>
            </a:pPr>
            <a:r>
              <a:t>La formation à la prévention du risque électrique lors de ces ESSAIS est incluse dans la formation d'un CHARGE D'INTERVENTION GENERALE.</a:t>
            </a:r>
          </a:p>
          <a:p>
            <a:pPr>
              <a:defRPr sz="1600"/>
            </a:pPr>
            <a:r>
              <a:t>La formation qui conduit à une HABILITATION symbole BR permet de réaliser des ESSAIS dans le domaine d'application de cette HABILITATION.</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11.6.1.1.3 Autres essais</a:t>
            </a:r>
          </a:p>
        </p:txBody>
      </p:sp>
      <p:sp>
        <p:nvSpPr>
          <p:cNvPr id="3" name="Content Placeholder 2"/>
          <p:cNvSpPr>
            <a:spLocks noGrp="1"/>
          </p:cNvSpPr>
          <p:nvPr>
            <p:ph idx="1"/>
          </p:nvPr>
        </p:nvSpPr>
        <p:spPr/>
        <p:txBody>
          <a:bodyPr/>
          <a:lstStyle/>
          <a:p>
            <a:pPr>
              <a:defRPr sz="1600"/>
            </a:pPr>
            <a:r>
              <a:t>La formation à la prévention du risque électrique lors des ESSAIS définis au 11.</a:t>
            </a:r>
          </a:p>
          <a:p>
            <a:pPr>
              <a:defRPr sz="1600"/>
            </a:pPr>
            <a:r>
              <a:t>2.</a:t>
            </a:r>
          </a:p>
          <a:p>
            <a:pPr>
              <a:defRPr sz="1600"/>
            </a:pPr>
            <a:r>
              <a:t>4 est une formation spécifique.</a:t>
            </a:r>
          </a:p>
          <a:p>
            <a:pPr>
              <a:defRPr sz="1600"/>
            </a:pPr>
            <a:r>
              <a:t>Elle a pour objectif de permettre à un CHARGE D'ESSAIS de conduire et de réaliser les ESSAIS en assurant sa protection et celle des tiers.</a:t>
            </a:r>
          </a:p>
          <a:p>
            <a:pPr>
              <a:defRPr sz="1600"/>
            </a:pPr>
            <a:r>
              <a:t>Elle comprend la connaissance des ZONES D'ENVIRONNEMENT, de leurs règles d'application et du rôle de CHARGE D'EXPLOITATION ELECTRIQUE pour les ESSAIS considérés.</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11.6.1.2 Formation à la prévention du risque électrique pour les exécutants dans le</a:t>
            </a:r>
          </a:p>
        </p:txBody>
      </p:sp>
      <p:sp>
        <p:nvSpPr>
          <p:cNvPr id="3" name="Content Placeholder 2"/>
          <p:cNvSpPr>
            <a:spLocks noGrp="1"/>
          </p:cNvSpPr>
          <p:nvPr>
            <p:ph idx="1"/>
          </p:nvPr>
        </p:nvSpPr>
        <p:spPr/>
        <p:txBody>
          <a:bodyPr/>
          <a:lstStyle/>
          <a:p>
            <a:pPr>
              <a:defRPr sz="1600"/>
            </a:pPr>
            <a:r>
              <a:t>cadre des essais  Pour les EXECUTANTS participants aux ESSAIS, la formation à la prévention du risque électrique couvre, à la fois, les TRAVAUX dans l'ENVIRONNEMENT électrique et les risques supplémentaires liés aux conditions des ESSAIS.</a:t>
            </a:r>
          </a:p>
          <a:p>
            <a:pPr>
              <a:defRPr sz="1600"/>
            </a:pPr>
            <a:r>
              <a:t>La formation conduit à une HABILITATION symboles B1V ou H1V.</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11.6.2 Formation à la prévention du risque électrique pour le mesurage</a:t>
            </a:r>
          </a:p>
        </p:txBody>
      </p:sp>
      <p:sp>
        <p:nvSpPr>
          <p:cNvPr id="3" name="Content Placeholder 2"/>
          <p:cNvSpPr>
            <a:spLocks noGrp="1"/>
          </p:cNvSpPr>
          <p:nvPr>
            <p:ph idx="1"/>
          </p:nvPr>
        </p:nvSpPr>
        <p:spPr/>
        <p:txBody>
          <a:bodyPr/>
          <a:lstStyle/>
          <a:p>
            <a:pPr>
              <a:defRPr sz="1600"/>
            </a:pPr>
            <a:r>
              <a:t>La formation à la prévention du risque électrique lors d'un MESURAGE est incluse dans la formation en vue des TRAVAUX, des INTERVENTIONS BT, des ESSAIS ou des VERIFICATIONS.</a:t>
            </a:r>
          </a:p>
          <a:p>
            <a:pPr>
              <a:defRPr sz="1600"/>
            </a:pPr>
            <a:r>
              <a:t>Elle autorise à réaliser les MESURAGES dans les conditions d'ENVIRONNEMENT permises par l'HABILITATION delivree et sous couvert de cette HABILITATION.</a:t>
            </a:r>
          </a:p>
          <a:p>
            <a:pPr>
              <a:defRPr sz="1600"/>
            </a:pPr>
            <a:r>
              <a:t>UTE  -  145  -  NF C 18-510  Une formation adaptée à un besoin spécifique de MESURAGE est dispensée aux personnes ayant à réaliser uniquement des MESURAGES dans leur activité courante.</a:t>
            </a:r>
          </a:p>
          <a:p>
            <a:pPr>
              <a:defRPr sz="1600"/>
            </a:pPr>
            <a:r>
              <a:t>Elle doit être adaptée au type de MESURAGES à effectuer, ainsi qu'au MATERIEL concerné.</a:t>
            </a:r>
          </a:p>
          <a:p>
            <a:pPr>
              <a:defRPr sz="1600"/>
            </a:pPr>
            <a:r>
              <a:t>La personne qui réalise les MESURAGES doit être capable d'assurer sa protection et celle des tiers.</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11.6.3 Formation à la prévention du risque électrique pour les vérifications</a:t>
            </a:r>
          </a:p>
        </p:txBody>
      </p:sp>
      <p:sp>
        <p:nvSpPr>
          <p:cNvPr id="3" name="Content Placeholder 2"/>
          <p:cNvSpPr>
            <a:spLocks noGrp="1"/>
          </p:cNvSpPr>
          <p:nvPr>
            <p:ph idx="1"/>
          </p:nvPr>
        </p:nvSpPr>
        <p:spPr/>
        <p:txBody>
          <a:bodyPr/>
          <a:lstStyle/>
          <a:p>
            <a:pPr>
              <a:defRPr sz="1600"/>
            </a:pPr>
            <a:r>
              <a:t>La formation à la prévention du risque électrique lors d'une VERIFICATION est incluse dans la formation dispensée en vue des TRAVAUX, des INTERVENTIONS BT GENERALES ou des ESSAIS.</a:t>
            </a:r>
          </a:p>
          <a:p>
            <a:pPr>
              <a:defRPr sz="1600"/>
            </a:pPr>
            <a:r>
              <a:t>Elle autorise à réaliser les VERIFICATIONS dans les conditions d'ENVIRONNEMENT permises par l'HABILITATION delivree et sous couvert de cette HABILITATION.</a:t>
            </a:r>
          </a:p>
          <a:p>
            <a:pPr>
              <a:defRPr sz="1600"/>
            </a:pPr>
            <a:r>
              <a:t>Une formation adaptée à un besoin spécifique de VERIFICATION est dispensée aux personnes ayant à réaliser uniquement des VERIFICATIONS dans leur activité courante.</a:t>
            </a:r>
          </a:p>
          <a:p>
            <a:pPr>
              <a:defRPr sz="1600"/>
            </a:pPr>
            <a:r>
              <a:t>Elle doit être adaptée au type de VERIFICATIONS à effectuer ainsi qu'au MATERIEL concerne.</a:t>
            </a:r>
          </a:p>
          <a:p>
            <a:pPr>
              <a:defRPr sz="1600"/>
            </a:pPr>
            <a:r>
              <a:t>Le verificateur doit être capable d'assurer sa protection et celle des tiers.</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11.6.4 Formation à la prévention du risque électrique pour les manœuvres</a:t>
            </a:r>
          </a:p>
        </p:txBody>
      </p:sp>
      <p:sp>
        <p:nvSpPr>
          <p:cNvPr id="3" name="Content Placeholder 2"/>
          <p:cNvSpPr>
            <a:spLocks noGrp="1"/>
          </p:cNvSpPr>
          <p:nvPr>
            <p:ph idx="1"/>
          </p:nvPr>
        </p:nvSpPr>
        <p:spPr/>
        <p:txBody>
          <a:bodyPr/>
          <a:lstStyle/>
          <a:p>
            <a:pPr>
              <a:defRPr sz="1600"/>
            </a:pPr>
            <a:r>
              <a:t>La formation à la prévention du risque électrique lors des MANŒUVRES est incluse dans la formation dispensée en vue des TRAVAUX, des INTERVENTIONS BT ou des OPERATIONS SPECIFIQUES.</a:t>
            </a:r>
          </a:p>
          <a:p>
            <a:pPr>
              <a:defRPr sz="1600"/>
            </a:pPr>
            <a:r>
              <a:t>Elle autorise à réaliser les MANŒUVRES dans les conditions d'ENVIRONNEMENT permises par l'HABILITATION delivree et sous couvert de cette HABILITATION.</a:t>
            </a:r>
          </a:p>
          <a:p>
            <a:pPr>
              <a:defRPr sz="1600"/>
            </a:pPr>
            <a:r>
              <a:t>Une formation adaptée à un besoin spécifique de MANŒUVRE est dispensée aux personnes ayant à réaliser uniquement des MANŒUVRES dans leur activité courante.</a:t>
            </a:r>
          </a:p>
          <a:p>
            <a:pPr>
              <a:defRPr sz="1600"/>
            </a:pPr>
            <a:r>
              <a:t>Elle doit être adaptée au type de MANŒUVRES à effectuer, ainsi qu'au MATERIEL concerne.</a:t>
            </a:r>
          </a:p>
          <a:p>
            <a:pPr>
              <a:defRPr sz="1600"/>
            </a:pPr>
            <a:r>
              <a:t>La personne qui réalise les MANŒUVRES doit être capable d'assurer sa protection et celle des tiers.</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11.7 Tableau des compétences</a:t>
            </a:r>
          </a:p>
        </p:txBody>
      </p:sp>
      <p:sp>
        <p:nvSpPr>
          <p:cNvPr id="3" name="Content Placeholder 2"/>
          <p:cNvSpPr>
            <a:spLocks noGrp="1"/>
          </p:cNvSpPr>
          <p:nvPr>
            <p:ph idx="1"/>
          </p:nvPr>
        </p:nvSpPr>
        <p:spPr/>
        <p:txBody>
          <a:bodyPr/>
          <a:lstStyle/>
          <a:p>
            <a:pPr>
              <a:defRPr sz="1600"/>
            </a:pPr>
            <a:r>
              <a:t>En application de l'Article 5, le Tableau 9 ci-après, résume les diverses HABILITATIONS qui se rapportent aux ESSAIS, aux MESURAGES, aux VERIFICATIONS et aux MANŒUVRES.</a:t>
            </a:r>
          </a:p>
          <a:p>
            <a:pPr>
              <a:defRPr sz="1600"/>
            </a:pPr>
            <a:r>
              <a:t>Ce tableau exprime les seules HABILITATIONS possibles pour cet article.</a:t>
            </a:r>
          </a:p>
          <a:p>
            <a:pPr>
              <a:defRPr sz="1600"/>
            </a:pPr>
            <a:r>
              <a:t>NF C 18-510  -  146  -  UTE  Tableau 9 - Tableau des compétences pour les essais, les mesurages, les vérifications et les manœuvres  Symbole Compétence en matière de risque électrique B2V Essai Dans le cadre des travaux, capacité à réaliser des essais BT et à opérer dans la zone 4, complétée par celle de consigner pour son propre compte.</a:t>
            </a:r>
          </a:p>
          <a:p>
            <a:pPr>
              <a:defRPr sz="1600"/>
            </a:pPr>
            <a:r>
              <a:t>BR Dans le cadre des interventions BT générales, capacité à réaliser des essais BT et à opérer dans la zone 4, complétée par celle de consigner pour son propre compte.</a:t>
            </a:r>
          </a:p>
          <a:p>
            <a:pPr>
              <a:defRPr sz="1600"/>
            </a:pPr>
            <a:r>
              <a:t>BE Essai Dans le cas d'essais dans des laboratoires d'études et d'essais, sur des plates-formes d'essais ou lors de processus de fabrication en série, capacité à réaliser des essais BT et à opérer en BT dans les zones 1 et 4, complétée le cas échéant, par celle de consigner pour son propre compte.</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OPÉRATIONS PARTICULIÈRES</a:t>
            </a:r>
          </a:p>
        </p:txBody>
      </p:sp>
      <p:sp>
        <p:nvSpPr>
          <p:cNvPr id="3" name="Content Placeholder 2"/>
          <p:cNvSpPr>
            <a:spLocks noGrp="1"/>
          </p:cNvSpPr>
          <p:nvPr>
            <p:ph idx="1"/>
          </p:nvPr>
        </p:nvSpPr>
        <p:spPr/>
        <p:txBody>
          <a:bodyPr/>
          <a:lstStyle/>
          <a:p>
            <a:pPr>
              <a:defRPr sz="1600"/>
            </a:pPr>
            <a:r>
              <a:t>INSTALLATIONS  # À CERTAINS OUVRAGES OU  Cet article définit, en complément des articles précédents, des prescriptions particulières concernant certains OUVRAGES OU INSTALLATIONS ou certaines de leurs parties.</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12.1 Opérations sur les lignes aériennes sur supports communs</a:t>
            </a:r>
          </a:p>
        </p:txBody>
      </p:sp>
      <p:sp>
        <p:nvSpPr>
          <p:cNvPr id="3" name="Content Placeholder 2"/>
          <p:cNvSpPr>
            <a:spLocks noGrp="1"/>
          </p:cNvSpPr>
          <p:nvPr>
            <p:ph idx="1"/>
          </p:nvPr>
        </p:nvSpPr>
        <p:spPr/>
        <p:txBody>
          <a:bodyPr/>
          <a:lstStyle/>
          <a:p>
            <a:pPr>
              <a:defRPr sz="1600"/>
            </a:pPr>
            <a:r>
              <a:t>Ce paragraphe concerne uniquement les lignes aériennes sur supports communs pour lesquelles au moins un des circuits est réalisé en conducteurs nus.</a:t>
            </a:r>
          </a:p>
          <a:p>
            <a:pPr>
              <a:defRPr sz="1600"/>
            </a:pPr>
            <a:r>
              <a:t>Ce sont des OUVRAGES ou des INSTALLATIONS comportant, soit des circuits exploités à des tensions différentes, soit des circuits de natures différentes, tels que circuits de puissance, de signalisation ou de télétransmission.</a:t>
            </a:r>
          </a:p>
          <a:p>
            <a:pPr>
              <a:defRPr sz="1600"/>
            </a:pPr>
            <a:r>
              <a:t>Ces types de lignes sont appelés lignes aériennes mixtes et peuvent être sous la responsabilité d'exploitants différents.</a:t>
            </a:r>
          </a:p>
          <a:p>
            <a:pPr>
              <a:defRPr sz="1600"/>
            </a:pPr>
            <a:r>
              <a:t>Toutes les OPERATIONS sur les lignes aériennes sur supports communs doivent être effectuées en appliquant les prescriptions spécifiques des OUVRAGES ou des INSTALLATIONS, en tenant compte des prescriptions relatives aux ZONES D'ENVIRONNEMENT des autres OUVRAGES ou autres INSTALLATIONS.</a:t>
            </a:r>
          </a:p>
          <a:p>
            <a:pPr>
              <a:defRPr sz="1600"/>
            </a:pPr>
            <a:r>
              <a:t>L'OPERATION ne peut être entreprise sur un support commun que si les éléments constitutifs (isolateurs, câbles, armements, etc.</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12.2 Opérations sur les installations d'éclairage extérieur</a:t>
            </a:r>
          </a:p>
        </p:txBody>
      </p:sp>
      <p:sp>
        <p:nvSpPr>
          <p:cNvPr id="3" name="Content Placeholder 2"/>
          <p:cNvSpPr>
            <a:spLocks noGrp="1"/>
          </p:cNvSpPr>
          <p:nvPr>
            <p:ph idx="1"/>
          </p:nvPr>
        </p:nvSpPr>
        <p:spPr/>
        <p:txBody>
          <a:bodyPr/>
          <a:lstStyle/>
          <a:p>
            <a:pPr>
              <a:defRPr sz="1600"/>
            </a:pPr>
            <a:r>
              <a:t>Les définitions relatives aux installations d'éclairage extérieur sont définies dans la norme NF C 17-200.</a:t>
            </a:r>
          </a:p>
          <a:p>
            <a:pPr>
              <a:defRPr sz="1600"/>
            </a:pPr>
            <a:r>
              <a:t>Les dispositions réglementaires relatives aux installations d'éclairage extérieur dépendent du type d'installation.</a:t>
            </a:r>
          </a:p>
          <a:p>
            <a:pPr>
              <a:defRPr sz="1600"/>
            </a:pPr>
            <a:r>
              <a:t>On distingue, parmi les installations d'éclairage extérieur, les installations d'éclairage public et les autres.</a:t>
            </a:r>
          </a:p>
          <a:p>
            <a:pPr>
              <a:defRPr sz="1600"/>
            </a:pPr>
            <a:r>
              <a:t>Les installations d'éclairage public peuvent comporter des canalisations pouvant utiliser les mêmes supports que le réseau de distribution public basse tension et avoir même parfois un conducteur neutre commun avec celui du réseau.</a:t>
            </a:r>
          </a:p>
          <a:p>
            <a:pPr>
              <a:defRPr sz="1600"/>
            </a:pPr>
            <a:r>
              <a:t>Les circuits de telles installations sont soumis aux prescriptions de l'arrêté technique.</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12.3.1 En basse tension</a:t>
            </a:r>
          </a:p>
        </p:txBody>
      </p:sp>
      <p:sp>
        <p:nvSpPr>
          <p:cNvPr id="3" name="Content Placeholder 2"/>
          <p:cNvSpPr>
            <a:spLocks noGrp="1"/>
          </p:cNvSpPr>
          <p:nvPr>
            <p:ph idx="1"/>
          </p:nvPr>
        </p:nvSpPr>
        <p:spPr/>
        <p:txBody>
          <a:bodyPr/>
          <a:lstStyle/>
          <a:p>
            <a:pPr>
              <a:defRPr sz="1600"/>
            </a:pPr>
            <a:r>
              <a:t>Si le MATERIEL ne présente pas de risque de contact direct pendant la mise en place ou l'enlèvement des lampes ou des accessoires (indice de protection de code a minima IP2X ou IPXXB) et si les lampes et accessoires ne sont pas deteriores, le remplacement peut, en présence de tension, être effectué par du personnel forme mais non habilité.</a:t>
            </a:r>
          </a:p>
          <a:p>
            <a:pPr>
              <a:defRPr sz="1600"/>
            </a:pPr>
            <a:r>
              <a:t>Dans tous les autres cas, le remplacement des lampes ou des accessoires debrochables d'un appareil d'éclairage doit être realise après MISE HORS TENSION.</a:t>
            </a:r>
          </a:p>
          <a:p>
            <a:pPr>
              <a:defRPr sz="1600"/>
            </a:pPr>
            <a:r>
              <a:t>En basse tension, s'il y a un risque électrique, le remplacement des lampes ou des accessoires doit être réalisé en appliquant les prescriptions des INTERVENTIONS BT ou les prescriptions des TRAVAUX d'ORDRE ELECTRIQUE, si les critères des INTERVENTIONS BT sont dépassés.</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12.3.2 En haute tension</a:t>
            </a:r>
          </a:p>
        </p:txBody>
      </p:sp>
      <p:sp>
        <p:nvSpPr>
          <p:cNvPr id="3" name="Content Placeholder 2"/>
          <p:cNvSpPr>
            <a:spLocks noGrp="1"/>
          </p:cNvSpPr>
          <p:nvPr>
            <p:ph idx="1"/>
          </p:nvPr>
        </p:nvSpPr>
        <p:spPr/>
        <p:txBody>
          <a:bodyPr/>
          <a:lstStyle/>
          <a:p>
            <a:pPr>
              <a:defRPr sz="1600"/>
            </a:pPr>
            <a:r>
              <a:t>En haute tension, le remplacement des lampes ou accessoires doit être réalisé en appliquant les prescriptions des TRAVAUX d'ORDRE ELECTRIQUE.</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12.4 Opérations de remplacement de fusibles BT</a:t>
            </a:r>
          </a:p>
        </p:txBody>
      </p:sp>
      <p:sp>
        <p:nvSpPr>
          <p:cNvPr id="3" name="Content Placeholder 2"/>
          <p:cNvSpPr>
            <a:spLocks noGrp="1"/>
          </p:cNvSpPr>
          <p:nvPr>
            <p:ph idx="1"/>
          </p:nvPr>
        </p:nvSpPr>
        <p:spPr/>
        <p:txBody>
          <a:bodyPr/>
          <a:lstStyle/>
          <a:p>
            <a:pPr>
              <a:defRPr sz="1600"/>
            </a:pPr>
            <a:r>
              <a:t>Tout remplacement d'un fusible fondu doit donner lieu à une recherche des causes de la fusion.</a:t>
            </a:r>
          </a:p>
          <a:p>
            <a:pPr>
              <a:defRPr sz="1600"/>
            </a:pPr>
            <a:r>
              <a:t>Le remplacement d'un fusible BT doit être effectue preferentiellement hors tension.</a:t>
            </a:r>
          </a:p>
          <a:p>
            <a:pPr>
              <a:defRPr sz="1600"/>
            </a:pPr>
            <a:r>
              <a:t>Cependant, il peut être effectué sous tension et en charge, à condition que le fusible et son support soient conçus a cet effet et assurent la protection de l'OPERATEUR.</a:t>
            </a:r>
          </a:p>
          <a:p>
            <a:pPr>
              <a:defRPr sz="1600"/>
            </a:pPr>
            <a:r>
              <a:t>Sur une INSTALLATION BT, tout remplacement de fusible peut être confié :  • à une PERSONNE HABILITEE symbole BS (voir Article 10) ;  · à une personne formée mais non habilitée, à condition que l'élément de remplacement à fusion enfermée soit monte dans un appareil assurant la protection de l'OPERATEUR contre le choc électrique et, en cas de fermeture sur court-circuit, contre les projections.</a:t>
            </a:r>
          </a:p>
          <a:p>
            <a:pPr>
              <a:defRPr sz="1600"/>
            </a:pPr>
            <a:r>
              <a:t>Sur un OUVRAGE BT, l'opération de remplacement ne peut être confiée qu'à une PERSONNE HABILITEE symboles B2V ou B2T (ou symbole BR pour les annexes des ouvrages de transport et de distribution d'énergie).</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12.5 Opérations de remplacement de fusibles HTA</a:t>
            </a:r>
          </a:p>
        </p:txBody>
      </p:sp>
      <p:sp>
        <p:nvSpPr>
          <p:cNvPr id="3" name="Content Placeholder 2"/>
          <p:cNvSpPr>
            <a:spLocks noGrp="1"/>
          </p:cNvSpPr>
          <p:nvPr>
            <p:ph idx="1"/>
          </p:nvPr>
        </p:nvSpPr>
        <p:spPr/>
        <p:txBody>
          <a:bodyPr/>
          <a:lstStyle/>
          <a:p>
            <a:pPr>
              <a:defRPr sz="1600"/>
            </a:pPr>
            <a:r>
              <a:t>Le remplacement de fusibles HTA est une OPERATION d'ORDRE ELECTRIQUE.</a:t>
            </a:r>
          </a:p>
          <a:p>
            <a:pPr>
              <a:defRPr sz="1600"/>
            </a:pPr>
            <a:r>
              <a:t>Elle doit être réalisée suivant les prescriptions des TRAVAUX HORS TENSION.</a:t>
            </a:r>
          </a:p>
          <a:p>
            <a:pPr>
              <a:defRPr sz="1600"/>
            </a:pPr>
            <a:r>
              <a:t>Lorsque le remplacement de fusibles HTA presente un danger après ouverture des organes de séparation, en raison des risques de contact ou d'amorçage avec les parties voisines restées sous tension, l'opération doit s'effectuer conformément aux prescriptions des TRAVAUX AU VOISINAGE HT.</a:t>
            </a:r>
          </a:p>
          <a:p>
            <a:pPr>
              <a:defRPr sz="1600"/>
            </a:pPr>
            <a:r>
              <a:t>Sur des MATERIELS conçus à cet effet, le remplacement de fusibles peut être réalisé sans CONSIGNATION, à condition d'être precede par une MISE HORS TENSION et exécuté conformément aux INSTRUCTIONS DE SECURITE incluant les prescriptions du constructeur.</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12.6.1 Opération sur les circuits</a:t>
            </a:r>
          </a:p>
        </p:txBody>
      </p:sp>
      <p:sp>
        <p:nvSpPr>
          <p:cNvPr id="3" name="Content Placeholder 2"/>
          <p:cNvSpPr>
            <a:spLocks noGrp="1"/>
          </p:cNvSpPr>
          <p:nvPr>
            <p:ph idx="1"/>
          </p:nvPr>
        </p:nvSpPr>
        <p:spPr/>
        <p:txBody>
          <a:bodyPr/>
          <a:lstStyle/>
          <a:p>
            <a:pPr>
              <a:defRPr sz="1600"/>
            </a:pPr>
            <a:r>
              <a:t>Une OPÉRATION sur les circuits d'un transformateur de puissance ou de tension est une OPÉRATION D'ORDRE ÉLECTRIQUE.</a:t>
            </a:r>
          </a:p>
          <a:p>
            <a:pPr>
              <a:defRPr sz="1600"/>
            </a:pPr>
            <a:r>
              <a:t>Elle doit être réalisée suivant les prescriptions des TRAVAUX HORS TENSION.</a:t>
            </a:r>
          </a:p>
          <a:p>
            <a:pPr>
              <a:defRPr sz="1600"/>
            </a:pPr>
            <a:r>
              <a:t>UTE  -  149  -  NF C 18-510  Dans le cas de TRAVAUX sur un circuit alimentant le primaire, le secondaire ou le tertiaire d'un transformateur de puissance :  • les CONDAMNATIONS doivent être effectuées sur tous les organes de SÉPARATION de toutes sources possibles, circuits primaire, secondaire et tertiaire (par exemple : fiches de synchronisation, fusibles de transformateurs de tension) ;  • le circuit, objet des TRAVAUX, doit être mis à la terre et en court-circuit ; les autres circuits non concernés par les TRAVAUX peuvent être mis à la terre et en court-circuit, à la demande du CHARGE D'EXPLOITATION ELECTRIQUE.</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12.6.2 Autres opérations</a:t>
            </a:r>
          </a:p>
        </p:txBody>
      </p:sp>
      <p:sp>
        <p:nvSpPr>
          <p:cNvPr id="3" name="Content Placeholder 2"/>
          <p:cNvSpPr>
            <a:spLocks noGrp="1"/>
          </p:cNvSpPr>
          <p:nvPr>
            <p:ph idx="1"/>
          </p:nvPr>
        </p:nvSpPr>
        <p:spPr/>
        <p:txBody>
          <a:bodyPr/>
          <a:lstStyle/>
          <a:p>
            <a:pPr>
              <a:defRPr sz="1600"/>
            </a:pPr>
            <a:r>
              <a:t>Pour toute opération de maintenance sur les INSTALLATIONS auxiliaires d'un transformateur de puissance (par exemple : moteurs de pompes ou d'aerorefrigerants, prélèvement d'huile), il faut tenir compte de l'ENVIRONNEMENT électrique et appliquer les prescriptions de l'Article 9.</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12.7 Matériels alimentes en BT et TBT comportant des circuits HT</a:t>
            </a:r>
          </a:p>
        </p:txBody>
      </p:sp>
      <p:sp>
        <p:nvSpPr>
          <p:cNvPr id="3" name="Content Placeholder 2"/>
          <p:cNvSpPr>
            <a:spLocks noGrp="1"/>
          </p:cNvSpPr>
          <p:nvPr>
            <p:ph idx="1"/>
          </p:nvPr>
        </p:nvSpPr>
        <p:spPr/>
        <p:txBody>
          <a:bodyPr/>
          <a:lstStyle/>
          <a:p>
            <a:pPr>
              <a:defRPr sz="1600"/>
            </a:pPr>
            <a:r>
              <a:t>Il s'agit de MATERIELS alimentes en BT ou en TBT, dont certains organes utilisent des tensions supérieures à celles du domaine BT, tels des brûleurs à mazout, des appareils à tube cathodique, des appareils à rayons X, des filtres électrostatiques, des détecteurs de défauts de câbles, des ponts de mesurage HT, des installations de lampes à décharge à cathode froide, des fours à micro-ondes, des protections périmétriques ou électrificateurs (clôtures électriques) dont il faut assurer la maintenance ou qui font l'objet de VERIFICATIONS.</a:t>
            </a:r>
          </a:p>
          <a:p>
            <a:pPr>
              <a:defRPr sz="1600"/>
            </a:pPr>
            <a:r>
              <a:t>C'est la tension nominale d'alimentation du MATERIEL qui définit la lettre B du symbole d'HABILITATION nécessaire pour y effectuer des OPERATIONS de type INTERVENTIONS BT ou de type TRAVAUX.</a:t>
            </a:r>
          </a:p>
          <a:p>
            <a:pPr>
              <a:defRPr sz="1600"/>
            </a:pPr>
            <a:r>
              <a:t>Les MATERIELS BT generant de la haute tension peuvent avoir des distances constructives entre la masse et la pièce nue sous tension, qui respectent les distances de tension, mais qui peuvent être inférieures à la DISTANCE MINIMALE D'APPROCHE (DMA).</a:t>
            </a:r>
          </a:p>
          <a:p>
            <a:pPr>
              <a:defRPr sz="1600"/>
            </a:pPr>
            <a:r>
              <a:t>L'OPERATEUR ne doit jamais franchir la limite representee par la distance de tension constructive.</a:t>
            </a:r>
          </a:p>
          <a:p>
            <a:pPr>
              <a:defRPr sz="1600"/>
            </a:pPr>
            <a:r>
              <a:t>La distance minimale de travail à appliquer vis-à-vis de la HT est égale à la distance de tension constructive HT augmentée d'une distance de garde à apprécier en fonction de l'ENVIRONNEMENT (voir 6.</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12.7.1 Conditions que doit remplir le personnel appele a effectuer des opérations sur</a:t>
            </a:r>
          </a:p>
        </p:txBody>
      </p:sp>
      <p:sp>
        <p:nvSpPr>
          <p:cNvPr id="3" name="Content Placeholder 2"/>
          <p:cNvSpPr>
            <a:spLocks noGrp="1"/>
          </p:cNvSpPr>
          <p:nvPr>
            <p:ph idx="1"/>
          </p:nvPr>
        </p:nvSpPr>
        <p:spPr/>
        <p:txBody>
          <a:bodyPr/>
          <a:lstStyle/>
          <a:p>
            <a:pPr>
              <a:defRPr sz="1600"/>
            </a:pPr>
            <a:r>
              <a:t>ces matériels  Le personnel appelé à effectuer des OPERATIONS sur les parties BT et HT de ce MATERIEL doit posséder un titre d'HABILITATION symboles a minima BR ou B2V et avoir reçu une formation HT en rapport avec le risque encouru, qui se traduit par une mention spéciale dans la rubrique « indications supplémentaires &gt; du titre d'HABILITATION.</a:t>
            </a:r>
          </a:p>
          <a:p>
            <a:pPr>
              <a:defRPr sz="1600"/>
            </a:pPr>
            <a:r>
              <a:t>Le personnel appelé à effectuer des INTERVENTIONS BT sur la partie BT de ce MATERIEL et des TRAVAUX HORS TENSION sur la partie HT doit posséder un titre d'HABILITATION symbole BR (voir 10.</a:t>
            </a:r>
          </a:p>
          <a:p>
            <a:pPr>
              <a:defRPr sz="1600"/>
            </a:pPr>
            <a:r>
              <a:t>3) et avoir reçu une formation au VOISINAGE HT en rapport avec le risque encouru, qui se traduit par une mention spéciale dans la rubrique « indications supplémentaires &gt;&gt; du titre d'HABILITATION.</a:t>
            </a:r>
          </a:p>
          <a:p>
            <a:pPr>
              <a:defRPr sz="1600"/>
            </a:pPr>
            <a:r>
              <a:t>Le personnel appelé à effectuer des TRAVAUX sur les parties BT et HT de ce MATERIEL doit posséder un titre d'HABILITATION symbole a minima B2V et avoir reçu une formation HT en rapport avec le risque encouru, qui se traduit par une mention spéciale dans la rubrique « indications supplémentaires &gt; du titre d'HABILITATION.</a:t>
            </a:r>
          </a:p>
          <a:p>
            <a:pPr>
              <a:defRPr sz="1600"/>
            </a:pPr>
            <a:r>
              <a:t>Toute OPERATION sur la partie HT doit être réalisée hors tension, la CONSIGNATION étant réalisée sur la partie BT.</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12.7.2 Formation à la prévention du risque électrique - Habilitation</a:t>
            </a:r>
          </a:p>
        </p:txBody>
      </p:sp>
      <p:sp>
        <p:nvSpPr>
          <p:cNvPr id="3" name="Content Placeholder 2"/>
          <p:cNvSpPr>
            <a:spLocks noGrp="1"/>
          </p:cNvSpPr>
          <p:nvPr>
            <p:ph idx="1"/>
          </p:nvPr>
        </p:nvSpPr>
        <p:spPr/>
        <p:txBody>
          <a:bodyPr/>
          <a:lstStyle/>
          <a:p>
            <a:pPr>
              <a:defRPr sz="1600"/>
            </a:pPr>
            <a:r>
              <a:t>Dans le cadre des INTERVENTIONS BT, la formation de base à la prévention du risque électrique doit être une formation conduisant à une HABILITATION symbole BR, complétée par une formation particulière à la manipulation et à la mise en place des protections adaptées BT et HT, dans le cadre de la MISE HORS DE PORTEE par OBSTACLE ou par ISOLATION.</a:t>
            </a:r>
          </a:p>
          <a:p>
            <a:pPr>
              <a:defRPr sz="1600"/>
            </a:pPr>
            <a:r>
              <a:t>Cette formation complémentaire, prenant en compte le risque haute tension, se traduit par une mention spéciale dans la rubrique « indications supplémentaires &gt; du titre d'HABILITATION, complétant le symbole BR.</a:t>
            </a:r>
          </a:p>
          <a:p>
            <a:pPr>
              <a:defRPr sz="1600"/>
            </a:pPr>
            <a:r>
              <a:t>Dans le cadre des TRAVAUX BT, la formation de base à la prévention du risque électrique doit être une formation conduisant à une HABILITATION symbole B2V, completee par une formation particulière à la manipulation et à la mise en place des protections adaptées BT et HT, dans le cadre de la MISE HORS DE PORTEE par OBSTACLE ou par ISOLATION.</a:t>
            </a:r>
          </a:p>
          <a:p>
            <a:pPr>
              <a:defRPr sz="1600"/>
            </a:pPr>
            <a:r>
              <a:t>Cette formation complémentaire, prenant en compte le risque haute tension, se traduit par une mention spéciale dans la rubrique « indications supplémentaires &gt;&gt; du titre d'HABILITATION complétant le symbole B2V.</a:t>
            </a:r>
          </a:p>
          <a:p>
            <a:pPr>
              <a:defRPr sz="1600"/>
            </a:pPr>
            <a:r>
              <a:t>La formation relative à l'OPERATION en HT est spécifique au MATERIEL et aux risques encourus par l'OPERATEUR au cours de son OPERATION.</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 Travaux et interventions BT sur les accumulateurs et les batteries</a:t>
            </a:r>
          </a:p>
        </p:txBody>
      </p:sp>
      <p:sp>
        <p:nvSpPr>
          <p:cNvPr id="3" name="Content Placeholder 2"/>
          <p:cNvSpPr>
            <a:spLocks noGrp="1"/>
          </p:cNvSpPr>
          <p:nvPr>
            <p:ph idx="1"/>
          </p:nvPr>
        </p:nvSpPr>
        <p:spPr/>
        <p:txBody>
          <a:bodyPr/>
          <a:lstStyle/>
          <a:p>
            <a:pPr>
              <a:defRPr sz="1600"/>
            </a:pPr>
            <a:r>
              <a:t>d'accumulateurs  Les dispositions de ce paragraphe s'appliquent aux ACCUMULATEURS et aux BATTERIES D'ACCUMULATEURS du domaine basse tension, dès leur première mise en charge (voir 1.</a:t>
            </a:r>
          </a:p>
          <a:p>
            <a:pPr>
              <a:defRPr sz="1600"/>
            </a:pPr>
            <a:r>
              <a:t>2).</a:t>
            </a:r>
          </a:p>
          <a:p>
            <a:pPr>
              <a:defRPr sz="1600"/>
            </a:pPr>
            <a:r>
              <a:t>Elles ne concernent pas les circuits alimentés par des BATTERIES, qui sont couverts par les règles générales du présent document.</a:t>
            </a:r>
          </a:p>
          <a:p>
            <a:pPr>
              <a:defRPr sz="1600"/>
            </a:pPr>
            <a:r>
              <a:t>NOTE 1 Dans la suite du paragraphe, le mot BATTERIE couvre à la fois les ACCUMULATEURS et les BATTERIES D'ACCUMULATEURS.</a:t>
            </a:r>
          </a:p>
          <a:p>
            <a:pPr>
              <a:defRPr sz="1600"/>
            </a:pPr>
            <a:r>
              <a:t>Les différentes opérations possibles sur les BATTERIES sont :.</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12.8.1 Les manutentions</a:t>
            </a:r>
          </a:p>
        </p:txBody>
      </p:sp>
      <p:sp>
        <p:nvSpPr>
          <p:cNvPr id="3" name="Content Placeholder 2"/>
          <p:cNvSpPr>
            <a:spLocks noGrp="1"/>
          </p:cNvSpPr>
          <p:nvPr>
            <p:ph idx="1"/>
          </p:nvPr>
        </p:nvSpPr>
        <p:spPr/>
        <p:txBody>
          <a:bodyPr/>
          <a:lstStyle/>
          <a:p>
            <a:pPr>
              <a:defRPr sz="1600"/>
            </a:pPr>
            <a:r>
              <a:t>Lorsque les bornes des BATTERIES sont protégées (IP2X ou IPXXB), il n'y a pas de risque électrique ; néanmoins l'OPERATEUR doit être formé.</a:t>
            </a:r>
          </a:p>
          <a:p>
            <a:pPr>
              <a:defRPr sz="1600"/>
            </a:pPr>
            <a:r>
              <a:t>Lorsque les bornes des BATTERIES ne sont pas protégées, aucune manutention ne peut être entreprise avant d'avoir mis en œuvre les mesures de protection adaptées (IP2X ou IPXXB) pour supprimer le risque électrique.</a:t>
            </a:r>
          </a:p>
          <a:p>
            <a:pPr>
              <a:defRPr sz="1600"/>
            </a:pPr>
            <a:r>
              <a:t>· la pose de protections adaptées, sur une BATTERIE de tension inférieure ou égale à 60 V en courant continu, doit être réalisée par un OPERATEUR forme ;  · la pose de protections adaptées, sur une BATTERIE de tension supérieure à 60 V en courant continu, doit être réalisée par un OPERATEUR habilite a minima B1V.</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12.8.2 Les opérations de connexion et de déconnexion</a:t>
            </a:r>
          </a:p>
        </p:txBody>
      </p:sp>
      <p:sp>
        <p:nvSpPr>
          <p:cNvPr id="3" name="Content Placeholder 2"/>
          <p:cNvSpPr>
            <a:spLocks noGrp="1"/>
          </p:cNvSpPr>
          <p:nvPr>
            <p:ph idx="1"/>
          </p:nvPr>
        </p:nvSpPr>
        <p:spPr/>
        <p:txBody>
          <a:bodyPr/>
          <a:lstStyle/>
          <a:p>
            <a:pPr>
              <a:defRPr sz="1600"/>
            </a:pPr>
            <a:r>
              <a:t>La CONNEXION ou la DECONNEXION d'une BATTERIE doit être réalisée sur un circuit ouvert.</a:t>
            </a:r>
          </a:p>
          <a:p>
            <a:pPr>
              <a:defRPr sz="1600"/>
            </a:pPr>
            <a:r>
              <a:t>Dans la préparation du travail, il faut tenir compte, aussi, des confusions possibles entre les circuits, avant de réaliser les CONNEXIONS.</a:t>
            </a:r>
          </a:p>
          <a:p>
            <a:pPr>
              <a:defRPr sz="1600"/>
            </a:pPr>
            <a:r>
              <a:t>Pour ces opérations, le premier critère est l'accessibilité des pièces nues sous tension (code IP).</a:t>
            </a:r>
          </a:p>
          <a:p>
            <a:pPr>
              <a:defRPr sz="1600"/>
            </a:pPr>
            <a:r>
              <a:t>UTE  -  151  -  NF C 18-510  Le deuxième critère est le niveau de tension.</a:t>
            </a:r>
          </a:p>
          <a:p>
            <a:pPr>
              <a:defRPr sz="1600"/>
            </a:pPr>
            <a:r>
              <a:t>Le troisième critère est un niveau d'énergie que l'on peut qualifier différemment suivant la nature des BATTERIES (actuellement à l'étude).</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12.8.2.1 Batterie de démarrage des véhicules automobiles et engins</a:t>
            </a:r>
          </a:p>
        </p:txBody>
      </p:sp>
      <p:sp>
        <p:nvSpPr>
          <p:cNvPr id="3" name="Content Placeholder 2"/>
          <p:cNvSpPr>
            <a:spLocks noGrp="1"/>
          </p:cNvSpPr>
          <p:nvPr>
            <p:ph idx="1"/>
          </p:nvPr>
        </p:nvSpPr>
        <p:spPr/>
        <p:txBody>
          <a:bodyPr/>
          <a:lstStyle/>
          <a:p>
            <a:pPr>
              <a:defRPr sz="1600"/>
            </a:pPr>
            <a:r>
              <a:t>Dans le cas d'une BATTERIE de démarrage dépourvue de connectique au moins IP2X ou IPXXB et de tension inférieure ou égale à 60 V, et si la capacité électrique de la BATTERIE est inférieure ou égale à 180 Ah, la CONNEXION ou la DECONNEXION peut être confiée à un OPERATEUR a minima formé.</a:t>
            </a:r>
          </a:p>
          <a:p>
            <a:pPr>
              <a:defRPr sz="1600"/>
            </a:pPr>
            <a:r>
              <a:t>NOTE Cette disposition sera révisée si les études en cours en montrent la nécessité.</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12.8.2.2 Batterie de traction des véhicules automobiles et engins</a:t>
            </a:r>
          </a:p>
        </p:txBody>
      </p:sp>
      <p:sp>
        <p:nvSpPr>
          <p:cNvPr id="3" name="Content Placeholder 2"/>
          <p:cNvSpPr>
            <a:spLocks noGrp="1"/>
          </p:cNvSpPr>
          <p:nvPr>
            <p:ph idx="1"/>
          </p:nvPr>
        </p:nvSpPr>
        <p:spPr/>
        <p:txBody>
          <a:bodyPr/>
          <a:lstStyle/>
          <a:p>
            <a:pPr>
              <a:defRPr sz="1600"/>
            </a:pPr>
            <a:r>
              <a:t>Dans le cas d'une BATTERIE de traction de vehicule automobile ou d'engin de tension inférieure ou égale à 60 V, conforme à la norme NF EN 50272-3, la CONNEXION ou la DECONNEXION peut être confiée à un OPERATEUR a minima forme.</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12.8.3 Le nettoyage</a:t>
            </a:r>
          </a:p>
        </p:txBody>
      </p:sp>
      <p:sp>
        <p:nvSpPr>
          <p:cNvPr id="3" name="Content Placeholder 2"/>
          <p:cNvSpPr>
            <a:spLocks noGrp="1"/>
          </p:cNvSpPr>
          <p:nvPr>
            <p:ph idx="1"/>
          </p:nvPr>
        </p:nvSpPr>
        <p:spPr/>
        <p:txBody>
          <a:bodyPr/>
          <a:lstStyle/>
          <a:p>
            <a:pPr>
              <a:defRPr sz="1600"/>
            </a:pPr>
            <a:r>
              <a:t>Il existe deux types de nettoyages distincts pour une BATTERIE : le nettoyage du corps de BATTERIE et le nettoyage des connectiques de la BATTERIE.</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12.8.3.1 Le nettoyage du corps de batterie</a:t>
            </a:r>
          </a:p>
        </p:txBody>
      </p:sp>
      <p:sp>
        <p:nvSpPr>
          <p:cNvPr id="3" name="Content Placeholder 2"/>
          <p:cNvSpPr>
            <a:spLocks noGrp="1"/>
          </p:cNvSpPr>
          <p:nvPr>
            <p:ph idx="1"/>
          </p:nvPr>
        </p:nvSpPr>
        <p:spPr/>
        <p:txBody>
          <a:bodyPr/>
          <a:lstStyle/>
          <a:p>
            <a:pPr>
              <a:defRPr sz="1600"/>
            </a:pPr>
            <a:r>
              <a:t>Le nettoyage du corps de BATTERIE sur une BATTERIE sans pièces nues sous tension doit être réalisé par un OPERATEUR forme.</a:t>
            </a:r>
          </a:p>
          <a:p>
            <a:pPr>
              <a:defRPr sz="1600"/>
            </a:pPr>
            <a:r>
              <a:t>Dans le cas de BATTERIES comportant des pièces nues sous tension, le nettoyage doit être réalisé, après la pose de protection adaptée par un OPERATEUR forme et habilité symbole a minima B1V.</a:t>
            </a:r>
          </a:p>
          <a:p>
            <a:pPr>
              <a:defRPr sz="1600"/>
            </a:pPr>
            <a:r>
              <a:t>NOTE La protection par recouvrement total de l'ensemble de la BATTERIE est interdite sur les BATTERIES en cours d'exploitation pouvant dégager un gaz.</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12.8.3.2 Le nettoyage de la connectique</a:t>
            </a:r>
          </a:p>
        </p:txBody>
      </p:sp>
      <p:sp>
        <p:nvSpPr>
          <p:cNvPr id="3" name="Content Placeholder 2"/>
          <p:cNvSpPr>
            <a:spLocks noGrp="1"/>
          </p:cNvSpPr>
          <p:nvPr>
            <p:ph idx="1"/>
          </p:nvPr>
        </p:nvSpPr>
        <p:spPr/>
        <p:txBody>
          <a:bodyPr/>
          <a:lstStyle/>
          <a:p>
            <a:pPr>
              <a:defRPr sz="1600"/>
            </a:pPr>
            <a:r>
              <a:t>Pour le nettoyage de la connectique :  · sur une BATTERIE de tension inférieure ou égale à 60 V en courant continu et de critère en énergie (à définir) inférieur ou égal à X, l'OPERATEUR doit être forme, l'HABILITATION n'est pas nécessaire ;  NF C 18-510  -  152  -  UTE  · sur une BATTERIE de tension inférieure ou égale à 60 V en courant continu et de critère en énergie (à définir) supérieur à X, l'OPERATEUR doit être habilité symbole a minima B1N ;  · sur une BATTERIE de tension supérieure à 60 V en courant continu, l'OPERATEUR doit être habilité symbole a minima B1N.</a:t>
            </a:r>
          </a:p>
          <a:p>
            <a:pPr>
              <a:defRPr sz="1600"/>
            </a:pPr>
            <a:r>
              <a:t>NOTE La nature du critère en énergie et la valeur X sont à l'étude.</a:t>
            </a:r>
          </a:p>
          <a:p>
            <a:pPr>
              <a:defRPr sz="1600"/>
            </a:pPr>
            <a:r>
              <a:t>Pour les BATTERIES de démarrage ou de traction des véhicules automobiles et engins, l'EMPLOYEUR peut adopter les prescriptions des 12.</a:t>
            </a:r>
          </a:p>
          <a:p>
            <a:pPr>
              <a:defRPr sz="1600"/>
            </a:pPr>
            <a:r>
              <a:t>8.</a:t>
            </a:r>
          </a:p>
          <a:p>
            <a:pPr>
              <a:defRPr sz="1600"/>
            </a:pPr>
            <a:r>
              <a:t>3.</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12.8.3.2.1 Batterie de démarrage des véhicules automobiles et engins</a:t>
            </a:r>
          </a:p>
        </p:txBody>
      </p:sp>
      <p:sp>
        <p:nvSpPr>
          <p:cNvPr id="3" name="Content Placeholder 2"/>
          <p:cNvSpPr>
            <a:spLocks noGrp="1"/>
          </p:cNvSpPr>
          <p:nvPr>
            <p:ph idx="1"/>
          </p:nvPr>
        </p:nvSpPr>
        <p:spPr/>
        <p:txBody>
          <a:bodyPr/>
          <a:lstStyle/>
          <a:p>
            <a:pPr>
              <a:defRPr sz="1600"/>
            </a:pPr>
            <a:r>
              <a:t>Dans le cas d'une BATTERIE de démarrage de tension inférieure ou égale à 60 V, et si la capacité électrique de la BATTERIE est inférieure ou égale à 180 Ah, le nettoyage de la connectique peut être confié à un OPERATEUR a minima formé.</a:t>
            </a:r>
          </a:p>
          <a:p>
            <a:pPr>
              <a:defRPr sz="1600"/>
            </a:pPr>
            <a:r>
              <a:t>NOTE Cette disposition sera révisée si les études en cours en montrent la nécessité.</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12.8.3.2.2 Batterie de traction des véhicules automobiles et engins</a:t>
            </a:r>
          </a:p>
        </p:txBody>
      </p:sp>
      <p:sp>
        <p:nvSpPr>
          <p:cNvPr id="3" name="Content Placeholder 2"/>
          <p:cNvSpPr>
            <a:spLocks noGrp="1"/>
          </p:cNvSpPr>
          <p:nvPr>
            <p:ph idx="1"/>
          </p:nvPr>
        </p:nvSpPr>
        <p:spPr/>
        <p:txBody>
          <a:bodyPr/>
          <a:lstStyle/>
          <a:p>
            <a:pPr>
              <a:defRPr sz="1600"/>
            </a:pPr>
            <a:r>
              <a:t>Dans le cas d'une BATTERIE de traction de vehicule automobile ou d'engin de tension inférieure ou égale à 60 V, conforme à la norme NF EN 50272-3, le nettoyage de la connectique peut être confié à un OPERATEUR a minima formé.</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12.8.4 Les contrôles</a:t>
            </a:r>
          </a:p>
        </p:txBody>
      </p:sp>
      <p:sp>
        <p:nvSpPr>
          <p:cNvPr id="3" name="Content Placeholder 2"/>
          <p:cNvSpPr>
            <a:spLocks noGrp="1"/>
          </p:cNvSpPr>
          <p:nvPr>
            <p:ph idx="1"/>
          </p:nvPr>
        </p:nvSpPr>
        <p:spPr/>
        <p:txBody>
          <a:bodyPr/>
          <a:lstStyle/>
          <a:p>
            <a:pPr>
              <a:defRPr sz="1600"/>
            </a:pPr>
            <a:r>
              <a:t>Les contrôles n'exigent pas de CONNEXION ou de DECONNEXION.</a:t>
            </a:r>
          </a:p>
          <a:p>
            <a:pPr>
              <a:defRPr sz="1600"/>
            </a:pPr>
            <a:r>
              <a:t>Ils comprennent notamment :  · la vérification de la propreté et de la température de la BATTERIE  ;  · l'inspection visuelle de la BATTERIE (suintement, déformation, oxydation, etc.</a:t>
            </a:r>
          </a:p>
          <a:p>
            <a:pPr>
              <a:defRPr sz="1600"/>
            </a:pPr>
            <a:r>
              <a:t>) ;  · le relevé visuel de l'indicateur de tension délivrée par le chargeur aux bornes de la BATTERIE ;  · le relevé visuel de l'indicateur de courant résiduel dans chaque branche de la BATTERIE ;  · le relevé visuel de l'indicateur de tension des éléments dans chaque branche de la BATTERIE par echantillonnage.</a:t>
            </a:r>
          </a:p>
          <a:p>
            <a:pPr>
              <a:defRPr sz="1600"/>
            </a:pPr>
            <a:r>
              <a:t>Les contrôles doivent être exécutés, le cas échéant, soit en appliquant, les règles des OPERATIONS au VOISINAGE (zone 1), soit, en présence de tension (zone 4) dans le DOMAINE DE TENSION de la BATTERIE, avec les HABILITATIONS correspondantes.</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12.8.5 La vérification de l'electrolyte</a:t>
            </a:r>
          </a:p>
        </p:txBody>
      </p:sp>
      <p:sp>
        <p:nvSpPr>
          <p:cNvPr id="3" name="Content Placeholder 2"/>
          <p:cNvSpPr>
            <a:spLocks noGrp="1"/>
          </p:cNvSpPr>
          <p:nvPr>
            <p:ph idx="1"/>
          </p:nvPr>
        </p:nvSpPr>
        <p:spPr/>
        <p:txBody>
          <a:bodyPr/>
          <a:lstStyle/>
          <a:p>
            <a:pPr>
              <a:defRPr sz="1600"/>
            </a:pPr>
            <a:r>
              <a:t>La vérification de l'electrolyte (remplacement, niveau etc.</a:t>
            </a:r>
          </a:p>
          <a:p>
            <a:pPr>
              <a:defRPr sz="1600"/>
            </a:pPr>
            <a:r>
              <a:t>) d'une BATTERIE sans pièces nues sous tension accessibles doit être réalisée par un OPERATEUR formé.</a:t>
            </a:r>
          </a:p>
          <a:p>
            <a:pPr>
              <a:defRPr sz="1600"/>
            </a:pPr>
            <a:r>
              <a:t>Dans le cas de BATTERIES comportant des pièces nues sous tension accessibles, la vérification de l'électrolyte doit être réalisée, après la mise en œuvre des mesures de protection adaptées (suppression du risque de contact direct), par un OPERATEUR formé et habilité symbole a minima B1V.</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12.8.6 Organisation</a:t>
            </a:r>
          </a:p>
        </p:txBody>
      </p:sp>
      <p:sp>
        <p:nvSpPr>
          <p:cNvPr id="3" name="Content Placeholder 2"/>
          <p:cNvSpPr>
            <a:spLocks noGrp="1"/>
          </p:cNvSpPr>
          <p:nvPr>
            <p:ph idx="1"/>
          </p:nvPr>
        </p:nvSpPr>
        <p:spPr/>
        <p:txBody>
          <a:bodyPr/>
          <a:lstStyle/>
          <a:p>
            <a:pPr>
              <a:defRPr sz="1600"/>
            </a:pPr>
            <a:r>
              <a:t>En termes d'organisation, l'EMPLOYEUR doit :  · mettre à la disposition de l'OPERATEUR les outils et equipements adaptés aux caractéristiques des BATTERIES, en particulier des vêtements de travail, des outils à main isolants ou isolés, des protections isolantes, un ecran facial, des gants isolants résistants à l'acide ou à l'électrolyte ;  · former et, si nécessaire, habiliter l'OPERATEUR aux tâches qui lui sont confiées.</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 Travaux et interventions BT sur la partie en courant continu des installations</a:t>
            </a:r>
          </a:p>
        </p:txBody>
      </p:sp>
      <p:sp>
        <p:nvSpPr>
          <p:cNvPr id="3" name="Content Placeholder 2"/>
          <p:cNvSpPr>
            <a:spLocks noGrp="1"/>
          </p:cNvSpPr>
          <p:nvPr>
            <p:ph idx="1"/>
          </p:nvPr>
        </p:nvSpPr>
        <p:spPr/>
        <p:txBody>
          <a:bodyPr/>
          <a:lstStyle/>
          <a:p>
            <a:pPr>
              <a:defRPr sz="1600"/>
            </a:pPr>
            <a:r>
              <a:t>photovoltaïques  Le présent paragraphe expose les mesures de prévention du risque électrique applicables à la partie en courant continu d'INSTALLATIONS photovoltaïques (INSTALLATIONS PV) pour les domaines de tension TBT et BT (de 0 V à 1 500 V en courant continu inclus).</a:t>
            </a:r>
          </a:p>
          <a:p>
            <a:pPr>
              <a:defRPr sz="1600"/>
            </a:pPr>
            <a:r>
              <a:t>UTE  -  153  -  NF C 18-510  Le present paragraphe ne traite pas des BATTERIES D'ACCUMULATEURS stationnaires alimentées par les INSTALLATIONS photovoltaïques.</a:t>
            </a:r>
          </a:p>
          <a:p>
            <a:pPr>
              <a:defRPr sz="1600"/>
            </a:pPr>
            <a:r>
              <a:t>Les règles de prévention applicables aux BATTERIES D'ACCUMULATEURS stationnaires relèvent du paragraphe 12.</a:t>
            </a:r>
          </a:p>
          <a:p>
            <a:pPr>
              <a:defRPr sz="1600"/>
            </a:pPr>
            <a:r>
              <a:t>8.</a:t>
            </a:r>
          </a:p>
          <a:p>
            <a:pPr>
              <a:defRPr sz="1600"/>
            </a:pPr>
            <a:r>
              <a:t>Celles applicables aux parties fonctionnant en courant alternatif sont régies par les Articles 7 à 12.</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12.9.1 Risques et mesures de prevention applicables aux parties en courant continu</a:t>
            </a:r>
          </a:p>
        </p:txBody>
      </p:sp>
      <p:sp>
        <p:nvSpPr>
          <p:cNvPr id="3" name="Content Placeholder 2"/>
          <p:cNvSpPr>
            <a:spLocks noGrp="1"/>
          </p:cNvSpPr>
          <p:nvPr>
            <p:ph idx="1"/>
          </p:nvPr>
        </p:nvSpPr>
        <p:spPr/>
        <p:txBody>
          <a:bodyPr/>
          <a:lstStyle/>
          <a:p>
            <a:pPr>
              <a:defRPr sz="1600"/>
            </a:pPr>
            <a:r>
              <a:t>d'installation photovoltaïque.</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12.9.1.1 Évaluation du risque électrique</a:t>
            </a:r>
          </a:p>
        </p:txBody>
      </p:sp>
      <p:sp>
        <p:nvSpPr>
          <p:cNvPr id="3" name="Content Placeholder 2"/>
          <p:cNvSpPr>
            <a:spLocks noGrp="1"/>
          </p:cNvSpPr>
          <p:nvPr>
            <p:ph idx="1"/>
          </p:nvPr>
        </p:nvSpPr>
        <p:spPr/>
        <p:txBody>
          <a:bodyPr/>
          <a:lstStyle/>
          <a:p>
            <a:pPr>
              <a:defRPr sz="1600"/>
            </a:pPr>
            <a:r>
              <a:t>Les OPERATIONS sur ou dans l'ENVIRONNEMENT des INSTALLATIONS PV exposent à des risques d'électrisation et d'arc électrique.</a:t>
            </a:r>
          </a:p>
          <a:p>
            <a:pPr>
              <a:defRPr sz="1600"/>
            </a:pPr>
            <a:r>
              <a:t>Ces risques sont fonction :  · de la tension électrique de la partie d'INSTALLATION PV concernée par l'opération ;  · de la configuration de l'INSTALLATION PV, notamment en ce qui concerne les dispositifs de connexion, les organes de coupure et les dispositifs de mesure d'isolement ;  · des courants de défaut pouvant circuler ;  · de l'état de l'isolation des conducteurs ;.</a:t>
            </a:r>
          </a:p>
          <a:p>
            <a:pPr>
              <a:defRPr sz="1600"/>
            </a:pPr>
            <a:r>
              <a:t>des conditions d'ENVIRONNEMENT resultant d'autres OUVRAGES Ou INSTALLATIONS électriques ;  · des conditions atmosphériques ;  · des OPERATIONS réalisées.</a:t>
            </a:r>
          </a:p>
          <a:p>
            <a:pPr>
              <a:defRPr sz="1600"/>
            </a:pPr>
            <a:r>
              <a:t>Les OPERATIONS d'ORDRE ELECTRIQUE et d'ORDRE NON ELECTRIQUE comprennent, notamment, des manipulations de modules PV, des montages et démontages d'extrémités de câbles, des CONNEXIONS ET DECONNEXIONS de câbles, des sectionnements mécaniques de conducteurs au moyen d'un outil adapté à l'opération, des MANŒUVRES et CONDAMNATIONS de dispositifs de sectionnement bipolaires, des MESURAGES, des nettoyages, des mises en œuvre d'écrans opaques, des TRAVAUX d'ORDRE NON ELECTRIQUE dans l'ENVIRONNEMENT d'une INSTALLATION PV.</a:t>
            </a:r>
          </a:p>
          <a:p>
            <a:pPr>
              <a:defRPr sz="1600"/>
            </a:pPr>
            <a:r>
              <a:t>Sur une partie d'INSTALLATION comprenant des modules PV, le risque d'arc électrique est particulièrement présent lors des opérations d'ouverture des circuits, en raison de la difficulté d'interrompre la tension en présence de lumière.</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12.9.1.2 Mesures de prévention</a:t>
            </a:r>
          </a:p>
        </p:txBody>
      </p:sp>
      <p:sp>
        <p:nvSpPr>
          <p:cNvPr id="3" name="Content Placeholder 2"/>
          <p:cNvSpPr>
            <a:spLocks noGrp="1"/>
          </p:cNvSpPr>
          <p:nvPr>
            <p:ph idx="1"/>
          </p:nvPr>
        </p:nvSpPr>
        <p:spPr/>
        <p:txBody>
          <a:bodyPr/>
          <a:lstStyle/>
          <a:p>
            <a:pPr>
              <a:defRPr sz="1600"/>
            </a:pPr>
            <a:r>
              <a:t>Les mesures de prévention lors d'OPERATIONS sur la partie en courant continu d'une INSTALLATION PV consistent à :  · détecter d'éventuels courants de défaut ;  · travailler sur une INSTALLATION mise préalablement hors charge ;  · travailler, sauf impossibilité technique, sur des circuits ouverts ;  · réduire l'intensité de court-circuit, si l'INSTALLATION le permet ;  · porter une attention particulière aux questions d'IDENTIFICATION et au risque de confusion ;  · mettre en œuvre les mesures de protection collectives et individuelles appropriées.</a:t>
            </a:r>
          </a:p>
          <a:p>
            <a:pPr>
              <a:defRPr sz="1600"/>
            </a:pPr>
            <a:r>
              <a:t>Ces mesures de protection collectives et individuelles contre l'électrisation et les arcs électriques sont les mêmes que pour toute autre INSTALLATION électrique.</a:t>
            </a:r>
          </a:p>
          <a:p>
            <a:pPr>
              <a:defRPr sz="1600"/>
            </a:pPr>
            <a:r>
              <a:t>Les mesures de prévention, lors d'OPERATIONS dans l'ENVIRONNEMENT de la partie en courant continu d'une INSTALLATION PV, visent à prévenir les contacts électriques directs pour les OPERATEURS et à préserver l'intégrité de l'INSTALLATION.</a:t>
            </a:r>
          </a:p>
          <a:p>
            <a:pPr>
              <a:defRPr sz="1600"/>
            </a:pPr>
            <a:r>
              <a:t>Elles s'apparentent aux mesures applicables dans l'ENVIRONNEMENT de CANALISATIONS ISOLEES visibles (voir 9.</a:t>
            </a:r>
          </a:p>
          <a:p>
            <a:pPr>
              <a:defRPr sz="1600"/>
            </a:pPr>
            <a:r>
              <a:t>7.</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12.9.2.1.1 Montage ou demontage d'un connecteur debrochable sur un conducteur</a:t>
            </a:r>
          </a:p>
        </p:txBody>
      </p:sp>
      <p:sp>
        <p:nvSpPr>
          <p:cNvPr id="3" name="Content Placeholder 2"/>
          <p:cNvSpPr>
            <a:spLocks noGrp="1"/>
          </p:cNvSpPr>
          <p:nvPr>
            <p:ph idx="1"/>
          </p:nvPr>
        </p:nvSpPr>
        <p:spPr/>
        <p:txBody>
          <a:bodyPr/>
          <a:lstStyle/>
          <a:p>
            <a:pPr>
              <a:defRPr sz="1600"/>
            </a:pPr>
            <a:r>
              <a:t>Le denudage et le montage sur l'extrémité d'un connecteur debrochable ou le démontage d'un tel connecteur sont des OPERATIONS d'ORDRE ELECTRIQUE.</a:t>
            </a:r>
          </a:p>
          <a:p>
            <a:pPr>
              <a:defRPr sz="1600"/>
            </a:pPr>
            <a:r>
              <a:t>NOTE 1 Les connecteurs mis en service à partir de 2009 sont conformes à la norme NF EN 50521.</a:t>
            </a:r>
          </a:p>
          <a:p>
            <a:pPr>
              <a:defRPr sz="1600"/>
            </a:pPr>
            <a:r>
              <a:t>Elles doivent être réalisées sur un circuit hors tension, ou en cas d'impossibilité, sur un circuit séparé du reste de l'INSTALLATION et sans courant de défaut.</a:t>
            </a:r>
          </a:p>
          <a:p>
            <a:pPr>
              <a:defRPr sz="1600"/>
            </a:pPr>
            <a:r>
              <a:t>Des mesures complémentaires de protection visant à isoler l'OPERATEUR doivent être prises, si la tension Uoc STc est supérieure à 60 V en courant continu.</a:t>
            </a:r>
          </a:p>
          <a:p>
            <a:pPr>
              <a:defRPr sz="1600"/>
            </a:pPr>
            <a:r>
              <a:t>NOTE 2 Uoc STC : tension en condition d'essai normalisée, aux bornes d'un module PV, d'une chaîne PV, d'un groupe PV non chargé (ouvert) ou aux bornes, partie en courant continu, de l'équipement de conversion PV.</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12.9.2.1.2 Manipulation d'un module PV</a:t>
            </a:r>
          </a:p>
        </p:txBody>
      </p:sp>
      <p:sp>
        <p:nvSpPr>
          <p:cNvPr id="3" name="Content Placeholder 2"/>
          <p:cNvSpPr>
            <a:spLocks noGrp="1"/>
          </p:cNvSpPr>
          <p:nvPr>
            <p:ph idx="1"/>
          </p:nvPr>
        </p:nvSpPr>
        <p:spPr/>
        <p:txBody>
          <a:bodyPr/>
          <a:lstStyle/>
          <a:p>
            <a:pPr>
              <a:defRPr sz="1600"/>
            </a:pPr>
            <a:r>
              <a:t>La manipulation d'un module peut exposer à un risque d'électrisation, si l'extrémité d'un câble de liaison n'est pas protégée par un dispositif isolant de degré de protection minimal :  · IP44 pour les parties d'INSTALLATION exposées aux intempéries ou à l'humidité ;  · IP2X ou IPXXB pour les parties d'INSTALLATION non exposées aux intempéries ou à l'humidité.</a:t>
            </a:r>
          </a:p>
          <a:p>
            <a:pPr>
              <a:defRPr sz="1600"/>
            </a:pPr>
            <a:r>
              <a:t>La manipulation d'un module est interdite, si un câble de liaison ne répond pas aux conditions précédentes et si la tension U0c STC de ce module est supérieure à 60 V en courant continu.</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12.9.2.1.3 Connexion, déconnexion, sectionnement mécanique</a:t>
            </a:r>
          </a:p>
        </p:txBody>
      </p:sp>
      <p:sp>
        <p:nvSpPr>
          <p:cNvPr id="3" name="Content Placeholder 2"/>
          <p:cNvSpPr>
            <a:spLocks noGrp="1"/>
          </p:cNvSpPr>
          <p:nvPr>
            <p:ph idx="1"/>
          </p:nvPr>
        </p:nvSpPr>
        <p:spPr/>
        <p:txBody>
          <a:bodyPr/>
          <a:lstStyle/>
          <a:p>
            <a:pPr>
              <a:defRPr sz="1600"/>
            </a:pPr>
            <a:r>
              <a:t>La CONNEXION, la DECONNEXION d'un câble de la partie en courant continu d'une INSTALLATION PV sont des OPERATIONS d'ORDRE ELECTRIQUE qui exposent à des risques d'électrisation et d'arc électrique.</a:t>
            </a:r>
          </a:p>
          <a:p>
            <a:pPr>
              <a:defRPr sz="1600"/>
            </a:pPr>
            <a:r>
              <a:t>La confusion entre les polarités, lors de l'opération de CONNEXION, peut conduire à mettre en court-circuit des modules ou une chaîne de modules PV et à provoquer un arc électrique lors de la DECONNEXION destinée à faire cesser ce court-circuit.</a:t>
            </a:r>
          </a:p>
          <a:p>
            <a:pPr>
              <a:defRPr sz="1600"/>
            </a:pPr>
            <a:r>
              <a:t>Ces opérations doivent être réalisées, chaque fois que possible, sur des circuits ouverts ou, à défaut, sur des parties d'INSTALLATION PV dont les générateurs photovoltaïques ne débitent pas (notamment, les modules couverts par un écran opaque) et après avoir vérifié l'absence de défaut électrique.</a:t>
            </a:r>
          </a:p>
          <a:p>
            <a:pPr>
              <a:defRPr sz="1600"/>
            </a:pPr>
            <a:r>
              <a:t>En cas d'impossibilité de DECONNEXION, L'EMPLOYEUR définit les modes opératoires ; dans le cas d'une ouverture par sectionnement, celle-ci doit être effectuée au moyen d'un outil adapté à l'opération.</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12.9.2.1.4 Séparation et condamnation d'une partie d'installation</a:t>
            </a:r>
          </a:p>
        </p:txBody>
      </p:sp>
      <p:sp>
        <p:nvSpPr>
          <p:cNvPr id="3" name="Content Placeholder 2"/>
          <p:cNvSpPr>
            <a:spLocks noGrp="1"/>
          </p:cNvSpPr>
          <p:nvPr>
            <p:ph idx="1"/>
          </p:nvPr>
        </p:nvSpPr>
        <p:spPr/>
        <p:txBody>
          <a:bodyPr/>
          <a:lstStyle/>
          <a:p>
            <a:pPr>
              <a:defRPr sz="1600"/>
            </a:pPr>
            <a:r>
              <a:t>La SEPARATION d'une partie d'INSTALLATION photovoltaïque doit être réalisée sur une INSTALLATION hors charge et, lorsqu'il existe, à l'aide d'un organe de coupure bipolaire ou, à défaut, par des déconnexions à l'aide de connecteurs debrochables.</a:t>
            </a:r>
          </a:p>
          <a:p>
            <a:pPr>
              <a:defRPr sz="1600"/>
            </a:pPr>
            <a:r>
              <a:t>Les dispositions doivent être prises pour que la SEPARATION soit effective et, suivie de la CONDAMNATION (voir Article 7), pendant toute l'OPERATION qu'elle est destinée à protéger.</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12.9.2.1.5 Mise en œuvre d'écran opaque - Nettoyage des surfaces transparentes des</a:t>
            </a:r>
          </a:p>
        </p:txBody>
      </p:sp>
      <p:sp>
        <p:nvSpPr>
          <p:cNvPr id="3" name="Content Placeholder 2"/>
          <p:cNvSpPr>
            <a:spLocks noGrp="1"/>
          </p:cNvSpPr>
          <p:nvPr>
            <p:ph idx="1"/>
          </p:nvPr>
        </p:nvSpPr>
        <p:spPr/>
        <p:txBody>
          <a:bodyPr/>
          <a:lstStyle/>
          <a:p>
            <a:pPr>
              <a:defRPr sz="1600"/>
            </a:pPr>
            <a:r>
              <a:t>modules PV  La mise en œuvre d'écran opaque ou le nettoyage des modules PV sont des opérations obligeant à entrer en contact avec les modules PV tout en préservant leur intégrité.</a:t>
            </a:r>
          </a:p>
          <a:p>
            <a:pPr>
              <a:defRPr sz="1600"/>
            </a:pPr>
            <a:r>
              <a:t>Elles peuvent exposer à des risques d'électrisation en cas de défaut électrique au poste de travail.</a:t>
            </a:r>
          </a:p>
          <a:p>
            <a:pPr>
              <a:defRPr sz="1600"/>
            </a:pPr>
            <a:r>
              <a:t>Elles doivent être précédées par la vérification et, le cas échéant, par l'élimination du défaut électrique sur la partie d'INSTALLATION PV concernée, complétées par un examen général de l'intégrité de l'isolation de cette partie d'INSTALLATION PV au poste de travail.</a:t>
            </a:r>
          </a:p>
          <a:p>
            <a:pPr>
              <a:defRPr sz="1600"/>
            </a:pPr>
            <a:r>
              <a:t>Si l'écran opaque ne reste pas sous le contrôle de la personne en charge de l'OPERATION durant celle-ci, les dispositions de maintien en place doivent être prises pour garantir qu'il ne puisse pas être déplacé.</a:t>
            </a:r>
          </a:p>
          <a:p>
            <a:pPr>
              <a:defRPr sz="1600"/>
            </a:pPr>
            <a:r>
              <a:t>UTE  -  155  -  NF C 18-510  Le retrait de l'écran opaque et, le cas échéant, du dispositif de maintien en place doit être réalisé sous le contrôle de la personne en charge de l'OPERATION.</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12.9.2.1.6 Essais, vérifications, mesurages</a:t>
            </a:r>
          </a:p>
        </p:txBody>
      </p:sp>
      <p:sp>
        <p:nvSpPr>
          <p:cNvPr id="3" name="Content Placeholder 2"/>
          <p:cNvSpPr>
            <a:spLocks noGrp="1"/>
          </p:cNvSpPr>
          <p:nvPr>
            <p:ph idx="1"/>
          </p:nvPr>
        </p:nvSpPr>
        <p:spPr/>
        <p:txBody>
          <a:bodyPr/>
          <a:lstStyle/>
          <a:p>
            <a:pPr>
              <a:defRPr sz="1600"/>
            </a:pPr>
            <a:r>
              <a:t>Les ESSAIS, VERIFICATIONS et MESURAGES sur les parties en courant continu d'INSTALLATIONS PV doivent respecter les règles de l'Article 11.</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12.9.2.2 Organisation</a:t>
            </a:r>
          </a:p>
        </p:txBody>
      </p:sp>
      <p:sp>
        <p:nvSpPr>
          <p:cNvPr id="3" name="Content Placeholder 2"/>
          <p:cNvSpPr>
            <a:spLocks noGrp="1"/>
          </p:cNvSpPr>
          <p:nvPr>
            <p:ph idx="1"/>
          </p:nvPr>
        </p:nvSpPr>
        <p:spPr/>
        <p:txBody>
          <a:bodyPr/>
          <a:lstStyle/>
          <a:p>
            <a:pPr>
              <a:defRPr sz="1600"/>
            </a:pPr>
            <a:r>
              <a:t>Sauf impossibilité technique, toute OPERATION D'ORDRE ELECTRIQUE sur la partie en courant continu d'une installation PV doit être réalisée sur un circuit ouvert  En cas d'impossibilité, seuls des TRAVAUX SOUS TENSION ou des INTERVENTIONS BT GENERALES sont permis.</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12.9.2.2.1 Encadrement des opérations</a:t>
            </a:r>
          </a:p>
        </p:txBody>
      </p:sp>
      <p:sp>
        <p:nvSpPr>
          <p:cNvPr id="3" name="Content Placeholder 2"/>
          <p:cNvSpPr>
            <a:spLocks noGrp="1"/>
          </p:cNvSpPr>
          <p:nvPr>
            <p:ph idx="1"/>
          </p:nvPr>
        </p:nvSpPr>
        <p:spPr/>
        <p:txBody>
          <a:bodyPr/>
          <a:lstStyle/>
          <a:p>
            <a:pPr>
              <a:defRPr sz="1600"/>
            </a:pPr>
            <a:r>
              <a:t>Selon leur objet et leur nature, les OPERATIONS sur la partie en courant continu d'une INSTALLATION PV peuvent relever d'une INTERVENTION BT CHAINE PV, d'une INTERVENTION BT GENERALE ou d'un TRAVAIL SOUS TENSION.</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12.9.2.2.2 Intervention BT chaîne PV</a:t>
            </a:r>
          </a:p>
        </p:txBody>
      </p:sp>
      <p:sp>
        <p:nvSpPr>
          <p:cNvPr id="3" name="Content Placeholder 2"/>
          <p:cNvSpPr>
            <a:spLocks noGrp="1"/>
          </p:cNvSpPr>
          <p:nvPr>
            <p:ph idx="1"/>
          </p:nvPr>
        </p:nvSpPr>
        <p:spPr/>
        <p:txBody>
          <a:bodyPr/>
          <a:lstStyle/>
          <a:p>
            <a:pPr>
              <a:defRPr sz="1600"/>
            </a:pPr>
            <a:r>
              <a:t>Une INTERVENTION BT CHAINE PV ne peut être adoptée que pour l'installation initiale d'une chaîne PV du domaine BT (Uoc STC du domaine BT).</a:t>
            </a:r>
          </a:p>
          <a:p>
            <a:pPr>
              <a:defRPr sz="1600"/>
            </a:pPr>
            <a:r>
              <a:t>Son champ d'application est, en outre, limité :  · au montage et démontage de connecteurs débrochables conformément au 12.</a:t>
            </a:r>
          </a:p>
          <a:p>
            <a:pPr>
              <a:defRPr sz="1600"/>
            </a:pPr>
            <a:r>
              <a:t>9.</a:t>
            </a:r>
          </a:p>
          <a:p>
            <a:pPr>
              <a:defRPr sz="1600"/>
            </a:pPr>
            <a:r>
              <a:t>2.</a:t>
            </a:r>
          </a:p>
          <a:p>
            <a:pPr>
              <a:defRPr sz="1600"/>
            </a:pPr>
            <a:r>
              <a:t>1.</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12.9.2.2.3 Intervention BT generale PV</a:t>
            </a:r>
          </a:p>
        </p:txBody>
      </p:sp>
      <p:sp>
        <p:nvSpPr>
          <p:cNvPr id="3" name="Content Placeholder 2"/>
          <p:cNvSpPr>
            <a:spLocks noGrp="1"/>
          </p:cNvSpPr>
          <p:nvPr>
            <p:ph idx="1"/>
          </p:nvPr>
        </p:nvSpPr>
        <p:spPr/>
        <p:txBody>
          <a:bodyPr/>
          <a:lstStyle/>
          <a:p>
            <a:pPr>
              <a:defRPr sz="1600"/>
            </a:pPr>
            <a:r>
              <a:t>Ce type d'OPERATION ne peut être adopte que si les limites définies au 10.</a:t>
            </a:r>
          </a:p>
          <a:p>
            <a:pPr>
              <a:defRPr sz="1600"/>
            </a:pPr>
            <a:r>
              <a:t>1.</a:t>
            </a:r>
          </a:p>
          <a:p>
            <a:pPr>
              <a:defRPr sz="1600"/>
            </a:pPr>
            <a:r>
              <a:t>1 sont respectées.</a:t>
            </a:r>
          </a:p>
          <a:p>
            <a:pPr>
              <a:defRPr sz="1600"/>
            </a:pPr>
            <a:r>
              <a:t>En particulier, les OPERATIONS de CONNEXION et DECONNEXION ou de sectionnement mécanique ne peuvent être réalisées que sur des conducteurs de section inférieure ou égale à 10 mm2 (cuivre) ou 16 mm2 (aluminium), dont la tension est inférieure ou égale à 750 V en courant continu et le courant inférieur ou égal à 32 A.</a:t>
            </a:r>
          </a:p>
          <a:p>
            <a:pPr>
              <a:defRPr sz="1600"/>
            </a:pPr>
            <a:r>
              <a:t>L'OPERATION doit être menee par un CHARGE D'INTERVENTION GENERALE titulaire d'une HABILITATION portant la mention speciale « Photovoltaïque &gt;&gt;.</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12.9.2.2.4 Autres opérations</a:t>
            </a:r>
          </a:p>
        </p:txBody>
      </p:sp>
      <p:sp>
        <p:nvSpPr>
          <p:cNvPr id="3" name="Content Placeholder 2"/>
          <p:cNvSpPr>
            <a:spLocks noGrp="1"/>
          </p:cNvSpPr>
          <p:nvPr>
            <p:ph idx="1"/>
          </p:nvPr>
        </p:nvSpPr>
        <p:spPr/>
        <p:txBody>
          <a:bodyPr/>
          <a:lstStyle/>
          <a:p>
            <a:pPr>
              <a:defRPr sz="1600"/>
            </a:pPr>
            <a:r>
              <a:t>Hors du champ d'application d'une INTERVENTION BT CHAINE PV et d'une INTERVENTION BT GENERALE, les autres opérations doivent être réalisées conformément aux prescriptions du présent document.</a:t>
            </a:r>
          </a:p>
          <a:p>
            <a:pPr>
              <a:defRPr sz="1600"/>
            </a:pPr>
            <a:r>
              <a:t>NF C 18-510  -  156  -  UTE.</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12.9.2.3.1 Mention d'habilitation « Photovoltaïque &gt;&gt;</a:t>
            </a:r>
          </a:p>
        </p:txBody>
      </p:sp>
      <p:sp>
        <p:nvSpPr>
          <p:cNvPr id="3" name="Content Placeholder 2"/>
          <p:cNvSpPr>
            <a:spLocks noGrp="1"/>
          </p:cNvSpPr>
          <p:nvPr>
            <p:ph idx="1"/>
          </p:nvPr>
        </p:nvSpPr>
        <p:spPr/>
        <p:txBody>
          <a:bodyPr/>
          <a:lstStyle/>
          <a:p>
            <a:pPr>
              <a:defRPr sz="1600"/>
            </a:pPr>
            <a:r>
              <a:t>La mention spéciale « Photovoltaïque &gt;&gt; est l'expression d'une compétence en matière de prévention du risque électrique, lors de travaux concernant tout ou partie d'une INSTALLATION PV fonctionnant en courant continu.</a:t>
            </a:r>
          </a:p>
          <a:p>
            <a:pPr>
              <a:defRPr sz="1600"/>
            </a:pPr>
            <a:r>
              <a:t>Elle repose sur une competence technique couvrant le même domaine.</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12.9.2.3.2 Habilitation symbole BP</a:t>
            </a:r>
          </a:p>
        </p:txBody>
      </p:sp>
      <p:sp>
        <p:nvSpPr>
          <p:cNvPr id="3" name="Content Placeholder 2"/>
          <p:cNvSpPr>
            <a:spLocks noGrp="1"/>
          </p:cNvSpPr>
          <p:nvPr>
            <p:ph idx="1"/>
          </p:nvPr>
        </p:nvSpPr>
        <p:spPr/>
        <p:txBody>
          <a:bodyPr/>
          <a:lstStyle/>
          <a:p>
            <a:pPr>
              <a:defRPr sz="1600"/>
            </a:pPr>
            <a:r>
              <a:t>Une personne titulaire d'une HABILITATION symbole BP est apte  :.</a:t>
            </a:r>
          </a:p>
          <a:p>
            <a:pPr>
              <a:defRPr sz="1600"/>
            </a:pPr>
            <a:r>
              <a:t>lors de l'installation initiale d'une chaîne PV, à assurer les fonctions de CHARGE D'INTERVENTION CHAINE PV dans les conditions du 12.</a:t>
            </a:r>
          </a:p>
          <a:p>
            <a:pPr>
              <a:defRPr sz="1600"/>
            </a:pPr>
            <a:r>
              <a:t>9.</a:t>
            </a:r>
          </a:p>
          <a:p>
            <a:pPr>
              <a:defRPr sz="1600"/>
            </a:pPr>
            <a:r>
              <a:t>2.</a:t>
            </a:r>
          </a:p>
          <a:p>
            <a:pPr>
              <a:defRPr sz="1600"/>
            </a:pPr>
            <a:r>
              <a:t>2.</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12.9.2.3.3 Habilitation symbole BR Photovoltaïque</a:t>
            </a:r>
          </a:p>
        </p:txBody>
      </p:sp>
      <p:sp>
        <p:nvSpPr>
          <p:cNvPr id="3" name="Content Placeholder 2"/>
          <p:cNvSpPr>
            <a:spLocks noGrp="1"/>
          </p:cNvSpPr>
          <p:nvPr>
            <p:ph idx="1"/>
          </p:nvPr>
        </p:nvSpPr>
        <p:spPr/>
        <p:txBody>
          <a:bodyPr/>
          <a:lstStyle/>
          <a:p>
            <a:pPr>
              <a:defRPr sz="1600"/>
            </a:pPr>
            <a:r>
              <a:t>Une personne titulaire d'une HABILITATION symbole « BR Photovoltaïque &gt;&gt; est apte à exécuter, dans les limites d'une INTERVENTION BT GENERALE, toutes les OPERATIONS décrites au paragraphe 12.</a:t>
            </a:r>
          </a:p>
          <a:p>
            <a:pPr>
              <a:defRPr sz="1600"/>
            </a:pPr>
            <a:r>
              <a:t>9.</a:t>
            </a:r>
          </a:p>
          <a:p>
            <a:pPr>
              <a:defRPr sz="1600"/>
            </a:pPr>
            <a:r>
              <a:t>2.</a:t>
            </a:r>
          </a:p>
          <a:p>
            <a:pPr>
              <a:defRPr sz="1600"/>
            </a:pPr>
            <a:r>
              <a:t>1 et à diriger un EXECUTANT dans le domaine de la prévention du risque électrique.</a:t>
            </a:r>
          </a:p>
          <a:p>
            <a:pPr>
              <a:defRPr sz="1600"/>
            </a:pPr>
            <a:r>
              <a:t>Elle est apte à la fonction de CHARGE D'INTERVENTION GENERALE Photovoltaïque.</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12.9.2.3.4 Autres habilitations</a:t>
            </a:r>
          </a:p>
        </p:txBody>
      </p:sp>
      <p:sp>
        <p:nvSpPr>
          <p:cNvPr id="3" name="Content Placeholder 2"/>
          <p:cNvSpPr>
            <a:spLocks noGrp="1"/>
          </p:cNvSpPr>
          <p:nvPr>
            <p:ph idx="1"/>
          </p:nvPr>
        </p:nvSpPr>
        <p:spPr/>
        <p:txBody>
          <a:bodyPr/>
          <a:lstStyle/>
          <a:p>
            <a:pPr>
              <a:defRPr sz="1600"/>
            </a:pPr>
            <a:r>
              <a:t>Pour répondre à d'autres besoins relatifs aux parties en courant continu d'INSTALLATIONS PV, il est possible de délivrer des HABILITATIONS spécifiques (symboles B1V ou B2V), sous réserve de se conformer aux dispositions de l'Article 5 et en particulier du 5.</a:t>
            </a:r>
          </a:p>
          <a:p>
            <a:pPr>
              <a:defRPr sz="1600"/>
            </a:pPr>
            <a:r>
              <a:t>7.</a:t>
            </a:r>
          </a:p>
          <a:p>
            <a:pPr>
              <a:defRPr sz="1600"/>
            </a:pPr>
            <a:r>
              <a:t>1.</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12.9.2.3.5 Dispense d'habilitation</a:t>
            </a:r>
          </a:p>
        </p:txBody>
      </p:sp>
      <p:sp>
        <p:nvSpPr>
          <p:cNvPr id="3" name="Content Placeholder 2"/>
          <p:cNvSpPr>
            <a:spLocks noGrp="1"/>
          </p:cNvSpPr>
          <p:nvPr>
            <p:ph idx="1"/>
          </p:nvPr>
        </p:nvSpPr>
        <p:spPr/>
        <p:txBody>
          <a:bodyPr/>
          <a:lstStyle/>
          <a:p>
            <a:pPr>
              <a:defRPr sz="1600"/>
            </a:pPr>
            <a:r>
              <a:t>Les opérations ci-après peuvent être exécutées, dans les conditions décrites, par une personne formée non habilitée :  · manipulation de tout module PV de tension Uoc STC inférieure ou égale à 60 V en courant continu ;  · manipulation de modules PV dont l'extrémité des câbles de liaison est protégée par un dispositif isolant de degré de protection code minimal IP44 pour une opération exposée aux intempéries ou à l'humidité, ou de degré de protection code minimal IP2X ou IPXXB dans le cas contraire ;  · interconnexion de modules à l'aide de connecteurs débrochables conformes à la norme NF EN 50521 sur une chaîne de tension U0c STC inférieure ou égale à 60 V en courant continu.</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12.9.3 Travaux d'ordre non electrique dans l'environnement d'une installation</a:t>
            </a:r>
          </a:p>
        </p:txBody>
      </p:sp>
      <p:sp>
        <p:nvSpPr>
          <p:cNvPr id="3" name="Content Placeholder 2"/>
          <p:cNvSpPr>
            <a:spLocks noGrp="1"/>
          </p:cNvSpPr>
          <p:nvPr>
            <p:ph idx="1"/>
          </p:nvPr>
        </p:nvSpPr>
        <p:spPr/>
        <p:txBody>
          <a:bodyPr/>
          <a:lstStyle/>
          <a:p>
            <a:pPr>
              <a:defRPr sz="1600"/>
            </a:pPr>
            <a:r>
              <a:t>photovoltaïque  L'organisation des TRAVAUX d'ORDRE NON ELECTRIQUE dans l'ENVIRONNEMENT de la partie en courant continu des INSTALLATIONS PV doit se conformer aux prescriptions définies au 9.</a:t>
            </a:r>
          </a:p>
          <a:p>
            <a:pPr>
              <a:defRPr sz="1600"/>
            </a:pPr>
            <a:r>
              <a:t>7.</a:t>
            </a:r>
          </a:p>
          <a:p>
            <a:pPr>
              <a:defRPr sz="1600"/>
            </a:pPr>
            <a:r>
              <a:t>2.</a:t>
            </a:r>
          </a:p>
          <a:p>
            <a:pPr>
              <a:defRPr sz="1600"/>
            </a:pPr>
            <a:r>
              <a:t>Les TRAVAUX dans son ENVIRONNEMENT peuvent faire courir un risque d'électrisation ou d'arc électrique, en cas de deterioration accidentelle de l'ISOLATION et de l'ENVELOPPE de l'INSTALLATION, préalablement aux TRAVAUX ou durant ceux-ci.</a:t>
            </a:r>
          </a:p>
          <a:p>
            <a:pPr>
              <a:defRPr sz="1600"/>
            </a:pPr>
            <a:r>
              <a:t>UTE  -  157  -  NF C 18-510  En règle générale, lors de TRAVAUX d'ORDRE NON ELECTRIQUE dans l'ENVIRONNEMENT de la partie en courant continu d'une INSTALLATION PV, il convient :  · de ne pas entrer en contact avec un élément de l'INSTALLATION sans besoin ;  · de ne pas marcher ou poser des objets sur un élément, sauf si le fabricant l'autorise ;  · de signaler au CHEF D'ETABLISSEMENT ou à son représentant toute atteinte à l'INSTALLATION PV lors des TRAVAUX.</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12.10.1 Principe de prévention</a:t>
            </a:r>
          </a:p>
        </p:txBody>
      </p:sp>
      <p:sp>
        <p:nvSpPr>
          <p:cNvPr id="3" name="Content Placeholder 2"/>
          <p:cNvSpPr>
            <a:spLocks noGrp="1"/>
          </p:cNvSpPr>
          <p:nvPr>
            <p:ph idx="1"/>
          </p:nvPr>
        </p:nvSpPr>
        <p:spPr/>
        <p:txBody>
          <a:bodyPr/>
          <a:lstStyle/>
          <a:p>
            <a:pPr>
              <a:defRPr sz="1600"/>
            </a:pPr>
            <a:r>
              <a:t>Quand l'analyse du risque électrique fait apparaître la possibilité d'induction magnétique ou de couplage capacitif (voir 4.</a:t>
            </a:r>
          </a:p>
          <a:p>
            <a:pPr>
              <a:defRPr sz="1600"/>
            </a:pPr>
            <a:r>
              <a:t>1.</a:t>
            </a:r>
          </a:p>
          <a:p>
            <a:pPr>
              <a:defRPr sz="1600"/>
            </a:pPr>
            <a:r>
              <a:t>2.</a:t>
            </a:r>
          </a:p>
          <a:p>
            <a:pPr>
              <a:defRPr sz="1600"/>
            </a:pPr>
            <a:r>
              <a:t>4), donc de tensions induites, il est nécessaire d'assurer conjointement :  · la fixation des OUVRAGES ou des INSTALLATIONS au potentiel de la terre, pour prévenir les risques dus au couplage capacitif ;  · l'équipotentialité du POSTE DE TRAVAIL (voir 4.</a:t>
            </a:r>
          </a:p>
          <a:p>
            <a:pPr>
              <a:defRPr sz="1600"/>
            </a:pPr>
            <a:r>
              <a:t>3.</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12.10.2 Modalités de mise en œuvre</a:t>
            </a:r>
          </a:p>
        </p:txBody>
      </p:sp>
      <p:sp>
        <p:nvSpPr>
          <p:cNvPr id="3" name="Content Placeholder 2"/>
          <p:cNvSpPr>
            <a:spLocks noGrp="1"/>
          </p:cNvSpPr>
          <p:nvPr>
            <p:ph idx="1"/>
          </p:nvPr>
        </p:nvSpPr>
        <p:spPr/>
        <p:txBody>
          <a:bodyPr/>
          <a:lstStyle/>
          <a:p>
            <a:pPr>
              <a:defRPr sz="1600"/>
            </a:pPr>
            <a:r>
              <a:t>En conséquence, les dispositions suivantes doivent être définies, lors de la préparation du travail :  1) Réaliser, en priorité, la fixation des OUVRAGES ou des INSTALLATIONS au potentiel de la terre avec les dispositifs de MISE A LA TERRE ET EN COURT-CIRCUIT intégrés dans les OUVRAGES ou dans les INSTALLATIONS lors de leur conception ou, a défaut, avec des EQUIPEMENTS PORTABLES DE MISE A LA TERRE ET EN COURT-CIRCUIT, conformes à la norme NF EN 61230, sur les emplacements conçus a cet effet et, en absence de ces derniers, sur des emplacements d'opportunité.</a:t>
            </a:r>
          </a:p>
          <a:p>
            <a:pPr>
              <a:defRPr sz="1600"/>
            </a:pPr>
            <a:r>
              <a:t>2) Réaliser l'équipotentialité du POSTE DE TRAVAIL à l'aide d'un dispositif dimensionné pour supporter, avec un échauffement non dangereux, les courants induits permanents.</a:t>
            </a:r>
          </a:p>
          <a:p>
            <a:pPr>
              <a:defRPr sz="1600"/>
            </a:pPr>
            <a:r>
              <a:t>Ce dispositif tient compte :  o de tous les conducteurs soumis au phénomène d'induction magnétique, y compris les mises à la terre, les mises en court-circuit, les MISES A LA TERRE ET EN COURT-CIRCUIT, les infrastructures conductrices telles les pylônes, les plates-formes élévatrices mobiles de personnel (PEMP), les autres engins de chantier ;  o du besoin d'assurer la continuité des circuits en fonction des TRAVAUX à réaliser  ;  o des besoins de protection des personnes, lors de la mise en place, de l'emploi et du retrait des dispositifs de mise à la terre, ou de mise en court-circuit, ou de MISE A LA TERRE ET EN COURT-CIRCUIT.</a:t>
            </a:r>
          </a:p>
          <a:p>
            <a:pPr>
              <a:defRPr sz="1600"/>
            </a:pPr>
            <a:r>
              <a:t>3) Organiser et conduire la mise en place et le retrait des liaisons électriques participant à la fixation au potentiel de la terre ou à l'équipotentialité, pour éviter que les OPERATEURS ne s'insèrent :  o dans les circuits de courants permanents de charge et de décharge, dont les mises à la terre sont le siège, du fait du couplage capacitif ;  NF C 18-510  -  158  -  UTE  o dans les circuits électriques constitués par les conducteurs, les mises à la terre et les retours par le sol, parcourus par des courants permanents, du fait de l'induction magnétique.</a:t>
            </a:r>
          </a:p>
          <a:p>
            <a:pPr>
              <a:defRPr sz="1600"/>
            </a:pPr>
            <a:r>
              <a:t>Ces mesures comprennent, notamment, l'usage d'outils de montage et demontage isolants tels des perches et perchettes isolantes.</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12.10.3 Compétence du personnel</a:t>
            </a:r>
          </a:p>
        </p:txBody>
      </p:sp>
      <p:sp>
        <p:nvSpPr>
          <p:cNvPr id="3" name="Content Placeholder 2"/>
          <p:cNvSpPr>
            <a:spLocks noGrp="1"/>
          </p:cNvSpPr>
          <p:nvPr>
            <p:ph idx="1"/>
          </p:nvPr>
        </p:nvSpPr>
        <p:spPr/>
        <p:txBody>
          <a:bodyPr/>
          <a:lstStyle/>
          <a:p>
            <a:pPr>
              <a:defRPr sz="1600"/>
            </a:pPr>
            <a:r>
              <a:t>Le personnel chargé de la mise en œuvre des dispositions précédentes doit avoir reçu une formation à la prévention du risque électrique appropriée.</a:t>
            </a:r>
          </a:p>
          <a:p>
            <a:pPr>
              <a:defRPr sz="1600"/>
            </a:pPr>
            <a:r>
              <a:t>Le personnel appelé à opérer dans l'environnement d'un circuit inducteur doit avoir reçu une formation spécifique, en complément de son HABILITATION.</a:t>
            </a:r>
          </a:p>
          <a:p>
            <a:pPr>
              <a:defRPr sz="1600"/>
            </a:pPr>
            <a:r>
              <a:t>Le personnel appelé à opérer dans une ZONE DE TRAVAIL protégée par un dispositif équipotentiel doit être informé des règles à respecter dans cette ZONE DE TRAVAIL et les appliquer.</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12.11 Opérations sur les circuits de terre</a:t>
            </a:r>
          </a:p>
        </p:txBody>
      </p:sp>
      <p:sp>
        <p:nvSpPr>
          <p:cNvPr id="3" name="Content Placeholder 2"/>
          <p:cNvSpPr>
            <a:spLocks noGrp="1"/>
          </p:cNvSpPr>
          <p:nvPr>
            <p:ph idx="1"/>
          </p:nvPr>
        </p:nvSpPr>
        <p:spPr/>
        <p:txBody>
          <a:bodyPr/>
          <a:lstStyle/>
          <a:p>
            <a:pPr>
              <a:defRPr sz="1600"/>
            </a:pPr>
            <a:r>
              <a:t>Les circuits de terre des OUVRAGES ou des INSTALLATIONS électriques ont pour objet de protéger les personnes et les biens, en écoulant les courants de défaut et en limitant les montées en potentiel, notamment en cas de défaut d'isolement, de foudre, d'induction, de courants vagabonds ou de MANŒUVRES.</a:t>
            </a:r>
          </a:p>
          <a:p>
            <a:pPr>
              <a:defRPr sz="1600"/>
            </a:pPr>
            <a:r>
              <a:t>Par nature, les conducteurs de protection (PE), à l'exception des PEN (schéma TNC), ne sont pas considérés comme conducteurs actifs.</a:t>
            </a:r>
          </a:p>
          <a:p>
            <a:pPr>
              <a:defRPr sz="1600"/>
            </a:pPr>
            <a:r>
              <a:t>Cependant, ils sont parcourus en permanence par des courants d'intensité variable, qui peuvent être très importants, par exemple en cas d'orage.</a:t>
            </a:r>
          </a:p>
          <a:p>
            <a:pPr>
              <a:defRPr sz="1600"/>
            </a:pPr>
            <a:r>
              <a:t>Ils présentent, de ce fait, des risques de choc électrique, lors des OPERATIONS de raccordement, de MESURAGE ou de maintenance.</a:t>
            </a:r>
          </a:p>
          <a:p>
            <a:pPr>
              <a:defRPr sz="1600"/>
            </a:pPr>
            <a:r>
              <a:t>Pour ces raisons, les OPERATIONS réalisées sur les circuits de terre sont considérées comme des OPERATIONS d'ORDRE ELECTRIQUE.</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INCENDIE ET ACCIDENTS SUR OU PRES DES OUVRAGES ET</a:t>
            </a:r>
          </a:p>
        </p:txBody>
      </p:sp>
      <p:sp>
        <p:nvSpPr>
          <p:cNvPr id="3" name="Content Placeholder 2"/>
          <p:cNvSpPr>
            <a:spLocks noGrp="1"/>
          </p:cNvSpPr>
          <p:nvPr>
            <p:ph idx="1"/>
          </p:nvPr>
        </p:nvSpPr>
        <p:spPr/>
        <p:txBody>
          <a:bodyPr/>
          <a:lstStyle/>
          <a:p>
            <a:pPr>
              <a:defRPr sz="1600"/>
            </a:pPr>
            <a:r>
              <a:t>INSTALLATIONS ELECTRIQUES  Cet article complète les prescriptions des articles précédents et s'adresse à toute personne formée à la prévention du risque électrique.</a:t>
            </a:r>
          </a:p>
          <a:p>
            <a:pPr>
              <a:defRPr sz="1600"/>
            </a:pPr>
            <a:r>
              <a:t>Il permet de prendre les mesures d'urgence en cas d'incendie ou d'accident en lien avec le risque électrique.</a:t>
            </a:r>
          </a:p>
          <a:p>
            <a:pPr>
              <a:defRPr sz="1600"/>
            </a:pPr>
            <a:r>
              <a:t>Les prescriptions suivantes ne se substituent pas à celles enseignees lors d'un stage de Sauveteur Secouriste du Travail (SST).</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13.1 Généralités</a:t>
            </a:r>
          </a:p>
        </p:txBody>
      </p:sp>
      <p:sp>
        <p:nvSpPr>
          <p:cNvPr id="3" name="Content Placeholder 2"/>
          <p:cNvSpPr>
            <a:spLocks noGrp="1"/>
          </p:cNvSpPr>
          <p:nvPr>
            <p:ph idx="1"/>
          </p:nvPr>
        </p:nvSpPr>
        <p:spPr/>
        <p:txBody>
          <a:bodyPr/>
          <a:lstStyle/>
          <a:p>
            <a:pPr>
              <a:defRPr sz="1600"/>
            </a:pPr>
            <a:r>
              <a:t>L'EMPLOYEUR doit prendre toutes les dispositions nécessaires pour assurer, sur les lieux de travail, les premiers soins aux salariés accidentes ou malades.</a:t>
            </a:r>
          </a:p>
          <a:p>
            <a:pPr>
              <a:defRPr sz="1600"/>
            </a:pPr>
            <a:r>
              <a:t>En matière d'incendie, la réglementation vise à assurer la protection des personnes, mais aussi du public et de l'environnement.</a:t>
            </a:r>
          </a:p>
          <a:p>
            <a:pPr>
              <a:defRPr sz="1600"/>
            </a:pPr>
            <a:r>
              <a:t>Pour cela, l'EMPLOYEUR doit élaborer des INSTRUCTIONS DE SECURITE précisant les conditions d'intervention des secours, ainsi que les moyens et équipements à mettre en œuvre.</a:t>
            </a:r>
          </a:p>
          <a:p>
            <a:pPr>
              <a:defRPr sz="1600"/>
            </a:pPr>
            <a:r>
              <a:t>Ces instructions doivent respecter les prescriptions générales du code de travail et les prescriptions particulières développées dans cet article.</a:t>
            </a:r>
          </a:p>
          <a:p>
            <a:pPr>
              <a:defRPr sz="1600"/>
            </a:pPr>
            <a:r>
              <a:t>La mise en œuvre des prescriptions suivantes doit être effectuée par du personnel désigné et formé à cet effet.</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 Incendie sur ou près des ouvrages ou des installations électriques</a:t>
            </a:r>
          </a:p>
        </p:txBody>
      </p:sp>
      <p:sp>
        <p:nvSpPr>
          <p:cNvPr id="3" name="Content Placeholder 2"/>
          <p:cNvSpPr>
            <a:spLocks noGrp="1"/>
          </p:cNvSpPr>
          <p:nvPr>
            <p:ph idx="1"/>
          </p:nvPr>
        </p:nvSpPr>
        <p:spPr/>
        <p:txBody>
          <a:bodyPr/>
          <a:lstStyle/>
          <a:p>
            <a:pPr>
              <a:defRPr sz="1600"/>
            </a:pPr>
            <a:r>
              <a:t>Ce paragraphe a pour but de donner des informations sur la conduite à tenir en cas d'incendie sur ou près des OUVRAGES ou des INSTALLATIONS électriques pour ne pas aggraver la situation.</a:t>
            </a:r>
          </a:p>
          <a:p>
            <a:pPr>
              <a:defRPr sz="1600"/>
            </a:pPr>
            <a:r>
              <a:t>Si un incendie se déclare, soit sur un OUVRAGE ou une INSTALLATION électrique, soit au VOISINAGE, il existe un risque d'électrisation pour les personnes combattant le feu, notamment lors de l'utilisation d'un agent d'extinction inadapté, ou suite à la dégradation de l'OUVRAGE ou de l'INSTALLATION par le feu.</a:t>
            </a:r>
          </a:p>
          <a:p>
            <a:pPr>
              <a:defRPr sz="1600"/>
            </a:pPr>
            <a:r>
              <a:t>Le personnel qui constate l'incendie et qui donne l'alarme doit préciser le lieu de l'incendie et, si possible, la nature du risque électrique.</a:t>
            </a:r>
          </a:p>
          <a:p>
            <a:pPr>
              <a:defRPr sz="1600"/>
            </a:pPr>
            <a:r>
              <a:t>Il ne peut combattre le feu que s'il a reçu une formation adaptée et a été désigné en conséquence par son EMPLOYEUR.</a:t>
            </a:r>
          </a:p>
          <a:p>
            <a:pPr>
              <a:defRPr sz="1600"/>
            </a:pPr>
            <a:r>
              <a:t>Il doit suivre les instructions de son EMPLOYEUR ou du CHEF D'ETABLISSEMENT et observer, d'une part les prescriptions particulières de la consigne d'incendie affichée, d'autre part les prescriptions suivantes.</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13.2.1 Prescriptions générales</a:t>
            </a:r>
          </a:p>
        </p:txBody>
      </p:sp>
      <p:sp>
        <p:nvSpPr>
          <p:cNvPr id="3" name="Content Placeholder 2"/>
          <p:cNvSpPr>
            <a:spLocks noGrp="1"/>
          </p:cNvSpPr>
          <p:nvPr>
            <p:ph idx="1"/>
          </p:nvPr>
        </p:nvSpPr>
        <p:spPr/>
        <p:txBody>
          <a:bodyPr/>
          <a:lstStyle/>
          <a:p>
            <a:pPr>
              <a:defRPr sz="1600"/>
            </a:pPr>
            <a:r>
              <a:t>Mettre hors tension, chaque fois que possible, le MATERIEL en feu et, éventuellement, les OUVRAGES ou les INSTALLATIONS voisins.</a:t>
            </a:r>
          </a:p>
          <a:p>
            <a:pPr>
              <a:defRPr sz="1600"/>
            </a:pPr>
            <a:r>
              <a:t>En HT, la MISE HORS TENSION de tout ou partie de l'OUVRAGE ou de l'INSTALLATION ne peut être réalisée que par une personne QUALIFIEE et designée par son EMPLOYEUR.</a:t>
            </a:r>
          </a:p>
          <a:p>
            <a:pPr>
              <a:defRPr sz="1600"/>
            </a:pPr>
            <a:r>
              <a:t>N'utiliser, après avoir vérifie que les produits sont adaptes au sinistre et aux caractéristiques de l'OUVRAGE ou de l'INSTALLATION considéré, que des appareils mettant en œuvre :  · soit du dioxyde de carbone (CO2) ;  · soit de la poudre (bicarbonate de soude hydrofuge) ;  · soit de l'eau pulvérisée.</a:t>
            </a:r>
          </a:p>
          <a:p>
            <a:pPr>
              <a:defRPr sz="1600"/>
            </a:pPr>
            <a:r>
              <a:t>Ne pas utiliser :  · les lances à jet bâton ;  · tout extincteur conforme à la série de normes NF EN 3-1 à 3-9, mais portant la mention "A ne pas utiliser sur courant électrique".</a:t>
            </a:r>
          </a:p>
          <a:p>
            <a:pPr>
              <a:defRPr sz="1600"/>
            </a:pPr>
            <a:r>
              <a:t>NF C 18-510  -  160  -  UTE  Pour les autres extincteurs, se conformer strictement à l'inscription : "A ne pas utiliser sur tension supérieure à.</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13.2.2 Prescriptions complémentaires concernant l'utilisation d'extincteurs sur des</a:t>
            </a:r>
          </a:p>
        </p:txBody>
      </p:sp>
      <p:sp>
        <p:nvSpPr>
          <p:cNvPr id="3" name="Content Placeholder 2"/>
          <p:cNvSpPr>
            <a:spLocks noGrp="1"/>
          </p:cNvSpPr>
          <p:nvPr>
            <p:ph idx="1"/>
          </p:nvPr>
        </p:nvSpPr>
        <p:spPr/>
        <p:txBody>
          <a:bodyPr/>
          <a:lstStyle/>
          <a:p>
            <a:pPr>
              <a:defRPr sz="1600"/>
            </a:pPr>
            <a:r>
              <a:t>ouvrages sous tension ou susceptibles de l'être  Maintenir, entre la buse de l'extincteur et les PARTIES ACTIVES de l'OUVRAGE ou de l'INSTALLATION, un écartement minimal (sauf indications contraires portées sur l'extincteur) :  · OUVRAGES OU INSTALLATIONS BT, jusqu'à 1 000 V inclus : 0,5 m ;  • OUVRAGES OU INSTALLATIONS HT, jusqu'à 20 kV inclus : 1 m ;  · OUVRAGES OU INSTALLATIONS HT, compris entre 20 kV exclus et 50 kV inclus : 2 m ;  · pour les OUVRAGES ou les INSTALLATIONS au-delà de 50 kV, l'utilisation des extincteurs n'est autorisée que dans le cas où le CHEF D'ETABLISSEMENT ou le CHARGE D'EXPLOITATION ELECTRIQUE confirme que la partie d'OUVRAGE ou d'INSTALLATION sinistree est hors tension, sans qu'elle soit obligatoirement CONSIGNEE et sans être tenu de VERIFIER L'ABSENCE DE TENSION.</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13.2.3 Prescriptions complémentaires concernant les lances de pulvérisation sur des</a:t>
            </a:r>
          </a:p>
        </p:txBody>
      </p:sp>
      <p:sp>
        <p:nvSpPr>
          <p:cNvPr id="3" name="Content Placeholder 2"/>
          <p:cNvSpPr>
            <a:spLocks noGrp="1"/>
          </p:cNvSpPr>
          <p:nvPr>
            <p:ph idx="1"/>
          </p:nvPr>
        </p:nvSpPr>
        <p:spPr/>
        <p:txBody>
          <a:bodyPr/>
          <a:lstStyle/>
          <a:p>
            <a:pPr>
              <a:defRPr sz="1600"/>
            </a:pPr>
            <a:r>
              <a:t>ouvrages sous tension ou susceptibles de l'être  a) Utiliser soit des lances conformes aux normes NF EN 15182-1, NF EN 15182-2, et NF EN 15182-3, permettant le jet pulvérisé et répondant à des garanties de non amorçage pour les lances équipant les postes incendie, soit des lances conformes à la série des normes NF EN 671 pour les lances des Robinets d'Incendie Armés (RIA), et respecter les instructions reçues.</a:t>
            </a:r>
          </a:p>
          <a:p>
            <a:pPr>
              <a:defRPr sz="1600"/>
            </a:pPr>
            <a:r>
              <a:t>Les diffuseurs de ces lances ne permettent que le jet pulvérisé et répondent à des garanties de non amorçage (angle de diffusion supérieur ou égal à 30 °) ;  b) Maintenir, entre le diffuseur et les PARTIES ACTIVES de l'OUVRAGE ou de l'INSTALLATION, un écartement minimal de :  · OUVRAGES OU INSTALLATIONS BT jusqu'à 1 000 V inclus : 0,5 m ;  · OUVRAGES OU INSTALLATIONS HT jusqu'à 20 kV inclus : 1 m ;  · OUVRAGES OU INSTALLATIONS compris entre 20 kV exclus et 50 kV inclus : 2 m ;  · OUVRAGES OU INSTALLATIONS compris entre 50 kV exclus et 250 kV inclus : 3 m ;  • OUVRAGES OU INSTALLATIONS au-delà de 250 kV : 4 m.</a:t>
            </a:r>
          </a:p>
          <a:p>
            <a:pPr>
              <a:defRPr sz="1600"/>
            </a:pPr>
            <a:r>
              <a:t>L'ouverture de la lance doit être réalisée avant que le jet ne soit dirigé sur le foyer, afin de s'assurer que le jet possède la qualité de diffusion nécessaire.</a:t>
            </a:r>
          </a:p>
          <a:p>
            <a:pPr>
              <a:defRPr sz="1600"/>
            </a:pPr>
            <a:r>
              <a:t>La manœuvre de la lance doit être lente pour éviter que les gouttes d'eau ne se touchent (éviter l'amorçage).</a:t>
            </a:r>
          </a:p>
          <a:p>
            <a:pPr>
              <a:defRPr sz="1600"/>
            </a:pPr>
            <a:r>
              <a:t>Il y a lieu de porter une attention particulière à l'eau de ruissellement.</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 Conduite à tenir en cas d'accident d'origine électrique sur les ouvrages, les</a:t>
            </a:r>
          </a:p>
        </p:txBody>
      </p:sp>
      <p:sp>
        <p:nvSpPr>
          <p:cNvPr id="3" name="Content Placeholder 2"/>
          <p:cNvSpPr>
            <a:spLocks noGrp="1"/>
          </p:cNvSpPr>
          <p:nvPr>
            <p:ph idx="1"/>
          </p:nvPr>
        </p:nvSpPr>
        <p:spPr/>
        <p:txBody>
          <a:bodyPr/>
          <a:lstStyle/>
          <a:p>
            <a:pPr>
              <a:defRPr sz="1600"/>
            </a:pPr>
            <a:r>
              <a:t>installations électriques ou dans leur voisinage  Ce paragraphe a pour but de donner un minimum d'informations sur la conduite à tenir en cas d'accident d'origine électrique pour ne pas aggraver la situation.</a:t>
            </a:r>
          </a:p>
          <a:p>
            <a:pPr>
              <a:defRPr sz="1600"/>
            </a:pPr>
            <a:r>
              <a:t>Le personnel pouvant intervenir doit être désigné à cet effet et respecter les INSTRUCTIONS DE SECURITE établies par son EMPLOYEUR.</a:t>
            </a:r>
          </a:p>
          <a:p>
            <a:pPr>
              <a:defRPr sz="1600"/>
            </a:pPr>
            <a:r>
              <a:t>Ces INSTRUCTIONS DE SECURITE doivent couvrir toutes situations d'accidents susceptibles de survenir au cours de l'activité propre de l'entreprise ou de l'établissement, et pas seulement celles d'origine électrique.</a:t>
            </a:r>
          </a:p>
          <a:p>
            <a:pPr>
              <a:defRPr sz="1600"/>
            </a:pPr>
            <a:r>
              <a:t>Les personnes qui interviennent doivent utiliser des matériels de secours et porter des EQUIPEMENTS DE PROTECTION INDIVIDUELLE (EPI) adaptés à la situation (voir 4.</a:t>
            </a:r>
          </a:p>
          <a:p>
            <a:pPr>
              <a:defRPr sz="1600"/>
            </a:pPr>
            <a:r>
              <a:t>3.</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13.3.1 Eviter le sur-accident électrique</a:t>
            </a:r>
          </a:p>
        </p:txBody>
      </p:sp>
      <p:sp>
        <p:nvSpPr>
          <p:cNvPr id="3" name="Content Placeholder 2"/>
          <p:cNvSpPr>
            <a:spLocks noGrp="1"/>
          </p:cNvSpPr>
          <p:nvPr>
            <p:ph idx="1"/>
          </p:nvPr>
        </p:nvSpPr>
        <p:spPr/>
        <p:txBody>
          <a:bodyPr/>
          <a:lstStyle/>
          <a:p>
            <a:pPr>
              <a:defRPr sz="1600"/>
            </a:pPr>
            <a:r>
              <a:t>Eviter en priorité la survenance d'un second accident, en interdisant notamment à toutes les personnes non averties des risques d'approcher la victime et la zone à risque.</a:t>
            </a:r>
          </a:p>
          <a:p>
            <a:pPr>
              <a:defRPr sz="1600"/>
            </a:pPr>
            <a:r>
              <a:t>Mettre hors tension lorsque c'est possible en respectant les consignes de sécurité ou demander la MISE HORS TENSION de l'OUVRAGE ou de l'INSTALLATION.</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13.3.1.1 Mise hors tension en basse tension</a:t>
            </a:r>
          </a:p>
        </p:txBody>
      </p:sp>
      <p:sp>
        <p:nvSpPr>
          <p:cNvPr id="3" name="Content Placeholder 2"/>
          <p:cNvSpPr>
            <a:spLocks noGrp="1"/>
          </p:cNvSpPr>
          <p:nvPr>
            <p:ph idx="1"/>
          </p:nvPr>
        </p:nvSpPr>
        <p:spPr/>
        <p:txBody>
          <a:bodyPr/>
          <a:lstStyle/>
          <a:p>
            <a:pPr>
              <a:defRPr sz="1600"/>
            </a:pPr>
            <a:r>
              <a:t>La MISE HORS TENSION peut être effectuée par la MANŒUVRE d'un dispositif de coupure d'urgence, la MANŒUVRE d'un dispositif de commande, le debrochage d'une prise de courant, etc.</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13.3.1.2 Mise hors tension en haute tension</a:t>
            </a:r>
          </a:p>
        </p:txBody>
      </p:sp>
      <p:sp>
        <p:nvSpPr>
          <p:cNvPr id="3" name="Content Placeholder 2"/>
          <p:cNvSpPr>
            <a:spLocks noGrp="1"/>
          </p:cNvSpPr>
          <p:nvPr>
            <p:ph idx="1"/>
          </p:nvPr>
        </p:nvSpPr>
        <p:spPr/>
        <p:txBody>
          <a:bodyPr/>
          <a:lstStyle/>
          <a:p>
            <a:pPr>
              <a:defRPr sz="1600"/>
            </a:pPr>
            <a:r>
              <a:t>La personne formée doit demander la MISE HORS TENSION ou, en cas d'impossibilité, interdire l'approche de la victime ou du conducteur par tous moyens disponibles.</a:t>
            </a:r>
          </a:p>
          <a:p>
            <a:pPr>
              <a:defRPr sz="1600"/>
            </a:pPr>
            <a:r>
              <a:t>La MISE HORS TENSION de la partie d'OUVRAGE ou d'INSTALLATION doit être confirmée par le CHEF D'ETABLISSEMENT ou le CHARGE D'EXPLOITATION ELECTRIQUE.</a:t>
            </a:r>
          </a:p>
          <a:p>
            <a:pPr>
              <a:defRPr sz="1600"/>
            </a:pPr>
            <a:r>
              <a:t>La CONSIGNATION n'est pas obligatoire, mais la VERIFICATION D'ABSENCE DE TENSION doit être effectuée.</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13.3.2 Donner l'alerte</a:t>
            </a:r>
          </a:p>
        </p:txBody>
      </p:sp>
      <p:sp>
        <p:nvSpPr>
          <p:cNvPr id="3" name="Content Placeholder 2"/>
          <p:cNvSpPr>
            <a:spLocks noGrp="1"/>
          </p:cNvSpPr>
          <p:nvPr>
            <p:ph idx="1"/>
          </p:nvPr>
        </p:nvSpPr>
        <p:spPr/>
        <p:txBody>
          <a:bodyPr/>
          <a:lstStyle/>
          <a:p>
            <a:pPr>
              <a:defRPr sz="1600"/>
            </a:pPr>
            <a:r>
              <a:t>Cette action vise à prévenir ou faire prévenir les secours spécialisés internes ou externes prévus dans les INSTRUCTIONS DE SECURITE.</a:t>
            </a:r>
          </a:p>
          <a:p>
            <a:pPr>
              <a:defRPr sz="1600"/>
            </a:pPr>
            <a:r>
              <a:t>Ces dernières précisent les coordonnées téléphoniques :  · propres à l'établissement ;  · des services d'urgence, en particulier le 18 (sapeurs-pompiers) ou le 112 (appel d'urgence en Europe) ou le 15 (SAMU) ;  · de l'exploitant de l'OUVRAGE ou de l'INSTALLATION.</a:t>
            </a:r>
          </a:p>
          <a:p>
            <a:pPr>
              <a:defRPr sz="1600"/>
            </a:pPr>
            <a:r>
              <a:t>Pour les OUVRAGES de transport d'énergie électrique, les coordonnées sont indiquées dans les postes et sur les pylônes HTB.</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13.3.3.1 Dégager l'accidenté</a:t>
            </a:r>
          </a:p>
        </p:txBody>
      </p:sp>
      <p:sp>
        <p:nvSpPr>
          <p:cNvPr id="3" name="Content Placeholder 2"/>
          <p:cNvSpPr>
            <a:spLocks noGrp="1"/>
          </p:cNvSpPr>
          <p:nvPr>
            <p:ph idx="1"/>
          </p:nvPr>
        </p:nvSpPr>
        <p:spPr/>
        <p:txBody>
          <a:bodyPr/>
          <a:lstStyle/>
          <a:p>
            <a:pPr>
              <a:defRPr sz="1600"/>
            </a:pPr>
            <a:r>
              <a:t>Dégager l'accidenté, c'est-à-dire le soustraire au contact de tout conducteur ou pièce conductrice encore sous tension, en utilisant des équipements appropriés.</a:t>
            </a:r>
          </a:p>
          <a:p>
            <a:pPr>
              <a:defRPr sz="1600"/>
            </a:pPr>
            <a:r>
              <a:t>Le dégagement doit être assuré par une personne connaissant l'OUVRAGE ou l'INSTALLATION et formée à l'utilisation du matériel de protection adapté.</a:t>
            </a:r>
          </a:p>
          <a:p>
            <a:pPr>
              <a:defRPr sz="1600"/>
            </a:pPr>
            <a:r>
              <a:t>Dans le cas où la MISE HORS TENSION n'est pas réalisée, l'intervenant doit, en fonction de la tension rencontrée, s'isoler lui-même à l'aide de matériel isolant (perche à corps, gants, tapis, tabouret, etc.</a:t>
            </a:r>
          </a:p>
          <a:p>
            <a:pPr>
              <a:defRPr sz="1600"/>
            </a:pPr>
            <a:r>
              <a:t>), voir Annexe C.</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13.3.3.2 Mise en œuvre des premiers gestes de secours</a:t>
            </a:r>
          </a:p>
        </p:txBody>
      </p:sp>
      <p:sp>
        <p:nvSpPr>
          <p:cNvPr id="3" name="Content Placeholder 2"/>
          <p:cNvSpPr>
            <a:spLocks noGrp="1"/>
          </p:cNvSpPr>
          <p:nvPr>
            <p:ph idx="1"/>
          </p:nvPr>
        </p:nvSpPr>
        <p:spPr/>
        <p:txBody>
          <a:bodyPr/>
          <a:lstStyle/>
          <a:p>
            <a:pPr>
              <a:defRPr sz="1600"/>
            </a:pPr>
            <a:r>
              <a:t>Ces premiers gestes doivent être effectués jusqu'à l'arrivée des secours par du personnel formé au secourisme.</a:t>
            </a:r>
          </a:p>
          <a:p>
            <a:pPr>
              <a:defRPr sz="1600"/>
            </a:pPr>
            <a:r>
              <a:t>Toute personne électrisée, ou supposée électrisee, doit faire l'objet d'un examen médical le plus rapidement possible.</a:t>
            </a:r>
          </a:p>
          <a:p>
            <a:pPr>
              <a:defRPr sz="1600"/>
            </a:pPr>
            <a:r>
              <a:t>NF C 18-510  -  162  -  UTE.</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13.3.4 Conducteur tombé à terre ou conducteur accidentellement à portée de main</a:t>
            </a:r>
          </a:p>
        </p:txBody>
      </p:sp>
      <p:sp>
        <p:nvSpPr>
          <p:cNvPr id="3" name="Content Placeholder 2"/>
          <p:cNvSpPr>
            <a:spLocks noGrp="1"/>
          </p:cNvSpPr>
          <p:nvPr>
            <p:ph idx="1"/>
          </p:nvPr>
        </p:nvSpPr>
        <p:spPr/>
        <p:txBody>
          <a:bodyPr/>
          <a:lstStyle/>
          <a:p>
            <a:pPr>
              <a:defRPr sz="1600"/>
            </a:pPr>
            <a:r>
              <a:t>Dans le cas d'un conducteur tombé à terre, il est interdit de s'approcher du conducteur et de le toucher.</a:t>
            </a:r>
          </a:p>
          <a:p>
            <a:pPr>
              <a:defRPr sz="1600"/>
            </a:pPr>
            <a:r>
              <a:t>Il faut, en outre, empêcher quiconque d'approcher en imposant un périmètre de sécurité d'au moins de 3 m pour une tension inférieure à 50 000 Volts et d'au moins de 5 m pour une tension supérieure à 50 000 Volts.</a:t>
            </a:r>
          </a:p>
          <a:p>
            <a:pPr>
              <a:defRPr sz="1600"/>
            </a:pPr>
            <a:r>
              <a:t>En cas de doute ou de méconnaissance de la tension, la distance d'au moins 5 m doit être respectée.</a:t>
            </a:r>
          </a:p>
          <a:p>
            <a:pPr>
              <a:defRPr sz="1600"/>
            </a:pPr>
            <a:r>
              <a:t>Pour s'éloigner du conducteur tombé à terre, la personne doit marcher à petits pas ou procéder par bonds successifs pour éviter le risque de choc électrique dû à la tension de pas, sauf en basse tension ou si le personnel est muni de chaussures ou de bottes isolantes adaptées.</a:t>
            </a:r>
          </a:p>
          <a:p>
            <a:pPr>
              <a:defRPr sz="1600"/>
            </a:pPr>
            <a:r>
              <a:t>Dans le cas d'un conducteur accidentellement à portée de main, il est interdit de s'en approcher et de le toucher.</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13.3.5 Cas d'un véhicule ou d'un engin venant en contact accidentel avec une ligne</a:t>
            </a:r>
          </a:p>
        </p:txBody>
      </p:sp>
      <p:sp>
        <p:nvSpPr>
          <p:cNvPr id="3" name="Content Placeholder 2"/>
          <p:cNvSpPr>
            <a:spLocks noGrp="1"/>
          </p:cNvSpPr>
          <p:nvPr>
            <p:ph idx="1"/>
          </p:nvPr>
        </p:nvSpPr>
        <p:spPr/>
        <p:txBody>
          <a:bodyPr/>
          <a:lstStyle/>
          <a:p>
            <a:pPr>
              <a:defRPr sz="1600"/>
            </a:pPr>
            <a:r>
              <a:t>Si des personnes sont à l'intérieur d'un véhicule ou d'un engin venant en contact accidentel avec une ligne, elles doivent rester à l'intérieur, tant que le service compétent n'a pas donné l'assurance que la ligne est hors tension.</a:t>
            </a:r>
          </a:p>
          <a:p>
            <a:pPr>
              <a:defRPr sz="1600"/>
            </a:pPr>
            <a:r>
              <a:t>En effet, il existe des re-enclenchements automatiques qui remettent la ligne sous tension, notamment pour l'élimination des défauts fugitifs.</a:t>
            </a:r>
          </a:p>
          <a:p>
            <a:pPr>
              <a:defRPr sz="1600"/>
            </a:pPr>
            <a:r>
              <a:t>L'intervenant ne doit pas s'approcher de ce véhicule ou de cet engin, tant que le service compétent n'a pas donné l'assurance que la ligne est hors tension, sauf s'il a les compétences et les moyens pour le faire.</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13.3.6 Autre dégagement d'urgence</a:t>
            </a:r>
          </a:p>
        </p:txBody>
      </p:sp>
      <p:sp>
        <p:nvSpPr>
          <p:cNvPr id="3" name="Content Placeholder 2"/>
          <p:cNvSpPr>
            <a:spLocks noGrp="1"/>
          </p:cNvSpPr>
          <p:nvPr>
            <p:ph idx="1"/>
          </p:nvPr>
        </p:nvSpPr>
        <p:spPr/>
        <p:txBody>
          <a:bodyPr/>
          <a:lstStyle/>
          <a:p>
            <a:pPr>
              <a:defRPr sz="1600"/>
            </a:pPr>
            <a:r>
              <a:t>Le dégagement d'urgence est rendu nécessaire par la présence d'un danger vital, réel, immédiat et non controlable.</a:t>
            </a:r>
          </a:p>
          <a:p>
            <a:pPr>
              <a:defRPr sz="1600"/>
            </a:pPr>
            <a:r>
              <a:t>Il peut être également rendu nécessaire par la position de la victime, par exemple dans un local d'accès difficile, sur un support électrique ou dans la nacelle d'une Plate-forme Elevatrice Mobile de Personnes (PEMP, communément appelée engin à nacelle).</a:t>
            </a:r>
          </a:p>
          <a:p>
            <a:pPr>
              <a:defRPr sz="1600"/>
            </a:pPr>
            <a:r>
              <a:t>Les techniques d'évacuation d'une personne en difficulté en haut d'un support ou dans une PEMP sont mises en œuvre par des personnes formees, designees et régulièrement recyclées.</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13.4 Incident en zone présentant des risques d'explosion</a:t>
            </a:r>
          </a:p>
        </p:txBody>
      </p:sp>
      <p:sp>
        <p:nvSpPr>
          <p:cNvPr id="3" name="Content Placeholder 2"/>
          <p:cNvSpPr>
            <a:spLocks noGrp="1"/>
          </p:cNvSpPr>
          <p:nvPr>
            <p:ph idx="1"/>
          </p:nvPr>
        </p:nvSpPr>
        <p:spPr/>
        <p:txBody>
          <a:bodyPr/>
          <a:lstStyle/>
          <a:p>
            <a:pPr>
              <a:defRPr sz="1600"/>
            </a:pPr>
            <a:r>
              <a:t>La remise sous tension ou la manœuvre d'un MATERIEL contrôlant une partie d'INSTALLATION située en atmosphère à danger d'explosion (atmosphère explosive ou ATEX) ne doit intervenir :  · qu'après contrôle du maintien des dispositions réglementaires relatives à la protection de ce risque ;  · qu'après s'être assuré que la remise sous tension peut être faite sans danger.</a:t>
            </a:r>
          </a:p>
          <a:p>
            <a:pPr>
              <a:defRPr sz="1600"/>
            </a:pPr>
            <a:r>
              <a:t>UTE  -  163  -  NF C 18-510  # Annexe A (informative) Documents - Définitions et exemples  # A.</a:t>
            </a:r>
          </a:p>
          <a:p>
            <a:pPr>
              <a:defRPr sz="1600"/>
            </a:pPr>
            <a:r>
              <a:t>1 Instruction de sécurité  Une INSTRUCTION DE SECURITE est une prescription orale ou écrite et commentée, établie par L'EMPLOYEUR à l'usage de son personnel et concernant la prévention du risque électrique.</a:t>
            </a:r>
          </a:p>
          <a:p>
            <a:pPr>
              <a:defRPr sz="1600"/>
            </a:pPr>
            <a:r>
              <a:t>Pour une opération, une INSTRUCTION DE SECURITE peut, notamment, préciser :  · les conditions relatives au personnel (désignation, HABILITATION)  · les conditions d'exécution des OPERATIONS (mode opératoire, surveillance, etc.</a:t>
            </a:r>
          </a:p>
          <a:p>
            <a:pPr>
              <a:defRPr sz="1600"/>
            </a:pPr>
            <a:r>
              <a:t>) ;  ;  · les conditions relatives aux équipements, matériel et à l'outillage ;  · les conditions spécifiques aux matériels d'exploitation ;  · les mesures de prévention à appliquer (mise en place et respect du BALISAGE, materialisation des limites, protections du personnel, conduite à tenir en fin de travail, mise en œuvre ou la gestion de la PROCEDURE DE SUIVI ET DE CONTROLE, etc.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