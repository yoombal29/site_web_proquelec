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1008.xml" ContentType="application/vnd.openxmlformats-officedocument.presentationml.slide+xml"/>
  <Override PartName="/ppt/slides/slide1009.xml" ContentType="application/vnd.openxmlformats-officedocument.presentationml.slide+xml"/>
  <Override PartName="/ppt/slides/slide101.xml" ContentType="application/vnd.openxmlformats-officedocument.presentationml.slide+xml"/>
  <Override PartName="/ppt/slides/slide1010.xml" ContentType="application/vnd.openxmlformats-officedocument.presentationml.slide+xml"/>
  <Override PartName="/ppt/slides/slide1011.xml" ContentType="application/vnd.openxmlformats-officedocument.presentationml.slide+xml"/>
  <Override PartName="/ppt/slides/slide1012.xml" ContentType="application/vnd.openxmlformats-officedocument.presentationml.slide+xml"/>
  <Override PartName="/ppt/slides/slide1013.xml" ContentType="application/vnd.openxmlformats-officedocument.presentationml.slide+xml"/>
  <Override PartName="/ppt/slides/slide1014.xml" ContentType="application/vnd.openxmlformats-officedocument.presentationml.slide+xml"/>
  <Override PartName="/ppt/slides/slide1015.xml" ContentType="application/vnd.openxmlformats-officedocument.presentationml.slide+xml"/>
  <Override PartName="/ppt/slides/slide1016.xml" ContentType="application/vnd.openxmlformats-officedocument.presentationml.slide+xml"/>
  <Override PartName="/ppt/slides/slide1017.xml" ContentType="application/vnd.openxmlformats-officedocument.presentationml.slide+xml"/>
  <Override PartName="/ppt/slides/slide1018.xml" ContentType="application/vnd.openxmlformats-officedocument.presentationml.slide+xml"/>
  <Override PartName="/ppt/slides/slide1019.xml" ContentType="application/vnd.openxmlformats-officedocument.presentationml.slide+xml"/>
  <Override PartName="/ppt/slides/slide102.xml" ContentType="application/vnd.openxmlformats-officedocument.presentationml.slide+xml"/>
  <Override PartName="/ppt/slides/slide1020.xml" ContentType="application/vnd.openxmlformats-officedocument.presentationml.slide+xml"/>
  <Override PartName="/ppt/slides/slide1021.xml" ContentType="application/vnd.openxmlformats-officedocument.presentationml.slide+xml"/>
  <Override PartName="/ppt/slides/slide1022.xml" ContentType="application/vnd.openxmlformats-officedocument.presentationml.slide+xml"/>
  <Override PartName="/ppt/slides/slide1023.xml" ContentType="application/vnd.openxmlformats-officedocument.presentationml.slide+xml"/>
  <Override PartName="/ppt/slides/slide1024.xml" ContentType="application/vnd.openxmlformats-officedocument.presentationml.slide+xml"/>
  <Override PartName="/ppt/slides/slide1025.xml" ContentType="application/vnd.openxmlformats-officedocument.presentationml.slide+xml"/>
  <Override PartName="/ppt/slides/slide1026.xml" ContentType="application/vnd.openxmlformats-officedocument.presentationml.slide+xml"/>
  <Override PartName="/ppt/slides/slide1027.xml" ContentType="application/vnd.openxmlformats-officedocument.presentationml.slide+xml"/>
  <Override PartName="/ppt/slides/slide1028.xml" ContentType="application/vnd.openxmlformats-officedocument.presentationml.slide+xml"/>
  <Override PartName="/ppt/slides/slide1029.xml" ContentType="application/vnd.openxmlformats-officedocument.presentationml.slide+xml"/>
  <Override PartName="/ppt/slides/slide103.xml" ContentType="application/vnd.openxmlformats-officedocument.presentationml.slide+xml"/>
  <Override PartName="/ppt/slides/slide1030.xml" ContentType="application/vnd.openxmlformats-officedocument.presentationml.slide+xml"/>
  <Override PartName="/ppt/slides/slide1031.xml" ContentType="application/vnd.openxmlformats-officedocument.presentationml.slide+xml"/>
  <Override PartName="/ppt/slides/slide1032.xml" ContentType="application/vnd.openxmlformats-officedocument.presentationml.slide+xml"/>
  <Override PartName="/ppt/slides/slide1033.xml" ContentType="application/vnd.openxmlformats-officedocument.presentationml.slide+xml"/>
  <Override PartName="/ppt/slides/slide1034.xml" ContentType="application/vnd.openxmlformats-officedocument.presentationml.slide+xml"/>
  <Override PartName="/ppt/slides/slide1035.xml" ContentType="application/vnd.openxmlformats-officedocument.presentationml.slide+xml"/>
  <Override PartName="/ppt/slides/slide1036.xml" ContentType="application/vnd.openxmlformats-officedocument.presentationml.slide+xml"/>
  <Override PartName="/ppt/slides/slide1037.xml" ContentType="application/vnd.openxmlformats-officedocument.presentationml.slide+xml"/>
  <Override PartName="/ppt/slides/slide1038.xml" ContentType="application/vnd.openxmlformats-officedocument.presentationml.slide+xml"/>
  <Override PartName="/ppt/slides/slide1039.xml" ContentType="application/vnd.openxmlformats-officedocument.presentationml.slide+xml"/>
  <Override PartName="/ppt/slides/slide104.xml" ContentType="application/vnd.openxmlformats-officedocument.presentationml.slide+xml"/>
  <Override PartName="/ppt/slides/slide1040.xml" ContentType="application/vnd.openxmlformats-officedocument.presentationml.slide+xml"/>
  <Override PartName="/ppt/slides/slide1041.xml" ContentType="application/vnd.openxmlformats-officedocument.presentationml.slide+xml"/>
  <Override PartName="/ppt/slides/slide1042.xml" ContentType="application/vnd.openxmlformats-officedocument.presentationml.slide+xml"/>
  <Override PartName="/ppt/slides/slide1043.xml" ContentType="application/vnd.openxmlformats-officedocument.presentationml.slide+xml"/>
  <Override PartName="/ppt/slides/slide1044.xml" ContentType="application/vnd.openxmlformats-officedocument.presentationml.slide+xml"/>
  <Override PartName="/ppt/slides/slide1045.xml" ContentType="application/vnd.openxmlformats-officedocument.presentationml.slide+xml"/>
  <Override PartName="/ppt/slides/slide1046.xml" ContentType="application/vnd.openxmlformats-officedocument.presentationml.slide+xml"/>
  <Override PartName="/ppt/slides/slide1047.xml" ContentType="application/vnd.openxmlformats-officedocument.presentationml.slide+xml"/>
  <Override PartName="/ppt/slides/slide1048.xml" ContentType="application/vnd.openxmlformats-officedocument.presentationml.slide+xml"/>
  <Override PartName="/ppt/slides/slide1049.xml" ContentType="application/vnd.openxmlformats-officedocument.presentationml.slide+xml"/>
  <Override PartName="/ppt/slides/slide105.xml" ContentType="application/vnd.openxmlformats-officedocument.presentationml.slide+xml"/>
  <Override PartName="/ppt/slides/slide1050.xml" ContentType="application/vnd.openxmlformats-officedocument.presentationml.slide+xml"/>
  <Override PartName="/ppt/slides/slide1051.xml" ContentType="application/vnd.openxmlformats-officedocument.presentationml.slide+xml"/>
  <Override PartName="/ppt/slides/slide1052.xml" ContentType="application/vnd.openxmlformats-officedocument.presentationml.slide+xml"/>
  <Override PartName="/ppt/slides/slide1053.xml" ContentType="application/vnd.openxmlformats-officedocument.presentationml.slide+xml"/>
  <Override PartName="/ppt/slides/slide1054.xml" ContentType="application/vnd.openxmlformats-officedocument.presentationml.slide+xml"/>
  <Override PartName="/ppt/slides/slide1055.xml" ContentType="application/vnd.openxmlformats-officedocument.presentationml.slide+xml"/>
  <Override PartName="/ppt/slides/slide1056.xml" ContentType="application/vnd.openxmlformats-officedocument.presentationml.slide+xml"/>
  <Override PartName="/ppt/slides/slide1057.xml" ContentType="application/vnd.openxmlformats-officedocument.presentationml.slide+xml"/>
  <Override PartName="/ppt/slides/slide1058.xml" ContentType="application/vnd.openxmlformats-officedocument.presentationml.slide+xml"/>
  <Override PartName="/ppt/slides/slide1059.xml" ContentType="application/vnd.openxmlformats-officedocument.presentationml.slide+xml"/>
  <Override PartName="/ppt/slides/slide106.xml" ContentType="application/vnd.openxmlformats-officedocument.presentationml.slide+xml"/>
  <Override PartName="/ppt/slides/slide1060.xml" ContentType="application/vnd.openxmlformats-officedocument.presentationml.slide+xml"/>
  <Override PartName="/ppt/slides/slide1061.xml" ContentType="application/vnd.openxmlformats-officedocument.presentationml.slide+xml"/>
  <Override PartName="/ppt/slides/slide1062.xml" ContentType="application/vnd.openxmlformats-officedocument.presentationml.slide+xml"/>
  <Override PartName="/ppt/slides/slide1063.xml" ContentType="application/vnd.openxmlformats-officedocument.presentationml.slide+xml"/>
  <Override PartName="/ppt/slides/slide1064.xml" ContentType="application/vnd.openxmlformats-officedocument.presentationml.slide+xml"/>
  <Override PartName="/ppt/slides/slide1065.xml" ContentType="application/vnd.openxmlformats-officedocument.presentationml.slide+xml"/>
  <Override PartName="/ppt/slides/slide1066.xml" ContentType="application/vnd.openxmlformats-officedocument.presentationml.slide+xml"/>
  <Override PartName="/ppt/slides/slide1067.xml" ContentType="application/vnd.openxmlformats-officedocument.presentationml.slide+xml"/>
  <Override PartName="/ppt/slides/slide1068.xml" ContentType="application/vnd.openxmlformats-officedocument.presentationml.slide+xml"/>
  <Override PartName="/ppt/slides/slide1069.xml" ContentType="application/vnd.openxmlformats-officedocument.presentationml.slide+xml"/>
  <Override PartName="/ppt/slides/slide107.xml" ContentType="application/vnd.openxmlformats-officedocument.presentationml.slide+xml"/>
  <Override PartName="/ppt/slides/slide1070.xml" ContentType="application/vnd.openxmlformats-officedocument.presentationml.slide+xml"/>
  <Override PartName="/ppt/slides/slide1071.xml" ContentType="application/vnd.openxmlformats-officedocument.presentationml.slide+xml"/>
  <Override PartName="/ppt/slides/slide1072.xml" ContentType="application/vnd.openxmlformats-officedocument.presentationml.slide+xml"/>
  <Override PartName="/ppt/slides/slide1073.xml" ContentType="application/vnd.openxmlformats-officedocument.presentationml.slide+xml"/>
  <Override PartName="/ppt/slides/slide1074.xml" ContentType="application/vnd.openxmlformats-officedocument.presentationml.slide+xml"/>
  <Override PartName="/ppt/slides/slide1075.xml" ContentType="application/vnd.openxmlformats-officedocument.presentationml.slide+xml"/>
  <Override PartName="/ppt/slides/slide1076.xml" ContentType="application/vnd.openxmlformats-officedocument.presentationml.slide+xml"/>
  <Override PartName="/ppt/slides/slide107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slides/slide884.xml" ContentType="application/vnd.openxmlformats-officedocument.presentationml.slide+xml"/>
  <Override PartName="/ppt/slides/slide885.xml" ContentType="application/vnd.openxmlformats-officedocument.presentationml.slide+xml"/>
  <Override PartName="/ppt/slides/slide886.xml" ContentType="application/vnd.openxmlformats-officedocument.presentationml.slide+xml"/>
  <Override PartName="/ppt/slides/slide887.xml" ContentType="application/vnd.openxmlformats-officedocument.presentationml.slide+xml"/>
  <Override PartName="/ppt/slides/slide888.xml" ContentType="application/vnd.openxmlformats-officedocument.presentationml.slide+xml"/>
  <Override PartName="/ppt/slides/slide889.xml" ContentType="application/vnd.openxmlformats-officedocument.presentationml.slide+xml"/>
  <Override PartName="/ppt/slides/slide89.xml" ContentType="application/vnd.openxmlformats-officedocument.presentationml.slide+xml"/>
  <Override PartName="/ppt/slides/slide890.xml" ContentType="application/vnd.openxmlformats-officedocument.presentationml.slide+xml"/>
  <Override PartName="/ppt/slides/slide891.xml" ContentType="application/vnd.openxmlformats-officedocument.presentationml.slide+xml"/>
  <Override PartName="/ppt/slides/slide892.xml" ContentType="application/vnd.openxmlformats-officedocument.presentationml.slide+xml"/>
  <Override PartName="/ppt/slides/slide893.xml" ContentType="application/vnd.openxmlformats-officedocument.presentationml.slide+xml"/>
  <Override PartName="/ppt/slides/slide894.xml" ContentType="application/vnd.openxmlformats-officedocument.presentationml.slide+xml"/>
  <Override PartName="/ppt/slides/slide895.xml" ContentType="application/vnd.openxmlformats-officedocument.presentationml.slide+xml"/>
  <Override PartName="/ppt/slides/slide896.xml" ContentType="application/vnd.openxmlformats-officedocument.presentationml.slide+xml"/>
  <Override PartName="/ppt/slides/slide897.xml" ContentType="application/vnd.openxmlformats-officedocument.presentationml.slide+xml"/>
  <Override PartName="/ppt/slides/slide898.xml" ContentType="application/vnd.openxmlformats-officedocument.presentationml.slide+xml"/>
  <Override PartName="/ppt/slides/slide89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slides/slide904.xml" ContentType="application/vnd.openxmlformats-officedocument.presentationml.slide+xml"/>
  <Override PartName="/ppt/slides/slide905.xml" ContentType="application/vnd.openxmlformats-officedocument.presentationml.slide+xml"/>
  <Override PartName="/ppt/slides/slide906.xml" ContentType="application/vnd.openxmlformats-officedocument.presentationml.slide+xml"/>
  <Override PartName="/ppt/slides/slide907.xml" ContentType="application/vnd.openxmlformats-officedocument.presentationml.slide+xml"/>
  <Override PartName="/ppt/slides/slide908.xml" ContentType="application/vnd.openxmlformats-officedocument.presentationml.slide+xml"/>
  <Override PartName="/ppt/slides/slide909.xml" ContentType="application/vnd.openxmlformats-officedocument.presentationml.slide+xml"/>
  <Override PartName="/ppt/slides/slide91.xml" ContentType="application/vnd.openxmlformats-officedocument.presentationml.slide+xml"/>
  <Override PartName="/ppt/slides/slide910.xml" ContentType="application/vnd.openxmlformats-officedocument.presentationml.slide+xml"/>
  <Override PartName="/ppt/slides/slide911.xml" ContentType="application/vnd.openxmlformats-officedocument.presentationml.slide+xml"/>
  <Override PartName="/ppt/slides/slide912.xml" ContentType="application/vnd.openxmlformats-officedocument.presentationml.slide+xml"/>
  <Override PartName="/ppt/slides/slide913.xml" ContentType="application/vnd.openxmlformats-officedocument.presentationml.slide+xml"/>
  <Override PartName="/ppt/slides/slide914.xml" ContentType="application/vnd.openxmlformats-officedocument.presentationml.slide+xml"/>
  <Override PartName="/ppt/slides/slide915.xml" ContentType="application/vnd.openxmlformats-officedocument.presentationml.slide+xml"/>
  <Override PartName="/ppt/slides/slide916.xml" ContentType="application/vnd.openxmlformats-officedocument.presentationml.slide+xml"/>
  <Override PartName="/ppt/slides/slide917.xml" ContentType="application/vnd.openxmlformats-officedocument.presentationml.slide+xml"/>
  <Override PartName="/ppt/slides/slide918.xml" ContentType="application/vnd.openxmlformats-officedocument.presentationml.slide+xml"/>
  <Override PartName="/ppt/slides/slide919.xml" ContentType="application/vnd.openxmlformats-officedocument.presentationml.slide+xml"/>
  <Override PartName="/ppt/slides/slide92.xml" ContentType="application/vnd.openxmlformats-officedocument.presentationml.slide+xml"/>
  <Override PartName="/ppt/slides/slide920.xml" ContentType="application/vnd.openxmlformats-officedocument.presentationml.slide+xml"/>
  <Override PartName="/ppt/slides/slide921.xml" ContentType="application/vnd.openxmlformats-officedocument.presentationml.slide+xml"/>
  <Override PartName="/ppt/slides/slide922.xml" ContentType="application/vnd.openxmlformats-officedocument.presentationml.slide+xml"/>
  <Override PartName="/ppt/slides/slide923.xml" ContentType="application/vnd.openxmlformats-officedocument.presentationml.slide+xml"/>
  <Override PartName="/ppt/slides/slide924.xml" ContentType="application/vnd.openxmlformats-officedocument.presentationml.slide+xml"/>
  <Override PartName="/ppt/slides/slide925.xml" ContentType="application/vnd.openxmlformats-officedocument.presentationml.slide+xml"/>
  <Override PartName="/ppt/slides/slide926.xml" ContentType="application/vnd.openxmlformats-officedocument.presentationml.slide+xml"/>
  <Override PartName="/ppt/slides/slide927.xml" ContentType="application/vnd.openxmlformats-officedocument.presentationml.slide+xml"/>
  <Override PartName="/ppt/slides/slide928.xml" ContentType="application/vnd.openxmlformats-officedocument.presentationml.slide+xml"/>
  <Override PartName="/ppt/slides/slide929.xml" ContentType="application/vnd.openxmlformats-officedocument.presentationml.slide+xml"/>
  <Override PartName="/ppt/slides/slide93.xml" ContentType="application/vnd.openxmlformats-officedocument.presentationml.slide+xml"/>
  <Override PartName="/ppt/slides/slide930.xml" ContentType="application/vnd.openxmlformats-officedocument.presentationml.slide+xml"/>
  <Override PartName="/ppt/slides/slide931.xml" ContentType="application/vnd.openxmlformats-officedocument.presentationml.slide+xml"/>
  <Override PartName="/ppt/slides/slide932.xml" ContentType="application/vnd.openxmlformats-officedocument.presentationml.slide+xml"/>
  <Override PartName="/ppt/slides/slide933.xml" ContentType="application/vnd.openxmlformats-officedocument.presentationml.slide+xml"/>
  <Override PartName="/ppt/slides/slide934.xml" ContentType="application/vnd.openxmlformats-officedocument.presentationml.slide+xml"/>
  <Override PartName="/ppt/slides/slide935.xml" ContentType="application/vnd.openxmlformats-officedocument.presentationml.slide+xml"/>
  <Override PartName="/ppt/slides/slide936.xml" ContentType="application/vnd.openxmlformats-officedocument.presentationml.slide+xml"/>
  <Override PartName="/ppt/slides/slide937.xml" ContentType="application/vnd.openxmlformats-officedocument.presentationml.slide+xml"/>
  <Override PartName="/ppt/slides/slide938.xml" ContentType="application/vnd.openxmlformats-officedocument.presentationml.slide+xml"/>
  <Override PartName="/ppt/slides/slide939.xml" ContentType="application/vnd.openxmlformats-officedocument.presentationml.slide+xml"/>
  <Override PartName="/ppt/slides/slide94.xml" ContentType="application/vnd.openxmlformats-officedocument.presentationml.slide+xml"/>
  <Override PartName="/ppt/slides/slide940.xml" ContentType="application/vnd.openxmlformats-officedocument.presentationml.slide+xml"/>
  <Override PartName="/ppt/slides/slide941.xml" ContentType="application/vnd.openxmlformats-officedocument.presentationml.slide+xml"/>
  <Override PartName="/ppt/slides/slide942.xml" ContentType="application/vnd.openxmlformats-officedocument.presentationml.slide+xml"/>
  <Override PartName="/ppt/slides/slide943.xml" ContentType="application/vnd.openxmlformats-officedocument.presentationml.slide+xml"/>
  <Override PartName="/ppt/slides/slide944.xml" ContentType="application/vnd.openxmlformats-officedocument.presentationml.slide+xml"/>
  <Override PartName="/ppt/slides/slide945.xml" ContentType="application/vnd.openxmlformats-officedocument.presentationml.slide+xml"/>
  <Override PartName="/ppt/slides/slide946.xml" ContentType="application/vnd.openxmlformats-officedocument.presentationml.slide+xml"/>
  <Override PartName="/ppt/slides/slide947.xml" ContentType="application/vnd.openxmlformats-officedocument.presentationml.slide+xml"/>
  <Override PartName="/ppt/slides/slide948.xml" ContentType="application/vnd.openxmlformats-officedocument.presentationml.slide+xml"/>
  <Override PartName="/ppt/slides/slide949.xml" ContentType="application/vnd.openxmlformats-officedocument.presentationml.slide+xml"/>
  <Override PartName="/ppt/slides/slide95.xml" ContentType="application/vnd.openxmlformats-officedocument.presentationml.slide+xml"/>
  <Override PartName="/ppt/slides/slide950.xml" ContentType="application/vnd.openxmlformats-officedocument.presentationml.slide+xml"/>
  <Override PartName="/ppt/slides/slide951.xml" ContentType="application/vnd.openxmlformats-officedocument.presentationml.slide+xml"/>
  <Override PartName="/ppt/slides/slide952.xml" ContentType="application/vnd.openxmlformats-officedocument.presentationml.slide+xml"/>
  <Override PartName="/ppt/slides/slide953.xml" ContentType="application/vnd.openxmlformats-officedocument.presentationml.slide+xml"/>
  <Override PartName="/ppt/slides/slide954.xml" ContentType="application/vnd.openxmlformats-officedocument.presentationml.slide+xml"/>
  <Override PartName="/ppt/slides/slide955.xml" ContentType="application/vnd.openxmlformats-officedocument.presentationml.slide+xml"/>
  <Override PartName="/ppt/slides/slide956.xml" ContentType="application/vnd.openxmlformats-officedocument.presentationml.slide+xml"/>
  <Override PartName="/ppt/slides/slide957.xml" ContentType="application/vnd.openxmlformats-officedocument.presentationml.slide+xml"/>
  <Override PartName="/ppt/slides/slide958.xml" ContentType="application/vnd.openxmlformats-officedocument.presentationml.slide+xml"/>
  <Override PartName="/ppt/slides/slide959.xml" ContentType="application/vnd.openxmlformats-officedocument.presentationml.slide+xml"/>
  <Override PartName="/ppt/slides/slide96.xml" ContentType="application/vnd.openxmlformats-officedocument.presentationml.slide+xml"/>
  <Override PartName="/ppt/slides/slide960.xml" ContentType="application/vnd.openxmlformats-officedocument.presentationml.slide+xml"/>
  <Override PartName="/ppt/slides/slide961.xml" ContentType="application/vnd.openxmlformats-officedocument.presentationml.slide+xml"/>
  <Override PartName="/ppt/slides/slide962.xml" ContentType="application/vnd.openxmlformats-officedocument.presentationml.slide+xml"/>
  <Override PartName="/ppt/slides/slide963.xml" ContentType="application/vnd.openxmlformats-officedocument.presentationml.slide+xml"/>
  <Override PartName="/ppt/slides/slide964.xml" ContentType="application/vnd.openxmlformats-officedocument.presentationml.slide+xml"/>
  <Override PartName="/ppt/slides/slide965.xml" ContentType="application/vnd.openxmlformats-officedocument.presentationml.slide+xml"/>
  <Override PartName="/ppt/slides/slide966.xml" ContentType="application/vnd.openxmlformats-officedocument.presentationml.slide+xml"/>
  <Override PartName="/ppt/slides/slide967.xml" ContentType="application/vnd.openxmlformats-officedocument.presentationml.slide+xml"/>
  <Override PartName="/ppt/slides/slide968.xml" ContentType="application/vnd.openxmlformats-officedocument.presentationml.slide+xml"/>
  <Override PartName="/ppt/slides/slide969.xml" ContentType="application/vnd.openxmlformats-officedocument.presentationml.slide+xml"/>
  <Override PartName="/ppt/slides/slide97.xml" ContentType="application/vnd.openxmlformats-officedocument.presentationml.slide+xml"/>
  <Override PartName="/ppt/slides/slide970.xml" ContentType="application/vnd.openxmlformats-officedocument.presentationml.slide+xml"/>
  <Override PartName="/ppt/slides/slide971.xml" ContentType="application/vnd.openxmlformats-officedocument.presentationml.slide+xml"/>
  <Override PartName="/ppt/slides/slide972.xml" ContentType="application/vnd.openxmlformats-officedocument.presentationml.slide+xml"/>
  <Override PartName="/ppt/slides/slide973.xml" ContentType="application/vnd.openxmlformats-officedocument.presentationml.slide+xml"/>
  <Override PartName="/ppt/slides/slide974.xml" ContentType="application/vnd.openxmlformats-officedocument.presentationml.slide+xml"/>
  <Override PartName="/ppt/slides/slide975.xml" ContentType="application/vnd.openxmlformats-officedocument.presentationml.slide+xml"/>
  <Override PartName="/ppt/slides/slide976.xml" ContentType="application/vnd.openxmlformats-officedocument.presentationml.slide+xml"/>
  <Override PartName="/ppt/slides/slide977.xml" ContentType="application/vnd.openxmlformats-officedocument.presentationml.slide+xml"/>
  <Override PartName="/ppt/slides/slide978.xml" ContentType="application/vnd.openxmlformats-officedocument.presentationml.slide+xml"/>
  <Override PartName="/ppt/slides/slide979.xml" ContentType="application/vnd.openxmlformats-officedocument.presentationml.slide+xml"/>
  <Override PartName="/ppt/slides/slide98.xml" ContentType="application/vnd.openxmlformats-officedocument.presentationml.slide+xml"/>
  <Override PartName="/ppt/slides/slide980.xml" ContentType="application/vnd.openxmlformats-officedocument.presentationml.slide+xml"/>
  <Override PartName="/ppt/slides/slide981.xml" ContentType="application/vnd.openxmlformats-officedocument.presentationml.slide+xml"/>
  <Override PartName="/ppt/slides/slide982.xml" ContentType="application/vnd.openxmlformats-officedocument.presentationml.slide+xml"/>
  <Override PartName="/ppt/slides/slide983.xml" ContentType="application/vnd.openxmlformats-officedocument.presentationml.slide+xml"/>
  <Override PartName="/ppt/slides/slide984.xml" ContentType="application/vnd.openxmlformats-officedocument.presentationml.slide+xml"/>
  <Override PartName="/ppt/slides/slide985.xml" ContentType="application/vnd.openxmlformats-officedocument.presentationml.slide+xml"/>
  <Override PartName="/ppt/slides/slide986.xml" ContentType="application/vnd.openxmlformats-officedocument.presentationml.slide+xml"/>
  <Override PartName="/ppt/slides/slide987.xml" ContentType="application/vnd.openxmlformats-officedocument.presentationml.slide+xml"/>
  <Override PartName="/ppt/slides/slide988.xml" ContentType="application/vnd.openxmlformats-officedocument.presentationml.slide+xml"/>
  <Override PartName="/ppt/slides/slide989.xml" ContentType="application/vnd.openxmlformats-officedocument.presentationml.slide+xml"/>
  <Override PartName="/ppt/slides/slide99.xml" ContentType="application/vnd.openxmlformats-officedocument.presentationml.slide+xml"/>
  <Override PartName="/ppt/slides/slide990.xml" ContentType="application/vnd.openxmlformats-officedocument.presentationml.slide+xml"/>
  <Override PartName="/ppt/slides/slide991.xml" ContentType="application/vnd.openxmlformats-officedocument.presentationml.slide+xml"/>
  <Override PartName="/ppt/slides/slide992.xml" ContentType="application/vnd.openxmlformats-officedocument.presentationml.slide+xml"/>
  <Override PartName="/ppt/slides/slide993.xml" ContentType="application/vnd.openxmlformats-officedocument.presentationml.slide+xml"/>
  <Override PartName="/ppt/slides/slide994.xml" ContentType="application/vnd.openxmlformats-officedocument.presentationml.slide+xml"/>
  <Override PartName="/ppt/slides/slide995.xml" ContentType="application/vnd.openxmlformats-officedocument.presentationml.slide+xml"/>
  <Override PartName="/ppt/slides/slide996.xml" ContentType="application/vnd.openxmlformats-officedocument.presentationml.slide+xml"/>
  <Override PartName="/ppt/slides/slide997.xml" ContentType="application/vnd.openxmlformats-officedocument.presentationml.slide+xml"/>
  <Override PartName="/ppt/slides/slide998.xml" ContentType="application/vnd.openxmlformats-officedocument.presentationml.slide+xml"/>
  <Override PartName="/ppt/slides/slide9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 id="1030" r:id="rId781"/>
    <p:sldId id="1031" r:id="rId782"/>
    <p:sldId id="1032" r:id="rId783"/>
    <p:sldId id="1033" r:id="rId784"/>
    <p:sldId id="1034" r:id="rId785"/>
    <p:sldId id="1035" r:id="rId786"/>
    <p:sldId id="1036" r:id="rId787"/>
    <p:sldId id="1037" r:id="rId788"/>
    <p:sldId id="1038" r:id="rId789"/>
    <p:sldId id="1039" r:id="rId790"/>
    <p:sldId id="1040" r:id="rId791"/>
    <p:sldId id="1041" r:id="rId792"/>
    <p:sldId id="1042" r:id="rId793"/>
    <p:sldId id="1043" r:id="rId794"/>
    <p:sldId id="1044" r:id="rId795"/>
    <p:sldId id="1045" r:id="rId796"/>
    <p:sldId id="1046" r:id="rId797"/>
    <p:sldId id="1047" r:id="rId798"/>
    <p:sldId id="1048" r:id="rId799"/>
    <p:sldId id="1049" r:id="rId800"/>
    <p:sldId id="1050" r:id="rId801"/>
    <p:sldId id="1051" r:id="rId802"/>
    <p:sldId id="1052" r:id="rId803"/>
    <p:sldId id="1053" r:id="rId804"/>
    <p:sldId id="1054" r:id="rId805"/>
    <p:sldId id="1055" r:id="rId806"/>
    <p:sldId id="1056" r:id="rId807"/>
    <p:sldId id="1057" r:id="rId808"/>
    <p:sldId id="1058" r:id="rId809"/>
    <p:sldId id="1059" r:id="rId810"/>
    <p:sldId id="1060" r:id="rId811"/>
    <p:sldId id="1061" r:id="rId812"/>
    <p:sldId id="1062" r:id="rId813"/>
    <p:sldId id="1063" r:id="rId814"/>
    <p:sldId id="1064" r:id="rId815"/>
    <p:sldId id="1065" r:id="rId816"/>
    <p:sldId id="1066" r:id="rId817"/>
    <p:sldId id="1067" r:id="rId818"/>
    <p:sldId id="1068" r:id="rId819"/>
    <p:sldId id="1069" r:id="rId820"/>
    <p:sldId id="1070" r:id="rId821"/>
    <p:sldId id="1071" r:id="rId822"/>
    <p:sldId id="1072" r:id="rId823"/>
    <p:sldId id="1073" r:id="rId824"/>
    <p:sldId id="1074" r:id="rId825"/>
    <p:sldId id="1075" r:id="rId826"/>
    <p:sldId id="1076" r:id="rId827"/>
    <p:sldId id="1077" r:id="rId828"/>
    <p:sldId id="1078" r:id="rId829"/>
    <p:sldId id="1079" r:id="rId830"/>
    <p:sldId id="1080" r:id="rId831"/>
    <p:sldId id="1081" r:id="rId832"/>
    <p:sldId id="1082" r:id="rId833"/>
    <p:sldId id="1083" r:id="rId834"/>
    <p:sldId id="1084" r:id="rId835"/>
    <p:sldId id="1085" r:id="rId836"/>
    <p:sldId id="1086" r:id="rId837"/>
    <p:sldId id="1087" r:id="rId838"/>
    <p:sldId id="1088" r:id="rId839"/>
    <p:sldId id="1089" r:id="rId840"/>
    <p:sldId id="1090" r:id="rId841"/>
    <p:sldId id="1091" r:id="rId842"/>
    <p:sldId id="1092" r:id="rId843"/>
    <p:sldId id="1093" r:id="rId844"/>
    <p:sldId id="1094" r:id="rId845"/>
    <p:sldId id="1095" r:id="rId846"/>
    <p:sldId id="1096" r:id="rId847"/>
    <p:sldId id="1097" r:id="rId848"/>
    <p:sldId id="1098" r:id="rId849"/>
    <p:sldId id="1099" r:id="rId850"/>
    <p:sldId id="1100" r:id="rId851"/>
    <p:sldId id="1101" r:id="rId852"/>
    <p:sldId id="1102" r:id="rId853"/>
    <p:sldId id="1103" r:id="rId854"/>
    <p:sldId id="1104" r:id="rId855"/>
    <p:sldId id="1105" r:id="rId856"/>
    <p:sldId id="1106" r:id="rId857"/>
    <p:sldId id="1107" r:id="rId858"/>
    <p:sldId id="1108" r:id="rId859"/>
    <p:sldId id="1109" r:id="rId860"/>
    <p:sldId id="1110" r:id="rId861"/>
    <p:sldId id="1111" r:id="rId862"/>
    <p:sldId id="1112" r:id="rId863"/>
    <p:sldId id="1113" r:id="rId864"/>
    <p:sldId id="1114" r:id="rId865"/>
    <p:sldId id="1115" r:id="rId866"/>
    <p:sldId id="1116" r:id="rId867"/>
    <p:sldId id="1117" r:id="rId868"/>
    <p:sldId id="1118" r:id="rId869"/>
    <p:sldId id="1119" r:id="rId870"/>
    <p:sldId id="1120" r:id="rId871"/>
    <p:sldId id="1121" r:id="rId872"/>
    <p:sldId id="1122" r:id="rId873"/>
    <p:sldId id="1123" r:id="rId874"/>
    <p:sldId id="1124" r:id="rId875"/>
    <p:sldId id="1125" r:id="rId876"/>
    <p:sldId id="1126" r:id="rId877"/>
    <p:sldId id="1127" r:id="rId878"/>
    <p:sldId id="1128" r:id="rId879"/>
    <p:sldId id="1129" r:id="rId880"/>
    <p:sldId id="1130" r:id="rId881"/>
    <p:sldId id="1131" r:id="rId882"/>
    <p:sldId id="1132" r:id="rId883"/>
    <p:sldId id="1133" r:id="rId884"/>
    <p:sldId id="1134" r:id="rId885"/>
    <p:sldId id="1135" r:id="rId886"/>
    <p:sldId id="1136" r:id="rId887"/>
    <p:sldId id="1137" r:id="rId888"/>
    <p:sldId id="1138" r:id="rId889"/>
    <p:sldId id="1139" r:id="rId890"/>
    <p:sldId id="1140" r:id="rId891"/>
    <p:sldId id="1141" r:id="rId892"/>
    <p:sldId id="1142" r:id="rId893"/>
    <p:sldId id="1143" r:id="rId894"/>
    <p:sldId id="1144" r:id="rId895"/>
    <p:sldId id="1145" r:id="rId896"/>
    <p:sldId id="1146" r:id="rId897"/>
    <p:sldId id="1147" r:id="rId898"/>
    <p:sldId id="1148" r:id="rId899"/>
    <p:sldId id="1149" r:id="rId900"/>
    <p:sldId id="1150" r:id="rId901"/>
    <p:sldId id="1151" r:id="rId902"/>
    <p:sldId id="1152" r:id="rId903"/>
    <p:sldId id="1153" r:id="rId904"/>
    <p:sldId id="1154" r:id="rId905"/>
    <p:sldId id="1155" r:id="rId906"/>
    <p:sldId id="1156" r:id="rId907"/>
    <p:sldId id="1157" r:id="rId908"/>
    <p:sldId id="1158" r:id="rId909"/>
    <p:sldId id="1159" r:id="rId910"/>
    <p:sldId id="1160" r:id="rId911"/>
    <p:sldId id="1161" r:id="rId912"/>
    <p:sldId id="1162" r:id="rId913"/>
    <p:sldId id="1163" r:id="rId914"/>
    <p:sldId id="1164" r:id="rId915"/>
    <p:sldId id="1165" r:id="rId916"/>
    <p:sldId id="1166" r:id="rId917"/>
    <p:sldId id="1167" r:id="rId918"/>
    <p:sldId id="1168" r:id="rId919"/>
    <p:sldId id="1169" r:id="rId920"/>
    <p:sldId id="1170" r:id="rId921"/>
    <p:sldId id="1171" r:id="rId922"/>
    <p:sldId id="1172" r:id="rId923"/>
    <p:sldId id="1173" r:id="rId924"/>
    <p:sldId id="1174" r:id="rId925"/>
    <p:sldId id="1175" r:id="rId926"/>
    <p:sldId id="1176" r:id="rId927"/>
    <p:sldId id="1177" r:id="rId928"/>
    <p:sldId id="1178" r:id="rId929"/>
    <p:sldId id="1179" r:id="rId930"/>
    <p:sldId id="1180" r:id="rId931"/>
    <p:sldId id="1181" r:id="rId932"/>
    <p:sldId id="1182" r:id="rId933"/>
    <p:sldId id="1183" r:id="rId934"/>
    <p:sldId id="1184" r:id="rId935"/>
    <p:sldId id="1185" r:id="rId936"/>
    <p:sldId id="1186" r:id="rId937"/>
    <p:sldId id="1187" r:id="rId938"/>
    <p:sldId id="1188" r:id="rId939"/>
    <p:sldId id="1189" r:id="rId940"/>
    <p:sldId id="1190" r:id="rId941"/>
    <p:sldId id="1191" r:id="rId942"/>
    <p:sldId id="1192" r:id="rId943"/>
    <p:sldId id="1193" r:id="rId944"/>
    <p:sldId id="1194" r:id="rId945"/>
    <p:sldId id="1195" r:id="rId946"/>
    <p:sldId id="1196" r:id="rId947"/>
    <p:sldId id="1197" r:id="rId948"/>
    <p:sldId id="1198" r:id="rId949"/>
    <p:sldId id="1199" r:id="rId950"/>
    <p:sldId id="1200" r:id="rId951"/>
    <p:sldId id="1201" r:id="rId952"/>
    <p:sldId id="1202" r:id="rId953"/>
    <p:sldId id="1203" r:id="rId954"/>
    <p:sldId id="1204" r:id="rId955"/>
    <p:sldId id="1205" r:id="rId956"/>
    <p:sldId id="1206" r:id="rId957"/>
    <p:sldId id="1207" r:id="rId958"/>
    <p:sldId id="1208" r:id="rId959"/>
    <p:sldId id="1209" r:id="rId960"/>
    <p:sldId id="1210" r:id="rId961"/>
    <p:sldId id="1211" r:id="rId962"/>
    <p:sldId id="1212" r:id="rId963"/>
    <p:sldId id="1213" r:id="rId964"/>
    <p:sldId id="1214" r:id="rId965"/>
    <p:sldId id="1215" r:id="rId966"/>
    <p:sldId id="1216" r:id="rId967"/>
    <p:sldId id="1217" r:id="rId968"/>
    <p:sldId id="1218" r:id="rId969"/>
    <p:sldId id="1219" r:id="rId970"/>
    <p:sldId id="1220" r:id="rId971"/>
    <p:sldId id="1221" r:id="rId972"/>
    <p:sldId id="1222" r:id="rId973"/>
    <p:sldId id="1223" r:id="rId974"/>
    <p:sldId id="1224" r:id="rId975"/>
    <p:sldId id="1225" r:id="rId976"/>
    <p:sldId id="1226" r:id="rId977"/>
    <p:sldId id="1227" r:id="rId978"/>
    <p:sldId id="1228" r:id="rId979"/>
    <p:sldId id="1229" r:id="rId980"/>
    <p:sldId id="1230" r:id="rId981"/>
    <p:sldId id="1231" r:id="rId982"/>
    <p:sldId id="1232" r:id="rId983"/>
    <p:sldId id="1233" r:id="rId984"/>
    <p:sldId id="1234" r:id="rId985"/>
    <p:sldId id="1235" r:id="rId986"/>
    <p:sldId id="1236" r:id="rId987"/>
    <p:sldId id="1237" r:id="rId988"/>
    <p:sldId id="1238" r:id="rId989"/>
    <p:sldId id="1239" r:id="rId990"/>
    <p:sldId id="1240" r:id="rId991"/>
    <p:sldId id="1241" r:id="rId992"/>
    <p:sldId id="1242" r:id="rId993"/>
    <p:sldId id="1243" r:id="rId994"/>
    <p:sldId id="1244" r:id="rId995"/>
    <p:sldId id="1245" r:id="rId996"/>
    <p:sldId id="1246" r:id="rId997"/>
    <p:sldId id="1247" r:id="rId998"/>
    <p:sldId id="1248" r:id="rId999"/>
    <p:sldId id="1249" r:id="rId1000"/>
    <p:sldId id="1250" r:id="rId1001"/>
    <p:sldId id="1251" r:id="rId1002"/>
    <p:sldId id="1252" r:id="rId1003"/>
    <p:sldId id="1253" r:id="rId1004"/>
    <p:sldId id="1254" r:id="rId1005"/>
    <p:sldId id="1255" r:id="rId1006"/>
    <p:sldId id="1256" r:id="rId1007"/>
    <p:sldId id="1257" r:id="rId1008"/>
    <p:sldId id="1258" r:id="rId1009"/>
    <p:sldId id="1259" r:id="rId1010"/>
    <p:sldId id="1260" r:id="rId1011"/>
    <p:sldId id="1261" r:id="rId1012"/>
    <p:sldId id="1262" r:id="rId1013"/>
    <p:sldId id="1263" r:id="rId1014"/>
    <p:sldId id="1264" r:id="rId1015"/>
    <p:sldId id="1265" r:id="rId1016"/>
    <p:sldId id="1266" r:id="rId1017"/>
    <p:sldId id="1267" r:id="rId1018"/>
    <p:sldId id="1268" r:id="rId1019"/>
    <p:sldId id="1269" r:id="rId1020"/>
    <p:sldId id="1270" r:id="rId1021"/>
    <p:sldId id="1271" r:id="rId1022"/>
    <p:sldId id="1272" r:id="rId1023"/>
    <p:sldId id="1273" r:id="rId1024"/>
    <p:sldId id="1274" r:id="rId1025"/>
    <p:sldId id="1275" r:id="rId1026"/>
    <p:sldId id="1276" r:id="rId1027"/>
    <p:sldId id="1277" r:id="rId1028"/>
    <p:sldId id="1278" r:id="rId1029"/>
    <p:sldId id="1279" r:id="rId1030"/>
    <p:sldId id="1280" r:id="rId1031"/>
    <p:sldId id="1281" r:id="rId1032"/>
    <p:sldId id="1282" r:id="rId1033"/>
    <p:sldId id="1283" r:id="rId1034"/>
    <p:sldId id="1284" r:id="rId1035"/>
    <p:sldId id="1285" r:id="rId1036"/>
    <p:sldId id="1286" r:id="rId1037"/>
    <p:sldId id="1287" r:id="rId1038"/>
    <p:sldId id="1288" r:id="rId1039"/>
    <p:sldId id="1289" r:id="rId1040"/>
    <p:sldId id="1290" r:id="rId1041"/>
    <p:sldId id="1291" r:id="rId1042"/>
    <p:sldId id="1292" r:id="rId1043"/>
    <p:sldId id="1293" r:id="rId1044"/>
    <p:sldId id="1294" r:id="rId1045"/>
    <p:sldId id="1295" r:id="rId1046"/>
    <p:sldId id="1296" r:id="rId1047"/>
    <p:sldId id="1297" r:id="rId1048"/>
    <p:sldId id="1298" r:id="rId1049"/>
    <p:sldId id="1299" r:id="rId1050"/>
    <p:sldId id="1300" r:id="rId1051"/>
    <p:sldId id="1301" r:id="rId1052"/>
    <p:sldId id="1302" r:id="rId1053"/>
    <p:sldId id="1303" r:id="rId1054"/>
    <p:sldId id="1304" r:id="rId1055"/>
    <p:sldId id="1305" r:id="rId1056"/>
    <p:sldId id="1306" r:id="rId1057"/>
    <p:sldId id="1307" r:id="rId1058"/>
    <p:sldId id="1308" r:id="rId1059"/>
    <p:sldId id="1309" r:id="rId1060"/>
    <p:sldId id="1310" r:id="rId1061"/>
    <p:sldId id="1311" r:id="rId1062"/>
    <p:sldId id="1312" r:id="rId1063"/>
    <p:sldId id="1313" r:id="rId1064"/>
    <p:sldId id="1314" r:id="rId1065"/>
    <p:sldId id="1315" r:id="rId1066"/>
    <p:sldId id="1316" r:id="rId1067"/>
    <p:sldId id="1317" r:id="rId1068"/>
    <p:sldId id="1318" r:id="rId1069"/>
    <p:sldId id="1319" r:id="rId1070"/>
    <p:sldId id="1320" r:id="rId1071"/>
    <p:sldId id="1321" r:id="rId1072"/>
    <p:sldId id="1322" r:id="rId1073"/>
    <p:sldId id="1323" r:id="rId1074"/>
    <p:sldId id="1324" r:id="rId1075"/>
    <p:sldId id="1325" r:id="rId1076"/>
    <p:sldId id="1326" r:id="rId1077"/>
    <p:sldId id="1327" r:id="rId1078"/>
    <p:sldId id="1328" r:id="rId1079"/>
    <p:sldId id="1329" r:id="rId1080"/>
    <p:sldId id="1330" r:id="rId1081"/>
    <p:sldId id="1331" r:id="rId1082"/>
    <p:sldId id="1332" r:id="rId108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 Id="rId781" Type="http://schemas.openxmlformats.org/officeDocument/2006/relationships/slide" Target="slides/slide775.xml"/><Relationship Id="rId782" Type="http://schemas.openxmlformats.org/officeDocument/2006/relationships/slide" Target="slides/slide776.xml"/><Relationship Id="rId783" Type="http://schemas.openxmlformats.org/officeDocument/2006/relationships/slide" Target="slides/slide777.xml"/><Relationship Id="rId784" Type="http://schemas.openxmlformats.org/officeDocument/2006/relationships/slide" Target="slides/slide778.xml"/><Relationship Id="rId785" Type="http://schemas.openxmlformats.org/officeDocument/2006/relationships/slide" Target="slides/slide779.xml"/><Relationship Id="rId786" Type="http://schemas.openxmlformats.org/officeDocument/2006/relationships/slide" Target="slides/slide780.xml"/><Relationship Id="rId787" Type="http://schemas.openxmlformats.org/officeDocument/2006/relationships/slide" Target="slides/slide781.xml"/><Relationship Id="rId788" Type="http://schemas.openxmlformats.org/officeDocument/2006/relationships/slide" Target="slides/slide782.xml"/><Relationship Id="rId789" Type="http://schemas.openxmlformats.org/officeDocument/2006/relationships/slide" Target="slides/slide783.xml"/><Relationship Id="rId790" Type="http://schemas.openxmlformats.org/officeDocument/2006/relationships/slide" Target="slides/slide784.xml"/><Relationship Id="rId791" Type="http://schemas.openxmlformats.org/officeDocument/2006/relationships/slide" Target="slides/slide785.xml"/><Relationship Id="rId792" Type="http://schemas.openxmlformats.org/officeDocument/2006/relationships/slide" Target="slides/slide786.xml"/><Relationship Id="rId793" Type="http://schemas.openxmlformats.org/officeDocument/2006/relationships/slide" Target="slides/slide787.xml"/><Relationship Id="rId794" Type="http://schemas.openxmlformats.org/officeDocument/2006/relationships/slide" Target="slides/slide788.xml"/><Relationship Id="rId795" Type="http://schemas.openxmlformats.org/officeDocument/2006/relationships/slide" Target="slides/slide789.xml"/><Relationship Id="rId796" Type="http://schemas.openxmlformats.org/officeDocument/2006/relationships/slide" Target="slides/slide790.xml"/><Relationship Id="rId797" Type="http://schemas.openxmlformats.org/officeDocument/2006/relationships/slide" Target="slides/slide791.xml"/><Relationship Id="rId798" Type="http://schemas.openxmlformats.org/officeDocument/2006/relationships/slide" Target="slides/slide792.xml"/><Relationship Id="rId799" Type="http://schemas.openxmlformats.org/officeDocument/2006/relationships/slide" Target="slides/slide793.xml"/><Relationship Id="rId800" Type="http://schemas.openxmlformats.org/officeDocument/2006/relationships/slide" Target="slides/slide794.xml"/><Relationship Id="rId801" Type="http://schemas.openxmlformats.org/officeDocument/2006/relationships/slide" Target="slides/slide795.xml"/><Relationship Id="rId802" Type="http://schemas.openxmlformats.org/officeDocument/2006/relationships/slide" Target="slides/slide796.xml"/><Relationship Id="rId803" Type="http://schemas.openxmlformats.org/officeDocument/2006/relationships/slide" Target="slides/slide797.xml"/><Relationship Id="rId804" Type="http://schemas.openxmlformats.org/officeDocument/2006/relationships/slide" Target="slides/slide798.xml"/><Relationship Id="rId805" Type="http://schemas.openxmlformats.org/officeDocument/2006/relationships/slide" Target="slides/slide799.xml"/><Relationship Id="rId806" Type="http://schemas.openxmlformats.org/officeDocument/2006/relationships/slide" Target="slides/slide800.xml"/><Relationship Id="rId807" Type="http://schemas.openxmlformats.org/officeDocument/2006/relationships/slide" Target="slides/slide801.xml"/><Relationship Id="rId808" Type="http://schemas.openxmlformats.org/officeDocument/2006/relationships/slide" Target="slides/slide802.xml"/><Relationship Id="rId809" Type="http://schemas.openxmlformats.org/officeDocument/2006/relationships/slide" Target="slides/slide803.xml"/><Relationship Id="rId810" Type="http://schemas.openxmlformats.org/officeDocument/2006/relationships/slide" Target="slides/slide804.xml"/><Relationship Id="rId811" Type="http://schemas.openxmlformats.org/officeDocument/2006/relationships/slide" Target="slides/slide805.xml"/><Relationship Id="rId812" Type="http://schemas.openxmlformats.org/officeDocument/2006/relationships/slide" Target="slides/slide806.xml"/><Relationship Id="rId813" Type="http://schemas.openxmlformats.org/officeDocument/2006/relationships/slide" Target="slides/slide807.xml"/><Relationship Id="rId814" Type="http://schemas.openxmlformats.org/officeDocument/2006/relationships/slide" Target="slides/slide808.xml"/><Relationship Id="rId815" Type="http://schemas.openxmlformats.org/officeDocument/2006/relationships/slide" Target="slides/slide809.xml"/><Relationship Id="rId816" Type="http://schemas.openxmlformats.org/officeDocument/2006/relationships/slide" Target="slides/slide810.xml"/><Relationship Id="rId817" Type="http://schemas.openxmlformats.org/officeDocument/2006/relationships/slide" Target="slides/slide811.xml"/><Relationship Id="rId818" Type="http://schemas.openxmlformats.org/officeDocument/2006/relationships/slide" Target="slides/slide812.xml"/><Relationship Id="rId819" Type="http://schemas.openxmlformats.org/officeDocument/2006/relationships/slide" Target="slides/slide813.xml"/><Relationship Id="rId820" Type="http://schemas.openxmlformats.org/officeDocument/2006/relationships/slide" Target="slides/slide814.xml"/><Relationship Id="rId821" Type="http://schemas.openxmlformats.org/officeDocument/2006/relationships/slide" Target="slides/slide815.xml"/><Relationship Id="rId822" Type="http://schemas.openxmlformats.org/officeDocument/2006/relationships/slide" Target="slides/slide816.xml"/><Relationship Id="rId823" Type="http://schemas.openxmlformats.org/officeDocument/2006/relationships/slide" Target="slides/slide817.xml"/><Relationship Id="rId824" Type="http://schemas.openxmlformats.org/officeDocument/2006/relationships/slide" Target="slides/slide818.xml"/><Relationship Id="rId825" Type="http://schemas.openxmlformats.org/officeDocument/2006/relationships/slide" Target="slides/slide819.xml"/><Relationship Id="rId826" Type="http://schemas.openxmlformats.org/officeDocument/2006/relationships/slide" Target="slides/slide820.xml"/><Relationship Id="rId827" Type="http://schemas.openxmlformats.org/officeDocument/2006/relationships/slide" Target="slides/slide821.xml"/><Relationship Id="rId828" Type="http://schemas.openxmlformats.org/officeDocument/2006/relationships/slide" Target="slides/slide822.xml"/><Relationship Id="rId829" Type="http://schemas.openxmlformats.org/officeDocument/2006/relationships/slide" Target="slides/slide823.xml"/><Relationship Id="rId830" Type="http://schemas.openxmlformats.org/officeDocument/2006/relationships/slide" Target="slides/slide824.xml"/><Relationship Id="rId831" Type="http://schemas.openxmlformats.org/officeDocument/2006/relationships/slide" Target="slides/slide825.xml"/><Relationship Id="rId832" Type="http://schemas.openxmlformats.org/officeDocument/2006/relationships/slide" Target="slides/slide826.xml"/><Relationship Id="rId833" Type="http://schemas.openxmlformats.org/officeDocument/2006/relationships/slide" Target="slides/slide827.xml"/><Relationship Id="rId834" Type="http://schemas.openxmlformats.org/officeDocument/2006/relationships/slide" Target="slides/slide828.xml"/><Relationship Id="rId835" Type="http://schemas.openxmlformats.org/officeDocument/2006/relationships/slide" Target="slides/slide829.xml"/><Relationship Id="rId836" Type="http://schemas.openxmlformats.org/officeDocument/2006/relationships/slide" Target="slides/slide830.xml"/><Relationship Id="rId837" Type="http://schemas.openxmlformats.org/officeDocument/2006/relationships/slide" Target="slides/slide831.xml"/><Relationship Id="rId838" Type="http://schemas.openxmlformats.org/officeDocument/2006/relationships/slide" Target="slides/slide832.xml"/><Relationship Id="rId839" Type="http://schemas.openxmlformats.org/officeDocument/2006/relationships/slide" Target="slides/slide833.xml"/><Relationship Id="rId840" Type="http://schemas.openxmlformats.org/officeDocument/2006/relationships/slide" Target="slides/slide834.xml"/><Relationship Id="rId841" Type="http://schemas.openxmlformats.org/officeDocument/2006/relationships/slide" Target="slides/slide835.xml"/><Relationship Id="rId842" Type="http://schemas.openxmlformats.org/officeDocument/2006/relationships/slide" Target="slides/slide836.xml"/><Relationship Id="rId843" Type="http://schemas.openxmlformats.org/officeDocument/2006/relationships/slide" Target="slides/slide837.xml"/><Relationship Id="rId844" Type="http://schemas.openxmlformats.org/officeDocument/2006/relationships/slide" Target="slides/slide838.xml"/><Relationship Id="rId845" Type="http://schemas.openxmlformats.org/officeDocument/2006/relationships/slide" Target="slides/slide839.xml"/><Relationship Id="rId846" Type="http://schemas.openxmlformats.org/officeDocument/2006/relationships/slide" Target="slides/slide840.xml"/><Relationship Id="rId847" Type="http://schemas.openxmlformats.org/officeDocument/2006/relationships/slide" Target="slides/slide841.xml"/><Relationship Id="rId848" Type="http://schemas.openxmlformats.org/officeDocument/2006/relationships/slide" Target="slides/slide842.xml"/><Relationship Id="rId849" Type="http://schemas.openxmlformats.org/officeDocument/2006/relationships/slide" Target="slides/slide843.xml"/><Relationship Id="rId850" Type="http://schemas.openxmlformats.org/officeDocument/2006/relationships/slide" Target="slides/slide844.xml"/><Relationship Id="rId851" Type="http://schemas.openxmlformats.org/officeDocument/2006/relationships/slide" Target="slides/slide845.xml"/><Relationship Id="rId852" Type="http://schemas.openxmlformats.org/officeDocument/2006/relationships/slide" Target="slides/slide846.xml"/><Relationship Id="rId853" Type="http://schemas.openxmlformats.org/officeDocument/2006/relationships/slide" Target="slides/slide847.xml"/><Relationship Id="rId854" Type="http://schemas.openxmlformats.org/officeDocument/2006/relationships/slide" Target="slides/slide848.xml"/><Relationship Id="rId855" Type="http://schemas.openxmlformats.org/officeDocument/2006/relationships/slide" Target="slides/slide849.xml"/><Relationship Id="rId856" Type="http://schemas.openxmlformats.org/officeDocument/2006/relationships/slide" Target="slides/slide850.xml"/><Relationship Id="rId857" Type="http://schemas.openxmlformats.org/officeDocument/2006/relationships/slide" Target="slides/slide851.xml"/><Relationship Id="rId858" Type="http://schemas.openxmlformats.org/officeDocument/2006/relationships/slide" Target="slides/slide852.xml"/><Relationship Id="rId859" Type="http://schemas.openxmlformats.org/officeDocument/2006/relationships/slide" Target="slides/slide853.xml"/><Relationship Id="rId860" Type="http://schemas.openxmlformats.org/officeDocument/2006/relationships/slide" Target="slides/slide854.xml"/><Relationship Id="rId861" Type="http://schemas.openxmlformats.org/officeDocument/2006/relationships/slide" Target="slides/slide855.xml"/><Relationship Id="rId862" Type="http://schemas.openxmlformats.org/officeDocument/2006/relationships/slide" Target="slides/slide856.xml"/><Relationship Id="rId863" Type="http://schemas.openxmlformats.org/officeDocument/2006/relationships/slide" Target="slides/slide857.xml"/><Relationship Id="rId864" Type="http://schemas.openxmlformats.org/officeDocument/2006/relationships/slide" Target="slides/slide858.xml"/><Relationship Id="rId865" Type="http://schemas.openxmlformats.org/officeDocument/2006/relationships/slide" Target="slides/slide859.xml"/><Relationship Id="rId866" Type="http://schemas.openxmlformats.org/officeDocument/2006/relationships/slide" Target="slides/slide860.xml"/><Relationship Id="rId867" Type="http://schemas.openxmlformats.org/officeDocument/2006/relationships/slide" Target="slides/slide861.xml"/><Relationship Id="rId868" Type="http://schemas.openxmlformats.org/officeDocument/2006/relationships/slide" Target="slides/slide862.xml"/><Relationship Id="rId869" Type="http://schemas.openxmlformats.org/officeDocument/2006/relationships/slide" Target="slides/slide863.xml"/><Relationship Id="rId870" Type="http://schemas.openxmlformats.org/officeDocument/2006/relationships/slide" Target="slides/slide864.xml"/><Relationship Id="rId871" Type="http://schemas.openxmlformats.org/officeDocument/2006/relationships/slide" Target="slides/slide865.xml"/><Relationship Id="rId872" Type="http://schemas.openxmlformats.org/officeDocument/2006/relationships/slide" Target="slides/slide866.xml"/><Relationship Id="rId873" Type="http://schemas.openxmlformats.org/officeDocument/2006/relationships/slide" Target="slides/slide867.xml"/><Relationship Id="rId874" Type="http://schemas.openxmlformats.org/officeDocument/2006/relationships/slide" Target="slides/slide868.xml"/><Relationship Id="rId875" Type="http://schemas.openxmlformats.org/officeDocument/2006/relationships/slide" Target="slides/slide869.xml"/><Relationship Id="rId876" Type="http://schemas.openxmlformats.org/officeDocument/2006/relationships/slide" Target="slides/slide870.xml"/><Relationship Id="rId877" Type="http://schemas.openxmlformats.org/officeDocument/2006/relationships/slide" Target="slides/slide871.xml"/><Relationship Id="rId878" Type="http://schemas.openxmlformats.org/officeDocument/2006/relationships/slide" Target="slides/slide872.xml"/><Relationship Id="rId879" Type="http://schemas.openxmlformats.org/officeDocument/2006/relationships/slide" Target="slides/slide873.xml"/><Relationship Id="rId880" Type="http://schemas.openxmlformats.org/officeDocument/2006/relationships/slide" Target="slides/slide874.xml"/><Relationship Id="rId881" Type="http://schemas.openxmlformats.org/officeDocument/2006/relationships/slide" Target="slides/slide875.xml"/><Relationship Id="rId882" Type="http://schemas.openxmlformats.org/officeDocument/2006/relationships/slide" Target="slides/slide876.xml"/><Relationship Id="rId883" Type="http://schemas.openxmlformats.org/officeDocument/2006/relationships/slide" Target="slides/slide877.xml"/><Relationship Id="rId884" Type="http://schemas.openxmlformats.org/officeDocument/2006/relationships/slide" Target="slides/slide878.xml"/><Relationship Id="rId885" Type="http://schemas.openxmlformats.org/officeDocument/2006/relationships/slide" Target="slides/slide879.xml"/><Relationship Id="rId886" Type="http://schemas.openxmlformats.org/officeDocument/2006/relationships/slide" Target="slides/slide880.xml"/><Relationship Id="rId887" Type="http://schemas.openxmlformats.org/officeDocument/2006/relationships/slide" Target="slides/slide881.xml"/><Relationship Id="rId888" Type="http://schemas.openxmlformats.org/officeDocument/2006/relationships/slide" Target="slides/slide882.xml"/><Relationship Id="rId889" Type="http://schemas.openxmlformats.org/officeDocument/2006/relationships/slide" Target="slides/slide883.xml"/><Relationship Id="rId890" Type="http://schemas.openxmlformats.org/officeDocument/2006/relationships/slide" Target="slides/slide884.xml"/><Relationship Id="rId891" Type="http://schemas.openxmlformats.org/officeDocument/2006/relationships/slide" Target="slides/slide885.xml"/><Relationship Id="rId892" Type="http://schemas.openxmlformats.org/officeDocument/2006/relationships/slide" Target="slides/slide886.xml"/><Relationship Id="rId893" Type="http://schemas.openxmlformats.org/officeDocument/2006/relationships/slide" Target="slides/slide887.xml"/><Relationship Id="rId894" Type="http://schemas.openxmlformats.org/officeDocument/2006/relationships/slide" Target="slides/slide888.xml"/><Relationship Id="rId895" Type="http://schemas.openxmlformats.org/officeDocument/2006/relationships/slide" Target="slides/slide889.xml"/><Relationship Id="rId896" Type="http://schemas.openxmlformats.org/officeDocument/2006/relationships/slide" Target="slides/slide890.xml"/><Relationship Id="rId897" Type="http://schemas.openxmlformats.org/officeDocument/2006/relationships/slide" Target="slides/slide891.xml"/><Relationship Id="rId898" Type="http://schemas.openxmlformats.org/officeDocument/2006/relationships/slide" Target="slides/slide892.xml"/><Relationship Id="rId899" Type="http://schemas.openxmlformats.org/officeDocument/2006/relationships/slide" Target="slides/slide893.xml"/><Relationship Id="rId900" Type="http://schemas.openxmlformats.org/officeDocument/2006/relationships/slide" Target="slides/slide894.xml"/><Relationship Id="rId901" Type="http://schemas.openxmlformats.org/officeDocument/2006/relationships/slide" Target="slides/slide895.xml"/><Relationship Id="rId902" Type="http://schemas.openxmlformats.org/officeDocument/2006/relationships/slide" Target="slides/slide896.xml"/><Relationship Id="rId903" Type="http://schemas.openxmlformats.org/officeDocument/2006/relationships/slide" Target="slides/slide897.xml"/><Relationship Id="rId904" Type="http://schemas.openxmlformats.org/officeDocument/2006/relationships/slide" Target="slides/slide898.xml"/><Relationship Id="rId905" Type="http://schemas.openxmlformats.org/officeDocument/2006/relationships/slide" Target="slides/slide899.xml"/><Relationship Id="rId906" Type="http://schemas.openxmlformats.org/officeDocument/2006/relationships/slide" Target="slides/slide900.xml"/><Relationship Id="rId907" Type="http://schemas.openxmlformats.org/officeDocument/2006/relationships/slide" Target="slides/slide901.xml"/><Relationship Id="rId908" Type="http://schemas.openxmlformats.org/officeDocument/2006/relationships/slide" Target="slides/slide902.xml"/><Relationship Id="rId909" Type="http://schemas.openxmlformats.org/officeDocument/2006/relationships/slide" Target="slides/slide903.xml"/><Relationship Id="rId910" Type="http://schemas.openxmlformats.org/officeDocument/2006/relationships/slide" Target="slides/slide904.xml"/><Relationship Id="rId911" Type="http://schemas.openxmlformats.org/officeDocument/2006/relationships/slide" Target="slides/slide905.xml"/><Relationship Id="rId912" Type="http://schemas.openxmlformats.org/officeDocument/2006/relationships/slide" Target="slides/slide906.xml"/><Relationship Id="rId913" Type="http://schemas.openxmlformats.org/officeDocument/2006/relationships/slide" Target="slides/slide907.xml"/><Relationship Id="rId914" Type="http://schemas.openxmlformats.org/officeDocument/2006/relationships/slide" Target="slides/slide908.xml"/><Relationship Id="rId915" Type="http://schemas.openxmlformats.org/officeDocument/2006/relationships/slide" Target="slides/slide909.xml"/><Relationship Id="rId916" Type="http://schemas.openxmlformats.org/officeDocument/2006/relationships/slide" Target="slides/slide910.xml"/><Relationship Id="rId917" Type="http://schemas.openxmlformats.org/officeDocument/2006/relationships/slide" Target="slides/slide911.xml"/><Relationship Id="rId918" Type="http://schemas.openxmlformats.org/officeDocument/2006/relationships/slide" Target="slides/slide912.xml"/><Relationship Id="rId919" Type="http://schemas.openxmlformats.org/officeDocument/2006/relationships/slide" Target="slides/slide913.xml"/><Relationship Id="rId920" Type="http://schemas.openxmlformats.org/officeDocument/2006/relationships/slide" Target="slides/slide914.xml"/><Relationship Id="rId921" Type="http://schemas.openxmlformats.org/officeDocument/2006/relationships/slide" Target="slides/slide915.xml"/><Relationship Id="rId922" Type="http://schemas.openxmlformats.org/officeDocument/2006/relationships/slide" Target="slides/slide916.xml"/><Relationship Id="rId923" Type="http://schemas.openxmlformats.org/officeDocument/2006/relationships/slide" Target="slides/slide917.xml"/><Relationship Id="rId924" Type="http://schemas.openxmlformats.org/officeDocument/2006/relationships/slide" Target="slides/slide918.xml"/><Relationship Id="rId925" Type="http://schemas.openxmlformats.org/officeDocument/2006/relationships/slide" Target="slides/slide919.xml"/><Relationship Id="rId926" Type="http://schemas.openxmlformats.org/officeDocument/2006/relationships/slide" Target="slides/slide920.xml"/><Relationship Id="rId927" Type="http://schemas.openxmlformats.org/officeDocument/2006/relationships/slide" Target="slides/slide921.xml"/><Relationship Id="rId928" Type="http://schemas.openxmlformats.org/officeDocument/2006/relationships/slide" Target="slides/slide922.xml"/><Relationship Id="rId929" Type="http://schemas.openxmlformats.org/officeDocument/2006/relationships/slide" Target="slides/slide923.xml"/><Relationship Id="rId930" Type="http://schemas.openxmlformats.org/officeDocument/2006/relationships/slide" Target="slides/slide924.xml"/><Relationship Id="rId931" Type="http://schemas.openxmlformats.org/officeDocument/2006/relationships/slide" Target="slides/slide925.xml"/><Relationship Id="rId932" Type="http://schemas.openxmlformats.org/officeDocument/2006/relationships/slide" Target="slides/slide926.xml"/><Relationship Id="rId933" Type="http://schemas.openxmlformats.org/officeDocument/2006/relationships/slide" Target="slides/slide927.xml"/><Relationship Id="rId934" Type="http://schemas.openxmlformats.org/officeDocument/2006/relationships/slide" Target="slides/slide928.xml"/><Relationship Id="rId935" Type="http://schemas.openxmlformats.org/officeDocument/2006/relationships/slide" Target="slides/slide929.xml"/><Relationship Id="rId936" Type="http://schemas.openxmlformats.org/officeDocument/2006/relationships/slide" Target="slides/slide930.xml"/><Relationship Id="rId937" Type="http://schemas.openxmlformats.org/officeDocument/2006/relationships/slide" Target="slides/slide931.xml"/><Relationship Id="rId938" Type="http://schemas.openxmlformats.org/officeDocument/2006/relationships/slide" Target="slides/slide932.xml"/><Relationship Id="rId939" Type="http://schemas.openxmlformats.org/officeDocument/2006/relationships/slide" Target="slides/slide933.xml"/><Relationship Id="rId940" Type="http://schemas.openxmlformats.org/officeDocument/2006/relationships/slide" Target="slides/slide934.xml"/><Relationship Id="rId941" Type="http://schemas.openxmlformats.org/officeDocument/2006/relationships/slide" Target="slides/slide935.xml"/><Relationship Id="rId942" Type="http://schemas.openxmlformats.org/officeDocument/2006/relationships/slide" Target="slides/slide936.xml"/><Relationship Id="rId943" Type="http://schemas.openxmlformats.org/officeDocument/2006/relationships/slide" Target="slides/slide937.xml"/><Relationship Id="rId944" Type="http://schemas.openxmlformats.org/officeDocument/2006/relationships/slide" Target="slides/slide938.xml"/><Relationship Id="rId945" Type="http://schemas.openxmlformats.org/officeDocument/2006/relationships/slide" Target="slides/slide939.xml"/><Relationship Id="rId946" Type="http://schemas.openxmlformats.org/officeDocument/2006/relationships/slide" Target="slides/slide940.xml"/><Relationship Id="rId947" Type="http://schemas.openxmlformats.org/officeDocument/2006/relationships/slide" Target="slides/slide941.xml"/><Relationship Id="rId948" Type="http://schemas.openxmlformats.org/officeDocument/2006/relationships/slide" Target="slides/slide942.xml"/><Relationship Id="rId949" Type="http://schemas.openxmlformats.org/officeDocument/2006/relationships/slide" Target="slides/slide943.xml"/><Relationship Id="rId950" Type="http://schemas.openxmlformats.org/officeDocument/2006/relationships/slide" Target="slides/slide944.xml"/><Relationship Id="rId951" Type="http://schemas.openxmlformats.org/officeDocument/2006/relationships/slide" Target="slides/slide945.xml"/><Relationship Id="rId952" Type="http://schemas.openxmlformats.org/officeDocument/2006/relationships/slide" Target="slides/slide946.xml"/><Relationship Id="rId953" Type="http://schemas.openxmlformats.org/officeDocument/2006/relationships/slide" Target="slides/slide947.xml"/><Relationship Id="rId954" Type="http://schemas.openxmlformats.org/officeDocument/2006/relationships/slide" Target="slides/slide948.xml"/><Relationship Id="rId955" Type="http://schemas.openxmlformats.org/officeDocument/2006/relationships/slide" Target="slides/slide949.xml"/><Relationship Id="rId956" Type="http://schemas.openxmlformats.org/officeDocument/2006/relationships/slide" Target="slides/slide950.xml"/><Relationship Id="rId957" Type="http://schemas.openxmlformats.org/officeDocument/2006/relationships/slide" Target="slides/slide951.xml"/><Relationship Id="rId958" Type="http://schemas.openxmlformats.org/officeDocument/2006/relationships/slide" Target="slides/slide952.xml"/><Relationship Id="rId959" Type="http://schemas.openxmlformats.org/officeDocument/2006/relationships/slide" Target="slides/slide953.xml"/><Relationship Id="rId960" Type="http://schemas.openxmlformats.org/officeDocument/2006/relationships/slide" Target="slides/slide954.xml"/><Relationship Id="rId961" Type="http://schemas.openxmlformats.org/officeDocument/2006/relationships/slide" Target="slides/slide955.xml"/><Relationship Id="rId962" Type="http://schemas.openxmlformats.org/officeDocument/2006/relationships/slide" Target="slides/slide956.xml"/><Relationship Id="rId963" Type="http://schemas.openxmlformats.org/officeDocument/2006/relationships/slide" Target="slides/slide957.xml"/><Relationship Id="rId964" Type="http://schemas.openxmlformats.org/officeDocument/2006/relationships/slide" Target="slides/slide958.xml"/><Relationship Id="rId965" Type="http://schemas.openxmlformats.org/officeDocument/2006/relationships/slide" Target="slides/slide959.xml"/><Relationship Id="rId966" Type="http://schemas.openxmlformats.org/officeDocument/2006/relationships/slide" Target="slides/slide960.xml"/><Relationship Id="rId967" Type="http://schemas.openxmlformats.org/officeDocument/2006/relationships/slide" Target="slides/slide961.xml"/><Relationship Id="rId968" Type="http://schemas.openxmlformats.org/officeDocument/2006/relationships/slide" Target="slides/slide962.xml"/><Relationship Id="rId969" Type="http://schemas.openxmlformats.org/officeDocument/2006/relationships/slide" Target="slides/slide963.xml"/><Relationship Id="rId970" Type="http://schemas.openxmlformats.org/officeDocument/2006/relationships/slide" Target="slides/slide964.xml"/><Relationship Id="rId971" Type="http://schemas.openxmlformats.org/officeDocument/2006/relationships/slide" Target="slides/slide965.xml"/><Relationship Id="rId972" Type="http://schemas.openxmlformats.org/officeDocument/2006/relationships/slide" Target="slides/slide966.xml"/><Relationship Id="rId973" Type="http://schemas.openxmlformats.org/officeDocument/2006/relationships/slide" Target="slides/slide967.xml"/><Relationship Id="rId974" Type="http://schemas.openxmlformats.org/officeDocument/2006/relationships/slide" Target="slides/slide968.xml"/><Relationship Id="rId975" Type="http://schemas.openxmlformats.org/officeDocument/2006/relationships/slide" Target="slides/slide969.xml"/><Relationship Id="rId976" Type="http://schemas.openxmlformats.org/officeDocument/2006/relationships/slide" Target="slides/slide970.xml"/><Relationship Id="rId977" Type="http://schemas.openxmlformats.org/officeDocument/2006/relationships/slide" Target="slides/slide971.xml"/><Relationship Id="rId978" Type="http://schemas.openxmlformats.org/officeDocument/2006/relationships/slide" Target="slides/slide972.xml"/><Relationship Id="rId979" Type="http://schemas.openxmlformats.org/officeDocument/2006/relationships/slide" Target="slides/slide973.xml"/><Relationship Id="rId980" Type="http://schemas.openxmlformats.org/officeDocument/2006/relationships/slide" Target="slides/slide974.xml"/><Relationship Id="rId981" Type="http://schemas.openxmlformats.org/officeDocument/2006/relationships/slide" Target="slides/slide975.xml"/><Relationship Id="rId982" Type="http://schemas.openxmlformats.org/officeDocument/2006/relationships/slide" Target="slides/slide976.xml"/><Relationship Id="rId983" Type="http://schemas.openxmlformats.org/officeDocument/2006/relationships/slide" Target="slides/slide977.xml"/><Relationship Id="rId984" Type="http://schemas.openxmlformats.org/officeDocument/2006/relationships/slide" Target="slides/slide978.xml"/><Relationship Id="rId985" Type="http://schemas.openxmlformats.org/officeDocument/2006/relationships/slide" Target="slides/slide979.xml"/><Relationship Id="rId986" Type="http://schemas.openxmlformats.org/officeDocument/2006/relationships/slide" Target="slides/slide980.xml"/><Relationship Id="rId987" Type="http://schemas.openxmlformats.org/officeDocument/2006/relationships/slide" Target="slides/slide981.xml"/><Relationship Id="rId988" Type="http://schemas.openxmlformats.org/officeDocument/2006/relationships/slide" Target="slides/slide982.xml"/><Relationship Id="rId989" Type="http://schemas.openxmlformats.org/officeDocument/2006/relationships/slide" Target="slides/slide983.xml"/><Relationship Id="rId990" Type="http://schemas.openxmlformats.org/officeDocument/2006/relationships/slide" Target="slides/slide984.xml"/><Relationship Id="rId991" Type="http://schemas.openxmlformats.org/officeDocument/2006/relationships/slide" Target="slides/slide985.xml"/><Relationship Id="rId992" Type="http://schemas.openxmlformats.org/officeDocument/2006/relationships/slide" Target="slides/slide986.xml"/><Relationship Id="rId993" Type="http://schemas.openxmlformats.org/officeDocument/2006/relationships/slide" Target="slides/slide987.xml"/><Relationship Id="rId994" Type="http://schemas.openxmlformats.org/officeDocument/2006/relationships/slide" Target="slides/slide988.xml"/><Relationship Id="rId995" Type="http://schemas.openxmlformats.org/officeDocument/2006/relationships/slide" Target="slides/slide989.xml"/><Relationship Id="rId996" Type="http://schemas.openxmlformats.org/officeDocument/2006/relationships/slide" Target="slides/slide990.xml"/><Relationship Id="rId997" Type="http://schemas.openxmlformats.org/officeDocument/2006/relationships/slide" Target="slides/slide991.xml"/><Relationship Id="rId998" Type="http://schemas.openxmlformats.org/officeDocument/2006/relationships/slide" Target="slides/slide992.xml"/><Relationship Id="rId999" Type="http://schemas.openxmlformats.org/officeDocument/2006/relationships/slide" Target="slides/slide993.xml"/><Relationship Id="rId1000" Type="http://schemas.openxmlformats.org/officeDocument/2006/relationships/slide" Target="slides/slide994.xml"/><Relationship Id="rId1001" Type="http://schemas.openxmlformats.org/officeDocument/2006/relationships/slide" Target="slides/slide995.xml"/><Relationship Id="rId1002" Type="http://schemas.openxmlformats.org/officeDocument/2006/relationships/slide" Target="slides/slide996.xml"/><Relationship Id="rId1003" Type="http://schemas.openxmlformats.org/officeDocument/2006/relationships/slide" Target="slides/slide997.xml"/><Relationship Id="rId1004" Type="http://schemas.openxmlformats.org/officeDocument/2006/relationships/slide" Target="slides/slide998.xml"/><Relationship Id="rId1005" Type="http://schemas.openxmlformats.org/officeDocument/2006/relationships/slide" Target="slides/slide999.xml"/><Relationship Id="rId1006" Type="http://schemas.openxmlformats.org/officeDocument/2006/relationships/slide" Target="slides/slide1000.xml"/><Relationship Id="rId1007" Type="http://schemas.openxmlformats.org/officeDocument/2006/relationships/slide" Target="slides/slide1001.xml"/><Relationship Id="rId1008" Type="http://schemas.openxmlformats.org/officeDocument/2006/relationships/slide" Target="slides/slide1002.xml"/><Relationship Id="rId1009" Type="http://schemas.openxmlformats.org/officeDocument/2006/relationships/slide" Target="slides/slide1003.xml"/><Relationship Id="rId1010" Type="http://schemas.openxmlformats.org/officeDocument/2006/relationships/slide" Target="slides/slide1004.xml"/><Relationship Id="rId1011" Type="http://schemas.openxmlformats.org/officeDocument/2006/relationships/slide" Target="slides/slide1005.xml"/><Relationship Id="rId1012" Type="http://schemas.openxmlformats.org/officeDocument/2006/relationships/slide" Target="slides/slide1006.xml"/><Relationship Id="rId1013" Type="http://schemas.openxmlformats.org/officeDocument/2006/relationships/slide" Target="slides/slide1007.xml"/><Relationship Id="rId1014" Type="http://schemas.openxmlformats.org/officeDocument/2006/relationships/slide" Target="slides/slide1008.xml"/><Relationship Id="rId1015" Type="http://schemas.openxmlformats.org/officeDocument/2006/relationships/slide" Target="slides/slide1009.xml"/><Relationship Id="rId1016" Type="http://schemas.openxmlformats.org/officeDocument/2006/relationships/slide" Target="slides/slide1010.xml"/><Relationship Id="rId1017" Type="http://schemas.openxmlformats.org/officeDocument/2006/relationships/slide" Target="slides/slide1011.xml"/><Relationship Id="rId1018" Type="http://schemas.openxmlformats.org/officeDocument/2006/relationships/slide" Target="slides/slide1012.xml"/><Relationship Id="rId1019" Type="http://schemas.openxmlformats.org/officeDocument/2006/relationships/slide" Target="slides/slide1013.xml"/><Relationship Id="rId1020" Type="http://schemas.openxmlformats.org/officeDocument/2006/relationships/slide" Target="slides/slide1014.xml"/><Relationship Id="rId1021" Type="http://schemas.openxmlformats.org/officeDocument/2006/relationships/slide" Target="slides/slide1015.xml"/><Relationship Id="rId1022" Type="http://schemas.openxmlformats.org/officeDocument/2006/relationships/slide" Target="slides/slide1016.xml"/><Relationship Id="rId1023" Type="http://schemas.openxmlformats.org/officeDocument/2006/relationships/slide" Target="slides/slide1017.xml"/><Relationship Id="rId1024" Type="http://schemas.openxmlformats.org/officeDocument/2006/relationships/slide" Target="slides/slide1018.xml"/><Relationship Id="rId1025" Type="http://schemas.openxmlformats.org/officeDocument/2006/relationships/slide" Target="slides/slide1019.xml"/><Relationship Id="rId1026" Type="http://schemas.openxmlformats.org/officeDocument/2006/relationships/slide" Target="slides/slide1020.xml"/><Relationship Id="rId1027" Type="http://schemas.openxmlformats.org/officeDocument/2006/relationships/slide" Target="slides/slide1021.xml"/><Relationship Id="rId1028" Type="http://schemas.openxmlformats.org/officeDocument/2006/relationships/slide" Target="slides/slide1022.xml"/><Relationship Id="rId1029" Type="http://schemas.openxmlformats.org/officeDocument/2006/relationships/slide" Target="slides/slide1023.xml"/><Relationship Id="rId1030" Type="http://schemas.openxmlformats.org/officeDocument/2006/relationships/slide" Target="slides/slide1024.xml"/><Relationship Id="rId1031" Type="http://schemas.openxmlformats.org/officeDocument/2006/relationships/slide" Target="slides/slide1025.xml"/><Relationship Id="rId1032" Type="http://schemas.openxmlformats.org/officeDocument/2006/relationships/slide" Target="slides/slide1026.xml"/><Relationship Id="rId1033" Type="http://schemas.openxmlformats.org/officeDocument/2006/relationships/slide" Target="slides/slide1027.xml"/><Relationship Id="rId1034" Type="http://schemas.openxmlformats.org/officeDocument/2006/relationships/slide" Target="slides/slide1028.xml"/><Relationship Id="rId1035" Type="http://schemas.openxmlformats.org/officeDocument/2006/relationships/slide" Target="slides/slide1029.xml"/><Relationship Id="rId1036" Type="http://schemas.openxmlformats.org/officeDocument/2006/relationships/slide" Target="slides/slide1030.xml"/><Relationship Id="rId1037" Type="http://schemas.openxmlformats.org/officeDocument/2006/relationships/slide" Target="slides/slide1031.xml"/><Relationship Id="rId1038" Type="http://schemas.openxmlformats.org/officeDocument/2006/relationships/slide" Target="slides/slide1032.xml"/><Relationship Id="rId1039" Type="http://schemas.openxmlformats.org/officeDocument/2006/relationships/slide" Target="slides/slide1033.xml"/><Relationship Id="rId1040" Type="http://schemas.openxmlformats.org/officeDocument/2006/relationships/slide" Target="slides/slide1034.xml"/><Relationship Id="rId1041" Type="http://schemas.openxmlformats.org/officeDocument/2006/relationships/slide" Target="slides/slide1035.xml"/><Relationship Id="rId1042" Type="http://schemas.openxmlformats.org/officeDocument/2006/relationships/slide" Target="slides/slide1036.xml"/><Relationship Id="rId1043" Type="http://schemas.openxmlformats.org/officeDocument/2006/relationships/slide" Target="slides/slide1037.xml"/><Relationship Id="rId1044" Type="http://schemas.openxmlformats.org/officeDocument/2006/relationships/slide" Target="slides/slide1038.xml"/><Relationship Id="rId1045" Type="http://schemas.openxmlformats.org/officeDocument/2006/relationships/slide" Target="slides/slide1039.xml"/><Relationship Id="rId1046" Type="http://schemas.openxmlformats.org/officeDocument/2006/relationships/slide" Target="slides/slide1040.xml"/><Relationship Id="rId1047" Type="http://schemas.openxmlformats.org/officeDocument/2006/relationships/slide" Target="slides/slide1041.xml"/><Relationship Id="rId1048" Type="http://schemas.openxmlformats.org/officeDocument/2006/relationships/slide" Target="slides/slide1042.xml"/><Relationship Id="rId1049" Type="http://schemas.openxmlformats.org/officeDocument/2006/relationships/slide" Target="slides/slide1043.xml"/><Relationship Id="rId1050" Type="http://schemas.openxmlformats.org/officeDocument/2006/relationships/slide" Target="slides/slide1044.xml"/><Relationship Id="rId1051" Type="http://schemas.openxmlformats.org/officeDocument/2006/relationships/slide" Target="slides/slide1045.xml"/><Relationship Id="rId1052" Type="http://schemas.openxmlformats.org/officeDocument/2006/relationships/slide" Target="slides/slide1046.xml"/><Relationship Id="rId1053" Type="http://schemas.openxmlformats.org/officeDocument/2006/relationships/slide" Target="slides/slide1047.xml"/><Relationship Id="rId1054" Type="http://schemas.openxmlformats.org/officeDocument/2006/relationships/slide" Target="slides/slide1048.xml"/><Relationship Id="rId1055" Type="http://schemas.openxmlformats.org/officeDocument/2006/relationships/slide" Target="slides/slide1049.xml"/><Relationship Id="rId1056" Type="http://schemas.openxmlformats.org/officeDocument/2006/relationships/slide" Target="slides/slide1050.xml"/><Relationship Id="rId1057" Type="http://schemas.openxmlformats.org/officeDocument/2006/relationships/slide" Target="slides/slide1051.xml"/><Relationship Id="rId1058" Type="http://schemas.openxmlformats.org/officeDocument/2006/relationships/slide" Target="slides/slide1052.xml"/><Relationship Id="rId1059" Type="http://schemas.openxmlformats.org/officeDocument/2006/relationships/slide" Target="slides/slide1053.xml"/><Relationship Id="rId1060" Type="http://schemas.openxmlformats.org/officeDocument/2006/relationships/slide" Target="slides/slide1054.xml"/><Relationship Id="rId1061" Type="http://schemas.openxmlformats.org/officeDocument/2006/relationships/slide" Target="slides/slide1055.xml"/><Relationship Id="rId1062" Type="http://schemas.openxmlformats.org/officeDocument/2006/relationships/slide" Target="slides/slide1056.xml"/><Relationship Id="rId1063" Type="http://schemas.openxmlformats.org/officeDocument/2006/relationships/slide" Target="slides/slide1057.xml"/><Relationship Id="rId1064" Type="http://schemas.openxmlformats.org/officeDocument/2006/relationships/slide" Target="slides/slide1058.xml"/><Relationship Id="rId1065" Type="http://schemas.openxmlformats.org/officeDocument/2006/relationships/slide" Target="slides/slide1059.xml"/><Relationship Id="rId1066" Type="http://schemas.openxmlformats.org/officeDocument/2006/relationships/slide" Target="slides/slide1060.xml"/><Relationship Id="rId1067" Type="http://schemas.openxmlformats.org/officeDocument/2006/relationships/slide" Target="slides/slide1061.xml"/><Relationship Id="rId1068" Type="http://schemas.openxmlformats.org/officeDocument/2006/relationships/slide" Target="slides/slide1062.xml"/><Relationship Id="rId1069" Type="http://schemas.openxmlformats.org/officeDocument/2006/relationships/slide" Target="slides/slide1063.xml"/><Relationship Id="rId1070" Type="http://schemas.openxmlformats.org/officeDocument/2006/relationships/slide" Target="slides/slide1064.xml"/><Relationship Id="rId1071" Type="http://schemas.openxmlformats.org/officeDocument/2006/relationships/slide" Target="slides/slide1065.xml"/><Relationship Id="rId1072" Type="http://schemas.openxmlformats.org/officeDocument/2006/relationships/slide" Target="slides/slide1066.xml"/><Relationship Id="rId1073" Type="http://schemas.openxmlformats.org/officeDocument/2006/relationships/slide" Target="slides/slide1067.xml"/><Relationship Id="rId1074" Type="http://schemas.openxmlformats.org/officeDocument/2006/relationships/slide" Target="slides/slide1068.xml"/><Relationship Id="rId1075" Type="http://schemas.openxmlformats.org/officeDocument/2006/relationships/slide" Target="slides/slide1069.xml"/><Relationship Id="rId1076" Type="http://schemas.openxmlformats.org/officeDocument/2006/relationships/slide" Target="slides/slide1070.xml"/><Relationship Id="rId1077" Type="http://schemas.openxmlformats.org/officeDocument/2006/relationships/slide" Target="slides/slide1071.xml"/><Relationship Id="rId1078" Type="http://schemas.openxmlformats.org/officeDocument/2006/relationships/slide" Target="slides/slide1072.xml"/><Relationship Id="rId1079" Type="http://schemas.openxmlformats.org/officeDocument/2006/relationships/slide" Target="slides/slide1073.xml"/><Relationship Id="rId1080" Type="http://schemas.openxmlformats.org/officeDocument/2006/relationships/slide" Target="slides/slide1074.xml"/><Relationship Id="rId1081" Type="http://schemas.openxmlformats.org/officeDocument/2006/relationships/slide" Target="slides/slide1075.xml"/><Relationship Id="rId1082" Type="http://schemas.openxmlformats.org/officeDocument/2006/relationships/slide" Target="slides/slide1076.xml"/><Relationship Id="rId1083" Type="http://schemas.openxmlformats.org/officeDocument/2006/relationships/slide" Target="slides/slide107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NS 01-001 - Fiches Cours</a:t>
            </a:r>
          </a:p>
        </p:txBody>
      </p:sp>
      <p:sp>
        <p:nvSpPr>
          <p:cNvPr id="3" name="Subtitle 2"/>
          <p:cNvSpPr>
            <a:spLocks noGrp="1"/>
          </p:cNvSpPr>
          <p:nvPr>
            <p:ph type="subTitle" idx="1"/>
          </p:nvPr>
        </p:nvSpPr>
        <p:spPr/>
        <p:txBody>
          <a:bodyPr/>
          <a:lstStyle/>
          <a:p>
            <a:r>
              <a:t>Generation automatique -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7. Règles pour les installations et emplacements spécifiques</a:t>
            </a:r>
          </a:p>
        </p:txBody>
      </p:sp>
      <p:sp>
        <p:nvSpPr>
          <p:cNvPr id="3" name="Content Placeholder 2"/>
          <p:cNvSpPr>
            <a:spLocks noGrp="1"/>
          </p:cNvSpPr>
          <p:nvPr>
            <p:ph idx="1"/>
          </p:nvPr>
        </p:nvSpPr>
        <p:spPr/>
        <p:txBody>
          <a:bodyPr/>
          <a:lstStyle/>
          <a:p>
            <a:pPr>
              <a:defRPr sz="1600"/>
            </a:pPr>
            <a:r>
              <a:t>- I -   INDEX ALPHABETIQUE  Les termes précédés d'un astérisque sont ceux désignant les classes d'influences externes définies à l’article 512.</a:t>
            </a:r>
          </a:p>
          <a:p>
            <a:pPr>
              <a:defRPr sz="1600"/>
            </a:pPr>
            <a:r>
              <a:t>2.</a:t>
            </a:r>
          </a:p>
          <a:p>
            <a:pPr>
              <a:defRPr sz="1600"/>
            </a:pPr>
            <a:r>
              <a:t>A la suite de chaque terme sont rappelées les lettres désignant la classe d'influence externe et le numéro de l'article correspondant.</a:t>
            </a:r>
          </a:p>
          <a:p>
            <a:pPr>
              <a:defRPr sz="1600"/>
            </a:pPr>
            <a:r>
              <a:t>Accessibilité.</a:t>
            </a:r>
          </a:p>
          <a:p>
            <a:pPr>
              <a:defRPr sz="1600"/>
            </a:pPr>
            <a:r>
              <a:t>Accessibles (parties).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462.1 et</a:t>
            </a:r>
          </a:p>
        </p:txBody>
      </p:sp>
      <p:sp>
        <p:nvSpPr>
          <p:cNvPr id="3" name="Content Placeholder 2"/>
          <p:cNvSpPr>
            <a:spLocks noGrp="1"/>
          </p:cNvSpPr>
          <p:nvPr>
            <p:ph idx="1"/>
          </p:nvPr>
        </p:nvSpPr>
        <p:spPr/>
        <p:txBody>
          <a:bodyPr/>
          <a:lstStyle/>
          <a:p>
            <a:pPr>
              <a:defRPr sz="1600"/>
            </a:pPr>
            <a:r>
              <a:t>536.</a:t>
            </a:r>
          </a:p>
          <a:p>
            <a:pPr>
              <a:defRPr sz="1600"/>
            </a:pPr>
            <a:r>
              <a:t>2.</a:t>
            </a:r>
          </a:p>
          <a:p>
            <a:pPr>
              <a:defRPr sz="1600"/>
            </a:pPr>
            <a:r>
              <a:t>1 463  Domaine d'application Compatibilité électromagnétique Locaux d’habitation Choix et mise en œuvre Normes Pose Utilisation Section Définition Types de schémas Sectionnement  Coupure d’urgence  - IX -   Conducteurs chargés.</a:t>
            </a:r>
          </a:p>
          <a:p>
            <a:pPr>
              <a:defRPr sz="1600"/>
            </a:pPr>
            <a:r>
              <a:t>Conducteurs de circuits différents.</a:t>
            </a:r>
          </a:p>
          <a:p>
            <a:pPr>
              <a:defRPr sz="1600"/>
            </a:pPr>
            <a:r>
              <a:t>Conducteurs isolés.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330.1.1 c)</a:t>
            </a:r>
          </a:p>
        </p:txBody>
      </p:sp>
      <p:sp>
        <p:nvSpPr>
          <p:cNvPr id="3" name="Content Placeholder 2"/>
          <p:cNvSpPr>
            <a:spLocks noGrp="1"/>
          </p:cNvSpPr>
          <p:nvPr>
            <p:ph idx="1"/>
          </p:nvPr>
        </p:nvSpPr>
        <p:spPr/>
        <p:txBody>
          <a:bodyPr/>
          <a:lstStyle/>
          <a:p>
            <a:pPr>
              <a:defRPr sz="1600"/>
            </a:pPr>
            <a:r>
              <a:t>- XI -  Index  Conception Définition Règles générales Emploi de DDR Conception Définition Règles générales Emploi de DDR Caractéristiques Règles Valeurs admissibles Limitation TN et TT Limitation IT Rupture du conducteur neutre Premier défaut en schéma IT Court-circuit phase-neutre Obligation en cas de schéma IT Choix Choix Règles générales Définition Modes de pose Courants admissibles dans les conducteurs Caractéristiques Caractéristiques Voir Fusibles Voir Barrières Règles générales Définition Conception des installations Règles Choix des dispositifs Locaux d'habitation Définition Règles Choix des dispositifs Définition Protection contre les surcharges Protection contre les courts-circuits Règles Valeurs  Définition Définition Caractéristiques de l'alimentation Protection contre les courts-circuits Dispense de protection contre les courts-circuits Coordination des dispositifs de protection Choix des dispositifs de protection Définition Protection par coupure automatique de l'alimentation Section des conducteurs de protection Définition Protection par coupure automatique de l'alimentation Voir démarrage moteurs Généralités   Courant différentiel-résiduel.</a:t>
            </a:r>
          </a:p>
          <a:p>
            <a:pPr>
              <a:defRPr sz="1600"/>
            </a:pPr>
            <a:r>
              <a:t>Courant d'emploi.</a:t>
            </a:r>
          </a:p>
          <a:p>
            <a:pPr>
              <a:defRPr sz="1600"/>
            </a:pPr>
            <a:r>
              <a:t>Courant de fuite.</a:t>
            </a:r>
          </a:p>
          <a:p>
            <a:pPr>
              <a:defRPr sz="1600"/>
            </a:pPr>
            <a:r>
              <a:t>Courants harmoniques.</a:t>
            </a:r>
          </a:p>
          <a:p>
            <a:pPr>
              <a:defRPr sz="1600"/>
            </a:pPr>
            <a:r>
              <a:t>Courants de surcharge.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330.1.1 d)</a:t>
            </a:r>
          </a:p>
        </p:txBody>
      </p:sp>
      <p:sp>
        <p:nvSpPr>
          <p:cNvPr id="3" name="Content Placeholder 2"/>
          <p:cNvSpPr>
            <a:spLocks noGrp="1"/>
          </p:cNvSpPr>
          <p:nvPr>
            <p:ph idx="1"/>
          </p:nvPr>
        </p:nvSpPr>
        <p:spPr/>
        <p:txBody>
          <a:bodyPr/>
          <a:lstStyle/>
          <a:p>
            <a:pPr>
              <a:defRPr sz="1600"/>
            </a:pPr>
            <a:r>
              <a:t>33 523.</a:t>
            </a:r>
          </a:p>
          <a:p>
            <a:pPr>
              <a:defRPr sz="1600"/>
            </a:pPr>
            <a:r>
              <a:t>5.</a:t>
            </a:r>
          </a:p>
          <a:p>
            <a:pPr>
              <a:defRPr sz="1600"/>
            </a:pPr>
            <a:r>
              <a:t>2 524.</a:t>
            </a:r>
          </a:p>
          <a:p>
            <a:pPr>
              <a:defRPr sz="1600"/>
            </a:pPr>
            <a:r>
              <a:t>2 252.</a:t>
            </a:r>
          </a:p>
          <a:p>
            <a:pPr>
              <a:defRPr sz="1600"/>
            </a:pPr>
            <a:r>
              <a:t>4 433 435 533.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330.1.1 d)</a:t>
            </a:r>
          </a:p>
        </p:txBody>
      </p:sp>
      <p:sp>
        <p:nvSpPr>
          <p:cNvPr id="3" name="Content Placeholder 2"/>
          <p:cNvSpPr>
            <a:spLocks noGrp="1"/>
          </p:cNvSpPr>
          <p:nvPr>
            <p:ph idx="1"/>
          </p:nvPr>
        </p:nvSpPr>
        <p:spPr/>
        <p:txBody>
          <a:bodyPr/>
          <a:lstStyle/>
          <a:p>
            <a:pPr>
              <a:defRPr sz="1600"/>
            </a:pPr>
            <a:r>
              <a:t>524.</a:t>
            </a:r>
          </a:p>
          <a:p>
            <a:pPr>
              <a:defRPr sz="1600"/>
            </a:pPr>
            <a:r>
              <a:t>2 559.</a:t>
            </a:r>
          </a:p>
          <a:p>
            <a:pPr>
              <a:defRPr sz="1600"/>
            </a:pPr>
            <a:r>
              <a:t>3 559.</a:t>
            </a:r>
          </a:p>
          <a:p>
            <a:pPr>
              <a:defRPr sz="1600"/>
            </a:pPr>
            <a:r>
              <a:t>5.</a:t>
            </a:r>
          </a:p>
          <a:p>
            <a:pPr>
              <a:defRPr sz="1600"/>
            </a:pPr>
            <a:r>
              <a:t>2 512.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330.1.1 d)</a:t>
            </a:r>
          </a:p>
        </p:txBody>
      </p:sp>
      <p:sp>
        <p:nvSpPr>
          <p:cNvPr id="3" name="Content Placeholder 2"/>
          <p:cNvSpPr>
            <a:spLocks noGrp="1"/>
          </p:cNvSpPr>
          <p:nvPr>
            <p:ph idx="1"/>
          </p:nvPr>
        </p:nvSpPr>
        <p:spPr/>
        <p:txBody>
          <a:bodyPr/>
          <a:lstStyle/>
          <a:p>
            <a:pPr>
              <a:defRPr sz="1600"/>
            </a:pPr>
            <a:r>
              <a:t>543.</a:t>
            </a:r>
          </a:p>
          <a:p>
            <a:pPr>
              <a:defRPr sz="1600"/>
            </a:pPr>
            <a:r>
              <a:t>4.</a:t>
            </a:r>
          </a:p>
          <a:p>
            <a:pPr>
              <a:defRPr sz="1600"/>
            </a:pPr>
            <a:r>
              <a:t>2 Câbles sans neutre isolé (PEN) - Repérage.</a:t>
            </a:r>
          </a:p>
          <a:p>
            <a:pPr>
              <a:defRPr sz="1600"/>
            </a:pPr>
            <a:r>
              <a:t>- Protection.</a:t>
            </a:r>
          </a:p>
          <a:p>
            <a:pPr>
              <a:defRPr sz="1600"/>
            </a:pPr>
            <a:r>
              <a:t>- Coupure.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330.1.1 d)</a:t>
            </a:r>
          </a:p>
        </p:txBody>
      </p:sp>
      <p:sp>
        <p:nvSpPr>
          <p:cNvPr id="3" name="Content Placeholder 2"/>
          <p:cNvSpPr>
            <a:spLocks noGrp="1"/>
          </p:cNvSpPr>
          <p:nvPr>
            <p:ph idx="1"/>
          </p:nvPr>
        </p:nvSpPr>
        <p:spPr/>
        <p:txBody>
          <a:bodyPr/>
          <a:lstStyle/>
          <a:p>
            <a:pPr>
              <a:defRPr sz="1600"/>
            </a:pPr>
            <a:r>
              <a:t>553.</a:t>
            </a:r>
          </a:p>
          <a:p>
            <a:pPr>
              <a:defRPr sz="1600"/>
            </a:pPr>
            <a:r>
              <a:t>1 514.</a:t>
            </a:r>
          </a:p>
          <a:p>
            <a:pPr>
              <a:defRPr sz="1600"/>
            </a:pPr>
            <a:r>
              <a:t>2 514.</a:t>
            </a:r>
          </a:p>
          <a:p>
            <a:pPr>
              <a:defRPr sz="1600"/>
            </a:pPr>
            <a:r>
              <a:t>3 51/Annexe B 514.</a:t>
            </a:r>
          </a:p>
          <a:p>
            <a:pPr>
              <a:defRPr sz="1600"/>
            </a:pPr>
            <a:r>
              <a:t>3 514 114 141 312 312.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612.6.1 a)</a:t>
            </a:r>
          </a:p>
        </p:txBody>
      </p:sp>
      <p:sp>
        <p:nvSpPr>
          <p:cNvPr id="3" name="Content Placeholder 2"/>
          <p:cNvSpPr>
            <a:spLocks noGrp="1"/>
          </p:cNvSpPr>
          <p:nvPr>
            <p:ph idx="1"/>
          </p:nvPr>
        </p:nvSpPr>
        <p:spPr/>
        <p:txBody>
          <a:bodyPr/>
          <a:lstStyle/>
          <a:p>
            <a:pPr>
              <a:defRPr sz="1600"/>
            </a:pPr>
            <a:r>
              <a:t>41/Annexe D1 Raccordement au réseau 442.</a:t>
            </a:r>
          </a:p>
          <a:p>
            <a:pPr>
              <a:defRPr sz="1600"/>
            </a:pPr>
            <a:r>
              <a:t>2.</a:t>
            </a:r>
          </a:p>
          <a:p>
            <a:pPr>
              <a:defRPr sz="1600"/>
            </a:pPr>
            <a:r>
              <a:t>4.</a:t>
            </a:r>
          </a:p>
          <a:p>
            <a:pPr>
              <a:defRPr sz="1600"/>
            </a:pPr>
            <a:r>
              <a:t>1 312.</a:t>
            </a:r>
          </a:p>
          <a:p>
            <a:pPr>
              <a:defRPr sz="1600"/>
            </a:pPr>
            <a:r>
              <a:t>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612.6.1 b)</a:t>
            </a:r>
          </a:p>
        </p:txBody>
      </p:sp>
      <p:sp>
        <p:nvSpPr>
          <p:cNvPr id="3" name="Content Placeholder 2"/>
          <p:cNvSpPr>
            <a:spLocks noGrp="1"/>
          </p:cNvSpPr>
          <p:nvPr>
            <p:ph idx="1"/>
          </p:nvPr>
        </p:nvSpPr>
        <p:spPr/>
        <p:txBody>
          <a:bodyPr/>
          <a:lstStyle/>
          <a:p>
            <a:pPr>
              <a:defRPr sz="1600"/>
            </a:pPr>
            <a:r>
              <a:t>442.</a:t>
            </a:r>
          </a:p>
          <a:p>
            <a:pPr>
              <a:defRPr sz="1600"/>
            </a:pPr>
            <a:r>
              <a:t>2.</a:t>
            </a:r>
          </a:p>
          <a:p>
            <a:pPr>
              <a:defRPr sz="1600"/>
            </a:pPr>
            <a:r>
              <a:t>4.</a:t>
            </a:r>
          </a:p>
          <a:p>
            <a:pPr>
              <a:defRPr sz="1600"/>
            </a:pPr>
            <a:r>
              <a:t>2 312.</a:t>
            </a:r>
          </a:p>
          <a:p>
            <a:pPr>
              <a:defRPr sz="1600"/>
            </a:pPr>
            <a:r>
              <a:t>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612.6.1 c)</a:t>
            </a:r>
          </a:p>
        </p:txBody>
      </p:sp>
      <p:sp>
        <p:nvSpPr>
          <p:cNvPr id="3" name="Content Placeholder 2"/>
          <p:cNvSpPr>
            <a:spLocks noGrp="1"/>
          </p:cNvSpPr>
          <p:nvPr>
            <p:ph idx="1"/>
          </p:nvPr>
        </p:nvSpPr>
        <p:spPr/>
        <p:txBody>
          <a:bodyPr/>
          <a:lstStyle/>
          <a:p>
            <a:pPr>
              <a:defRPr sz="1600"/>
            </a:pPr>
            <a:r>
              <a:t>442.</a:t>
            </a:r>
          </a:p>
          <a:p>
            <a:pPr>
              <a:defRPr sz="1600"/>
            </a:pPr>
            <a:r>
              <a:t>2.</a:t>
            </a:r>
          </a:p>
          <a:p>
            <a:pPr>
              <a:defRPr sz="1600"/>
            </a:pPr>
            <a:r>
              <a:t>4.</a:t>
            </a:r>
          </a:p>
          <a:p>
            <a:pPr>
              <a:defRPr sz="1600"/>
            </a:pPr>
            <a:r>
              <a:t>3 312.</a:t>
            </a:r>
          </a:p>
          <a:p>
            <a:pPr>
              <a:defRPr sz="1600"/>
            </a:pPr>
            <a:r>
              <a:t>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1 – Domaine d’application, objet et principes fondamentaux</a:t>
            </a:r>
          </a:p>
        </p:txBody>
      </p:sp>
      <p:sp>
        <p:nvSpPr>
          <p:cNvPr id="3" name="Content Placeholder 2"/>
          <p:cNvSpPr>
            <a:spLocks noGrp="1"/>
          </p:cNvSpPr>
          <p:nvPr>
            <p:ph idx="1"/>
          </p:nvPr>
        </p:nvSpPr>
        <p:spPr/>
        <p:txBody>
          <a:bodyPr/>
          <a:lstStyle/>
          <a:p>
            <a:pPr>
              <a:defRPr sz="1600"/>
            </a:pPr>
            <a:r>
              <a:t>11 DOMAINE D’APPLICATION.</a:t>
            </a:r>
          </a:p>
          <a:p>
            <a:pPr>
              <a:defRPr sz="1600"/>
            </a:pPr>
            <a:r>
              <a:t>2  12 OBJET.</a:t>
            </a:r>
          </a:p>
          <a:p>
            <a:pPr>
              <a:defRPr sz="1600"/>
            </a:pPr>
            <a:r>
              <a:t>5  13 PRINCIPES FONDAMENTAUX.</a:t>
            </a:r>
          </a:p>
          <a:p>
            <a:pPr>
              <a:defRPr sz="1600"/>
            </a:pPr>
            <a:r>
              <a:t>5 131 Protection pour assurer la sécurité.</a:t>
            </a:r>
          </a:p>
          <a:p>
            <a:pPr>
              <a:defRPr sz="1600"/>
            </a:pPr>
            <a:r>
              <a:t>5 132 Conception des installations électriques.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2.</a:t>
            </a:r>
          </a:p>
        </p:txBody>
      </p:sp>
      <p:sp>
        <p:nvSpPr>
          <p:cNvPr id="3" name="Content Placeholder 2"/>
          <p:cNvSpPr>
            <a:spLocks noGrp="1"/>
          </p:cNvSpPr>
          <p:nvPr>
            <p:ph idx="1"/>
          </p:nvPr>
        </p:nvSpPr>
        <p:spPr/>
        <p:txBody>
          <a:bodyPr/>
          <a:lstStyle/>
          <a:p>
            <a:pPr>
              <a:defRPr sz="1600"/>
            </a:pPr>
            <a:r>
              <a:t>13 PRINCIPES FONDAMENTAUX  131 Protection pour assurer la sécurité  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131.1 Généralités</a:t>
            </a:r>
          </a:p>
        </p:txBody>
      </p:sp>
      <p:sp>
        <p:nvSpPr>
          <p:cNvPr id="3" name="Content Placeholder 2"/>
          <p:cNvSpPr>
            <a:spLocks noGrp="1"/>
          </p:cNvSpPr>
          <p:nvPr>
            <p:ph idx="1"/>
          </p:nvPr>
        </p:nvSpPr>
        <p:spPr/>
        <p:txBody>
          <a:bodyPr/>
          <a:lstStyle/>
          <a:p>
            <a:pPr>
              <a:defRPr sz="1600"/>
            </a:pPr>
            <a:r>
              <a:t>Les règles énoncées dans la présente section sont destinées à assurer la sécurité des personnes, des animaux domestiques et des biens contre les dangers et dommages pouvant résulter de l'utilisation normale de ces installations.</a:t>
            </a:r>
          </a:p>
          <a:p>
            <a:pPr>
              <a:defRPr sz="1600"/>
            </a:pPr>
            <a:r>
              <a:t>NOTE – Deux principales sortes de dangers sont à craindre dans les installations électriques : - -  les courants de choc ; les températures trop élevées susceptibles de provoquer des brûlures, des incendies ou d'autres effets dangereux.</a:t>
            </a:r>
          </a:p>
          <a:p>
            <a:pPr>
              <a:defRPr sz="1600"/>
            </a:pPr>
            <a:r>
              <a:t>Ces règles sont développées dans les différentes parties 4 de la norme.</a:t>
            </a:r>
          </a:p>
          <a:p>
            <a:pPr>
              <a:defRPr sz="1600"/>
            </a:pPr>
            <a:r>
              <a:t>- 5 -   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131.2.1 Protection contre les contacts directs</a:t>
            </a:r>
          </a:p>
        </p:txBody>
      </p:sp>
      <p:sp>
        <p:nvSpPr>
          <p:cNvPr id="3" name="Content Placeholder 2"/>
          <p:cNvSpPr>
            <a:spLocks noGrp="1"/>
          </p:cNvSpPr>
          <p:nvPr>
            <p:ph idx="1"/>
          </p:nvPr>
        </p:nvSpPr>
        <p:spPr/>
        <p:txBody>
          <a:bodyPr/>
          <a:lstStyle/>
          <a:p>
            <a:pPr>
              <a:defRPr sz="1600"/>
            </a:pPr>
            <a:r>
              <a:t>Les personnes et les animaux domestiques doivent être protégés contre les dangers pouvant résulter d'un contact avec les parties actives de l'installation.</a:t>
            </a:r>
          </a:p>
          <a:p>
            <a:pPr>
              <a:defRPr sz="1600"/>
            </a:pPr>
            <a:r>
              <a:t>Cette protection peut être assurée selon l'une des méthodes énumérées ci-après :  - disposition empêchant un courant de traverser le corps humain ou le corps d'un animal ; -  limitation du courant pouvant traverser le corps.</a:t>
            </a:r>
          </a:p>
          <a:p>
            <a:pPr>
              <a:defRPr sz="1600"/>
            </a:pPr>
            <a:r>
              <a:t>Les dispositions de protection contre les contacts directs sont décrites en annexe A.</a:t>
            </a:r>
          </a:p>
          <a:p>
            <a:pPr>
              <a:defRPr sz="1600"/>
            </a:pPr>
            <a:r>
              <a:t>1 de la partie 4-41.</a:t>
            </a:r>
          </a:p>
          <a:p>
            <a:pPr>
              <a:defRPr sz="1600"/>
            </a:pPr>
            <a:r>
              <a: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131.2.2 Protection contre les contacts indirects</a:t>
            </a:r>
          </a:p>
        </p:txBody>
      </p:sp>
      <p:sp>
        <p:nvSpPr>
          <p:cNvPr id="3" name="Content Placeholder 2"/>
          <p:cNvSpPr>
            <a:spLocks noGrp="1"/>
          </p:cNvSpPr>
          <p:nvPr>
            <p:ph idx="1"/>
          </p:nvPr>
        </p:nvSpPr>
        <p:spPr/>
        <p:txBody>
          <a:bodyPr/>
          <a:lstStyle/>
          <a:p>
            <a:pPr>
              <a:defRPr sz="1600"/>
            </a:pPr>
            <a:r>
              <a:t>Les personnes et les animaux domestiques doivent être protégés contre les dangers pouvant résulter d'un contact avec des masses en cas de défaut.</a:t>
            </a:r>
          </a:p>
          <a:p>
            <a:pPr>
              <a:defRPr sz="1600"/>
            </a:pPr>
            <a:r>
              <a:t>Cette protection peut être assurée selon l'une des méthodes énumérées ci-après :  -  - -  disposition empêchant un courant de défaut de traverser le corps humain ou le corps d'un animal domestique ; limitation du courant de défaut pouvant traverser le corps ; coupure automatique dans un temps déterminé dès l'apparition d'un défaut susceptible de donner lieu, en cas de contact avec des masses, au passage à travers le corps d’un courant.</a:t>
            </a:r>
          </a:p>
          <a:p>
            <a:pPr>
              <a:defRPr sz="1600"/>
            </a:pPr>
            <a:r>
              <a:t>NOTE – En liaison avec la protection contre les contacts indirects, l'utilisation de liaisons équipotentielles constitue un principe fondamental de sécurité.</a:t>
            </a:r>
          </a:p>
          <a:p>
            <a:pPr>
              <a:defRPr sz="1600"/>
            </a:pPr>
            <a:r>
              <a:t>Les dispositions de protection contre les contacts indirects sont décrites dans la partie 4-41.</a:t>
            </a:r>
          </a:p>
          <a:p>
            <a:pPr>
              <a:defRPr sz="1600"/>
            </a:pPr>
            <a:r>
              <a:t>Par définition, les contacts indirects se réfèrent au contact avec des masses, mais les mesures de protection contre les contacts indirects sont destinées à protéger les personnes contre les dangers pouvant résulter d'un contact non seulement avec les masses proprement dites mais aussi avec toute partie conductrice en contact avec des masses.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131.3 Protection contre les effets thermiques</a:t>
            </a:r>
          </a:p>
        </p:txBody>
      </p:sp>
      <p:sp>
        <p:nvSpPr>
          <p:cNvPr id="3" name="Content Placeholder 2"/>
          <p:cNvSpPr>
            <a:spLocks noGrp="1"/>
          </p:cNvSpPr>
          <p:nvPr>
            <p:ph idx="1"/>
          </p:nvPr>
        </p:nvSpPr>
        <p:spPr/>
        <p:txBody>
          <a:bodyPr/>
          <a:lstStyle/>
          <a:p>
            <a:pPr>
              <a:defRPr sz="1600"/>
            </a:pPr>
            <a:r>
              <a:t>L'installation électrique doit être disposée de manière à exclure tout risque d'inflammation de matières inflammables dû à des températures élevées ou à des arcs électriques.</a:t>
            </a:r>
          </a:p>
          <a:p>
            <a:pPr>
              <a:defRPr sz="1600"/>
            </a:pPr>
            <a:r>
              <a:t>En outre, en service normal, les personnes et les animaux domestiques ne doivent encourir aucun risque de brûlure.</a:t>
            </a:r>
          </a:p>
          <a:p>
            <a:pPr>
              <a:defRPr sz="1600"/>
            </a:pPr>
            <a:r>
              <a:t>Les dispositions permettant d'assurer la protection contre les effets thermiques en service normal sont indiquées dans la partie 4-42.</a:t>
            </a:r>
          </a:p>
          <a:p>
            <a:pPr>
              <a:defRPr sz="1600"/>
            </a:pPr>
            <a:r>
              <a: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131.4 Protection contre les surintensités</a:t>
            </a:r>
          </a:p>
        </p:txBody>
      </p:sp>
      <p:sp>
        <p:nvSpPr>
          <p:cNvPr id="3" name="Content Placeholder 2"/>
          <p:cNvSpPr>
            <a:spLocks noGrp="1"/>
          </p:cNvSpPr>
          <p:nvPr>
            <p:ph idx="1"/>
          </p:nvPr>
        </p:nvSpPr>
        <p:spPr/>
        <p:txBody>
          <a:bodyPr/>
          <a:lstStyle/>
          <a:p>
            <a:pPr>
              <a:defRPr sz="1600"/>
            </a:pPr>
            <a:r>
              <a:t>Les personnes, les animaux domestiques et les biens doivent être protégés contre les dommages de températures trop élevées ou de contraintes mécaniques dues à des surintensités susceptibles de se produire dans les conducteurs actifs.</a:t>
            </a:r>
          </a:p>
          <a:p>
            <a:pPr>
              <a:defRPr sz="1600"/>
            </a:pPr>
            <a:r>
              <a:t>Cette protection peut être assurée selon l'une des méthodes énumérées ci-après :  - coupure automatique avant que la surintensité n'atteigne une valeur dangereuse compte  tenu de sa durée ; limitation de la surintensité maximale à une valeur sûre compte tenu de sa durée.</a:t>
            </a:r>
          </a:p>
          <a:p>
            <a:pPr>
              <a:defRPr sz="1600"/>
            </a:pPr>
            <a:r>
              <a:t>-  - 6 -   Les règles permettant d'assurer la protection contre les surintensités sont décrites en partie 4- 43 de la norme :  - article 433 pour la protection contre les surcharges ; - article 434 pour la protection contre les courts-circuits.</a:t>
            </a:r>
          </a:p>
          <a:p>
            <a:pPr>
              <a:defRPr sz="1600"/>
            </a:pPr>
            <a:r>
              <a: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131.5 Protection contre les courants de défaut</a:t>
            </a:r>
          </a:p>
        </p:txBody>
      </p:sp>
      <p:sp>
        <p:nvSpPr>
          <p:cNvPr id="3" name="Content Placeholder 2"/>
          <p:cNvSpPr>
            <a:spLocks noGrp="1"/>
          </p:cNvSpPr>
          <p:nvPr>
            <p:ph idx="1"/>
          </p:nvPr>
        </p:nvSpPr>
        <p:spPr/>
        <p:txBody>
          <a:bodyPr/>
          <a:lstStyle/>
          <a:p>
            <a:pPr>
              <a:defRPr sz="1600"/>
            </a:pPr>
            <a:r>
              <a:t>Les conducteurs, autres que les conducteurs actifs, et les autres parties destinées à l'écoulement des courants de défaut doivent pouvoir supporter ces courants sans atteindre des températures trop élevées.</a:t>
            </a:r>
          </a:p>
          <a:p>
            <a:pPr>
              <a:defRPr sz="1600"/>
            </a:pPr>
            <a:r>
              <a:t>NOTES - 1 - Il convient d'accorder une attention particulière aux courants de défaut à la terre et aux courants de fuite.</a:t>
            </a:r>
          </a:p>
          <a:p>
            <a:pPr>
              <a:defRPr sz="1600"/>
            </a:pPr>
            <a:r>
              <a:t>2 - Pour les conducteurs actifs, la conformité avec 131.</a:t>
            </a:r>
          </a:p>
          <a:p>
            <a:pPr>
              <a:defRPr sz="1600"/>
            </a:pPr>
            <a:r>
              <a:t>4 assure leur protection contre les surintensités résultant de défauts.</a:t>
            </a:r>
          </a:p>
          <a:p>
            <a:pPr>
              <a:defRPr sz="1600"/>
            </a:pPr>
            <a:r>
              <a:t>Les règles permettant d'assurer la protection contre les courants de défaut sont décrites en partie 5-54, et notamment en 543.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131.6.1 Les personnes, les animaux domestiques et les biens doivent être protégés contre les</a:t>
            </a:r>
          </a:p>
        </p:txBody>
      </p:sp>
      <p:sp>
        <p:nvSpPr>
          <p:cNvPr id="3" name="Content Placeholder 2"/>
          <p:cNvSpPr>
            <a:spLocks noGrp="1"/>
          </p:cNvSpPr>
          <p:nvPr>
            <p:ph idx="1"/>
          </p:nvPr>
        </p:nvSpPr>
        <p:spPr/>
        <p:txBody>
          <a:bodyPr/>
          <a:lstStyle/>
          <a:p>
            <a:pPr>
              <a:defRPr sz="1600"/>
            </a:pPr>
            <a:r>
              <a:t>conséquences néfastes d'un défaut entre les parties actives des circuits alimentés à des tensions différentes.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131.6.2 Les personnes, les animaux domestiques et les biens doivent être protégés contre les</a:t>
            </a:r>
          </a:p>
        </p:txBody>
      </p:sp>
      <p:sp>
        <p:nvSpPr>
          <p:cNvPr id="3" name="Content Placeholder 2"/>
          <p:cNvSpPr>
            <a:spLocks noGrp="1"/>
          </p:cNvSpPr>
          <p:nvPr>
            <p:ph idx="1"/>
          </p:nvPr>
        </p:nvSpPr>
        <p:spPr/>
        <p:txBody>
          <a:bodyPr/>
          <a:lstStyle/>
          <a:p>
            <a:pPr>
              <a:defRPr sz="1600"/>
            </a:pPr>
            <a:r>
              <a:t>conséquences néfastes de surtensions dues à d'autres causes lorsque de telles surtensions sont susceptibles de se produire (phénomènes atmosphériques, surtensions de manœuvre, etc.</a:t>
            </a:r>
          </a:p>
          <a:p>
            <a:pPr>
              <a:defRPr sz="1600"/>
            </a:pPr>
            <a:r>
              <a:t>) lorsque le risque est inacceptable.</a:t>
            </a:r>
          </a:p>
          <a:p>
            <a:pPr>
              <a:defRPr sz="1600"/>
            </a:pPr>
            <a:r>
              <a:t>Les règles permettant d'assurer la protection contre les surtensions sont décrites en partie 4- 44 :  - article 442 pour les surtensions à fréquence industrielle ; - article 443 pour les surtensions d'origine atmosphérique ou dues à des manœuvres.</a:t>
            </a:r>
          </a:p>
          <a:p>
            <a:pPr>
              <a:defRPr sz="1600"/>
            </a:pPr>
            <a:r>
              <a:t>H  H  132 Conception des installations électriques.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132.1 Généralités</a:t>
            </a:r>
          </a:p>
        </p:txBody>
      </p:sp>
      <p:sp>
        <p:nvSpPr>
          <p:cNvPr id="3" name="Content Placeholder 2"/>
          <p:cNvSpPr>
            <a:spLocks noGrp="1"/>
          </p:cNvSpPr>
          <p:nvPr>
            <p:ph idx="1"/>
          </p:nvPr>
        </p:nvSpPr>
        <p:spPr/>
        <p:txBody>
          <a:bodyPr/>
          <a:lstStyle/>
          <a:p>
            <a:pPr>
              <a:defRPr sz="1600"/>
            </a:pPr>
            <a:r>
              <a:t>Lors de la conception d’une installation électrique, les facteurs suivants doivent être pris en compte pour assurer :  - -  la protection des personnes, des animaux domestiques et des biens conformément à 131 ; le fonctionnement satisfaisant de l'installation électrique en fonction de l'utilisation prévue.</a:t>
            </a:r>
          </a:p>
          <a:p>
            <a:pPr>
              <a:defRPr sz="1600"/>
            </a:pPr>
            <a:r>
              <a:t>Les indications nécessaires pour la conception de l'installation électrique sont énumérées dans les paragraphes 132.</a:t>
            </a:r>
          </a:p>
          <a:p>
            <a:pPr>
              <a:defRPr sz="1600"/>
            </a:pPr>
            <a:r>
              <a:t>2 à 132.</a:t>
            </a:r>
          </a:p>
          <a:p>
            <a:pPr>
              <a:defRPr sz="1600"/>
            </a:pPr>
            <a:r>
              <a:t>5.</a:t>
            </a:r>
          </a:p>
          <a:p>
            <a:pPr>
              <a:defRPr sz="1600"/>
            </a:pPr>
            <a:r>
              <a:t>Les prescriptions auxquelles doit répondre la conception de l'installation électrique font l'objet des paragraphes 132.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132.2.1 Nature du courant : courant alternatif ou courant continu</a:t>
            </a:r>
          </a:p>
        </p:txBody>
      </p:sp>
      <p:sp>
        <p:nvSpPr>
          <p:cNvPr id="3" name="Content Placeholder 2"/>
          <p:cNvSpPr>
            <a:spLocks noGrp="1"/>
          </p:cNvSpPr>
          <p:nvPr>
            <p:ph idx="1"/>
          </p:nvPr>
        </p:nvSpPr>
        <p:spPr/>
        <p:txBody>
          <a:bodyPr/>
          <a:lstStyle/>
          <a:p>
            <a:pPr>
              <a:defRPr sz="1600"/>
            </a:pPr>
            <a:r>
              <a:t>- 7 -   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132.2.2 Nature et nombre de conducteurs :</a:t>
            </a:r>
          </a:p>
        </p:txBody>
      </p:sp>
      <p:sp>
        <p:nvSpPr>
          <p:cNvPr id="3" name="Content Placeholder 2"/>
          <p:cNvSpPr>
            <a:spLocks noGrp="1"/>
          </p:cNvSpPr>
          <p:nvPr>
            <p:ph idx="1"/>
          </p:nvPr>
        </p:nvSpPr>
        <p:spPr/>
        <p:txBody>
          <a:bodyPr/>
          <a:lstStyle/>
          <a:p>
            <a:pPr>
              <a:defRPr sz="1600"/>
            </a:pPr>
            <a:r>
              <a:t>– Courant alternatif :  conducteur(s) de phase ; conducteur neutre ; conducteur de protection ;  – Courant continu :  conducteurs équivalents à ceux qui sont énumérés ci-dessus.</a:t>
            </a:r>
          </a:p>
          <a:p>
            <a:pPr>
              <a:defRPr sz="1600"/>
            </a:pPr>
            <a:r>
              <a:t>Les règles relatives à la détermination des caractéristiques de l'alimentation sont données en 3-31.</a:t>
            </a:r>
          </a:p>
          <a:p>
            <a:pPr>
              <a:defRPr sz="1600"/>
            </a:pPr>
            <a:r>
              <a: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132.2.3 Valeurs caractéristiques et tolérances :</a:t>
            </a:r>
          </a:p>
        </p:txBody>
      </p:sp>
      <p:sp>
        <p:nvSpPr>
          <p:cNvPr id="3" name="Content Placeholder 2"/>
          <p:cNvSpPr>
            <a:spLocks noGrp="1"/>
          </p:cNvSpPr>
          <p:nvPr>
            <p:ph idx="1"/>
          </p:nvPr>
        </p:nvSpPr>
        <p:spPr/>
        <p:txBody>
          <a:bodyPr/>
          <a:lstStyle/>
          <a:p>
            <a:pPr>
              <a:defRPr sz="1600"/>
            </a:pPr>
            <a:r>
              <a:t>- - - -  tensions et tolérances ; fréquences et tolérances ; courant maximal admissible ; courant présumé de court-circuit.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132.2.4 Schéma des liaisons à la terre et autres conditions inhérentes à l'alimentation</a:t>
            </a:r>
          </a:p>
        </p:txBody>
      </p:sp>
      <p:sp>
        <p:nvSpPr>
          <p:cNvPr id="3" name="Content Placeholder 2"/>
          <p:cNvSpPr>
            <a:spLocks noGrp="1"/>
          </p:cNvSpPr>
          <p:nvPr>
            <p:ph idx="1"/>
          </p:nvPr>
        </p:nvSpPr>
        <p:spPr/>
        <p:txBody>
          <a:bodyPr/>
          <a:lstStyle/>
          <a:p>
            <a:pPr>
              <a:defRPr sz="1600"/>
            </a:pPr>
            <a:r>
              <a:t>relatives à la protection.</a:t>
            </a:r>
          </a:p>
          <a:p>
            <a:pPr>
              <a:defRPr sz="1600"/>
            </a:pPr>
            <a:r>
              <a:t>Les différents schémas des liaisons à la terre sont décrits en 312.</a:t>
            </a:r>
          </a:p>
          <a:p>
            <a:pPr>
              <a:defRPr sz="1600"/>
            </a:pPr>
            <a:r>
              <a:t>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132.2.5 Exigences particulières du distributeur d'énergie électrique</a:t>
            </a:r>
          </a:p>
        </p:txBody>
      </p:sp>
      <p:sp>
        <p:nvSpPr>
          <p:cNvPr id="3" name="Content Placeholder 2"/>
          <p:cNvSpPr>
            <a:spLocks noGrp="1"/>
          </p:cNvSpPr>
          <p:nvPr>
            <p:ph idx="1"/>
          </p:nvPr>
        </p:nvSpPr>
        <p:spPr/>
        <p:txBody>
          <a:bodyPr/>
          <a:lstStyle/>
          <a:p>
            <a:pPr>
              <a:defRPr sz="1600"/>
            </a:pPr>
            <a:r>
              <a:t>Voir les normes NF C 14-100 et NF C 13-100.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132.3 Nature de la demande</a:t>
            </a:r>
          </a:p>
        </p:txBody>
      </p:sp>
      <p:sp>
        <p:nvSpPr>
          <p:cNvPr id="3" name="Content Placeholder 2"/>
          <p:cNvSpPr>
            <a:spLocks noGrp="1"/>
          </p:cNvSpPr>
          <p:nvPr>
            <p:ph idx="1"/>
          </p:nvPr>
        </p:nvSpPr>
        <p:spPr/>
        <p:txBody>
          <a:bodyPr/>
          <a:lstStyle/>
          <a:p>
            <a:pPr>
              <a:defRPr sz="1600"/>
            </a:pPr>
            <a:r>
              <a:t>Le nombre, le type et la section des circuits nécessaires pour l'éclairage, le chauffage, la force motrice, la commande, la signalisation, les réseaux de communication et de technologie de l’information, etc.</a:t>
            </a:r>
          </a:p>
          <a:p>
            <a:pPr>
              <a:defRPr sz="1600"/>
            </a:pPr>
            <a:r>
              <a:t>, sont déterminés sur la base des indications suivantes :  - -  - - -  points de consommation de la demande d'énergie électrique ; courant d’emploi IB ; Voir 311.</a:t>
            </a:r>
          </a:p>
          <a:p>
            <a:pPr>
              <a:defRPr sz="1600"/>
            </a:pPr>
            <a:r>
              <a:t>3 pour sa détermination.</a:t>
            </a:r>
          </a:p>
          <a:p>
            <a:pPr>
              <a:defRPr sz="1600"/>
            </a:pPr>
            <a:r>
              <a:t>variation journalière et annuelle de la demande ; conditions particulières ; installations de commande, de signalisation, de réseaux de communication et de technologie de l’information, etc.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132.4 Alimentation de sécurité ou de remplacement</a:t>
            </a:r>
          </a:p>
        </p:txBody>
      </p:sp>
      <p:sp>
        <p:nvSpPr>
          <p:cNvPr id="3" name="Content Placeholder 2"/>
          <p:cNvSpPr>
            <a:spLocks noGrp="1"/>
          </p:cNvSpPr>
          <p:nvPr>
            <p:ph idx="1"/>
          </p:nvPr>
        </p:nvSpPr>
        <p:spPr/>
        <p:txBody>
          <a:bodyPr/>
          <a:lstStyle/>
          <a:p>
            <a:pPr>
              <a:defRPr sz="1600"/>
            </a:pPr>
            <a:r>
              <a:t>-  -  sources (nature, caractéristiques) ;  circuits alimentés par la source de sécurité.</a:t>
            </a:r>
          </a:p>
          <a:p>
            <a:pPr>
              <a:defRPr sz="1600"/>
            </a:pPr>
            <a:r>
              <a:t>H  H  H  H  Les règles relatives aux alimentations de sécurité ou de remplacement sont données en 313.</a:t>
            </a:r>
          </a:p>
          <a:p>
            <a:pPr>
              <a:defRPr sz="1600"/>
            </a:pPr>
            <a:r>
              <a:t>2 et en 35 et 56.</a:t>
            </a:r>
          </a:p>
          <a:p>
            <a:pPr>
              <a:defRPr sz="1600"/>
            </a:pPr>
            <a:r>
              <a: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132.5 Conditions d'environnement</a:t>
            </a:r>
          </a:p>
        </p:txBody>
      </p:sp>
      <p:sp>
        <p:nvSpPr>
          <p:cNvPr id="3" name="Content Placeholder 2"/>
          <p:cNvSpPr>
            <a:spLocks noGrp="1"/>
          </p:cNvSpPr>
          <p:nvPr>
            <p:ph idx="1"/>
          </p:nvPr>
        </p:nvSpPr>
        <p:spPr/>
        <p:txBody>
          <a:bodyPr/>
          <a:lstStyle/>
          <a:p>
            <a:pPr>
              <a:defRPr sz="1600"/>
            </a:pPr>
            <a:r>
              <a:t>Voir 512 de la présente norme.</a:t>
            </a:r>
          </a:p>
          <a:p>
            <a:pPr>
              <a:defRPr sz="1600"/>
            </a:pPr>
            <a:r>
              <a:t>Les conditions d'environnement dans les différents locaux (ou emplacements) sont données dans le guide UTE C 15-103.</a:t>
            </a:r>
          </a:p>
          <a:p>
            <a:pPr>
              <a:defRPr sz="1600"/>
            </a:pPr>
            <a:r>
              <a:t>- 8 -   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132.6 Section des conducteurs</a:t>
            </a:r>
          </a:p>
        </p:txBody>
      </p:sp>
      <p:sp>
        <p:nvSpPr>
          <p:cNvPr id="3" name="Content Placeholder 2"/>
          <p:cNvSpPr>
            <a:spLocks noGrp="1"/>
          </p:cNvSpPr>
          <p:nvPr>
            <p:ph idx="1"/>
          </p:nvPr>
        </p:nvSpPr>
        <p:spPr/>
        <p:txBody>
          <a:bodyPr/>
          <a:lstStyle/>
          <a:p>
            <a:pPr>
              <a:defRPr sz="1600"/>
            </a:pPr>
            <a:r>
              <a:t>La section des conducteurs doit être déterminée en fonction :  a) de leur température maximale admissible ;  b) de la chute de tension admissible ;  c) des contraintes électromécaniques susceptibles de se produire en cas de court-circuit ;  d) des autres contraintes mécaniques auxquelles les conducteurs peuvent être soumis ;  e) de la valeur maximale de l'impédance permettant d'assurer le fonctionnement de la  protection contre les défauts et les courts-circuits.</a:t>
            </a:r>
          </a:p>
          <a:p>
            <a:pPr>
              <a:defRPr sz="1600"/>
            </a:pPr>
            <a:r>
              <a:t>NOTE – Les points énumérés ci-dessus concernent, en premier lieu, la sécurité des installations électriques.</a:t>
            </a:r>
          </a:p>
          <a:p>
            <a:pPr>
              <a:defRPr sz="1600"/>
            </a:pPr>
            <a:r>
              <a:t>Des valeurs de section plus grandes que celles qui sont exigées par la sécurité peuvent être souhaitables pour une exploitation économique.</a:t>
            </a:r>
          </a:p>
          <a:p>
            <a:pPr>
              <a:defRPr sz="1600"/>
            </a:pPr>
            <a:r>
              <a:t>Les conditions de détermination des sections des conducteurs sont données dans les articles suivants :  -  -  -  -  523 pour les courants admissibles en fonction de la température maximale admissible ;  533 pour les contraintes en cas de court-circuit ;  532 et 543 pour les contraintes dues aux courants de défaut ;  525 pour la chute de tension.</a:t>
            </a:r>
          </a:p>
          <a:p>
            <a:pPr>
              <a:defRPr sz="1600"/>
            </a:pPr>
            <a:r>
              <a:t>L'application pratique de ces conditions est donnée dans les guides UTE C 15-105 pour les conducteurs et câbles isolés et UTE C 15-107 pour les circuits comportant des canalisations préfabriquées.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132.7 Modes de pose et types de canalisations</a:t>
            </a:r>
          </a:p>
        </p:txBody>
      </p:sp>
      <p:sp>
        <p:nvSpPr>
          <p:cNvPr id="3" name="Content Placeholder 2"/>
          <p:cNvSpPr>
            <a:spLocks noGrp="1"/>
          </p:cNvSpPr>
          <p:nvPr>
            <p:ph idx="1"/>
          </p:nvPr>
        </p:nvSpPr>
        <p:spPr/>
        <p:txBody>
          <a:bodyPr/>
          <a:lstStyle/>
          <a:p>
            <a:pPr>
              <a:defRPr sz="1600"/>
            </a:pPr>
            <a:r>
              <a:t>Le choix du mode de pose des canalisations dépend :  - -  - - - -  la nature des parois et des autres éléments de construction supportant  de la nature des locaux ou emplacements ; de canalisations ; de l'accessibilité des canalisations aux personnes et aux animaux domestiques ; de la tension ; des contraintes électromécaniques susceptibles de se produire en cas de court-circuit ; des autres contraintes (par exemple mécaniques, thermiques et associées à l’incendie, etc.</a:t>
            </a:r>
          </a:p>
          <a:p>
            <a:pPr>
              <a:defRPr sz="1600"/>
            </a:pPr>
            <a:r>
              <a:t>) auxquelles les canalisations peuvent être soumises pendant la réalisation de l'installation électrique ou en service.</a:t>
            </a:r>
          </a:p>
          <a:p>
            <a:pPr>
              <a:defRPr sz="1600"/>
            </a:pPr>
            <a:r>
              <a:t>les  Les règles relatives aux modes de pose des canalisations sont développées en 52.</a:t>
            </a:r>
          </a:p>
          <a:p>
            <a:pPr>
              <a:defRPr sz="1600"/>
            </a:pPr>
            <a:r>
              <a:t>Des indications pratiques de réalisation des différents modes de pose sont en outre données dans le guide UTE C 15-520.</a:t>
            </a:r>
          </a:p>
          <a:p>
            <a:pPr>
              <a:defRPr sz="1600"/>
            </a:pPr>
            <a:r>
              <a: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132.8 Dispositifs de protection</a:t>
            </a:r>
          </a:p>
        </p:txBody>
      </p:sp>
      <p:sp>
        <p:nvSpPr>
          <p:cNvPr id="3" name="Content Placeholder 2"/>
          <p:cNvSpPr>
            <a:spLocks noGrp="1"/>
          </p:cNvSpPr>
          <p:nvPr>
            <p:ph idx="1"/>
          </p:nvPr>
        </p:nvSpPr>
        <p:spPr/>
        <p:txBody>
          <a:bodyPr/>
          <a:lstStyle/>
          <a:p>
            <a:pPr>
              <a:defRPr sz="1600"/>
            </a:pPr>
            <a:r>
              <a:t>Les caractéristiques des dispositifs de protection doivent être déterminées d'après leur fonction qui peut être, par exemple, la protection contre les effets :  - - - -  des surintensités (surcharges, courts-circuits) ; des courants de défaut à la terre ; des surtensions ; des baisses ou de l'absence de tension.</a:t>
            </a:r>
          </a:p>
          <a:p>
            <a:pPr>
              <a:defRPr sz="1600"/>
            </a:pPr>
            <a:r>
              <a:t>- 9 -   H  Les dispositifs de protection doivent fonctionner à des valeurs de courant, de tension et de temps adaptées aux caractéristiques des circuits et aux dangers possibles.</a:t>
            </a:r>
          </a:p>
          <a:p>
            <a:pPr>
              <a:defRPr sz="1600"/>
            </a:pPr>
            <a:r>
              <a:t>Les règles relatives au choix des dispositifs de protection sont développées en 53.</a:t>
            </a:r>
          </a:p>
          <a:p>
            <a:pPr>
              <a:defRPr sz="1600"/>
            </a:pPr>
            <a:r>
              <a:t>Les indications pratiques d'application sont en outre données dans les guides UTE C 15-105 et UTE C 15-107.</a:t>
            </a:r>
          </a:p>
          <a:p>
            <a:pPr>
              <a:defRPr sz="1600"/>
            </a:pPr>
            <a:r>
              <a:t>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132.9 Dispositifs de coupure d'urgence</a:t>
            </a:r>
          </a:p>
        </p:txBody>
      </p:sp>
      <p:sp>
        <p:nvSpPr>
          <p:cNvPr id="3" name="Content Placeholder 2"/>
          <p:cNvSpPr>
            <a:spLocks noGrp="1"/>
          </p:cNvSpPr>
          <p:nvPr>
            <p:ph idx="1"/>
          </p:nvPr>
        </p:nvSpPr>
        <p:spPr/>
        <p:txBody>
          <a:bodyPr/>
          <a:lstStyle/>
          <a:p>
            <a:pPr>
              <a:defRPr sz="1600"/>
            </a:pPr>
            <a:r>
              <a:t>S'il est nécessaire, en cas de danger, de mettre immédiatement un circuit hors tension, un dispositif de coupure doit être installé de manière à être facilement reconnaissable et rapidement manœuvrable.</a:t>
            </a:r>
          </a:p>
          <a:p>
            <a:pPr>
              <a:defRPr sz="1600"/>
            </a:pPr>
            <a:r>
              <a:t>Les règles relatives à la coupure d'urgence sont données en 463 et pour le choix des dispositifs en 536.</a:t>
            </a:r>
          </a:p>
          <a:p>
            <a:pPr>
              <a:defRPr sz="1600"/>
            </a:pPr>
            <a:r>
              <a:t>3.</a:t>
            </a:r>
          </a:p>
          <a:p>
            <a:pPr>
              <a:defRPr sz="1600"/>
            </a:pPr>
            <a:r>
              <a: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132.10 Dispositifs de sectionnement</a:t>
            </a:r>
          </a:p>
        </p:txBody>
      </p:sp>
      <p:sp>
        <p:nvSpPr>
          <p:cNvPr id="3" name="Content Placeholder 2"/>
          <p:cNvSpPr>
            <a:spLocks noGrp="1"/>
          </p:cNvSpPr>
          <p:nvPr>
            <p:ph idx="1"/>
          </p:nvPr>
        </p:nvSpPr>
        <p:spPr/>
        <p:txBody>
          <a:bodyPr/>
          <a:lstStyle/>
          <a:p>
            <a:pPr>
              <a:defRPr sz="1600"/>
            </a:pPr>
            <a:r>
              <a:t>Des dispositifs de sectionnement doivent être prévus pour permettre le sectionnement de l'installation électrique, des circuits ou des appareils individuels, afin de permettre l'entretien, la vérification, la localisation des défauts et les réparations.</a:t>
            </a:r>
          </a:p>
          <a:p>
            <a:pPr>
              <a:defRPr sz="1600"/>
            </a:pPr>
            <a:r>
              <a:t>Les règles relatives au sectionnement sont données en 462 et, pour le choix des dispositifs de sectionnement, en 536.</a:t>
            </a:r>
          </a:p>
          <a:p>
            <a:pPr>
              <a:defRPr sz="1600"/>
            </a:pPr>
            <a:r>
              <a:t>2.</a:t>
            </a:r>
          </a:p>
          <a:p>
            <a:pPr>
              <a:defRPr sz="1600"/>
            </a:pPr>
            <a:r>
              <a:t>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132.11 Indépendance de l'installation électrique</a:t>
            </a:r>
          </a:p>
        </p:txBody>
      </p:sp>
      <p:sp>
        <p:nvSpPr>
          <p:cNvPr id="3" name="Content Placeholder 2"/>
          <p:cNvSpPr>
            <a:spLocks noGrp="1"/>
          </p:cNvSpPr>
          <p:nvPr>
            <p:ph idx="1"/>
          </p:nvPr>
        </p:nvSpPr>
        <p:spPr/>
        <p:txBody>
          <a:bodyPr/>
          <a:lstStyle/>
          <a:p>
            <a:pPr>
              <a:defRPr sz="1600"/>
            </a:pPr>
            <a:r>
              <a:t>L'installation électrique doit être disposée de façon à exclure toute influence matérielle dommageable entre l'installation électrique et les installations non électriques du bâtiment.</a:t>
            </a:r>
          </a:p>
          <a:p>
            <a:pPr>
              <a:defRPr sz="1600"/>
            </a:pPr>
            <a:r>
              <a:t>Les règles relatives à l'indépendance de l'installation électrique sont données en 515 et, pour les canalisations, en 528.</a:t>
            </a:r>
          </a:p>
          <a:p>
            <a:pPr>
              <a:defRPr sz="1600"/>
            </a:pPr>
            <a:r>
              <a:t>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132.12 Accessibilité des matériels électriques</a:t>
            </a:r>
          </a:p>
        </p:txBody>
      </p:sp>
      <p:sp>
        <p:nvSpPr>
          <p:cNvPr id="3" name="Content Placeholder 2"/>
          <p:cNvSpPr>
            <a:spLocks noGrp="1"/>
          </p:cNvSpPr>
          <p:nvPr>
            <p:ph idx="1"/>
          </p:nvPr>
        </p:nvSpPr>
        <p:spPr/>
        <p:txBody>
          <a:bodyPr/>
          <a:lstStyle/>
          <a:p>
            <a:pPr>
              <a:defRPr sz="1600"/>
            </a:pPr>
            <a:r>
              <a:t>Les matériels électriques doivent être disposés de façon à permettre dans la mesure nécessaire :  -  -  de laisser un espace suffisant pour réaliser l'installation initiale et le remplacement ultérieur des matériels individuels ; l'accessibilité aux fins de service, de vérification, d'entretien et de réparation.</a:t>
            </a:r>
          </a:p>
          <a:p>
            <a:pPr>
              <a:defRPr sz="1600"/>
            </a:pPr>
            <a:r>
              <a:t>Des règles relatives à l’accessibilité des matériels électriques sont données en 513.</a:t>
            </a:r>
          </a:p>
          <a:p>
            <a:pPr>
              <a:defRPr sz="1600"/>
            </a:pPr>
            <a:r>
              <a:t>133 Choix des matériels électriques  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133.1 Généralités</a:t>
            </a:r>
          </a:p>
        </p:txBody>
      </p:sp>
      <p:sp>
        <p:nvSpPr>
          <p:cNvPr id="3" name="Content Placeholder 2"/>
          <p:cNvSpPr>
            <a:spLocks noGrp="1"/>
          </p:cNvSpPr>
          <p:nvPr>
            <p:ph idx="1"/>
          </p:nvPr>
        </p:nvSpPr>
        <p:spPr/>
        <p:txBody>
          <a:bodyPr/>
          <a:lstStyle/>
          <a:p>
            <a:pPr>
              <a:defRPr sz="1600"/>
            </a:pPr>
            <a:r>
              <a:t>Tout matériel électrique doit être conforme à la norme européenne (EN) ou document d’harmonisation (HD) approprié ou à la norme nationale issue du HD.</a:t>
            </a:r>
          </a:p>
          <a:p>
            <a:pPr>
              <a:defRPr sz="1600"/>
            </a:pPr>
            <a:r>
              <a:t>En l’absence de EN ou HD, les matériels doivent être conformes aux normes nationales appropriées.</a:t>
            </a:r>
          </a:p>
          <a:p>
            <a:pPr>
              <a:defRPr sz="1600"/>
            </a:pPr>
            <a:r>
              <a:t>Dans tous les autres cas, il convient de faire référence à la norme CEI appropriée ou à la norme nationale appropriée d’un autre pays.</a:t>
            </a:r>
          </a:p>
          <a:p>
            <a:pPr>
              <a:defRPr sz="1600"/>
            </a:pPr>
            <a:r>
              <a:t>Lorsqu’il n’existe pas de norme applicable à un matériel électrique, celui-ci doit être choisi d’un commun accord entre l’utilisateur ou le maître d’ouvrage et l’installateur.</a:t>
            </a:r>
          </a:p>
          <a:p>
            <a:pPr>
              <a:defRPr sz="1600"/>
            </a:pPr>
            <a:r>
              <a:t>Voir aussi 511.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133.2 Caractéristiques</a:t>
            </a:r>
          </a:p>
        </p:txBody>
      </p:sp>
      <p:sp>
        <p:nvSpPr>
          <p:cNvPr id="3" name="Content Placeholder 2"/>
          <p:cNvSpPr>
            <a:spLocks noGrp="1"/>
          </p:cNvSpPr>
          <p:nvPr>
            <p:ph idx="1"/>
          </p:nvPr>
        </p:nvSpPr>
        <p:spPr/>
        <p:txBody>
          <a:bodyPr/>
          <a:lstStyle/>
          <a:p>
            <a:pPr>
              <a:defRPr sz="1600"/>
            </a:pPr>
            <a:r>
              <a:t>Les caractéristiques des matériels électriques choisis doivent correspondre aux conditions et aux caractéristiques définies pour l'installation électrique (voir 132), ils doivent en particulier satisfaire aux prescriptions suivantes.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133.2.1 Tension</a:t>
            </a:r>
          </a:p>
        </p:txBody>
      </p:sp>
      <p:sp>
        <p:nvSpPr>
          <p:cNvPr id="3" name="Content Placeholder 2"/>
          <p:cNvSpPr>
            <a:spLocks noGrp="1"/>
          </p:cNvSpPr>
          <p:nvPr>
            <p:ph idx="1"/>
          </p:nvPr>
        </p:nvSpPr>
        <p:spPr/>
        <p:txBody>
          <a:bodyPr/>
          <a:lstStyle/>
          <a:p>
            <a:pPr>
              <a:defRPr sz="1600"/>
            </a:pPr>
            <a:r>
              <a:t>Les matériels électriques doivent être adaptés à la valeur maximale de la tension permanente (valeur efficace en courant alternatif) susceptible d’être appliquée.</a:t>
            </a:r>
          </a:p>
          <a:p>
            <a:pPr>
              <a:defRPr sz="1600"/>
            </a:pPr>
            <a:r>
              <a:t>Ces matériels doivent être appropriés à la catégorie de surtension prévue.</a:t>
            </a:r>
          </a:p>
          <a:p>
            <a:pPr>
              <a:defRPr sz="1600"/>
            </a:pPr>
            <a:r>
              <a:t>NOTE - Pour certains matériels, il peut être nécessaire de tenir compte de la tension la plus basse susceptible de se présenter.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133.2.2 Courant</a:t>
            </a:r>
          </a:p>
        </p:txBody>
      </p:sp>
      <p:sp>
        <p:nvSpPr>
          <p:cNvPr id="3" name="Content Placeholder 2"/>
          <p:cNvSpPr>
            <a:spLocks noGrp="1"/>
          </p:cNvSpPr>
          <p:nvPr>
            <p:ph idx="1"/>
          </p:nvPr>
        </p:nvSpPr>
        <p:spPr/>
        <p:txBody>
          <a:bodyPr/>
          <a:lstStyle/>
          <a:p>
            <a:pPr>
              <a:defRPr sz="1600"/>
            </a:pPr>
            <a:r>
              <a:t>Les matériels électriques doivent être choisis compte tenu de la valeur maximale de l'intensité du courant (valeur efficace en courant alternatif) qui les parcourt en service normal.</a:t>
            </a:r>
          </a:p>
          <a:p>
            <a:pPr>
              <a:defRPr sz="1600"/>
            </a:pPr>
            <a:r>
              <a:t>Il y a également lieu de considérer le courant susceptible de les parcourir dans des conditions anormales, compte tenu de la durée du passage d'un tel courant en fonction des dispositifs de protection éventuels.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133.2.3 Fréquence</a:t>
            </a:r>
          </a:p>
        </p:txBody>
      </p:sp>
      <p:sp>
        <p:nvSpPr>
          <p:cNvPr id="3" name="Content Placeholder 2"/>
          <p:cNvSpPr>
            <a:spLocks noGrp="1"/>
          </p:cNvSpPr>
          <p:nvPr>
            <p:ph idx="1"/>
          </p:nvPr>
        </p:nvSpPr>
        <p:spPr/>
        <p:txBody>
          <a:bodyPr/>
          <a:lstStyle/>
          <a:p>
            <a:pPr>
              <a:defRPr sz="1600"/>
            </a:pPr>
            <a:r>
              <a:t>Si la fréquence a une influence sur les caractéristiques des matériels électriques, leur fréquence nominale doit correspondre à la fréquence de la tension d’alimentation.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133.2.4 Puissance</a:t>
            </a:r>
          </a:p>
        </p:txBody>
      </p:sp>
      <p:sp>
        <p:nvSpPr>
          <p:cNvPr id="3" name="Content Placeholder 2"/>
          <p:cNvSpPr>
            <a:spLocks noGrp="1"/>
          </p:cNvSpPr>
          <p:nvPr>
            <p:ph idx="1"/>
          </p:nvPr>
        </p:nvSpPr>
        <p:spPr/>
        <p:txBody>
          <a:bodyPr/>
          <a:lstStyle/>
          <a:p>
            <a:pPr>
              <a:defRPr sz="1600"/>
            </a:pPr>
            <a:r>
              <a:t>Les matériels électriques, choisis sur la base de leurs caractéristiques de puissance, doivent pouvoir être utilisés à la puissance maximale qu'ils absorbent en service, compte tenu des coefficients d'utilisation et des conditions normales de service.</a:t>
            </a:r>
          </a:p>
          <a:p>
            <a:pPr>
              <a:defRPr sz="1600"/>
            </a:pPr>
            <a:r>
              <a:t>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133.3 Conditions d'installation</a:t>
            </a:r>
          </a:p>
        </p:txBody>
      </p:sp>
      <p:sp>
        <p:nvSpPr>
          <p:cNvPr id="3" name="Content Placeholder 2"/>
          <p:cNvSpPr>
            <a:spLocks noGrp="1"/>
          </p:cNvSpPr>
          <p:nvPr>
            <p:ph idx="1"/>
          </p:nvPr>
        </p:nvSpPr>
        <p:spPr/>
        <p:txBody>
          <a:bodyPr/>
          <a:lstStyle/>
          <a:p>
            <a:pPr>
              <a:defRPr sz="1600"/>
            </a:pPr>
            <a:r>
              <a:t>Les matériels électriques doivent être choisis de manière à supporter en toute sécurité les contraintes et les conditions d'environnement (voir 132.</a:t>
            </a:r>
          </a:p>
          <a:p>
            <a:pPr>
              <a:defRPr sz="1600"/>
            </a:pPr>
            <a:r>
              <a:t>5) particulières au lieu où ces matériels sont installés, et auxquelles ils peuvent être soumis.</a:t>
            </a:r>
          </a:p>
          <a:p>
            <a:pPr>
              <a:defRPr sz="1600"/>
            </a:pPr>
            <a:r>
              <a:t>Si, toutefois, un matériel ne comporte pas de par sa construction les qualités correspondant au lieu de son installation, il peut être utilisé à condition qu'il soit pourvu d'une protection complémentaire appropriée faisant partie intégrante de l'installation.</a:t>
            </a:r>
          </a:p>
          <a:p>
            <a:pPr>
              <a:defRPr sz="1600"/>
            </a:pPr>
            <a:r>
              <a:t>Voir influences externes (512).</a:t>
            </a:r>
          </a:p>
          <a:p>
            <a:pPr>
              <a:defRPr sz="1600"/>
            </a:pPr>
            <a:r>
              <a:t>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133.4 Prévention des effets néfastes</a:t>
            </a:r>
          </a:p>
        </p:txBody>
      </p:sp>
      <p:sp>
        <p:nvSpPr>
          <p:cNvPr id="3" name="Content Placeholder 2"/>
          <p:cNvSpPr>
            <a:spLocks noGrp="1"/>
          </p:cNvSpPr>
          <p:nvPr>
            <p:ph idx="1"/>
          </p:nvPr>
        </p:nvSpPr>
        <p:spPr/>
        <p:txBody>
          <a:bodyPr/>
          <a:lstStyle/>
          <a:p>
            <a:pPr>
              <a:defRPr sz="1600"/>
            </a:pPr>
            <a:r>
              <a:t>Les matériels doivent être choisis de manière à n'apporter, en service normal, d'effets néfastes ni aux autres matériels ni au réseau d'alimentation, y compris lors des manœuvres.</a:t>
            </a:r>
          </a:p>
          <a:p>
            <a:pPr>
              <a:defRPr sz="1600"/>
            </a:pPr>
            <a:r>
              <a:t>Dans ce contexte, parmi les facteurs qui peuvent avoir une influence, on peut citer :  - - - -  le facteur de puissance ; les appels de courant ; le déséquilibre des charges ; les harmoniques.</a:t>
            </a:r>
          </a:p>
          <a:p>
            <a:pPr>
              <a:defRPr sz="1600"/>
            </a:pPr>
            <a:r>
              <a:t>Des indications sur l'absence de troubles sont données en 33.</a:t>
            </a:r>
          </a:p>
          <a:p>
            <a:pPr>
              <a:defRPr sz="1600"/>
            </a:pPr>
            <a:r>
              <a:t>- 11 -   H  134 Réalisation des installations électriques et vérifications lors de la mise en service.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134.1 Réalisation</a:t>
            </a:r>
          </a:p>
        </p:txBody>
      </p:sp>
      <p:sp>
        <p:nvSpPr>
          <p:cNvPr id="3" name="Content Placeholder 2"/>
          <p:cNvSpPr>
            <a:spLocks noGrp="1"/>
          </p:cNvSpPr>
          <p:nvPr>
            <p:ph idx="1"/>
          </p:nvPr>
        </p:nvSpPr>
        <p:spPr/>
        <p:txBody>
          <a:bodyPr/>
          <a:lstStyle/>
          <a:p>
            <a:pPr>
              <a:defRPr sz="1600"/>
            </a:pPr>
            <a:r>
              <a:t>Une exécution soigneuse par un personnel qualifié et l'utilisation de matériels appropriés sont essentielles pour la réalisation des installations électriques.</a:t>
            </a:r>
          </a:p>
          <a:p>
            <a:pPr>
              <a:defRPr sz="1600"/>
            </a:pPr>
            <a:r>
              <a:t>Les caractéristiques des matériels électriques, déterminées conformément à 133, ne doivent pas être compromises par le montage.</a:t>
            </a:r>
          </a:p>
          <a:p>
            <a:pPr>
              <a:defRPr sz="1600"/>
            </a:pPr>
            <a:r>
              <a:t>Les conducteurs doivent être identifiés conformément à 514.</a:t>
            </a:r>
          </a:p>
          <a:p>
            <a:pPr>
              <a:defRPr sz="1600"/>
            </a:pPr>
            <a:r>
              <a:t>3.</a:t>
            </a:r>
          </a:p>
          <a:p>
            <a:pPr>
              <a:defRPr sz="1600"/>
            </a:pPr>
            <a:r>
              <a:t>Les connexions des conducteurs entre eux et avec les autres matériels électriques doivent être exécutées de façon à assurer des contacts sûrs et durables.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134.2 Vérification lors de la mise en service</a:t>
            </a:r>
          </a:p>
        </p:txBody>
      </p:sp>
      <p:sp>
        <p:nvSpPr>
          <p:cNvPr id="3" name="Content Placeholder 2"/>
          <p:cNvSpPr>
            <a:spLocks noGrp="1"/>
          </p:cNvSpPr>
          <p:nvPr>
            <p:ph idx="1"/>
          </p:nvPr>
        </p:nvSpPr>
        <p:spPr/>
        <p:txBody>
          <a:bodyPr/>
          <a:lstStyle/>
          <a:p>
            <a:pPr>
              <a:defRPr sz="1600"/>
            </a:pPr>
            <a:r>
              <a:t>pour un soucis de qualité et de sécurité, les travaux de tout instalateur électrique doivent être et vérifiés par un organisme agrée.</a:t>
            </a:r>
          </a:p>
          <a:p>
            <a:pPr>
              <a:defRPr sz="1600"/>
            </a:pPr>
            <a:r>
              <a:t>Les conditions de vérification des installations électriques lors de leur mise en service sont données en 6-61.</a:t>
            </a:r>
          </a:p>
          <a:p>
            <a:pPr>
              <a:defRPr sz="1600"/>
            </a:pPr>
            <a:r>
              <a:t>Par modification importante, il faut entendre une modification de la structure de l'installation telle que :  augmentation de la puissance de court-circuit de l'alimentation ;  - modification du schéma des liaisons à la terre ; - - modification ou adjonction de circuits de distribution ; -  création de nouveaux tableaux de distribution.</a:t>
            </a:r>
          </a:p>
          <a:p>
            <a:pPr>
              <a:defRPr sz="1600"/>
            </a:pPr>
            <a:r>
              <a:t>14 LIMITES DES INSTALLATIONS  141 Origine des installations  L'origine des installations définies dans la présente norme correspond :  a) pour les installations alimentées directement par un réseau de distribution publique à  basse tension,  - 12 -   • dans le cas du branchement à puissance limitée  (9)    aux bornes de sortie de  l'appareil général de commande et de protection (AGCP) ;  • dans le cas du branchement à puissance surveillée  (9) aux bornes aval de l’appareil  de sectionnement à coupure visible.</a:t>
            </a:r>
          </a:p>
          <a:p>
            <a:pPr>
              <a:defRPr sz="1600"/>
            </a:pPr>
            <a:r>
              <a:t>b) pour les installations alimentées par un poste de transformation, aux bornes de sortie du  transformateur,  Les installations à basse tension peuvent être alimentées :  • par un réseau de distribution publique à haute tension, par l'intermédiaire d'un poste de  transformation dit "de livraison" conforme à la norme en vigueur  (10)   ;  • par une installation à haute tension par l'intermédiaire d'un poste de transformation,  conformément à la norme en vigueur  (11).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2 – Définitions</a:t>
            </a:r>
          </a:p>
        </p:txBody>
      </p:sp>
      <p:sp>
        <p:nvSpPr>
          <p:cNvPr id="3" name="Content Placeholder 2"/>
          <p:cNvSpPr>
            <a:spLocks noGrp="1"/>
          </p:cNvSpPr>
          <p:nvPr>
            <p:ph idx="1"/>
          </p:nvPr>
        </p:nvSpPr>
        <p:spPr/>
        <p:txBody>
          <a:bodyPr/>
          <a:lstStyle/>
          <a:p>
            <a:pPr>
              <a:defRPr sz="1600"/>
            </a:pPr>
            <a:r>
              <a:t>21 TERMES RELATIFS AUX CARACTÉRISTIQUES DES INSTALLATIONS.</a:t>
            </a:r>
          </a:p>
          <a:p>
            <a:pPr>
              <a:defRPr sz="1600"/>
            </a:pPr>
            <a:r>
              <a:t>18 211 Caractéristiques générales.</a:t>
            </a:r>
          </a:p>
          <a:p>
            <a:pPr>
              <a:defRPr sz="1600"/>
            </a:pPr>
            <a:r>
              <a:t>18 212 Grandeurs.</a:t>
            </a:r>
          </a:p>
          <a:p>
            <a:pPr>
              <a:defRPr sz="1600"/>
            </a:pPr>
            <a:r>
              <a:t>18 213 Installations diverses.</a:t>
            </a:r>
          </a:p>
          <a:p>
            <a:pPr>
              <a:defRPr sz="1600"/>
            </a:pPr>
            <a:r>
              <a:t>18 214 Isolement.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3 – Détermination des caractéristiques générales des Installations</a:t>
            </a:r>
          </a:p>
        </p:txBody>
      </p:sp>
      <p:sp>
        <p:nvSpPr>
          <p:cNvPr id="3" name="Content Placeholder 2"/>
          <p:cNvSpPr>
            <a:spLocks noGrp="1"/>
          </p:cNvSpPr>
          <p:nvPr>
            <p:ph idx="1"/>
          </p:nvPr>
        </p:nvSpPr>
        <p:spPr/>
        <p:txBody>
          <a:bodyPr/>
          <a:lstStyle/>
          <a:p>
            <a:pPr>
              <a:defRPr sz="1600"/>
            </a:pPr>
            <a:r>
              <a:t>30 GENERALITES.</a:t>
            </a:r>
          </a:p>
          <a:p>
            <a:pPr>
              <a:defRPr sz="1600"/>
            </a:pPr>
            <a:r>
              <a:t>42  31 ALIMENTATIONS ET STRUCTURES.</a:t>
            </a:r>
          </a:p>
          <a:p>
            <a:pPr>
              <a:defRPr sz="1600"/>
            </a:pPr>
            <a:r>
              <a:t>42 311 Puissance d'alimentation et facteur de simultanéité.</a:t>
            </a:r>
          </a:p>
          <a:p>
            <a:pPr>
              <a:defRPr sz="1600"/>
            </a:pPr>
            <a:r>
              <a:t>42 312 Types de schémas de distribution.</a:t>
            </a:r>
          </a:p>
          <a:p>
            <a:pPr>
              <a:defRPr sz="1600"/>
            </a:pPr>
            <a:r>
              <a:t>43 313 Alimentation.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311.1 Une détermination de la puissance d'alimentation est essentielle pour une conception</a:t>
            </a:r>
          </a:p>
        </p:txBody>
      </p:sp>
      <p:sp>
        <p:nvSpPr>
          <p:cNvPr id="3" name="Content Placeholder 2"/>
          <p:cNvSpPr>
            <a:spLocks noGrp="1"/>
          </p:cNvSpPr>
          <p:nvPr>
            <p:ph idx="1"/>
          </p:nvPr>
        </p:nvSpPr>
        <p:spPr/>
        <p:txBody>
          <a:bodyPr/>
          <a:lstStyle/>
          <a:p>
            <a:pPr>
              <a:defRPr sz="1600"/>
            </a:pPr>
            <a:r>
              <a:t>économique et sûre d'une installation dans les limites de température et de chute de tension.</a:t>
            </a:r>
          </a:p>
          <a:p>
            <a:pPr>
              <a:defRPr sz="1600"/>
            </a:pPr>
            <a:r>
              <a:t>Le guide UTE C 15-105 donne des indications pour la détermination du courant d'emploi d'un circuit, en tenant compte notamment du facteur de puissance et du rendement des appareils d'utilisation (éclairage, moteurs, chauffage,.</a:t>
            </a:r>
          </a:p>
          <a:p>
            <a:pPr>
              <a:defRPr sz="1600"/>
            </a:pPr>
            <a:r>
              <a:t>), du facteur d'utilisation des appareils, du facteur de simultanéité.</a:t>
            </a:r>
          </a:p>
          <a:p>
            <a:pPr>
              <a:defRPr sz="1600"/>
            </a:pPr>
            <a:r>
              <a:t>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311.2 En déterminant la puissance d'alimentation d'une installation ou d'une partie de celle-</a:t>
            </a:r>
          </a:p>
        </p:txBody>
      </p:sp>
      <p:sp>
        <p:nvSpPr>
          <p:cNvPr id="3" name="Content Placeholder 2"/>
          <p:cNvSpPr>
            <a:spLocks noGrp="1"/>
          </p:cNvSpPr>
          <p:nvPr>
            <p:ph idx="1"/>
          </p:nvPr>
        </p:nvSpPr>
        <p:spPr/>
        <p:txBody>
          <a:bodyPr/>
          <a:lstStyle/>
          <a:p>
            <a:pPr>
              <a:defRPr sz="1600"/>
            </a:pPr>
            <a:r>
              <a:t>ci, il peut être tenu compte de la non-simultanéité.</a:t>
            </a:r>
          </a:p>
          <a:p>
            <a:pPr>
              <a:defRPr sz="1600"/>
            </a:pPr>
            <a:r>
              <a:t>Les facteurs de simultanéité peuvent être utilisés pour déterminer les courants d'emploi intervenant dans le choix des sections des conducteurs des canalisations (523) et dans le choix des appareillages (512.</a:t>
            </a:r>
          </a:p>
          <a:p>
            <a:pPr>
              <a:defRPr sz="1600"/>
            </a:pPr>
            <a:r>
              <a:t>1.</a:t>
            </a:r>
          </a:p>
          <a:p>
            <a:pPr>
              <a:defRPr sz="1600"/>
            </a:pPr>
            <a:r>
              <a:t>2).</a:t>
            </a:r>
          </a:p>
          <a:p>
            <a:pPr>
              <a:defRPr sz="1600"/>
            </a:pPr>
            <a:r>
              <a:t>Leur détermination nécessite la connaissance détaillée de l'installation considérée et l'expérience des conditions d'installation et d'exploitation.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311.3 Détermination du courant d’emploi</a:t>
            </a:r>
          </a:p>
        </p:txBody>
      </p:sp>
      <p:sp>
        <p:nvSpPr>
          <p:cNvPr id="3" name="Content Placeholder 2"/>
          <p:cNvSpPr>
            <a:spLocks noGrp="1"/>
          </p:cNvSpPr>
          <p:nvPr>
            <p:ph idx="1"/>
          </p:nvPr>
        </p:nvSpPr>
        <p:spPr/>
        <p:txBody>
          <a:bodyPr/>
          <a:lstStyle/>
          <a:p>
            <a:pPr>
              <a:defRPr sz="1600"/>
            </a:pPr>
            <a:r>
              <a:t>Le courant d'emploi IB est déterminé en multipliant la puissance nominale Pn de chaque appareil d'utilisation ou groupe d'appareils par les cinq facteurs ci-après :  IB = Pn • a • b • c • d • e  a) Facteur a Il tient compte du facteur de puissance et du rendement  Le facteur a est égal à  l             , r étant le rendement électrique de l'appareil.</a:t>
            </a:r>
          </a:p>
          <a:p>
            <a:pPr>
              <a:defRPr sz="1600"/>
            </a:pPr>
            <a:r>
              <a:t>r cos  Les valeurs indiquées ci-après sont des valeurs moyennes pouvant être utilisées en l'absence de données plus précises :  Pour l’éclairage et les moteurs voir le guide UTE C 15-105.</a:t>
            </a:r>
          </a:p>
          <a:p>
            <a:pPr>
              <a:defRPr sz="1600"/>
            </a:pPr>
            <a:r>
              <a:t>- 42 -   CHAUFFAGE  (par résistance) : a = 1  AUTRES RECEPTEURS : a est à déterminer suivant les indications des constructeurs  b) Facteur b : facteur d'utilisation des appareils  Dans une installation industrielle, le facteur b peut varier entre 0,3 et 0,9.</a:t>
            </a:r>
          </a:p>
          <a:p>
            <a:pPr>
              <a:defRPr sz="1600"/>
            </a:pPr>
            <a:r>
              <a:t>En l'absence d'indications plus précises, un facteur d'utilisation de 0,75 peut généralement être adopté pour les appareils à moteur.</a:t>
            </a:r>
          </a:p>
          <a:p>
            <a:pPr>
              <a:defRPr sz="1600"/>
            </a:pPr>
            <a:r>
              <a:t>Pour les appareils d'éclairage et de chauffage, le facteur d'utilisation est toujours égal à 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312.1 Types de schémas de conducteurs actifs</a:t>
            </a:r>
          </a:p>
        </p:txBody>
      </p:sp>
      <p:sp>
        <p:nvSpPr>
          <p:cNvPr id="3" name="Content Placeholder 2"/>
          <p:cNvSpPr>
            <a:spLocks noGrp="1"/>
          </p:cNvSpPr>
          <p:nvPr>
            <p:ph idx="1"/>
          </p:nvPr>
        </p:nvSpPr>
        <p:spPr/>
        <p:txBody>
          <a:bodyPr/>
          <a:lstStyle/>
          <a:p>
            <a:pPr>
              <a:defRPr sz="1600"/>
            </a:pPr>
            <a:r>
              <a:t>Les schémas de conducteurs actifs décrits ci-dessous sont pris en considération dans le cadre de la présente norme :  Courant alternatif monophasé 2 conducteurs monophasé 3 conducteurs triphasé 3 conducteurs triphasé 4 conducteurs  Courant continu 2 conducteurs 3 conducteurs  Le schéma des conducteurs actifs est choisi en tenant compte de la nature des appareils d'utilisation (par exemple appareils triphasés avec ou sans neutre), et des limites d'utilisation de la source disponible (par exemple, équilibre des puissances dans les circuits polyphasés, limites de puissance des appareils monophasés,.</a:t>
            </a:r>
          </a:p>
          <a:p>
            <a:pPr>
              <a:defRPr sz="1600"/>
            </a:pPr>
            <a:r>
              <a:t>).</a:t>
            </a:r>
          </a:p>
          <a:p>
            <a:pPr>
              <a:defRPr sz="1600"/>
            </a:pPr>
            <a:r>
              <a:t>Il y a lieu de tenir compte des limites fixées à ce sujet par le distributeur d'énergie électrique (par exemple pour la puissance des moteurs, voir 559.</a:t>
            </a:r>
          </a:p>
          <a:p>
            <a:pPr>
              <a:defRPr sz="1600"/>
            </a:pPr>
            <a:r>
              <a:t>6.</a:t>
            </a:r>
          </a:p>
          <a:p>
            <a:pPr>
              <a:defRPr sz="1600"/>
            </a:pPr>
            <a:r>
              <a:t>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312.2 Types de schémas des liaisons à la terre</a:t>
            </a:r>
          </a:p>
        </p:txBody>
      </p:sp>
      <p:sp>
        <p:nvSpPr>
          <p:cNvPr id="3" name="Content Placeholder 2"/>
          <p:cNvSpPr>
            <a:spLocks noGrp="1"/>
          </p:cNvSpPr>
          <p:nvPr>
            <p:ph idx="1"/>
          </p:nvPr>
        </p:nvSpPr>
        <p:spPr/>
        <p:txBody>
          <a:bodyPr/>
          <a:lstStyle/>
          <a:p>
            <a:pPr>
              <a:defRPr sz="1600"/>
            </a:pPr>
            <a:r>
              <a:t>Les types suivants sont pris en considération dans le cadre de la présente norme.</a:t>
            </a:r>
          </a:p>
          <a:p>
            <a:pPr>
              <a:defRPr sz="1600"/>
            </a:pPr>
            <a:r>
              <a:t>NOTES –  1 - Les figures 312A à 312E montrent des exemples de systèmes utilisés.</a:t>
            </a:r>
          </a:p>
          <a:p>
            <a:pPr>
              <a:defRPr sz="1600"/>
            </a:pPr>
            <a:r>
              <a:t>Les figures 312F à 312K montrent des exemples de systèmes en courant continu couramment  triphasés en courant alternatif couramment   utilisés.</a:t>
            </a:r>
          </a:p>
          <a:p>
            <a:pPr>
              <a:defRPr sz="1600"/>
            </a:pPr>
            <a:r>
              <a:t>2 - Les symboles utilisés ont la signification suivante:  Première lettre – Situation de l'alimentation par rapport à la terre :  T = liaison directe d'un point avec la terre;  I = soit isolation de toutes les parties actives par rapport à la terre, soit liaison d'un point avec la terre à travers une impédance.</a:t>
            </a:r>
          </a:p>
          <a:p>
            <a:pPr>
              <a:defRPr sz="1600"/>
            </a:pPr>
            <a:r>
              <a:t>Deuxième lettre – Situation des masses de l'installation électrique par rapport à la terre:  T = masses reliées directement à la terre, indépendamment de la mise à la terre éventuelle d'un point de l'alimentation;  N = liaison électrique directe des masses au point de l'alimentation mis à la terre (en courant alternatif, le point mis à la terre est normalement le point neutre ou, si un point neutre n'est pas disponible, un conducteur de phase).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312.2.1 Schéma TN</a:t>
            </a:r>
          </a:p>
        </p:txBody>
      </p:sp>
      <p:sp>
        <p:nvSpPr>
          <p:cNvPr id="3" name="Content Placeholder 2"/>
          <p:cNvSpPr>
            <a:spLocks noGrp="1"/>
          </p:cNvSpPr>
          <p:nvPr>
            <p:ph idx="1"/>
          </p:nvPr>
        </p:nvSpPr>
        <p:spPr/>
        <p:txBody>
          <a:bodyPr/>
          <a:lstStyle/>
          <a:p>
            <a:pPr>
              <a:defRPr sz="1600"/>
            </a:pPr>
            <a:r>
              <a:t>Les schémas TN ont un point relié directement à la terre, les masses de l'installation étant reliées à ce point par des conducteurs de protection.</a:t>
            </a:r>
          </a:p>
          <a:p>
            <a:pPr>
              <a:defRPr sz="1600"/>
            </a:pPr>
            <a:r>
              <a:t>Trois types de schémas TN sont pris en considération, suivant la disposition du conducteur neutre et du conducteur de protection, à savoir : -  schéma TN-S : dans lequel un conducteur de protection distinct est utilisé dans l'ensemble du schéma ; schéma TN-C-S : dans lequel les fonctions de neutre et de protection sont combinées en un seul conducteur dans une partie du schéma ; schéma TN-C : dans lequel les fonctions de neutre et de protection sont combinées en un seul conducteur dans l'ensemble du schéma.</a:t>
            </a:r>
          </a:p>
          <a:p>
            <a:pPr>
              <a:defRPr sz="1600"/>
            </a:pPr>
            <a:r>
              <a:t>-  -  Le point relié directement à la terre est généralement le neutre.</a:t>
            </a:r>
          </a:p>
          <a:p>
            <a:pPr>
              <a:defRPr sz="1600"/>
            </a:pPr>
            <a:r>
              <a:t>Dans ces schémas, la boucle de défaut étant constituée exclusivement d'éléments galvaniques (conducteurs actifs et conducteurs de protection), tout courant de défaut franc phase-masse devient un courant de court-circuit.</a:t>
            </a:r>
          </a:p>
          <a:p>
            <a:pPr>
              <a:defRPr sz="1600"/>
            </a:pPr>
            <a:r>
              <a:t>H  L1  L2  L3  N  PE  L1  L2  L3  PE  N  PE  PE  Prise de terre de l’alimentation  Masses   Prise de terre  de l’alimentation  PE  Masses  Conducteur actif mis à la terre et conducteur de protection distincts dans l’ensemble du schéma  Figure 312A – Schémas TN-S  TNC  TNS  L1  L2  L3  PE N  PE  PEN  N  PE   Prise de terre  de l’alimentation  Masses  Figure 312B – Schéma TN-C-S Fonctions de neutre et de protection combinées en un seul conducteur dans une partie du schéma  - 45 -   H  L1  L2  L3  PE  N  PEN   Prise de terre  de l’alimentation  Masses  Figure 312C – Schéma TN-C Fonctions de neutre et de protection combinées en un seul conducteur dans l’ensemble du schéma.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312.2.2 Schéma TT</a:t>
            </a:r>
          </a:p>
        </p:txBody>
      </p:sp>
      <p:sp>
        <p:nvSpPr>
          <p:cNvPr id="3" name="Content Placeholder 2"/>
          <p:cNvSpPr>
            <a:spLocks noGrp="1"/>
          </p:cNvSpPr>
          <p:nvPr>
            <p:ph idx="1"/>
          </p:nvPr>
        </p:nvSpPr>
        <p:spPr/>
        <p:txBody>
          <a:bodyPr/>
          <a:lstStyle/>
          <a:p>
            <a:pPr>
              <a:defRPr sz="1600"/>
            </a:pPr>
            <a:r>
              <a:t>Le schéma TT a un point de l'alimentation relié directement à la terre, les masses de l'installation électrique étant reliées à des prises de terre électriquement distinctes de la prise de terre de l'alimentation.</a:t>
            </a:r>
          </a:p>
          <a:p>
            <a:pPr>
              <a:defRPr sz="1600"/>
            </a:pPr>
            <a:r>
              <a:t>L1  L2  L3  N  N  L1  L2  L3  Masses  PE  Masses  PE  Prise de terre de l’alimentation   Prise de terre  de l’alimentation  Figure 312D – Schémas TT  Le point de l'alimentation relié directement à la terre est généralement le neutre.</a:t>
            </a:r>
          </a:p>
          <a:p>
            <a:pPr>
              <a:defRPr sz="1600"/>
            </a:pPr>
            <a:r>
              <a:t>La boucle de défaut comprend généralement la terre sur une partie de son parcours, ce qui n'exclut pas la possibilité de liaisons électriques, volontaires ou de fait, entre la prise de terre des masses de l'installation et celle de l'alimentation.</a:t>
            </a:r>
          </a:p>
          <a:p>
            <a:pPr>
              <a:defRPr sz="1600"/>
            </a:pPr>
            <a:r>
              <a:t>Sauf dans cette dernière hypothèse, le courant de défaut phase-masse a une intensité inférieure à celle d'un courant de court-circuit et peut néanmoins être suffisant pour provoquer l'apparition de tensions dangereuses.</a:t>
            </a:r>
          </a:p>
          <a:p>
            <a:pPr>
              <a:defRPr sz="1600"/>
            </a:pPr>
            <a:r>
              <a:t>Même lorsque les prises de terre du neutre et des masses se trouvent confondues, le schéma demeure un schéma TT si toutes les règles du schéma TN ne sont pas respectées.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312.2.3 Schéma IT</a:t>
            </a:r>
          </a:p>
        </p:txBody>
      </p:sp>
      <p:sp>
        <p:nvSpPr>
          <p:cNvPr id="3" name="Content Placeholder 2"/>
          <p:cNvSpPr>
            <a:spLocks noGrp="1"/>
          </p:cNvSpPr>
          <p:nvPr>
            <p:ph idx="1"/>
          </p:nvPr>
        </p:nvSpPr>
        <p:spPr/>
        <p:txBody>
          <a:bodyPr/>
          <a:lstStyle/>
          <a:p>
            <a:pPr>
              <a:defRPr sz="1600"/>
            </a:pPr>
            <a:r>
              <a:t>Dans le schéma IT, toutes les parties actives sont isolées de la terre ou un point est relié à la terre par l'intermédiaire d'une impédance, les masses de l'installation électrique étant : - - -  soit mises à la terre séparément ; soit mises à la terre collectivement ; ou reliées collectivement à la prise de terre de l'alimentation.</a:t>
            </a:r>
          </a:p>
          <a:p>
            <a:pPr>
              <a:defRPr sz="1600"/>
            </a:pPr>
            <a:r>
              <a:t>(Voir 411.</a:t>
            </a:r>
          </a:p>
          <a:p>
            <a:pPr>
              <a:defRPr sz="1600"/>
            </a:pPr>
            <a:r>
              <a:t>6)  L1  L2  L3  N  1) Impédance  N  L1  L2  L3  1) Impédance  Masses  PE  Masses  PE  Prise de terre de l’alimentation   Prise de terre  de l’alimentation  Figure 312E – Schémas IT  1) le schéma peut être isolé de la terre.</a:t>
            </a:r>
          </a:p>
          <a:p>
            <a:pPr>
              <a:defRPr sz="1600"/>
            </a:pPr>
            <a:r>
              <a:t>Le conducteur neutre peut être distribué ou non.</a:t>
            </a:r>
          </a:p>
          <a:p>
            <a:pPr>
              <a:defRPr sz="1600"/>
            </a:pPr>
            <a:r>
              <a:t>Dans ce schéma, le courant de premier défaut se referme par les capacités de fuite de l'installation et éventuellement par l'impédance insérée entre un point de l'alimentation - généralement le neutre - et la terre.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312.2.4.1 Généralités</a:t>
            </a:r>
          </a:p>
        </p:txBody>
      </p:sp>
      <p:sp>
        <p:nvSpPr>
          <p:cNvPr id="3" name="Content Placeholder 2"/>
          <p:cNvSpPr>
            <a:spLocks noGrp="1"/>
          </p:cNvSpPr>
          <p:nvPr>
            <p:ph idx="1"/>
          </p:nvPr>
        </p:nvSpPr>
        <p:spPr/>
        <p:txBody>
          <a:bodyPr/>
          <a:lstStyle/>
          <a:p>
            <a:pPr>
              <a:defRPr sz="1600"/>
            </a:pPr>
            <a:r>
              <a:t>NOTE – Dans les schémas de liaison à la terre en courant continu il convient de tenir compte de la corrosion électrochimique.</a:t>
            </a:r>
          </a:p>
          <a:p>
            <a:pPr>
              <a:defRPr sz="1600"/>
            </a:pPr>
            <a:r>
              <a:t>Lorsque les figures 312F à 312K indiquent une mise à la terre d'une polarité   spécifique d'un schéma à courant continu 2 fils, la décision de mise à la terre de la polarité positive ou négative doit être fondée sur des conditions de fonctionnement ou toute autre considération.</a:t>
            </a:r>
          </a:p>
          <a:p>
            <a:pPr>
              <a:defRPr sz="1600"/>
            </a:pPr>
            <a:r>
              <a:t>Pour les symboles, voir note en 312.</a:t>
            </a:r>
          </a:p>
          <a:p>
            <a:pPr>
              <a:defRPr sz="1600"/>
            </a:pPr>
            <a:r>
              <a:t>2.</a:t>
            </a:r>
          </a:p>
          <a:p>
            <a:pPr>
              <a:defRPr sz="1600"/>
            </a:pPr>
            <a:r>
              <a:t>- 47 -   Les principes de conception et d'installation d'un circuit à courant continu restent les mêmes que ceux d'un circuit à courant alternatif.</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312.2.4.2 Schéma TN en courant continu</a:t>
            </a:r>
          </a:p>
        </p:txBody>
      </p:sp>
      <p:sp>
        <p:nvSpPr>
          <p:cNvPr id="3" name="Content Placeholder 2"/>
          <p:cNvSpPr>
            <a:spLocks noGrp="1"/>
          </p:cNvSpPr>
          <p:nvPr>
            <p:ph idx="1"/>
          </p:nvPr>
        </p:nvSpPr>
        <p:spPr/>
        <p:txBody>
          <a:bodyPr/>
          <a:lstStyle/>
          <a:p>
            <a:pPr>
              <a:defRPr sz="1600"/>
            </a:pPr>
            <a:r>
              <a:t>H  NPE  Schéma a)   Prise de terre  de l’alimentation  Masses  NPE  Schéma b)  L+  L-  PE  L+  M  L-  PE  Masses   Prise de terre  de l’alimentation  Figure 312F – Schémas TN-S en courant continu  Le conducteur actif relié à la terre (par exemple L-) du schéma a) ou le conducteur médian (M) relié à la terre du schéma b) est séparé du conducteur de protection dans tout le schéma.</a:t>
            </a:r>
          </a:p>
          <a:p>
            <a:pPr>
              <a:defRPr sz="1600"/>
            </a:pPr>
            <a:r>
              <a:t>- 49 -   Schéma TN-S en courant continu  Le point relié directement à la terre est généralement L- ou le conducteur médian.</a:t>
            </a:r>
          </a:p>
          <a:p>
            <a:pPr>
              <a:defRPr sz="1600"/>
            </a:pPr>
            <a:r>
              <a:t>Dans ces schémas, la boucle de défaut étant constituée exclusivement d'éléments galvaniques (conducteurs actifs et conducteurs de protection), tout courant de défaut franc phase-masse devient un courant de court-circuit.</a:t>
            </a:r>
          </a:p>
          <a:p>
            <a:pPr>
              <a:defRPr sz="1600"/>
            </a:pPr>
            <a:r>
              <a:t>H  Schéma a)   Prise de terre  de l’alimentation  Masses  L+  PE N  L+  PE N  L-  Schéma b)  Masses   Prise de terre  de l’alimentation  Figure 312G – Schémas TN-C en courant continu  Les fonctions du conducteur actif relié à la terre (par exemple L-) du schéma a) et du conducteur de protection sont réunies en un seul conducteur PEN dans tout le schéma, ou le conducteur médian relié à la terre (M) du schéma b) et le conducteur de protection sont réunis en un seul conducteur PEN dans tout le schéma.</a:t>
            </a:r>
          </a:p>
          <a:p>
            <a:pPr>
              <a:defRPr sz="1600"/>
            </a:pPr>
            <a:r>
              <a:t>- 50 -   H  PE N  Schéma a)   Prise de terre  de l’alimentation  Masses  Schéma TN-C  Schéma TN-C  Schéma TN-C-S en courant  NPE  Schéma b)   Prise de terre  de l’alimentation  Masses  Schéma TN-C  Schéma TN-C  Schéma TN-C-S en courant  L+  NPE  L-  L+  PE N  L-  M  Figure 312H – Schémas TN-C-S en courant continu  Les fonctions du conducteur actif relié à la terre (par exemple L-) du schéma a) et du conducteur de protection sont réunies en un seul conducteur PEN dans des parties du schéma, ou le conducteur médian relié à la terre (M) du schéma b) et le conducteur de protection sont réunis en un seul conducteur PEN dans des parties du schéma.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312.2.4.3 Schéma TT en courant continu</a:t>
            </a:r>
          </a:p>
        </p:txBody>
      </p:sp>
      <p:sp>
        <p:nvSpPr>
          <p:cNvPr id="3" name="Content Placeholder 2"/>
          <p:cNvSpPr>
            <a:spLocks noGrp="1"/>
          </p:cNvSpPr>
          <p:nvPr>
            <p:ph idx="1"/>
          </p:nvPr>
        </p:nvSpPr>
        <p:spPr/>
        <p:txBody>
          <a:bodyPr/>
          <a:lstStyle/>
          <a:p>
            <a:pPr>
              <a:defRPr sz="1600"/>
            </a:pPr>
            <a:r>
              <a:t>Schéma a)  Masses   Prise de terre  de l’alimentation  Mise à la terre des masses  L+  L -  L+  M  L -  Schéma b)  Masses   Prise de terre  de l’alimentation  Mise à la terre des masses  Figure 312J – Schémas TT en courant continu  Le point de l'alimentation relié directement à la terre est généralement L- ou le conducteur médian.</a:t>
            </a:r>
          </a:p>
          <a:p>
            <a:pPr>
              <a:defRPr sz="1600"/>
            </a:pPr>
            <a:r>
              <a:t>La boucle de défaut comprend généralement la terre sur une partie de son parcours, ce qui n'exclut pas la possibilité de liaisons électriques, volontaires ou de fait, entre la prise de terre des masses de l'installation et celle de l'alimentation.</a:t>
            </a:r>
          </a:p>
          <a:p>
            <a:pPr>
              <a:defRPr sz="1600"/>
            </a:pPr>
            <a:r>
              <a:t>Sauf dans cette dernière hypothèse, le courant de défaut phase-masse a une intensité inférieure à celle d'un courant de court-circuit et peut néanmoins être suffisant pour provoquer l'apparition de tensions dangereuses.</a:t>
            </a:r>
          </a:p>
          <a:p>
            <a:pPr>
              <a:defRPr sz="1600"/>
            </a:pPr>
            <a:r>
              <a:t>En pratique, ce schéma n'est pas utilisé, les prises de terre n'étant généralement pas distinctes.</a:t>
            </a:r>
          </a:p>
          <a:p>
            <a:pPr>
              <a:defRPr sz="1600"/>
            </a:pPr>
            <a:r>
              <a:t>- 52 -   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312.2.4.4 Schéma IT en courant continu</a:t>
            </a:r>
          </a:p>
        </p:txBody>
      </p:sp>
      <p:sp>
        <p:nvSpPr>
          <p:cNvPr id="3" name="Content Placeholder 2"/>
          <p:cNvSpPr>
            <a:spLocks noGrp="1"/>
          </p:cNvSpPr>
          <p:nvPr>
            <p:ph idx="1"/>
          </p:nvPr>
        </p:nvSpPr>
        <p:spPr/>
        <p:txBody>
          <a:bodyPr/>
          <a:lstStyle/>
          <a:p>
            <a:pPr>
              <a:defRPr sz="1600"/>
            </a:pPr>
            <a:r>
              <a:t>Schéma a)  Schéma b)  L+  L -  L+  M  L -  Masses  Mise à la terre des masses  Masses  Mise à la terre des masses  Figure 312K – Schémas IT en courant continu  Schéma dans lequel le courant résultant d'un seul défaut entre un conducteur actif et la masse a une intensité suffisamment faible pour ne provoquer l'apparition d'aucune tension de contact dangereuse.</a:t>
            </a:r>
          </a:p>
          <a:p>
            <a:pPr>
              <a:defRPr sz="1600"/>
            </a:pPr>
            <a:r>
              <a:t>Le courant de premier défaut se referme par les capacités de fuite de l'installation (à la mise sous tension) et éventuellement par la résistance insérée entre un point de l'alimentation - généralement L- ou le conducteur médian - et la terre.</a:t>
            </a:r>
          </a:p>
          <a:p>
            <a:pPr>
              <a:defRPr sz="1600"/>
            </a:pPr>
            <a:r>
              <a:t>La limitation de l'intensité du courant résultant d'un premier défaut est obtenue, soit par l'absence de liaison à la terre de l'alimentation, soit par la valeur de la résistance insérée entre le conducteur L- ou M et la terre.</a:t>
            </a:r>
          </a:p>
          <a:p>
            <a:pPr>
              <a:defRPr sz="1600"/>
            </a:pPr>
            <a:r>
              <a:t>H  313 Alimentation.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313.1.1 Les caractéristiques suivantes de l'alimentation doivent être déterminées :</a:t>
            </a:r>
          </a:p>
        </p:txBody>
      </p:sp>
      <p:sp>
        <p:nvSpPr>
          <p:cNvPr id="3" name="Content Placeholder 2"/>
          <p:cNvSpPr>
            <a:spLocks noGrp="1"/>
          </p:cNvSpPr>
          <p:nvPr>
            <p:ph idx="1"/>
          </p:nvPr>
        </p:nvSpPr>
        <p:spPr/>
        <p:txBody>
          <a:bodyPr/>
          <a:lstStyle/>
          <a:p>
            <a:pPr>
              <a:defRPr sz="1600"/>
            </a:pPr>
            <a:r>
              <a:t>- - - -  nature du courant et fréquence ; valeur de la tension nominale ; valeur du courant de court-circuit présumé, à l'origine de l'installation ; possibilité de satisfaire aux prescriptions de l'installation, y compris la puissance d'alimentation.</a:t>
            </a:r>
          </a:p>
          <a:p>
            <a:pPr>
              <a:defRPr sz="1600"/>
            </a:pPr>
            <a:r>
              <a:t>- 53 -   Lorsque l'installation est alimentée par un réseau de distribution extérieur, le distributeur d'énergie électrique doit être consulté (voir NF C 14-100).</a:t>
            </a:r>
          </a:p>
          <a:p>
            <a:pPr>
              <a:defRPr sz="1600"/>
            </a:pPr>
            <a:r>
              <a:t>Lorsque l'alimentation provient d'une génératrice privée, les caractéristiques correspondantes doivent être déterminées en fonction des caractéristiques de cette génératrice ou d'après les indications du fabricant.</a:t>
            </a:r>
          </a:p>
          <a:p>
            <a:pPr>
              <a:defRPr sz="1600"/>
            </a:pPr>
            <a:r>
              <a:t>Nature du courant  Si une alimentation en courant continu est nécessaire et si la source disponible est à courant alternatif, ou réciproquement, il y a lieu de prévoir le matériel de conversion nécessaire et son emplacement.</a:t>
            </a:r>
          </a:p>
          <a:p>
            <a:pPr>
              <a:defRPr sz="1600"/>
            </a:pPr>
            <a:r>
              <a:t>Il en est de même si une alimentation en courant alternatif sous une fréquence différente de celle de la source est nécessaire.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313.1.2 Ces caractéristiques doivent être estimées dans le cas d'une source externe et</a:t>
            </a:r>
          </a:p>
        </p:txBody>
      </p:sp>
      <p:sp>
        <p:nvSpPr>
          <p:cNvPr id="3" name="Content Placeholder 2"/>
          <p:cNvSpPr>
            <a:spLocks noGrp="1"/>
          </p:cNvSpPr>
          <p:nvPr>
            <p:ph idx="1"/>
          </p:nvPr>
        </p:nvSpPr>
        <p:spPr/>
        <p:txBody>
          <a:bodyPr/>
          <a:lstStyle/>
          <a:p>
            <a:pPr>
              <a:defRPr sz="1600"/>
            </a:pPr>
            <a:r>
              <a:t>doivent être déterminées dans le cas d'une source privée.</a:t>
            </a:r>
          </a:p>
          <a:p>
            <a:pPr>
              <a:defRPr sz="1600"/>
            </a:pPr>
            <a:r>
              <a:t>Elles sont applicables aussi bien aux alimentations principales qu'aux alimentations de sécurité et de remplacement.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313.2 Alimentations pour installations de sécurité et alimentations de remplacement</a:t>
            </a:r>
          </a:p>
        </p:txBody>
      </p:sp>
      <p:sp>
        <p:nvSpPr>
          <p:cNvPr id="3" name="Content Placeholder 2"/>
          <p:cNvSpPr>
            <a:spLocks noGrp="1"/>
          </p:cNvSpPr>
          <p:nvPr>
            <p:ph idx="1"/>
          </p:nvPr>
        </p:nvSpPr>
        <p:spPr/>
        <p:txBody>
          <a:bodyPr/>
          <a:lstStyle/>
          <a:p>
            <a:pPr>
              <a:defRPr sz="1600"/>
            </a:pPr>
            <a:r>
              <a:t>Lorsque les installations de sécurité sont imposées par les autorités responsables de la protection contre l'incendie ou par des conditions relatives à l'évacuation des locaux en cas d'urgence, ou lorsque des alimentations de remplacement sont exigées par le maître d'ouvrage de l'installation, les caractéristiques des alimentations pour installations de sécurité ou de remplacement doivent être déterminées séparément.</a:t>
            </a:r>
          </a:p>
          <a:p>
            <a:pPr>
              <a:defRPr sz="1600"/>
            </a:pPr>
            <a:r>
              <a:t>De telles alimentations doivent avoir une capacité, une fiabilité et une disponibilité appropriées au fonctionnement spécifié.</a:t>
            </a:r>
          </a:p>
          <a:p>
            <a:pPr>
              <a:defRPr sz="1600"/>
            </a:pPr>
            <a:r>
              <a:t>Des prescriptions supplémentaires pour les alimentations pour installations de sécurité sont données en 35 et en 56.</a:t>
            </a:r>
          </a:p>
          <a:p>
            <a:pPr>
              <a:defRPr sz="1600"/>
            </a:pPr>
            <a:r>
              <a:t>NOTE – La présente norme ne comprend pas de règles particulières en ce qui concerne les alimentations de remplacement.</a:t>
            </a:r>
          </a:p>
          <a:p>
            <a:pPr>
              <a:defRPr sz="1600"/>
            </a:pPr>
            <a:r>
              <a:t>Il convient notamment de se reporter aux textes officiels relatifs à la sécurité contre l'incendie dans les immeubles de grande hauteur et aux textes officiels relatifs à la protection contre les risques d'incendie et de panique dans les établissements recevant du public.</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314.1 Toute installation doit être divisée en plusieurs circuits selon les besoins, afin :</a:t>
            </a:r>
          </a:p>
        </p:txBody>
      </p:sp>
      <p:sp>
        <p:nvSpPr>
          <p:cNvPr id="3" name="Content Placeholder 2"/>
          <p:cNvSpPr>
            <a:spLocks noGrp="1"/>
          </p:cNvSpPr>
          <p:nvPr>
            <p:ph idx="1"/>
          </p:nvPr>
        </p:nvSpPr>
        <p:spPr/>
        <p:txBody>
          <a:bodyPr/>
          <a:lstStyle/>
          <a:p>
            <a:pPr>
              <a:defRPr sz="1600"/>
            </a:pPr>
            <a:r>
              <a:t>- - -  -  d'éviter tout danger et limiter les conséquences d'un défaut ; de faciliter les vérifications, les essais et l'entretien (voir de tenir compte des dangers qui pourraient résulter d'une défaillance d'un seul circuit tel qu'un circuit d'éclairage.</a:t>
            </a:r>
          </a:p>
          <a:p>
            <a:pPr>
              <a:defRPr sz="1600"/>
            </a:pPr>
            <a:r>
              <a:t>de limiter la valeur du courant de fuite dans le conducteur de protection de chaque circuit.</a:t>
            </a:r>
          </a:p>
          <a:p>
            <a:pPr>
              <a:defRPr sz="1600"/>
            </a:pPr>
            <a:r>
              <a:t>aussi 46) ;  La limitation du courant de fuite dans le conducteur de protection permet une utilisation optimale des dispositifs différentiels à courant différentiel-résiduel au plus égal à 30 mA vis à vis du besoin de continuité de service.</a:t>
            </a:r>
          </a:p>
          <a:p>
            <a:pPr>
              <a:defRPr sz="1600"/>
            </a:pPr>
            <a:r>
              <a:t>Il est recommandé de limiter les courants de fuite au tiers de la sensibilité du dispositif différentiel, ce qui dans la pratique limite à dix socles de prise de courant pour une protection différentielle de 30 mA.</a:t>
            </a:r>
          </a:p>
          <a:p>
            <a:pPr>
              <a:defRPr sz="1600"/>
            </a:pPr>
            <a:r>
              <a:t>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314.2 Des circuits de distribution distincts doivent être prévus pour</a:t>
            </a:r>
          </a:p>
        </p:txBody>
      </p:sp>
      <p:sp>
        <p:nvSpPr>
          <p:cNvPr id="3" name="Content Placeholder 2"/>
          <p:cNvSpPr>
            <a:spLocks noGrp="1"/>
          </p:cNvSpPr>
          <p:nvPr>
            <p:ph idx="1"/>
          </p:nvPr>
        </p:nvSpPr>
        <p:spPr/>
        <p:txBody>
          <a:bodyPr/>
          <a:lstStyle/>
          <a:p>
            <a:pPr>
              <a:defRPr sz="1600"/>
            </a:pPr>
            <a:r>
              <a:t>les parties de l'installation qu'il est nécessaire de commander séparément, de telle sorte que ces circuits ne soient pas affectés par la défaillance d'autres circuits.</a:t>
            </a:r>
          </a:p>
          <a:p>
            <a:pPr>
              <a:defRPr sz="1600"/>
            </a:pPr>
            <a:r>
              <a:t>Les circuits terminaux sont généralement spécialisés par la fonction des appareils qu'ils desservent.</a:t>
            </a:r>
          </a:p>
          <a:p>
            <a:pPr>
              <a:defRPr sz="1600"/>
            </a:pPr>
            <a:r>
              <a:t>Des circuits terminaux distincts sont alors prévus pour l'éclairage, pour les socles de prises de courant, pour les moteurs,.</a:t>
            </a:r>
          </a:p>
          <a:p>
            <a:pPr>
              <a:defRPr sz="1600"/>
            </a:pPr>
            <a:r>
              <a:t>- 55 -   Les conditions précédentes impliquent que, dans certains cas, soit assurée une sélection ou une sélectivité entre les différents   dispositifs de protection (voir notamment 536).</a:t>
            </a:r>
          </a:p>
          <a:p>
            <a:pPr>
              <a:defRPr sz="1600"/>
            </a:pPr>
            <a:r>
              <a:t>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314.3 Lorsqu’un bâtiment est desservi par plusieurs installations, les circuits correspondants</a:t>
            </a:r>
          </a:p>
        </p:txBody>
      </p:sp>
      <p:sp>
        <p:nvSpPr>
          <p:cNvPr id="3" name="Content Placeholder 2"/>
          <p:cNvSpPr>
            <a:spLocks noGrp="1"/>
          </p:cNvSpPr>
          <p:nvPr>
            <p:ph idx="1"/>
          </p:nvPr>
        </p:nvSpPr>
        <p:spPr/>
        <p:txBody>
          <a:bodyPr/>
          <a:lstStyle/>
          <a:p>
            <a:pPr>
              <a:defRPr sz="1600"/>
            </a:pPr>
            <a:r>
              <a:t>doivent être nettement différenciés.</a:t>
            </a:r>
          </a:p>
          <a:p>
            <a:pPr>
              <a:defRPr sz="1600"/>
            </a:pPr>
            <a:r>
              <a:t>Un même bâtiment peut être desservi à partir de plusieurs alimentations (poste de transformation, réseau de distribution publique, source autonome.</a:t>
            </a:r>
          </a:p>
          <a:p>
            <a:pPr>
              <a:defRPr sz="1600"/>
            </a:pPr>
            <a:r>
              <a:t>).</a:t>
            </a:r>
          </a:p>
          <a:p>
            <a:pPr>
              <a:defRPr sz="1600"/>
            </a:pPr>
            <a:r>
              <a:t>L'ensemble des circuits alimentés à partir d'un point d'alimentation constitue une installation et il importe que des installations différentes soient nettement différenciées et, en particulier, un même point de répartition, un même coffret ou un même tableau ne doit comporter que des éléments appartenant à une seule et même installation.</a:t>
            </a:r>
          </a:p>
          <a:p>
            <a:pPr>
              <a:defRPr sz="1600"/>
            </a:pPr>
            <a:r>
              <a:t>Ne sont pas visés : - -  les circuits de signalisation et de commande, les sources de remplacement ou de sécurité.</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 Caractéristiques</a:t>
            </a:r>
          </a:p>
        </p:txBody>
      </p:sp>
      <p:sp>
        <p:nvSpPr>
          <p:cNvPr id="3" name="Content Placeholder 2"/>
          <p:cNvSpPr>
            <a:spLocks noGrp="1"/>
          </p:cNvSpPr>
          <p:nvPr>
            <p:ph idx="1"/>
          </p:nvPr>
        </p:nvSpPr>
        <p:spPr/>
        <p:txBody>
          <a:bodyPr/>
          <a:lstStyle/>
          <a:p>
            <a:pPr>
              <a:defRPr sz="1600"/>
            </a:pPr>
            <a:r>
              <a:t>Des dispositions appropriées doivent être prises lorsque les matériels sont susceptibles d'avoir des effets nuisibles sur les autres matériels électriques, les autres installations, ou d'entraver le fonctionnement de la source d'alimentation et perturber les réseaux publics de distribution.</a:t>
            </a:r>
          </a:p>
          <a:p>
            <a:pPr>
              <a:defRPr sz="1600"/>
            </a:pPr>
            <a:r>
              <a:t>Les perturbations sont en particulier :  -  -  -  -  les perturbations de la tension ; • variations rapides de la tension, • creux de tension, • coupures brèves de la tension, • coupures longues de la tension, • surtensions temporaires entre phases et terre, • surtensions transitoires entre phases et terre, • déséquilibre de la tension, • •  tensions harmoniques/courants harmoniques, tension de signaux d'information sur les conducteurs de puissance,  les composantes continues ;  les oscillations à haute fréquence ;  les courants de fuite.</a:t>
            </a:r>
          </a:p>
          <a:p>
            <a:pPr>
              <a:defRPr sz="1600"/>
            </a:pPr>
            <a:r>
              <a:t>Les réseaux de puissance et de communication doivent être réalisés selon les prescriptions et recommandations de l'article 444, de la partie 5-54 et du guide UTE C 15-900.</a:t>
            </a:r>
          </a:p>
          <a:p>
            <a:pPr>
              <a:defRPr sz="1600"/>
            </a:pPr>
            <a:r>
              <a:t>Les caractéristiques de la tension fournie aux utilisateurs par les réseaux publics de distribution sont définies dans la NF EN 50160.</a:t>
            </a:r>
          </a:p>
          <a:p>
            <a:pPr>
              <a:defRPr sz="1600"/>
            </a:pPr>
            <a:r>
              <a:t>réseaux  informatiques,  Les autres installations auxquelles se réfère la Norme, sont les installations diverses distribuées dans les bâtiments, telles que, installations de téléphonie, de distribution de la télévision, les installations de transmission de l'information, par exemple le contrôle-commande des bâtiments.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330.1.1 Perturbations à basses fréquences</a:t>
            </a:r>
          </a:p>
        </p:txBody>
      </p:sp>
      <p:sp>
        <p:nvSpPr>
          <p:cNvPr id="3" name="Content Placeholder 2"/>
          <p:cNvSpPr>
            <a:spLocks noGrp="1"/>
          </p:cNvSpPr>
          <p:nvPr>
            <p:ph idx="1"/>
          </p:nvPr>
        </p:nvSpPr>
        <p:spPr/>
        <p:txBody>
          <a:bodyPr/>
          <a:lstStyle/>
          <a:p>
            <a:pPr>
              <a:defRPr sz="1600"/>
            </a:pPr>
            <a:r>
              <a:t>a) Fluctuations de la fréquence  Ce type de fluctuations est pratiquement inexistant sur les réseaux de distribution publique.</a:t>
            </a:r>
          </a:p>
          <a:p>
            <a:pPr>
              <a:defRPr sz="1600"/>
            </a:pPr>
            <a:r>
              <a:t>En revanche, dans les installations alimentées par des sources autonomes, la mise à disposition d'informations relatives à la fréquence est recommandée et des dispositifs de régulation sont nécessaires pour maintenir la fréquence dans des limites de tolérance admissibles.</a:t>
            </a:r>
          </a:p>
          <a:p>
            <a:pPr>
              <a:defRPr sz="1600"/>
            </a:pPr>
            <a:r>
              <a:t>b) Variations de tension  Les variations rapides de tension sont dues essentiellement au fonctionnement de certains appareils, tels que fours à arc, les appareils de soudage, le démarrage de moteurs de forte puissance,.</a:t>
            </a:r>
          </a:p>
          <a:p>
            <a:pPr>
              <a:defRPr sz="1600"/>
            </a:pPr>
            <a:r>
              <a:t>La protection consiste soit à augmenter la puissance de court-circuit de la source, soit à diminuer l'appareil perturbateur (par exemple à l'aide de compensateurs statiques).</a:t>
            </a:r>
          </a:p>
          <a:p>
            <a:pPr>
              <a:defRPr sz="1600"/>
            </a:pPr>
            <a:r>
              <a:t>l'amplitude des variations de puissance  réactive absorbée par  Les microcoupures ne sont qu'un cas particulier de creux de tension, dus soit au fonctionnement de certaines machines présentant de forts appels de courant, soit à des défauts affectant le réseau d'alimentation.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330.1.2 Perturbations à hautes fréquences</a:t>
            </a:r>
          </a:p>
        </p:txBody>
      </p:sp>
      <p:sp>
        <p:nvSpPr>
          <p:cNvPr id="3" name="Content Placeholder 2"/>
          <p:cNvSpPr>
            <a:spLocks noGrp="1"/>
          </p:cNvSpPr>
          <p:nvPr>
            <p:ph idx="1"/>
          </p:nvPr>
        </p:nvSpPr>
        <p:spPr/>
        <p:txBody>
          <a:bodyPr/>
          <a:lstStyle/>
          <a:p>
            <a:pPr>
              <a:defRPr sz="1600"/>
            </a:pPr>
            <a:r>
              <a:t>a) Surtensions transitoires de forme impulsionnelle  Les surtensions transitoires sont : -  soit dues à des surtensions d'origine atmosphérique d'alimentation ; soit produites lors de la mise en service ou de la coupure de certains matériels (dites "surtensions de manœuvres").</a:t>
            </a:r>
          </a:p>
          <a:p>
            <a:pPr>
              <a:defRPr sz="1600"/>
            </a:pPr>
            <a:r>
              <a:t>transmises par  le réseau  -  La protection contre de telles surtensions est définie en 443.</a:t>
            </a:r>
          </a:p>
          <a:p>
            <a:pPr>
              <a:defRPr sz="1600"/>
            </a:pPr>
            <a:r>
              <a:t>La mise sous tension de certains matériels peut provoquer des surtensions transitoires susceptibles d'entraîner des fonctionnements intempestifs des dispositifs de protection des circuits correspondants.</a:t>
            </a:r>
          </a:p>
          <a:p>
            <a:pPr>
              <a:defRPr sz="1600"/>
            </a:pPr>
            <a:r>
              <a:t>b) Oscillations à haute fréquence  Lorsque le fonctionnement des matériels est susceptible de provoquer des oscillations à haute fréquence dans le circuit d'alimentation ou induites dans d'autres circuits, il y a lieu de vérifier que ces oscillations ne provoquent pas un fonctionnement défectueux ou d'autres effets nuisibles sur d'autres matériels, sinon des dispositions doivent être prises pour réduire ces oscillations à un niveau non dangereux.</a:t>
            </a:r>
          </a:p>
          <a:p>
            <a:pPr>
              <a:defRPr sz="1600"/>
            </a:pPr>
            <a:r>
              <a:t>c) Autres perturbations à haute fréquence  (telles que champs électromagnétiques, décharges électrostatiques,.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330.1.3 Autres causes de perturbations</a:t>
            </a:r>
          </a:p>
        </p:txBody>
      </p:sp>
      <p:sp>
        <p:nvSpPr>
          <p:cNvPr id="3" name="Content Placeholder 2"/>
          <p:cNvSpPr>
            <a:spLocks noGrp="1"/>
          </p:cNvSpPr>
          <p:nvPr>
            <p:ph idx="1"/>
          </p:nvPr>
        </p:nvSpPr>
        <p:spPr/>
        <p:txBody>
          <a:bodyPr/>
          <a:lstStyle/>
          <a:p>
            <a:pPr>
              <a:defRPr sz="1600"/>
            </a:pPr>
            <a:r>
              <a:t>a) Composantes continues  Lorsque des matériels sont susceptibles de provoquer en fonctionnement la circulation de courant continu dans l'installation à courant alternatif qui les alimente, il y a lieu de vérifier qu'il ne peut en résulter de fonctionnement défectueux ni d'effet nuisible sur les autres matériels de l'installation, sinon des dispositions doivent être prises pour séparer le matériel considéré de la source.</a:t>
            </a:r>
          </a:p>
          <a:p>
            <a:pPr>
              <a:defRPr sz="1600"/>
            </a:pPr>
            <a:r>
              <a:t>Les composantes continues peuvent, dans certaines conditions, perturber le fonctionnement des dispositifs de protection à courant différentiel-résiduel, sauf si ces dispositifs comportent des dispositions permettant d'en limiter les effets (voir 532.</a:t>
            </a:r>
          </a:p>
          <a:p>
            <a:pPr>
              <a:defRPr sz="1600"/>
            </a:pPr>
            <a:r>
              <a:t>2.</a:t>
            </a:r>
          </a:p>
          <a:p>
            <a:pPr>
              <a:defRPr sz="1600"/>
            </a:pPr>
            <a:r>
              <a:t>1.</a:t>
            </a:r>
          </a:p>
          <a:p>
            <a:pPr>
              <a:defRPr sz="1600"/>
            </a:pPr>
            <a:r>
              <a:t>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340.1 Il y a lieu d'estimer la fréquence et la qualité de l'entretien de l'installation qui peuvent</a:t>
            </a:r>
          </a:p>
        </p:txBody>
      </p:sp>
      <p:sp>
        <p:nvSpPr>
          <p:cNvPr id="3" name="Content Placeholder 2"/>
          <p:cNvSpPr>
            <a:spLocks noGrp="1"/>
          </p:cNvSpPr>
          <p:nvPr>
            <p:ph idx="1"/>
          </p:nvPr>
        </p:nvSpPr>
        <p:spPr/>
        <p:txBody>
          <a:bodyPr/>
          <a:lstStyle/>
          <a:p>
            <a:pPr>
              <a:defRPr sz="1600"/>
            </a:pPr>
            <a:r>
              <a:t>être raisonnablement attendues durant sa durée de vie prévue.</a:t>
            </a:r>
          </a:p>
          <a:p>
            <a:pPr>
              <a:defRPr sz="1600"/>
            </a:pPr>
            <a:r>
              <a:t>Lorsqu'une autorité est responsable du fonctionnement de l'installation, cette autorité doit être consultée.</a:t>
            </a:r>
          </a:p>
          <a:p>
            <a:pPr>
              <a:defRPr sz="1600"/>
            </a:pPr>
            <a:r>
              <a:t>Ces caractéristiques sont à prendre en considération en appliquant les prescriptions des titres 4 à 6 de la présente norme, de telle sorte que, compte tenu de la fréquence et de la qualité de l'entretien prévues :  -  - -  toute vérification périodique, tout essai, tout entretien et toute réparation nécessaires pendant la durée de vie prévue puissent être effectués facilement et sûrement ; l'efficacité des mesures de protection pour assurer la sécurité soit assurée ; la fiabilité des matériels permettant le fonctionnement correct de l'installation soit appropriée à la durée de vie prévue.</a:t>
            </a:r>
          </a:p>
          <a:p>
            <a:pPr>
              <a:defRPr sz="1600"/>
            </a:pPr>
            <a:r>
              <a:t>Les caractéristiques indiquées à la partie 34 peuvent varier d'une partie d'une installation à une autre, et dépendent par exemple de la présence de personnes qualifiées pour exploiter le matériel en service normal.</a:t>
            </a:r>
          </a:p>
          <a:p>
            <a:pPr>
              <a:defRPr sz="1600"/>
            </a:pPr>
            <a:r>
              <a:t>L'accès à certaines parties de l'installation peut être limité à de telles personnes, et ceci doit intervenir dans le choix des mesures de protection pour assurer la sécurité de ces parties (titre 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361.1 Les installations de dépannage, de travaux et semi-permanentes peuvent faire l'objet</a:t>
            </a:r>
          </a:p>
        </p:txBody>
      </p:sp>
      <p:sp>
        <p:nvSpPr>
          <p:cNvPr id="3" name="Content Placeholder 2"/>
          <p:cNvSpPr>
            <a:spLocks noGrp="1"/>
          </p:cNvSpPr>
          <p:nvPr>
            <p:ph idx="1"/>
          </p:nvPr>
        </p:nvSpPr>
        <p:spPr/>
        <p:txBody>
          <a:bodyPr/>
          <a:lstStyle/>
          <a:p>
            <a:pPr>
              <a:defRPr sz="1600"/>
            </a:pPr>
            <a:r>
              <a:t>des dérogations aux règles de la présente norme énoncées respectivement   en 362, 363 et 364.</a:t>
            </a:r>
          </a:p>
          <a:p>
            <a:pPr>
              <a:defRPr sz="1600"/>
            </a:pPr>
            <a:r>
              <a:t>Toutefois aucune dérogation n'est admise ni dans les locaux (ou emplacements) présentant des risques d'incendie (BE2), ni dans les locaux (ou emplacements) présentant des risques d'explosion (BE3).</a:t>
            </a:r>
          </a:p>
          <a:p>
            <a:pPr>
              <a:defRPr sz="1600"/>
            </a:pPr>
            <a:r>
              <a:t>361.</a:t>
            </a:r>
          </a:p>
          <a:p>
            <a:pPr>
              <a:defRPr sz="1600"/>
            </a:pPr>
            <a:r>
              <a:t>2Des dérogations ne sont admises aux prescriptions du titre 4 que pour les installations de dépannage et sous les réserves énoncées en 362.</a:t>
            </a:r>
          </a:p>
          <a:p>
            <a:pPr>
              <a:defRPr sz="1600"/>
            </a:pPr>
            <a:r>
              <a:t>Toute installation de dépannage, de travaux ou semi-permanente doit être protégée à son origine contre les surintensités, cette protection devant répondre aux conditions fixées à la partie 43.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361.3 Les installations temporaires ne doivent pas gêner ni entraver la circulation des</a:t>
            </a:r>
          </a:p>
        </p:txBody>
      </p:sp>
      <p:sp>
        <p:nvSpPr>
          <p:cNvPr id="3" name="Content Placeholder 2"/>
          <p:cNvSpPr>
            <a:spLocks noGrp="1"/>
          </p:cNvSpPr>
          <p:nvPr>
            <p:ph idx="1"/>
          </p:nvPr>
        </p:nvSpPr>
        <p:spPr/>
        <p:txBody>
          <a:bodyPr/>
          <a:lstStyle/>
          <a:p>
            <a:pPr>
              <a:defRPr sz="1600"/>
            </a:pPr>
            <a:r>
              <a:t>personnes.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361.4 En cas d'utilisation de prolongateurs, toutes précautions doivent être prises afin</a:t>
            </a:r>
          </a:p>
        </p:txBody>
      </p:sp>
      <p:sp>
        <p:nvSpPr>
          <p:cNvPr id="3" name="Content Placeholder 2"/>
          <p:cNvSpPr>
            <a:spLocks noGrp="1"/>
          </p:cNvSpPr>
          <p:nvPr>
            <p:ph idx="1"/>
          </p:nvPr>
        </p:nvSpPr>
        <p:spPr/>
        <p:txBody>
          <a:bodyPr/>
          <a:lstStyle/>
          <a:p>
            <a:pPr>
              <a:defRPr sz="1600"/>
            </a:pPr>
            <a:r>
              <a:t>d'éviter que leurs éléments ne puissent être séparés fortuitement.</a:t>
            </a:r>
          </a:p>
          <a:p>
            <a:pPr>
              <a:defRPr sz="1600"/>
            </a:pPr>
            <a:r>
              <a:t>Cette règle n'implique pas nécessairement l'emploi de dispositif de verrouillage.</a:t>
            </a:r>
          </a:p>
          <a:p>
            <a:pPr>
              <a:defRPr sz="1600"/>
            </a:pPr>
            <a:r>
              <a:t>les éléments assemblés des prolongateurs aient Il est essentiel que caractéristiques électriques et dimensionnelles d'interchangeabilité.</a:t>
            </a:r>
          </a:p>
          <a:p>
            <a:pPr>
              <a:defRPr sz="1600"/>
            </a:pPr>
            <a:r>
              <a:t>les mêmes  - 61 -   H  362 Installations de dépannage  Pour les installations de dépannage, il peut être admis de ne pas respecter les prescriptions de la présente norme, sous réserve que leur durée soit aussi limitée que possible et que, si certaines mesures ne se trouvent plus respectées, des mesures compensatrices ou des précautions appropriées soient prises.</a:t>
            </a:r>
          </a:p>
          <a:p>
            <a:pPr>
              <a:defRPr sz="1600"/>
            </a:pPr>
            <a:r>
              <a:t>installations de dépannage sont celles nécessaires pour pallier un  Les d'exploitation.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364.1 Les installations semi-permanentes peuvent faire l'objet des dérogations énoncées</a:t>
            </a:r>
          </a:p>
        </p:txBody>
      </p:sp>
      <p:sp>
        <p:nvSpPr>
          <p:cNvPr id="3" name="Content Placeholder 2"/>
          <p:cNvSpPr>
            <a:spLocks noGrp="1"/>
          </p:cNvSpPr>
          <p:nvPr>
            <p:ph idx="1"/>
          </p:nvPr>
        </p:nvSpPr>
        <p:spPr/>
        <p:txBody>
          <a:bodyPr/>
          <a:lstStyle/>
          <a:p>
            <a:pPr>
              <a:defRPr sz="1600"/>
            </a:pPr>
            <a:r>
              <a:t>en 363.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364.2 Si les installations semi-permanentes se renouvellent périodiquement, elles doivent</a:t>
            </a:r>
          </a:p>
        </p:txBody>
      </p:sp>
      <p:sp>
        <p:nvSpPr>
          <p:cNvPr id="3" name="Content Placeholder 2"/>
          <p:cNvSpPr>
            <a:spLocks noGrp="1"/>
          </p:cNvSpPr>
          <p:nvPr>
            <p:ph idx="1"/>
          </p:nvPr>
        </p:nvSpPr>
        <p:spPr/>
        <p:txBody>
          <a:bodyPr/>
          <a:lstStyle/>
          <a:p>
            <a:pPr>
              <a:defRPr sz="1600"/>
            </a:pPr>
            <a:r>
              <a:t>être intégralement démontées entre chaque période d'utilisation.</a:t>
            </a:r>
          </a:p>
          <a:p>
            <a:pPr>
              <a:defRPr sz="1600"/>
            </a:pPr>
            <a:r>
              <a:t>En outre, les dispositifs de protection de ces installations doivent être placés sur des tableaux stables.</a:t>
            </a:r>
          </a:p>
          <a:p>
            <a:pPr>
              <a:defRPr sz="1600"/>
            </a:pPr>
            <a:r>
              <a:t>____________  - 63 -.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4 – Protection pour assurer la sécurité</a:t>
            </a:r>
          </a:p>
        </p:txBody>
      </p:sp>
      <p:sp>
        <p:nvSpPr>
          <p:cNvPr id="3" name="Content Placeholder 2"/>
          <p:cNvSpPr>
            <a:spLocks noGrp="1"/>
          </p:cNvSpPr>
          <p:nvPr>
            <p:ph idx="1"/>
          </p:nvPr>
        </p:nvSpPr>
        <p:spPr/>
        <p:txBody>
          <a:bodyPr/>
          <a:lstStyle/>
          <a:p>
            <a:pPr>
              <a:defRPr sz="1600"/>
            </a:pPr>
            <a:r>
              <a:t>Partie 4-41 – Protection contre les chocs électriques  Partie 4-42 – Protection contre l’incendie, les brûlures et l’explosion  Partie 4-43 – Protection contre les surintensités  Partie 4-44 – Protection contre les perturbations de tension et les perturbations électromagnétiques  Partie 4-46 – Sectionnement et commande   Partie 4-41 – Protection contre les chocs électriques  411 Mesure de protection par coupure automatique de l’alimentation.</a:t>
            </a:r>
          </a:p>
          <a:p>
            <a:pPr>
              <a:defRPr sz="1600"/>
            </a:pPr>
            <a:r>
              <a:t>67.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411.7 Très Basse Tension Fonctionnelle (TBTF).................................................................78</a:t>
            </a:r>
          </a:p>
        </p:txBody>
      </p:sp>
      <p:sp>
        <p:nvSpPr>
          <p:cNvPr id="3" name="Content Placeholder 2"/>
          <p:cNvSpPr>
            <a:spLocks noGrp="1"/>
          </p:cNvSpPr>
          <p:nvPr>
            <p:ph idx="1"/>
          </p:nvPr>
        </p:nvSpPr>
        <p:spPr/>
        <p:txBody>
          <a:bodyPr/>
          <a:lstStyle/>
          <a:p>
            <a:pPr>
              <a:defRPr sz="1600"/>
            </a:pPr>
            <a:r>
              <a:t>412 Mesu re de protection par isolation double ou renforcée.</a:t>
            </a:r>
          </a:p>
          <a:p>
            <a:pPr>
              <a:defRPr sz="1600"/>
            </a:pPr>
            <a:r>
              <a:t>78 413 Mesure de protection par séparation électrique.</a:t>
            </a:r>
          </a:p>
          <a:p>
            <a:pPr>
              <a:defRPr sz="1600"/>
            </a:pPr>
            <a:r>
              <a:t>80 414 Mesure de protection par très ba sse tension.</a:t>
            </a:r>
          </a:p>
          <a:p>
            <a:pPr>
              <a:defRPr sz="1600"/>
            </a:pPr>
            <a:r>
              <a:t>82 415 Protection complémentaire.</a:t>
            </a:r>
          </a:p>
          <a:p>
            <a:pPr>
              <a:defRPr sz="1600"/>
            </a:pPr>
            <a:r>
              <a:t>86.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B – (normative) – Mesures de protection sans disposition de protection contre</a:t>
            </a:r>
          </a:p>
        </p:txBody>
      </p:sp>
      <p:sp>
        <p:nvSpPr>
          <p:cNvPr id="3" name="Content Placeholder 2"/>
          <p:cNvSpPr>
            <a:spLocks noGrp="1"/>
          </p:cNvSpPr>
          <p:nvPr>
            <p:ph idx="1"/>
          </p:nvPr>
        </p:nvSpPr>
        <p:spPr/>
        <p:txBody>
          <a:bodyPr/>
          <a:lstStyle/>
          <a:p>
            <a:pPr>
              <a:defRPr sz="1600"/>
            </a:pPr>
            <a:r>
              <a:t>les contacts indirects, sous condition de surveillance.</a:t>
            </a:r>
          </a:p>
          <a:p>
            <a:pPr>
              <a:defRPr sz="1600"/>
            </a:pPr>
            <a:r>
              <a:t>90.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C – (normative) – Mesures de protection dans des installations sous condition</a:t>
            </a:r>
          </a:p>
        </p:txBody>
      </p:sp>
      <p:sp>
        <p:nvSpPr>
          <p:cNvPr id="3" name="Content Placeholder 2"/>
          <p:cNvSpPr>
            <a:spLocks noGrp="1"/>
          </p:cNvSpPr>
          <p:nvPr>
            <p:ph idx="1"/>
          </p:nvPr>
        </p:nvSpPr>
        <p:spPr/>
        <p:txBody>
          <a:bodyPr/>
          <a:lstStyle/>
          <a:p>
            <a:pPr>
              <a:defRPr sz="1600"/>
            </a:pPr>
            <a:r>
              <a:t>de surveillance.</a:t>
            </a:r>
          </a:p>
          <a:p>
            <a:pPr>
              <a:defRPr sz="1600"/>
            </a:pPr>
            <a:r>
              <a:t>92.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D – (normative) – Compatibilité entre divers schémas de liaisons à la terre</a:t>
            </a:r>
          </a:p>
        </p:txBody>
      </p:sp>
      <p:sp>
        <p:nvSpPr>
          <p:cNvPr id="3" name="Content Placeholder 2"/>
          <p:cNvSpPr>
            <a:spLocks noGrp="1"/>
          </p:cNvSpPr>
          <p:nvPr>
            <p:ph idx="1"/>
          </p:nvPr>
        </p:nvSpPr>
        <p:spPr/>
        <p:txBody>
          <a:bodyPr/>
          <a:lstStyle/>
          <a:p>
            <a:pPr>
              <a:defRPr sz="1600"/>
            </a:pPr>
            <a:r>
              <a:t>et leur raccordement au réseau de distribution   publique.</a:t>
            </a:r>
          </a:p>
          <a:p>
            <a:pPr>
              <a:defRPr sz="1600"/>
            </a:pPr>
            <a:r>
              <a:t>94  - 65 -  2002   C.</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410.1 Domaine d'application</a:t>
            </a:r>
          </a:p>
        </p:txBody>
      </p:sp>
      <p:sp>
        <p:nvSpPr>
          <p:cNvPr id="3" name="Content Placeholder 2"/>
          <p:cNvSpPr>
            <a:spLocks noGrp="1"/>
          </p:cNvSpPr>
          <p:nvPr>
            <p:ph idx="1"/>
          </p:nvPr>
        </p:nvSpPr>
        <p:spPr/>
        <p:txBody>
          <a:bodyPr/>
          <a:lstStyle/>
          <a:p>
            <a:pPr>
              <a:defRPr sz="1600"/>
            </a:pPr>
            <a:r>
              <a:t>La présente partie traite de la protection contre les chocs électriques dans les installations électriques.</a:t>
            </a:r>
          </a:p>
          <a:p>
            <a:pPr>
              <a:defRPr sz="1600"/>
            </a:pPr>
            <a:r>
              <a:t>Elle se fonde sur la norme NF C 20-030, norme fondamentale de sécurité applicable à la protection des personnes et des animaux domestiques, destinée à donner les principes et prescriptions essentiels communs aux installations et aux matériels ou nécessaires à leur coordination.</a:t>
            </a:r>
          </a:p>
          <a:p>
            <a:pPr>
              <a:defRPr sz="1600"/>
            </a:pPr>
            <a:r>
              <a:t>La règle essentielle pour la protection contre les chocs électriques, telle que définie dans la norme NF C 20-030, est que les parties actives dangereuses ne soient pas accessibles et que les parties conductrices accessibles ne soient pas dangereuses, tant dans des conditions normales que dans des conditions de défaut simple.</a:t>
            </a:r>
          </a:p>
          <a:p>
            <a:pPr>
              <a:defRPr sz="1600"/>
            </a:pPr>
            <a:r>
              <a:t>La protection contre les chocs électriques nécessite donc l'application d'au moins une disposition de protection contre les contacts directs, en fonctionnement normal et d'au moins une disposition de protection contre les contacts indirects, en cas de défaut.</a:t>
            </a:r>
          </a:p>
          <a:p>
            <a:pPr>
              <a:defRPr sz="1600"/>
            </a:pPr>
            <a:r>
              <a:t>L'association de ces deux dispositions de protection constitue une mesure de protection.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410.2 (disponible)</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410.3.1 Une ou plusieurs des mesures de protection suivantes, constituées chacune d’une</a:t>
            </a:r>
          </a:p>
        </p:txBody>
      </p:sp>
      <p:sp>
        <p:nvSpPr>
          <p:cNvPr id="3" name="Content Placeholder 2"/>
          <p:cNvSpPr>
            <a:spLocks noGrp="1"/>
          </p:cNvSpPr>
          <p:nvPr>
            <p:ph idx="1"/>
          </p:nvPr>
        </p:nvSpPr>
        <p:spPr/>
        <p:txBody>
          <a:bodyPr/>
          <a:lstStyle/>
          <a:p>
            <a:pPr>
              <a:defRPr sz="1600"/>
            </a:pPr>
            <a:r>
              <a:t>disposition de protection contre les contacts directs et d’une disposition de protection contre les contacts indirects, doivent être appliquées, sauf spécifications contraires indiquées en.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410.3.2 et 410.3.4, dans chaque installation ou partie d’installation, en tenant compte des</a:t>
            </a:r>
          </a:p>
        </p:txBody>
      </p:sp>
      <p:sp>
        <p:nvSpPr>
          <p:cNvPr id="3" name="Content Placeholder 2"/>
          <p:cNvSpPr>
            <a:spLocks noGrp="1"/>
          </p:cNvSpPr>
          <p:nvPr>
            <p:ph idx="1"/>
          </p:nvPr>
        </p:nvSpPr>
        <p:spPr/>
        <p:txBody>
          <a:bodyPr/>
          <a:lstStyle/>
          <a:p>
            <a:pPr>
              <a:defRPr sz="1600"/>
            </a:pPr>
            <a:r>
              <a:t>conditions d’influences externes et doivent être considérées lors du choix et de la mise en œuvre des matériels : - mesure de protection par coupure automatique de l’alimentation, - mesure de protection par isolation double ou renforcée, - mesure de protection par séparation électrique pour l’alimentation d’un seul matériel, - mesure de protection par très basse tension.</a:t>
            </a:r>
          </a:p>
          <a:p>
            <a:pPr>
              <a:defRPr sz="1600"/>
            </a:pPr>
            <a:r>
              <a:t>En pratique, la plupart des installations font l’objet d’une mesure fondamentale de protection par coupure automatique de l’alimentation, certaines parties des installations pouvant faire l’objet d’une des autres mesures de protection.</a:t>
            </a:r>
          </a:p>
          <a:p>
            <a:pPr>
              <a:defRPr sz="1600"/>
            </a:pPr>
            <a:r>
              <a:t>- 66 -   C.</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410.3.2 Pour des installations et des emplacements particuliers, les mesures de protection</a:t>
            </a:r>
          </a:p>
        </p:txBody>
      </p:sp>
      <p:sp>
        <p:nvSpPr>
          <p:cNvPr id="3" name="Content Placeholder 2"/>
          <p:cNvSpPr>
            <a:spLocks noGrp="1"/>
          </p:cNvSpPr>
          <p:nvPr>
            <p:ph idx="1"/>
          </p:nvPr>
        </p:nvSpPr>
        <p:spPr/>
        <p:txBody>
          <a:bodyPr/>
          <a:lstStyle/>
          <a:p>
            <a:pPr>
              <a:defRPr sz="1600"/>
            </a:pPr>
            <a:r>
              <a:t>prescrites dans la partie 7 doivent être appliquées.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410.3.3 Les mesures de protection, spécifiées en annexe B, par mise en œuvre d’ob stacles</a:t>
            </a:r>
          </a:p>
        </p:txBody>
      </p:sp>
      <p:sp>
        <p:nvSpPr>
          <p:cNvPr id="3" name="Content Placeholder 2"/>
          <p:cNvSpPr>
            <a:spLocks noGrp="1"/>
          </p:cNvSpPr>
          <p:nvPr>
            <p:ph idx="1"/>
          </p:nvPr>
        </p:nvSpPr>
        <p:spPr/>
        <p:txBody>
          <a:bodyPr/>
          <a:lstStyle/>
          <a:p>
            <a:pPr>
              <a:defRPr sz="1600"/>
            </a:pPr>
            <a:r>
              <a:t>ou par mise hors de portée ne peuvent être mises en œuvre que sous la surveillance d’une personne qualifiée ou avertie.</a:t>
            </a:r>
          </a:p>
          <a:p>
            <a:pPr>
              <a:defRPr sz="1600"/>
            </a:pPr>
            <a:r>
              <a:t>Au Senegal, seules les personnes habilitées au sens de la publication UTE C 18-510 sont autorisées à travailler dans les conditions BA4 et BA5 (voir aussi   512.</a:t>
            </a:r>
          </a:p>
          <a:p>
            <a:pPr>
              <a:defRPr sz="1600"/>
            </a:pPr>
            <a:r>
              <a:t>2.</a:t>
            </a:r>
          </a:p>
          <a:p>
            <a:pPr>
              <a:defRPr sz="1600"/>
            </a:pPr>
            <a:r>
              <a:t>16).</a:t>
            </a:r>
          </a:p>
          <a:p>
            <a:pPr>
              <a:defRPr sz="1600"/>
            </a:pPr>
            <a:r>
              <a:t>C  locaux ou emplacements non conducteurs ; liaisons équipotentielles non reliées à la terre ; séparation électrique pour l’alimentation de plus d’un matériel d’utilisation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410.3.4 Les mesures de protection, spécifiées en annexe C :</a:t>
            </a:r>
          </a:p>
        </p:txBody>
      </p:sp>
      <p:sp>
        <p:nvSpPr>
          <p:cNvPr id="3" name="Content Placeholder 2"/>
          <p:cNvSpPr>
            <a:spLocks noGrp="1"/>
          </p:cNvSpPr>
          <p:nvPr>
            <p:ph idx="1"/>
          </p:nvPr>
        </p:nvSpPr>
        <p:spPr/>
        <p:txBody>
          <a:bodyPr/>
          <a:lstStyle/>
          <a:p>
            <a:pPr>
              <a:defRPr sz="1600"/>
            </a:pPr>
            <a:r>
              <a:t>- - - ne sont applicables que si l’installation est sous la surveillance d’une personne compétente, de manière que des modifications non permises par ces mesures de protection ne puissent être faites.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410.3.5 Si une mesure de protection n’est pas complètement satisfaite, des dispositions</a:t>
            </a:r>
          </a:p>
        </p:txBody>
      </p:sp>
      <p:sp>
        <p:nvSpPr>
          <p:cNvPr id="3" name="Content Placeholder 2"/>
          <p:cNvSpPr>
            <a:spLocks noGrp="1"/>
          </p:cNvSpPr>
          <p:nvPr>
            <p:ph idx="1"/>
          </p:nvPr>
        </p:nvSpPr>
        <p:spPr/>
        <p:txBody>
          <a:bodyPr/>
          <a:lstStyle/>
          <a:p>
            <a:pPr>
              <a:defRPr sz="1600"/>
            </a:pPr>
            <a:r>
              <a:t>complémentaires doivent être prises pour s’assurer que l’association ainsi obtenue fournisse le même degré de protection que la conformité complète à cette mesure.</a:t>
            </a:r>
          </a:p>
          <a:p>
            <a:pPr>
              <a:defRPr sz="1600"/>
            </a:pPr>
            <a:r>
              <a:t>NOTE – Un exemple d’application est donné en 411.</a:t>
            </a:r>
          </a:p>
          <a:p>
            <a:pPr>
              <a:defRPr sz="1600"/>
            </a:pPr>
            <a:r>
              <a:t>7.</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410.3.6 On doit s’assurer que des mesures de protection différentes appliquées dans la</a:t>
            </a:r>
          </a:p>
        </p:txBody>
      </p:sp>
      <p:sp>
        <p:nvSpPr>
          <p:cNvPr id="3" name="Content Placeholder 2"/>
          <p:cNvSpPr>
            <a:spLocks noGrp="1"/>
          </p:cNvSpPr>
          <p:nvPr>
            <p:ph idx="1"/>
          </p:nvPr>
        </p:nvSpPr>
        <p:spPr/>
        <p:txBody>
          <a:bodyPr/>
          <a:lstStyle/>
          <a:p>
            <a:pPr>
              <a:defRPr sz="1600"/>
            </a:pPr>
            <a:r>
              <a:t>même installation ou la même partie d'installation, ou encore dans les matériels, ne puissent ni s'influencer ni s'annihiler mutuellement.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410.3.7 Il est permis de se dispenser de dispositions de protection contre les contacts</a:t>
            </a:r>
          </a:p>
        </p:txBody>
      </p:sp>
      <p:sp>
        <p:nvSpPr>
          <p:cNvPr id="3" name="Content Placeholder 2"/>
          <p:cNvSpPr>
            <a:spLocks noGrp="1"/>
          </p:cNvSpPr>
          <p:nvPr>
            <p:ph idx="1"/>
          </p:nvPr>
        </p:nvSpPr>
        <p:spPr/>
        <p:txBody>
          <a:bodyPr/>
          <a:lstStyle/>
          <a:p>
            <a:pPr>
              <a:defRPr sz="1600"/>
            </a:pPr>
            <a:r>
              <a:t>indirects pour les matériels électriques et leurs supports dans les cas suivants :  -  -  conduits ou goulottes métalliques, ou autres enveloppes métalliques de protection des matériels présentant une isolation double ou renforcée ; potelets et parties métalliques en liaison électrique avec eux lorsque ces parties ne sont pas dans le volume d’accessibilité au toucher ; poteaux en béton armé dont les armatures ne sont pas accessibles ;  - - masses qui, du fait de leurs faibles dimensions (environ 50 mm X 50 mm) ou de leur emplacement, ne peuvent être saisies ou venir en contact avec une partie importante du corps humain, dans la mesure où la liaison avec un conducteur de protection serait difficilement réalisable ou peu fiable.</a:t>
            </a:r>
          </a:p>
          <a:p>
            <a:pPr>
              <a:defRPr sz="1600"/>
            </a:pPr>
            <a:r>
              <a:t>NOTE – Cette prescription n’est applicable, par exemple qu’aux écrous, rivets, plaques d’identification et fixations de câbles.</a:t>
            </a:r>
          </a:p>
          <a:p>
            <a:pPr>
              <a:defRPr sz="1600"/>
            </a:pPr>
            <a:r>
              <a:t>411 Mesure de protection par coupure automatique de l’alimentation.</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411.1 Généralités</a:t>
            </a:r>
          </a:p>
        </p:txBody>
      </p:sp>
      <p:sp>
        <p:nvSpPr>
          <p:cNvPr id="3" name="Content Placeholder 2"/>
          <p:cNvSpPr>
            <a:spLocks noGrp="1"/>
          </p:cNvSpPr>
          <p:nvPr>
            <p:ph idx="1"/>
          </p:nvPr>
        </p:nvSpPr>
        <p:spPr/>
        <p:txBody>
          <a:bodyPr/>
          <a:lstStyle/>
          <a:p>
            <a:pPr>
              <a:defRPr sz="1600"/>
            </a:pPr>
            <a:r>
              <a:t>la protection par coupure automatique de l’alimentation est une mesure de protection dans laquelle : - la protection contre les contacts directs est assurée soit par l’isolation principale des parties actives, soit par des barrières ou des enveloppes, conformément à l’annexe A, et  C  - 67 -   C  -  la protection contre les contacts indirects est assurée par des liaisons de protection associées à la coupure automatique de l’alimentation conformément aux 411.</a:t>
            </a:r>
          </a:p>
          <a:p>
            <a:pPr>
              <a:defRPr sz="1600"/>
            </a:pPr>
            <a:r>
              <a:t>3 à 411.</a:t>
            </a:r>
          </a:p>
          <a:p>
            <a:pPr>
              <a:defRPr sz="1600"/>
            </a:pPr>
            <a:r>
              <a:t>6.</a:t>
            </a:r>
          </a:p>
          <a:p>
            <a:pPr>
              <a:defRPr sz="1600"/>
            </a:pPr>
            <a:r>
              <a:t>La mesure de protection par coupure automatique de l'alimentation est destinée à empêcher qu'à la suite d'un défaut d'isolement, une personne puisse se trouver soumise à une tension de contact supérieure à 50 V en courant alternatif (valeur efficace) ou à 120 V en courant continu lisse pendant un temps tel qu'il puisse en résulter des dommages organiques.</a:t>
            </a:r>
          </a:p>
          <a:p>
            <a:pPr>
              <a:defRPr sz="1600"/>
            </a:pPr>
            <a:r>
              <a:t>Pour respecter cette règle, tout défaut survenant dans un matériel électrique provoque la circulation d'un courant qui doit être interrompu dans un temps compatible avec la sécurité des personnes.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411.2 Prescriptions pour la protection contre les contacts directs</a:t>
            </a:r>
          </a:p>
        </p:txBody>
      </p:sp>
      <p:sp>
        <p:nvSpPr>
          <p:cNvPr id="3" name="Content Placeholder 2"/>
          <p:cNvSpPr>
            <a:spLocks noGrp="1"/>
          </p:cNvSpPr>
          <p:nvPr>
            <p:ph idx="1"/>
          </p:nvPr>
        </p:nvSpPr>
        <p:spPr/>
        <p:txBody>
          <a:bodyPr/>
          <a:lstStyle/>
          <a:p>
            <a:pPr>
              <a:defRPr sz="1600"/>
            </a:pPr>
            <a:r>
              <a:t>Les matériels électriques doivent faire l’objet d’une des dispositions de protection données en.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411.3.1.1 Liaison équipotentielle principale</a:t>
            </a:r>
          </a:p>
        </p:txBody>
      </p:sp>
      <p:sp>
        <p:nvSpPr>
          <p:cNvPr id="3" name="Content Placeholder 2"/>
          <p:cNvSpPr>
            <a:spLocks noGrp="1"/>
          </p:cNvSpPr>
          <p:nvPr>
            <p:ph idx="1"/>
          </p:nvPr>
        </p:nvSpPr>
        <p:spPr/>
        <p:txBody>
          <a:bodyPr/>
          <a:lstStyle/>
          <a:p>
            <a:pPr>
              <a:defRPr sz="1600"/>
            </a:pPr>
            <a:r>
              <a:t>Dans chaque bâtiment, le conducteur principal de protection, la borne principale de terre et les éléments conducteurs suivants doivent être connectés à la liaison équipotentielle principale : -  canalisations métalliques, par exemple eau, gaz, canalisations de chauffage central et de conditionnement d'air ; éléments métalliques de la construction et armatures du béton armé ; gaines ou tresses métalliques des câbles de communication.</a:t>
            </a:r>
          </a:p>
          <a:p>
            <a:pPr>
              <a:defRPr sz="1600"/>
            </a:pPr>
            <a:r>
              <a:t>- -  Lorsque de tels éléments conducteurs proviennent de l'extérieur du bâtiment, ils doivent être reliés à la liaison équipotentielle principale aussi près que possible de leur point d'entrée dans le bâtiment.</a:t>
            </a:r>
          </a:p>
          <a:p>
            <a:pPr>
              <a:defRPr sz="1600"/>
            </a:pPr>
            <a:r>
              <a:t>- 68 -   Les conducteurs de la liaison équipotentielle principale doivent satisfaire aux prescriptions de la partie 5-54.</a:t>
            </a:r>
          </a:p>
          <a:p>
            <a:pPr>
              <a:defRPr sz="1600"/>
            </a:pPr>
            <a:r>
              <a:t>La liaison équipotentielle principale permet notamment d'éviter qu'un élément conducteur ne propage un potentiel soit par rapport à la terre résultant d'un défaut d'origine externe au bâtiment, soit le potentiel de la terre lointaine.</a:t>
            </a:r>
          </a:p>
          <a:p>
            <a:pPr>
              <a:defRPr sz="1600"/>
            </a:pPr>
            <a:r>
              <a:t>C.</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411.3.1.2 Mise à la terre des masses</a:t>
            </a:r>
          </a:p>
        </p:txBody>
      </p:sp>
      <p:sp>
        <p:nvSpPr>
          <p:cNvPr id="3" name="Content Placeholder 2"/>
          <p:cNvSpPr>
            <a:spLocks noGrp="1"/>
          </p:cNvSpPr>
          <p:nvPr>
            <p:ph idx="1"/>
          </p:nvPr>
        </p:nvSpPr>
        <p:spPr/>
        <p:txBody>
          <a:bodyPr/>
          <a:lstStyle/>
          <a:p>
            <a:pPr>
              <a:defRPr sz="1600"/>
            </a:pPr>
            <a:r>
              <a:t>Les masses doivent être reliées à un conducteur de protection selon les conditions particulières des divers schémas des liaisons à la terre comme spécifié de 411.</a:t>
            </a:r>
          </a:p>
          <a:p>
            <a:pPr>
              <a:defRPr sz="1600"/>
            </a:pPr>
            <a:r>
              <a:t>4 à 411.</a:t>
            </a:r>
          </a:p>
          <a:p>
            <a:pPr>
              <a:defRPr sz="1600"/>
            </a:pPr>
            <a:r>
              <a:t>6.</a:t>
            </a:r>
          </a:p>
          <a:p>
            <a:pPr>
              <a:defRPr sz="1600"/>
            </a:pPr>
            <a:r>
              <a:t>Les masses simultanément accessibles doivent être connectées à la même prise de terre.</a:t>
            </a:r>
          </a:p>
          <a:p>
            <a:pPr>
              <a:defRPr sz="1600"/>
            </a:pPr>
            <a:r>
              <a:t>NOTE – Pour les dispositions de mise à la terre et les conducteurs de protection, voir la partie 5-54.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411.3.2 Coupure automatique de l'alimentation</a:t>
            </a:r>
          </a:p>
        </p:txBody>
      </p:sp>
      <p:sp>
        <p:nvSpPr>
          <p:cNvPr id="3" name="Content Placeholder 2"/>
          <p:cNvSpPr>
            <a:spLocks noGrp="1"/>
          </p:cNvSpPr>
          <p:nvPr>
            <p:ph idx="1"/>
          </p:nvPr>
        </p:nvSpPr>
        <p:spPr/>
        <p:txBody>
          <a:bodyPr/>
          <a:lstStyle/>
          <a:p>
            <a:pPr>
              <a:defRPr sz="1600"/>
            </a:pPr>
            <a:r>
              <a:t>un dispositif de protection doit séparer.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411.3.2.1 A l’exception du cas indiqué en 411.3.2.5,</a:t>
            </a:r>
          </a:p>
        </p:txBody>
      </p:sp>
      <p:sp>
        <p:nvSpPr>
          <p:cNvPr id="3" name="Content Placeholder 2"/>
          <p:cNvSpPr>
            <a:spLocks noGrp="1"/>
          </p:cNvSpPr>
          <p:nvPr>
            <p:ph idx="1"/>
          </p:nvPr>
        </p:nvSpPr>
        <p:spPr/>
        <p:txBody>
          <a:bodyPr/>
          <a:lstStyle/>
          <a:p>
            <a:pPr>
              <a:defRPr sz="1600"/>
            </a:pPr>
            <a:r>
              <a:t>automatiquement de l'alimentation le circuit ou le matériel concerné en cas de défaut entre une partie active et une masse ou un conducteur de protection dans le circuit ou le matériel, dans un temps maximal donné en 411.</a:t>
            </a:r>
          </a:p>
          <a:p>
            <a:pPr>
              <a:defRPr sz="1600"/>
            </a:pPr>
            <a:r>
              <a:t>3.</a:t>
            </a:r>
          </a:p>
          <a:p>
            <a:pPr>
              <a:defRPr sz="1600"/>
            </a:pPr>
            <a:r>
              <a:t>2.</a:t>
            </a:r>
          </a:p>
          <a:p>
            <a:pPr>
              <a:defRPr sz="1600"/>
            </a:pPr>
            <a:r>
              <a:t>2 ou 411.</a:t>
            </a:r>
          </a:p>
          <a:p>
            <a:pPr>
              <a:defRPr sz="1600"/>
            </a:pPr>
            <a:r>
              <a:t>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411.3.2.2 Selon la tension nominale entre phase et neutre U 0, le temps de coupure maximal</a:t>
            </a:r>
          </a:p>
        </p:txBody>
      </p:sp>
      <p:sp>
        <p:nvSpPr>
          <p:cNvPr id="3" name="Content Placeholder 2"/>
          <p:cNvSpPr>
            <a:spLocks noGrp="1"/>
          </p:cNvSpPr>
          <p:nvPr>
            <p:ph idx="1"/>
          </p:nvPr>
        </p:nvSpPr>
        <p:spPr/>
        <p:txBody>
          <a:bodyPr/>
          <a:lstStyle/>
          <a:p>
            <a:pPr>
              <a:defRPr sz="1600"/>
            </a:pPr>
            <a:r>
              <a:t>du tableau 41A doit être appliqué à tous les circuits terminaux.</a:t>
            </a:r>
          </a:p>
          <a:p>
            <a:pPr>
              <a:defRPr sz="1600"/>
            </a:pPr>
            <a:r>
              <a:t>Tableau 41A - Temps de coupure maximal (en secondes) pour les circuits terminaux  Temps de coupure  (s)  Schéma TN ou IT Schéma TT  50 V &lt; U 0 ≤ 120 V continu  alternatif  120 V &lt; U 0 ≤ 230 V continu alternatif  230 V &lt; U 0 ≤ 400 V continu alternatif  U0 &gt; 400 V  Alternatif  continu  0,8 0,3  5 5  0,4 0,2  5 0,4  0,2 0,07  0,4 0,2  0,1 0,04  0,1 0,1  NOTE - Le courant continu lisse est défini conventionnellement par un taux d'ondulation non supérieur à 10 % valeur efficace; la valeur maximale de crête n'est pas supérieure à 140 V pour une tension nominale de 120 V en courant continu lisse et 70 V pour une tension nominale de 60 V en courant continu lisse.</a:t>
            </a:r>
          </a:p>
          <a:p>
            <a:pPr>
              <a:defRPr sz="1600"/>
            </a:pPr>
            <a:r>
              <a:t>Ces temps dérivent d’une courbe définissant le temps de coupure du dispositif de protection en fonction de la tension de contact présumée.</a:t>
            </a:r>
          </a:p>
          <a:p>
            <a:pPr>
              <a:defRPr sz="1600"/>
            </a:pPr>
            <a:r>
              <a:t>Cette courbe a été établie en tenant compte des études internationales sur les effets du courant électrique sur le corps humain rassemblées dans le guide UTE C 15-110.</a:t>
            </a:r>
          </a:p>
          <a:p>
            <a:pPr>
              <a:defRPr sz="1600"/>
            </a:pPr>
            <a:r>
              <a:t>Les temps de coupure ci-dessus sont satisfaits notamment par les dispositifs différentiels non volontairement retardés ou, lorsque U0 est inférieure ou égale à 230 V, de type 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411.3.2.3 Un temps de coupure conventionnel non supérieur à 5 s est admis pour les circuits</a:t>
            </a:r>
          </a:p>
        </p:txBody>
      </p:sp>
      <p:sp>
        <p:nvSpPr>
          <p:cNvPr id="3" name="Content Placeholder 2"/>
          <p:cNvSpPr>
            <a:spLocks noGrp="1"/>
          </p:cNvSpPr>
          <p:nvPr>
            <p:ph idx="1"/>
          </p:nvPr>
        </p:nvSpPr>
        <p:spPr/>
        <p:txBody>
          <a:bodyPr/>
          <a:lstStyle/>
          <a:p>
            <a:pPr>
              <a:defRPr sz="1600"/>
            </a:pPr>
            <a:r>
              <a:t>de distribution.</a:t>
            </a:r>
          </a:p>
          <a:p>
            <a:pPr>
              <a:defRPr sz="1600"/>
            </a:pPr>
            <a:r>
              <a:t>Toutefois, il est recommandé de réaliser la sélectivité des protections dans les temps les plus courts compatibles avec une utilisation normale.</a:t>
            </a:r>
          </a:p>
          <a:p>
            <a:pPr>
              <a:defRPr sz="1600"/>
            </a:pPr>
            <a:r>
              <a:t>- 69 -   C.</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411.3.2.5 Si la coupure automatique conformément à 411.3.2.1 ne peut être réalisée</a:t>
            </a:r>
          </a:p>
        </p:txBody>
      </p:sp>
      <p:sp>
        <p:nvSpPr>
          <p:cNvPr id="3" name="Content Placeholder 2"/>
          <p:cNvSpPr>
            <a:spLocks noGrp="1"/>
          </p:cNvSpPr>
          <p:nvPr>
            <p:ph idx="1"/>
          </p:nvPr>
        </p:nvSpPr>
        <p:spPr/>
        <p:txBody>
          <a:bodyPr/>
          <a:lstStyle/>
          <a:p>
            <a:pPr>
              <a:defRPr sz="1600"/>
            </a:pPr>
            <a:r>
              <a:t>temps prescrits en 411.</a:t>
            </a:r>
          </a:p>
          <a:p>
            <a:pPr>
              <a:defRPr sz="1600"/>
            </a:pPr>
            <a:r>
              <a:t>3.</a:t>
            </a:r>
          </a:p>
          <a:p>
            <a:pPr>
              <a:defRPr sz="1600"/>
            </a:pPr>
            <a:r>
              <a:t>2.</a:t>
            </a:r>
          </a:p>
          <a:p>
            <a:pPr>
              <a:defRPr sz="1600"/>
            </a:pPr>
            <a:r>
              <a:t>2 ou 411.</a:t>
            </a:r>
          </a:p>
          <a:p>
            <a:pPr>
              <a:defRPr sz="1600"/>
            </a:pPr>
            <a:r>
              <a:t>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411.3.3 Protection complémentaire</a:t>
            </a:r>
          </a:p>
        </p:txBody>
      </p:sp>
      <p:sp>
        <p:nvSpPr>
          <p:cNvPr id="3" name="Content Placeholder 2"/>
          <p:cNvSpPr>
            <a:spLocks noGrp="1"/>
          </p:cNvSpPr>
          <p:nvPr>
            <p:ph idx="1"/>
          </p:nvPr>
        </p:nvSpPr>
        <p:spPr/>
        <p:txBody>
          <a:bodyPr/>
          <a:lstStyle/>
          <a:p>
            <a:pPr>
              <a:defRPr sz="1600"/>
            </a:pPr>
            <a:r>
              <a:t>En courant alternatif, terminaux doivent être pourvus d’une protection complémentaire par dispositif différentiel de courant différentiel-résiduel assigné au plus égal à 30 mA conformément à 415.</a:t>
            </a:r>
          </a:p>
          <a:p>
            <a:pPr>
              <a:defRPr sz="1600"/>
            </a:pPr>
            <a:r>
              <a:t>1 lorsqu’ils alimentent :  les circuits  - -  -  les socles de prise de courant de courant assigné au plus égal à 32 A ; les socles de prise de courant installés dans des locaux ou emplacements de la classe d’influences externes AD4, quel que soit leur courant assigné ; les socles de prises de courant dans les installations temporaires, telles que les installations de chantiers, quel que soit leur courant assigné.</a:t>
            </a:r>
          </a:p>
          <a:p>
            <a:pPr>
              <a:defRPr sz="1600"/>
            </a:pPr>
            <a:r>
              <a:t>D'autres situations, où l'emploi de dispositifs à courant différentiel-résiduel (DDR) de courant assigné au plus égal à 30 mA est prescrit, sont indiquées dans le titre 7.</a:t>
            </a:r>
          </a:p>
          <a:p>
            <a:pPr>
              <a:defRPr sz="1600"/>
            </a:pPr>
            <a:r>
              <a:t>NOTE - Si une installation est prévue pour l’utilisation de matériels portatifs à l’extérieur, il est recommandé de mettre en œuvre un ou deux socles de prise de courant à l’extérieur.</a:t>
            </a:r>
          </a:p>
          <a:p>
            <a:pPr>
              <a:defRPr sz="1600"/>
            </a:pPr>
            <a:r>
              <a:t>L'emploi de DDR à haute sensibilité est particulièrement justifié pour assurer la protection des câbles souples alimentant les appareils mobiles ou portatifs, l'usure ou le vieillissement de ces câbles pouvant entraîner la détérioration de l'isolant ou la rupture du conducteur de protection, sans que de tels défauts puissent être détectés.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411.4 Schéma TN</a:t>
            </a:r>
          </a:p>
        </p:txBody>
      </p:sp>
      <p:sp>
        <p:nvSpPr>
          <p:cNvPr id="3" name="Content Placeholder 2"/>
          <p:cNvSpPr>
            <a:spLocks noGrp="1"/>
          </p:cNvSpPr>
          <p:nvPr>
            <p:ph idx="1"/>
          </p:nvPr>
        </p:nvSpPr>
        <p:spPr/>
        <p:txBody>
          <a:bodyPr/>
          <a:lstStyle/>
          <a:p>
            <a:pPr>
              <a:defRPr sz="1600"/>
            </a:pPr>
            <a:r>
              <a:t>La réalisation d’un schéma TN dans une installation alimentée par le réseau de distribution publique basse tension est traitée en annexe D.</a:t>
            </a:r>
          </a:p>
          <a:p>
            <a:pPr>
              <a:defRPr sz="1600"/>
            </a:pPr>
            <a:r>
              <a:t>C.</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411.4.1 Les masses de l'installation doivent être reliées par des conducteurs de protection</a:t>
            </a:r>
          </a:p>
        </p:txBody>
      </p:sp>
      <p:sp>
        <p:nvSpPr>
          <p:cNvPr id="3" name="Content Placeholder 2"/>
          <p:cNvSpPr>
            <a:spLocks noGrp="1"/>
          </p:cNvSpPr>
          <p:nvPr>
            <p:ph idx="1"/>
          </p:nvPr>
        </p:nvSpPr>
        <p:spPr/>
        <p:txBody>
          <a:bodyPr/>
          <a:lstStyle/>
          <a:p>
            <a:pPr>
              <a:defRPr sz="1600"/>
            </a:pPr>
            <a:r>
              <a:t>à la borne principale de terre de l’installation, laquelle doit être connectée au point de l’alimentation mis à la terre.</a:t>
            </a:r>
          </a:p>
          <a:p>
            <a:pPr>
              <a:defRPr sz="1600"/>
            </a:pPr>
            <a:r>
              <a:t>Le point de l'alimentation mis à la terre est généralement le point neutre.</a:t>
            </a:r>
          </a:p>
          <a:p>
            <a:pPr>
              <a:defRPr sz="1600"/>
            </a:pPr>
            <a:r>
              <a:t>Si le point neutre n'est pas disponible, ou n'est pas accessible, un conducteur de phase doit être mis à la terre.</a:t>
            </a:r>
          </a:p>
          <a:p>
            <a:pPr>
              <a:defRPr sz="1600"/>
            </a:pPr>
            <a:r>
              <a:t>En aucun cas le conducteur de phase ne doit servir de conducteur de protection (voir 411.</a:t>
            </a:r>
          </a:p>
          <a:p>
            <a:pPr>
              <a:defRPr sz="1600"/>
            </a:pPr>
            <a:r>
              <a:t>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411.4.2 Dans les installations fixes, un seul conducteur peut être utilisé à la fois comme</a:t>
            </a:r>
          </a:p>
        </p:txBody>
      </p:sp>
      <p:sp>
        <p:nvSpPr>
          <p:cNvPr id="3" name="Content Placeholder 2"/>
          <p:cNvSpPr>
            <a:spLocks noGrp="1"/>
          </p:cNvSpPr>
          <p:nvPr>
            <p:ph idx="1"/>
          </p:nvPr>
        </p:nvSpPr>
        <p:spPr/>
        <p:txBody>
          <a:bodyPr/>
          <a:lstStyle/>
          <a:p>
            <a:pPr>
              <a:defRPr sz="1600"/>
            </a:pPr>
            <a:r>
              <a:t>conducteur de protection et comme conducteur neutre (conducteur PEN), sous réserve que les prescriptions de 543.</a:t>
            </a:r>
          </a:p>
          <a:p>
            <a:pPr>
              <a:defRPr sz="1600"/>
            </a:pPr>
            <a:r>
              <a:t>4 soient respectées.</a:t>
            </a:r>
          </a:p>
          <a:p>
            <a:pPr>
              <a:defRPr sz="1600"/>
            </a:pPr>
            <a:r>
              <a:t>Le conducteur PEN ne doit être ni  sectionné, ni coupé.</a:t>
            </a:r>
          </a:p>
          <a:p>
            <a:pPr>
              <a:defRPr sz="1600"/>
            </a:pPr>
            <a:r>
              <a:t>L'installation est réalisée de manière à éviter tout risque de rupture du conducteur PEN ; en particulier, il y a lieu de donner à ce conducteur une section suffisante du point de vue de la résistance mécanique, de le réaliser en matériau résistant à la corrosion et d'éviter les lignes aériennes exposées à des risques mécaniques.</a:t>
            </a:r>
          </a:p>
          <a:p>
            <a:pPr>
              <a:defRPr sz="1600"/>
            </a:pPr>
            <a:r>
              <a:t>Les câbles souples utilisés comme canalisations mobiles doivent comporter un conducteur de protection distinct du conducteur neutre.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411.4.3 Les caractéristiques</a:t>
            </a:r>
          </a:p>
        </p:txBody>
      </p:sp>
      <p:sp>
        <p:nvSpPr>
          <p:cNvPr id="3" name="Content Placeholder 2"/>
          <p:cNvSpPr>
            <a:spLocks noGrp="1"/>
          </p:cNvSpPr>
          <p:nvPr>
            <p:ph idx="1"/>
          </p:nvPr>
        </p:nvSpPr>
        <p:spPr/>
        <p:txBody>
          <a:bodyPr/>
          <a:lstStyle/>
          <a:p>
            <a:pPr>
              <a:defRPr sz="1600"/>
            </a:pPr>
            <a:r>
              <a:t>des circuits doivent être telles que le courant de défaut soit supérieur ou égal au courant Ia :    des dispositifs de protection (voir 411.</a:t>
            </a:r>
          </a:p>
          <a:p>
            <a:pPr>
              <a:defRPr sz="1600"/>
            </a:pPr>
            <a:r>
              <a:t>4.</a:t>
            </a:r>
          </a:p>
          <a:p>
            <a:pPr>
              <a:defRPr sz="1600"/>
            </a:pPr>
            <a:r>
              <a:t>4)    et les impédances  Uo / Zs ≥ Ia  (1) Voir annexe de la partie 3 de la norme NF C 13-200  - 71 -  2002    où  Zs  Ia  Uo  est l'impédance, en ohm, de la boucle de défaut comprenant la source, le conducteur actif jusqu'au point de défaut et le conducteur de protection entre le point de défaut et la source.</a:t>
            </a:r>
          </a:p>
          <a:p>
            <a:pPr>
              <a:defRPr sz="1600"/>
            </a:pPr>
            <a:r>
              <a:t>est le courant assurant le fonctionnement du dispositif de coupure automatique dans le temps défini en 411.</a:t>
            </a:r>
          </a:p>
          <a:p>
            <a:pPr>
              <a:defRPr sz="1600"/>
            </a:pPr>
            <a:r>
              <a:t>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411.4.4 Dans le schéma TN, les dispositifs de protection suivants peuvent être utilisés</a:t>
            </a:r>
          </a:p>
        </p:txBody>
      </p:sp>
      <p:sp>
        <p:nvSpPr>
          <p:cNvPr id="3" name="Content Placeholder 2"/>
          <p:cNvSpPr>
            <a:spLocks noGrp="1"/>
          </p:cNvSpPr>
          <p:nvPr>
            <p:ph idx="1"/>
          </p:nvPr>
        </p:nvSpPr>
        <p:spPr/>
        <p:txBody>
          <a:bodyPr/>
          <a:lstStyle/>
          <a:p>
            <a:pPr>
              <a:defRPr sz="1600"/>
            </a:pPr>
            <a:r>
              <a:t>pour la protection contre les contacts indirects :  - -  dispositifs de protection contre les surintensités ; dispositifs de protection à courant différentiel-résiduel  NOTE – Le circuit est aussi protégé par un dispositif de protection contre les surintensités conformément à la partie 4-43.</a:t>
            </a:r>
          </a:p>
          <a:p>
            <a:pPr>
              <a:defRPr sz="1600"/>
            </a:pPr>
            <a:r>
              <a:t>Un dispositif à courant différentiel ne doit pas être utilisé en schéma TN-C.</a:t>
            </a:r>
          </a:p>
          <a:p>
            <a:pPr>
              <a:defRPr sz="1600"/>
            </a:pPr>
            <a:r>
              <a:t>Lorsqu'un dispositif de protection à courant différentiel-résiduel est utilisé dans un schéma TN-C-S, un conducteur PEN ne doit pas être utilisé en aval.</a:t>
            </a:r>
          </a:p>
          <a:p>
            <a:pPr>
              <a:defRPr sz="1600"/>
            </a:pPr>
            <a:r>
              <a:t>La liaison du conducteur de protection au conducteur PEN doit être effectuée en amont du dispositif de protection à courant différentiel-résiduel.</a:t>
            </a:r>
          </a:p>
          <a:p>
            <a:pPr>
              <a:defRPr sz="1600"/>
            </a:pPr>
            <a:r>
              <a:t>NOTE – Si une sélectivité entre dispositifs différentiels est nécessaire, voir 535.</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411.5.1 Toutes les masses protégées par un même dispositif de protection doivent être</a:t>
            </a:r>
          </a:p>
        </p:txBody>
      </p:sp>
      <p:sp>
        <p:nvSpPr>
          <p:cNvPr id="3" name="Content Placeholder 2"/>
          <p:cNvSpPr>
            <a:spLocks noGrp="1"/>
          </p:cNvSpPr>
          <p:nvPr>
            <p:ph idx="1"/>
          </p:nvPr>
        </p:nvSpPr>
        <p:spPr/>
        <p:txBody>
          <a:bodyPr/>
          <a:lstStyle/>
          <a:p>
            <a:pPr>
              <a:defRPr sz="1600"/>
            </a:pPr>
            <a:r>
              <a:t>connectées à des conducteurs de protection reliés à une même prise de terre.</a:t>
            </a:r>
          </a:p>
          <a:p>
            <a:pPr>
              <a:defRPr sz="1600"/>
            </a:pPr>
            <a:r>
              <a:t>Si plusieurs dispositifs de protection sont montés en série, cette prescription s'applique séparément à toutes les masses protégées par le même dispositif.</a:t>
            </a:r>
          </a:p>
          <a:p>
            <a:pPr>
              <a:defRPr sz="1600"/>
            </a:pPr>
            <a:r>
              <a:t>Généralement, le point de l’alimentation mis à la terre est le point neutre.</a:t>
            </a:r>
          </a:p>
          <a:p>
            <a:pPr>
              <a:defRPr sz="1600"/>
            </a:pPr>
            <a:r>
              <a:t>Si le neutre n’existe pas ou n’est pas accessible, un conducteur actif doit être mis à la terre.</a:t>
            </a:r>
          </a:p>
          <a:p>
            <a:pPr>
              <a:defRPr sz="1600"/>
            </a:pPr>
            <a:r>
              <a:t>Les installations alimentées directement par un réseau de distribution publique à basse tension sont réalisées selon le schéma TT.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411.5.2 En schéma TT, les dispositifs de protection sont des dispositifs différentiels</a:t>
            </a:r>
          </a:p>
        </p:txBody>
      </p:sp>
      <p:sp>
        <p:nvSpPr>
          <p:cNvPr id="3" name="Content Placeholder 2"/>
          <p:cNvSpPr>
            <a:spLocks noGrp="1"/>
          </p:cNvSpPr>
          <p:nvPr>
            <p:ph idx="1"/>
          </p:nvPr>
        </p:nvSpPr>
        <p:spPr/>
        <p:txBody>
          <a:bodyPr/>
          <a:lstStyle/>
          <a:p>
            <a:pPr>
              <a:defRPr sz="1600"/>
            </a:pPr>
            <a:r>
              <a:t>Le conducteur neutre ne doit pas être relié à la terre en aval d'un dispositif différentiel.</a:t>
            </a:r>
          </a:p>
          <a:p>
            <a:pPr>
              <a:defRPr sz="1600"/>
            </a:pPr>
            <a:r>
              <a:t>La précédente édition de la norme NF C 15-100 prévoyait la possibilité d’utiliser des dispositifs de protection contre les surintensités, tout en expliquant dans les commentaires que ce mode de protection ne convenait généralement pas.</a:t>
            </a:r>
          </a:p>
          <a:p>
            <a:pPr>
              <a:defRPr sz="1600"/>
            </a:pPr>
            <a:r>
              <a:t>L’introduction dans la présente norme de temps de coupure maximaux pour le schéma TT (voir 411.</a:t>
            </a:r>
          </a:p>
          <a:p>
            <a:pPr>
              <a:defRPr sz="1600"/>
            </a:pPr>
            <a:r>
              <a:t>3.</a:t>
            </a:r>
          </a:p>
          <a:p>
            <a:pPr>
              <a:defRPr sz="1600"/>
            </a:pPr>
            <a:r>
              <a:t>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411.5.3 En courant alternatif, la condition suivante doit être satisfaite :</a:t>
            </a:r>
          </a:p>
        </p:txBody>
      </p:sp>
      <p:sp>
        <p:nvSpPr>
          <p:cNvPr id="3" name="Content Placeholder 2"/>
          <p:cNvSpPr>
            <a:spLocks noGrp="1"/>
          </p:cNvSpPr>
          <p:nvPr>
            <p:ph idx="1"/>
          </p:nvPr>
        </p:nvSpPr>
        <p:spPr/>
        <p:txBody>
          <a:bodyPr/>
          <a:lstStyle/>
          <a:p>
            <a:pPr>
              <a:defRPr sz="1600"/>
            </a:pPr>
            <a:r>
              <a:t>RA x I ∆n ≤ 50 V  est la résistance de la prise de terre des masses   est le courant différentiel-résiduel assigné du dispositif de protection  où  RA  I∆n  NOTE - Si une sélectivité entre dispositifs   différentiels est nécessaire, voir 535.</a:t>
            </a:r>
          </a:p>
          <a:p>
            <a:pPr>
              <a:defRPr sz="1600"/>
            </a:pPr>
            <a:r>
              <a:t>4.</a:t>
            </a:r>
          </a:p>
          <a:p>
            <a:pPr>
              <a:defRPr sz="1600"/>
            </a:pPr>
            <a:r>
              <a:t>Lorsque plusieurs dispositifs différentiels sont mis en œuvre pour protéger des masses reliées à la même prise de terre, la valeur de I∆n à prendre en considération est le plus grand courant différentiel-résiduel des dispositifs intéressés.</a:t>
            </a:r>
          </a:p>
          <a:p>
            <a:pPr>
              <a:defRPr sz="1600"/>
            </a:pPr>
            <a:r>
              <a:t>- 73 -  2002   Cette condition détermine la valeur maximale de la résistance de la prise de terre des masses en fonction des caractéristiques de fonctionnement des dispositifs de coupure automatique.</a:t>
            </a:r>
          </a:p>
          <a:p>
            <a:pPr>
              <a:defRPr sz="1600"/>
            </a:pPr>
            <a:r>
              <a:t>Pour l'application de la condition, on peut prendre en considération l'impédance de la boucle de défaut au lieu de la résistance RA de la prise de terre des masses.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411.6.1 Dans le schéma IT, l’installation doit être isolée de la terre ou reliée à la terre à</a:t>
            </a:r>
          </a:p>
        </p:txBody>
      </p:sp>
      <p:sp>
        <p:nvSpPr>
          <p:cNvPr id="3" name="Content Placeholder 2"/>
          <p:cNvSpPr>
            <a:spLocks noGrp="1"/>
          </p:cNvSpPr>
          <p:nvPr>
            <p:ph idx="1"/>
          </p:nvPr>
        </p:nvSpPr>
        <p:spPr/>
        <p:txBody>
          <a:bodyPr/>
          <a:lstStyle/>
          <a:p>
            <a:pPr>
              <a:defRPr sz="1600"/>
            </a:pPr>
            <a:r>
              <a:t>travers une impédance de valeur suffisamment élevée.</a:t>
            </a:r>
          </a:p>
          <a:p>
            <a:pPr>
              <a:defRPr sz="1600"/>
            </a:pPr>
            <a:r>
              <a:t>Cette liaison s'effectue soit au point neutre de l'installation, soit à défaut à un point neutre artificiel qui peut être relié directement à la terre si l'impédance homopolaire correspondante a une valeur suffisante.</a:t>
            </a:r>
          </a:p>
          <a:p>
            <a:pPr>
              <a:defRPr sz="1600"/>
            </a:pPr>
            <a:r>
              <a:t>Lorsque aucun point neutre n'existe, un conducteur de phase peut être relié à la terre à travers une impédance.</a:t>
            </a:r>
          </a:p>
          <a:p>
            <a:pPr>
              <a:defRPr sz="1600"/>
            </a:pPr>
            <a:r>
              <a:t>En cas de défaut d’isolement sur un même conducteur actif, le courant de défaut est faible et la coupure automatique conforme à 411.</a:t>
            </a:r>
          </a:p>
          <a:p>
            <a:pPr>
              <a:defRPr sz="1600"/>
            </a:pPr>
            <a:r>
              <a:t>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411.6.2 est satisfaite. Toutefois,</a:t>
            </a:r>
          </a:p>
        </p:txBody>
      </p:sp>
      <p:sp>
        <p:nvSpPr>
          <p:cNvPr id="3" name="Content Placeholder 2"/>
          <p:cNvSpPr>
            <a:spLocks noGrp="1"/>
          </p:cNvSpPr>
          <p:nvPr>
            <p:ph idx="1"/>
          </p:nvPr>
        </p:nvSpPr>
        <p:spPr/>
        <p:txBody>
          <a:bodyPr/>
          <a:lstStyle/>
          <a:p>
            <a:pPr>
              <a:defRPr sz="1600"/>
            </a:pPr>
            <a:r>
              <a:t>d'effet pathophysiologique dangereux pour une personne en contact avec des parties conductrices simultanément accessibles en cas de deux défauts simultanés concernant deux conducteurs actifs différents.</a:t>
            </a:r>
          </a:p>
          <a:p>
            <a:pPr>
              <a:defRPr sz="1600"/>
            </a:pPr>
            <a:r>
              <a:t>n'est pas impérative si la condition  NOTE - Afin de réduire les surtensions et d'amortir les oscillations, la mise à la terre par l'intermédiaire d'impédance ou de point neutre artificiel peut être nécessaire ; il convient que leurs caractéristiques soient appropriées à celles de l'installation.</a:t>
            </a:r>
          </a:p>
          <a:p>
            <a:pPr>
              <a:defRPr sz="1600"/>
            </a:pPr>
            <a:r>
              <a:t>En général, la valeur de l’impédance est prise de l’ordre de 4 à 6 fois la tension simple de l’installation, par exemple de l’ordre de 1 000 ohms pour des installations 230/400 V à fréquence industrielle.</a:t>
            </a:r>
          </a:p>
          <a:p>
            <a:pPr>
              <a:defRPr sz="1600"/>
            </a:pPr>
            <a:r>
              <a:t>L1  L2  L3  lf  M  PE  RA  lf  C3 C2  C1  Figure 411C – Boucle de premier défaut en schéma IT isolé de la terre  - 74 -  2002   Lorsque l'installation est isolée de la terre, le courant de premier défaut se referme par les capacités des deux autres phases par rapport à la terre.</a:t>
            </a:r>
          </a:p>
          <a:p>
            <a:pPr>
              <a:defRPr sz="1600"/>
            </a:pPr>
            <a:r>
              <a:t>C  N  lf  L1  L2  L3  lf  C3 C2  C1  Zs  RB  M  PE  RA  lf  Figure 411D – Boucle de premier défaut en schéma IT avec neutre relié à la terre par une impédance  Lorsque l'installation est reliée à la terre par une impédance, l’intensité du courant de premier défaut est limitée par la valeur de l’impédance résultant de la mise en parallèle de Zs et des capacités des deux autres phases par rapport à la terre.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411.6.2 Les masses doivent être reliées à la terre, soit individuellement, soit par groupes</a:t>
            </a:r>
          </a:p>
        </p:txBody>
      </p:sp>
      <p:sp>
        <p:nvSpPr>
          <p:cNvPr id="3" name="Content Placeholder 2"/>
          <p:cNvSpPr>
            <a:spLocks noGrp="1"/>
          </p:cNvSpPr>
          <p:nvPr>
            <p:ph idx="1"/>
          </p:nvPr>
        </p:nvSpPr>
        <p:spPr/>
        <p:txBody>
          <a:bodyPr/>
          <a:lstStyle/>
          <a:p>
            <a:pPr>
              <a:defRPr sz="1600"/>
            </a:pPr>
            <a:r>
              <a:t>ou ensemble.</a:t>
            </a:r>
          </a:p>
          <a:p>
            <a:pPr>
              <a:defRPr sz="1600"/>
            </a:pPr>
            <a:r>
              <a:t>NOTE - Dans de grands bâtiments, tels que des immeubles de grande hauteur, des mises à la terre additionnelles des conducteurs de protection ne sont pas possibles pour des raisons pratiques.</a:t>
            </a:r>
          </a:p>
          <a:p>
            <a:pPr>
              <a:defRPr sz="1600"/>
            </a:pPr>
            <a:r>
              <a:t>Des liaisons équipotentielles entre conducteurs de protection et éléments conducteurs ont, toutefois, une fonction similaire dans de tels cas.</a:t>
            </a:r>
          </a:p>
          <a:p>
            <a:pPr>
              <a:defRPr sz="1600"/>
            </a:pPr>
            <a:r>
              <a:t>De plus, la condition suivante doit être remplie :  Pour les réseaux à courant alternatif  Pour les réseaux à courant continu  RA x If ≤ 50 V  RA x I f ≤ 120 V  où  RA If  est la résistance de mise à la terre des masses.</a:t>
            </a:r>
          </a:p>
          <a:p>
            <a:pPr>
              <a:defRPr sz="1600"/>
            </a:pPr>
            <a:r>
              <a:t>est le courant de défaut en cas de premier défaut franc de faible impédance entre un conducteur de phase et une masse.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411.6.3 Un contrôleur permanent d'isolement doit être prévu pour indiquer l'apparition d'un</a:t>
            </a:r>
          </a:p>
        </p:txBody>
      </p:sp>
      <p:sp>
        <p:nvSpPr>
          <p:cNvPr id="3" name="Content Placeholder 2"/>
          <p:cNvSpPr>
            <a:spLocks noGrp="1"/>
          </p:cNvSpPr>
          <p:nvPr>
            <p:ph idx="1"/>
          </p:nvPr>
        </p:nvSpPr>
        <p:spPr/>
        <p:txBody>
          <a:bodyPr/>
          <a:lstStyle/>
          <a:p>
            <a:pPr>
              <a:defRPr sz="1600"/>
            </a:pPr>
            <a:r>
              <a:t>premier défaut d'une partie active à la masse ou à la terre.</a:t>
            </a:r>
          </a:p>
          <a:p>
            <a:pPr>
              <a:defRPr sz="1600"/>
            </a:pPr>
            <a:r>
              <a:t>Ce dispositif doit actionner un signal sonore ou un signal visuel.</a:t>
            </a:r>
          </a:p>
          <a:p>
            <a:pPr>
              <a:defRPr sz="1600"/>
            </a:pPr>
            <a:r>
              <a:t>Si les deux signaux sonores et visuels existent, il est permis d’annuler le signal sonore, mais le signal visuel doit persister tant que le défaut existe.</a:t>
            </a:r>
          </a:p>
          <a:p>
            <a:pPr>
              <a:defRPr sz="1600"/>
            </a:pPr>
            <a:r>
              <a:t>Les conditions relatives au choix et à la mise en œuvre des contrôleurs permanents d'isolement sont indiquées en 532.</a:t>
            </a:r>
          </a:p>
          <a:p>
            <a:pPr>
              <a:defRPr sz="1600"/>
            </a:pPr>
            <a:r>
              <a:t>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411.6.4 Après l'apparition d'un premier défaut, les conditions de coupure automatique de</a:t>
            </a:r>
          </a:p>
        </p:txBody>
      </p:sp>
      <p:sp>
        <p:nvSpPr>
          <p:cNvPr id="3" name="Content Placeholder 2"/>
          <p:cNvSpPr>
            <a:spLocks noGrp="1"/>
          </p:cNvSpPr>
          <p:nvPr>
            <p:ph idx="1"/>
          </p:nvPr>
        </p:nvSpPr>
        <p:spPr/>
        <p:txBody>
          <a:bodyPr/>
          <a:lstStyle/>
          <a:p>
            <a:pPr>
              <a:defRPr sz="1600"/>
            </a:pPr>
            <a:r>
              <a:t>l'alimentation au deuxième défaut doivent être comme suit :  a) Lorsque  les masses sont  interconnectées par un conducteur de protection, et collectivement mises à la terre, les conditions du schéma TN s'appliquent et la condition suivante doit être satisfaite lorsque le neutre n'est pas distribué dans les réseaux à courant alternatif et dans les réseaux à courant continu où le conducteur médian n’est pas distribué :  0,5 U / Zs ≥ Ia  ou, lorsque le neutre ou le conducteur médian est distribué:  0,5 Uo / Z’ s ≥ Ia  où Uo  U  ZS  Z'S  Ia  est la tension nominale entre phase et neutre, valeur efficace en courant alternatif ou lisse en courant continu est la tension entre phases, valeur efficace en courant alternatif ou lisse en courant continu est l'impédance de la boucle de défaut constituée du conducteur de phase et du conducteur de protection du circuit est l'impédance de la boucle de défaut constituée du conducteur neutre et du conducteur de protection du circuit est le courant assurant le fonctionnement du dispositif de protection dans le temps t prescrit dans le tableau 41A.</a:t>
            </a:r>
          </a:p>
          <a:p>
            <a:pPr>
              <a:defRPr sz="1600"/>
            </a:pPr>
            <a:r>
              <a:t>b) Lorsque des masses sont mises à la terre par groupes ou individuellement, les conditions de protection sont celles de 411.</a:t>
            </a:r>
          </a:p>
          <a:p>
            <a:pPr>
              <a:defRPr sz="1600"/>
            </a:pPr>
            <a:r>
              <a:t>5 comme pour le schéma TT, à l'exception du deuxième alinéa de 411.</a:t>
            </a:r>
          </a:p>
          <a:p>
            <a:pPr>
              <a:defRPr sz="1600"/>
            </a:pPr>
            <a:r>
              <a:t>5.</a:t>
            </a:r>
          </a:p>
          <a:p>
            <a:pPr>
              <a:defRPr sz="1600"/>
            </a:pPr>
            <a:r>
              <a:t>1 qui ne s'applique pas.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411.6.5 En schéma IT, les dispositifs de contrôle et de protection suivants peuvent être</a:t>
            </a:r>
          </a:p>
        </p:txBody>
      </p:sp>
      <p:sp>
        <p:nvSpPr>
          <p:cNvPr id="3" name="Content Placeholder 2"/>
          <p:cNvSpPr>
            <a:spLocks noGrp="1"/>
          </p:cNvSpPr>
          <p:nvPr>
            <p:ph idx="1"/>
          </p:nvPr>
        </p:nvSpPr>
        <p:spPr/>
        <p:txBody>
          <a:bodyPr/>
          <a:lstStyle/>
          <a:p>
            <a:pPr>
              <a:defRPr sz="1600"/>
            </a:pPr>
            <a:r>
              <a:t>utilisés: - - - -  contrôleurs permanents d'isolement ; dispositifs de recherche de défaut ; dispositifs de protection contre les surintensités ; dispositifs de protection à courant différentiel-résiduel.</a:t>
            </a:r>
          </a:p>
          <a:p>
            <a:pPr>
              <a:defRPr sz="1600"/>
            </a:pPr>
            <a:r>
              <a:t>Les conditions auxquelles doivent satisfaire les dispositifs de protection sont définies par l'article 531.</a:t>
            </a:r>
          </a:p>
          <a:p>
            <a:pPr>
              <a:defRPr sz="1600"/>
            </a:pPr>
            <a:r>
              <a:t>- 77 -  2002.</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411.7 Très Basse Tension Fonctionnelle (TBTF)</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411.7.1 Généralités</a:t>
            </a:r>
          </a:p>
        </p:txBody>
      </p:sp>
      <p:sp>
        <p:nvSpPr>
          <p:cNvPr id="3" name="Content Placeholder 2"/>
          <p:cNvSpPr>
            <a:spLocks noGrp="1"/>
          </p:cNvSpPr>
          <p:nvPr>
            <p:ph idx="1"/>
          </p:nvPr>
        </p:nvSpPr>
        <p:spPr/>
        <p:txBody>
          <a:bodyPr/>
          <a:lstStyle/>
          <a:p>
            <a:pPr>
              <a:defRPr sz="1600"/>
            </a:pPr>
            <a:r>
              <a:t>Lorsque, pour des raisons fonctionnelles, il est fait usage d’une tension nominale ne dépassant pas 50 V efficace en courant alternatif ou 120 V en courant continu lisse, mais que toutes les prescriptions de 411.</a:t>
            </a:r>
          </a:p>
          <a:p>
            <a:pPr>
              <a:defRPr sz="1600"/>
            </a:pPr>
            <a:r>
              <a:t>4 relatives à la TBTS ou à la TBTP   ne sont pas respectées, et lorsqu'une TBTS ou une TBTP n'est pas nécessaire, il faut prendre les mesures de protection complémentaires décrites aux 411.</a:t>
            </a:r>
          </a:p>
          <a:p>
            <a:pPr>
              <a:defRPr sz="1600"/>
            </a:pPr>
            <a:r>
              <a:t>7.</a:t>
            </a:r>
          </a:p>
          <a:p>
            <a:pPr>
              <a:defRPr sz="1600"/>
            </a:pPr>
            <a:r>
              <a:t>2 et 411.</a:t>
            </a:r>
          </a:p>
          <a:p>
            <a:pPr>
              <a:defRPr sz="1600"/>
            </a:pPr>
            <a:r>
              <a:t>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411.7.2 Prescriptions pour la protection contre les contacts directs</a:t>
            </a:r>
          </a:p>
        </p:txBody>
      </p:sp>
      <p:sp>
        <p:nvSpPr>
          <p:cNvPr id="3" name="Content Placeholder 2"/>
          <p:cNvSpPr>
            <a:spLocks noGrp="1"/>
          </p:cNvSpPr>
          <p:nvPr>
            <p:ph idx="1"/>
          </p:nvPr>
        </p:nvSpPr>
        <p:spPr/>
        <p:txBody>
          <a:bodyPr/>
          <a:lstStyle/>
          <a:p>
            <a:pPr>
              <a:defRPr sz="1600"/>
            </a:pPr>
            <a:r>
              <a:t>La protection contre les contacts directs doit être assurée :  - soit au moyen d'une isolation conformément à l’annexe A.</a:t>
            </a:r>
          </a:p>
          <a:p>
            <a:pPr>
              <a:defRPr sz="1600"/>
            </a:pPr>
            <a:r>
              <a:t>1 correspondant à la tension  minimale d'essai requise pour le circuit primaire ;  - soit au moyen de barrières ou enveloppes satisfaisant aux   conditions de l'annexe A.</a:t>
            </a:r>
          </a:p>
          <a:p>
            <a:pPr>
              <a:defRPr sz="1600"/>
            </a:pPr>
            <a:r>
              <a:t>2.</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411.7.3 Prescriptions pour la protection contre les contacts indirects</a:t>
            </a:r>
          </a:p>
        </p:txBody>
      </p:sp>
      <p:sp>
        <p:nvSpPr>
          <p:cNvPr id="3" name="Content Placeholder 2"/>
          <p:cNvSpPr>
            <a:spLocks noGrp="1"/>
          </p:cNvSpPr>
          <p:nvPr>
            <p:ph idx="1"/>
          </p:nvPr>
        </p:nvSpPr>
        <p:spPr/>
        <p:txBody>
          <a:bodyPr/>
          <a:lstStyle/>
          <a:p>
            <a:pPr>
              <a:defRPr sz="1600"/>
            </a:pPr>
            <a:r>
              <a:t>Les masses des matériels TBTF doivent être reliées au conducteur de protection du circuit primaire.</a:t>
            </a:r>
          </a:p>
          <a:p>
            <a:pPr>
              <a:defRPr sz="1600"/>
            </a:pPr>
            <a:r>
              <a:t>Lors d'un défaut d'isolement entre les circuits primaire et secondaire, la protection est assurée par la mesure de protection du circuit primaire, mais seulement en cas d'un deuxième défaut dans le circuit secondaire.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411.7.4 Sources</a:t>
            </a:r>
          </a:p>
        </p:txBody>
      </p:sp>
      <p:sp>
        <p:nvSpPr>
          <p:cNvPr id="3" name="Content Placeholder 2"/>
          <p:cNvSpPr>
            <a:spLocks noGrp="1"/>
          </p:cNvSpPr>
          <p:nvPr>
            <p:ph idx="1"/>
          </p:nvPr>
        </p:nvSpPr>
        <p:spPr/>
        <p:txBody>
          <a:bodyPr/>
          <a:lstStyle/>
          <a:p>
            <a:pPr>
              <a:defRPr sz="1600"/>
            </a:pPr>
            <a:r>
              <a:t>C  La source d’un circuit TBTF est soit un enroulements, soit une source conforme à 414.</a:t>
            </a:r>
          </a:p>
          <a:p>
            <a:pPr>
              <a:defRPr sz="1600"/>
            </a:pPr>
            <a:r>
              <a:t>3.</a:t>
            </a:r>
          </a:p>
          <a:p>
            <a:pPr>
              <a:defRPr sz="1600"/>
            </a:pPr>
            <a:r>
              <a:t>transformateur à simple séparation entre.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411.7.5 Prises de courant</a:t>
            </a:r>
          </a:p>
        </p:txBody>
      </p:sp>
      <p:sp>
        <p:nvSpPr>
          <p:cNvPr id="3" name="Content Placeholder 2"/>
          <p:cNvSpPr>
            <a:spLocks noGrp="1"/>
          </p:cNvSpPr>
          <p:nvPr>
            <p:ph idx="1"/>
          </p:nvPr>
        </p:nvSpPr>
        <p:spPr/>
        <p:txBody>
          <a:bodyPr/>
          <a:lstStyle/>
          <a:p>
            <a:pPr>
              <a:defRPr sz="1600"/>
            </a:pPr>
            <a:r>
              <a:t>Les prises de courant pour des circuits TBTF doivent satisfaire aux prescriptions suivantes :  - - -  les fiches ne doivent pas pouvoir entrer dans les socles alimentés sous d'autres tensions ; les socles doivent empêcher l'introduction de fiches conçues pour d'autres tensions ; les socles doivent présenter un contact de protection.</a:t>
            </a:r>
          </a:p>
          <a:p>
            <a:pPr>
              <a:defRPr sz="1600"/>
            </a:pPr>
            <a:r>
              <a:t>412 Mesure de protection par isolation double ou renforcée.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412.1.1 L’isolation double ou renforcée est une mesure de protection dans laquelle :</a:t>
            </a:r>
          </a:p>
        </p:txBody>
      </p:sp>
      <p:sp>
        <p:nvSpPr>
          <p:cNvPr id="3" name="Content Placeholder 2"/>
          <p:cNvSpPr>
            <a:spLocks noGrp="1"/>
          </p:cNvSpPr>
          <p:nvPr>
            <p:ph idx="1"/>
          </p:nvPr>
        </p:nvSpPr>
        <p:spPr/>
        <p:txBody>
          <a:bodyPr/>
          <a:lstStyle/>
          <a:p>
            <a:pPr>
              <a:defRPr sz="1600"/>
            </a:pPr>
            <a:r>
              <a:t>-  -  la protection contre les contacts directs est assurée par une isolation principale et la protection contre les contacts indirects est assurée par une isolation supplémentaire, ou la protection contre les contacts directs et contre les contacts indirects est assurée par une isolation renforcée entre les parties actives et les parties accessibles.</a:t>
            </a:r>
          </a:p>
          <a:p>
            <a:pPr>
              <a:defRPr sz="1600"/>
            </a:pPr>
            <a:r>
              <a:t>NOTE - Cette mesure est prévue pour empêcher l'apparition de tensions dangereuses sur les parties accessibles des matériels électriques lors d'un défaut de l'isolation principale.</a:t>
            </a:r>
          </a:p>
          <a:p>
            <a:pPr>
              <a:defRPr sz="1600"/>
            </a:pPr>
            <a:r>
              <a:t>La classe II est reconnue par les normes relatives à un certain nombre de matériels et notamment les petits transformateurs (de sécurité, de séparation,.</a:t>
            </a:r>
          </a:p>
          <a:p>
            <a:pPr>
              <a:defRPr sz="1600"/>
            </a:pPr>
            <a:r>
              <a:t>).</a:t>
            </a:r>
          </a:p>
          <a:p>
            <a:pPr>
              <a:defRPr sz="1600"/>
            </a:pPr>
            <a:r>
              <a:t>les appareils électrodomestiques,  les outils portatifs à main,  - 78 -   La norme relative aux "ensembles de série ou dérivés de série" (précédemment appelés ensembles d'appareillage montés en usine) (2) reconnaît, sous le vocable "matériel à isolation totale" des matériels présentant une sécurité équivalente à la classe II.</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412.1.2 La mesure de protection par isolation double ou renforcée est applicable dans toutes</a:t>
            </a:r>
          </a:p>
        </p:txBody>
      </p:sp>
      <p:sp>
        <p:nvSpPr>
          <p:cNvPr id="3" name="Content Placeholder 2"/>
          <p:cNvSpPr>
            <a:spLocks noGrp="1"/>
          </p:cNvSpPr>
          <p:nvPr>
            <p:ph idx="1"/>
          </p:nvPr>
        </p:nvSpPr>
        <p:spPr/>
        <p:txBody>
          <a:bodyPr/>
          <a:lstStyle/>
          <a:p>
            <a:pPr>
              <a:defRPr sz="1600"/>
            </a:pPr>
            <a:r>
              <a:t>les situations, à moins de limitations données dans la partie 7.</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412.2 Prescriptions pour la protection contre les contacts directs et pour la protection contre</a:t>
            </a:r>
          </a:p>
        </p:txBody>
      </p:sp>
      <p:sp>
        <p:nvSpPr>
          <p:cNvPr id="3" name="Content Placeholder 2"/>
          <p:cNvSpPr>
            <a:spLocks noGrp="1"/>
          </p:cNvSpPr>
          <p:nvPr>
            <p:ph idx="1"/>
          </p:nvPr>
        </p:nvSpPr>
        <p:spPr/>
        <p:txBody>
          <a:bodyPr/>
          <a:lstStyle/>
          <a:p>
            <a:pPr>
              <a:defRPr sz="1600"/>
            </a:pPr>
            <a:r>
              <a:t>les contacts indirects.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412.2.1 La protection doit être assurée par l’utilisation :</a:t>
            </a:r>
          </a:p>
        </p:txBody>
      </p:sp>
      <p:sp>
        <p:nvSpPr>
          <p:cNvPr id="3" name="Content Placeholder 2"/>
          <p:cNvSpPr>
            <a:spLocks noGrp="1"/>
          </p:cNvSpPr>
          <p:nvPr>
            <p:ph idx="1"/>
          </p:nvPr>
        </p:nvSpPr>
        <p:spPr/>
        <p:txBody>
          <a:bodyPr/>
          <a:lstStyle/>
          <a:p>
            <a:pPr>
              <a:defRPr sz="1600"/>
            </a:pPr>
            <a:r>
              <a:t>a) de matériels électriques des types suivants ayant subi les essais de type et ayant été  repérés selon les règles qui leur sont applicables :  - matériels ayant une isolation double ou renforcée (matériels de la classe II) ; ensembles de série et dérivés de série et possédant une isolation totale -  (2).</a:t>
            </a:r>
          </a:p>
          <a:p>
            <a:pPr>
              <a:defRPr sz="1600"/>
            </a:pPr>
            <a:r>
              <a:t>C  C  NOTE - Ces matériels sont marqués du symbole  b) de canalisations constituées de câbles considérés comme étant de la classe II ;  Sont considérés comme étant de classe II, les câbles ne comportant aucun revêtement métallique et utilisés sous une tension au plus égale à la moitié de leur tension assignée.</a:t>
            </a:r>
          </a:p>
          <a:p>
            <a:pPr>
              <a:defRPr sz="1600"/>
            </a:pPr>
            <a:r>
              <a:t>Ces câbles sont mentionnés dans le tableau 52A.</a:t>
            </a:r>
          </a:p>
          <a:p>
            <a:pPr>
              <a:defRPr sz="1600"/>
            </a:pPr>
            <a:r>
              <a:t>Un câble comportant un conducteur de protection peut être considéré comme un câble de classe II, sous réserve que le conducteur de protection soit isolé dans les mêmes conditions que les conducteurs actifs.</a:t>
            </a:r>
          </a:p>
          <a:p>
            <a:pPr>
              <a:defRPr sz="1600"/>
            </a:pPr>
            <a:r>
              <a:t>Cette condition est conforme à la règle du présent paragraphe concernant la protection par isolation supplémentaire lors de l’installation, pour la traversée d’enveloppes par des conducteurs de protection.</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412.2.2 Enveloppes</a:t>
            </a:r>
          </a:p>
        </p:txBody>
      </p:sp>
      <p:sp>
        <p:nvSpPr>
          <p:cNvPr id="3" name="Content Placeholder 2"/>
          <p:cNvSpPr>
            <a:spLocks noGrp="1"/>
          </p:cNvSpPr>
          <p:nvPr>
            <p:ph idx="1"/>
          </p:nvPr>
        </p:nvSpPr>
        <p:spPr/>
        <p:txBody>
          <a:bodyPr/>
          <a:lstStyle/>
          <a:p>
            <a:pPr>
              <a:defRPr sz="1600"/>
            </a:pPr>
            <a:r>
              <a:t>Le matériel électrique étant en état de fonctionnement, toutes les parties conductrices séparées des parties actives par une isolation principale seulement doivent être enfermées dans une enveloppe isolante possédant au moins le degré de protection IP2X ou IPXXB.</a:t>
            </a:r>
          </a:p>
          <a:p>
            <a:pPr>
              <a:defRPr sz="1600"/>
            </a:pPr>
            <a:r>
              <a:t>(2) NF EN 60439-1 (C 63-421)  - 79 -    C  L'enveloppe isolante ne doit pas être traversée par des parties conductrices susceptibles de propager un potentiel.</a:t>
            </a:r>
          </a:p>
          <a:p>
            <a:pPr>
              <a:defRPr sz="1600"/>
            </a:pPr>
            <a:r>
              <a:t>L'enveloppe ne doit pas comporter de vis en matière isolante dont le l'isolation procurée par remplacement par une vis métallique pourrait compromettre l'enveloppe.</a:t>
            </a:r>
          </a:p>
          <a:p>
            <a:pPr>
              <a:defRPr sz="1600"/>
            </a:pPr>
            <a:r>
              <a:t>NOTE - Lorsqu'il est impératif que l'enveloppe isolante soit traversée par des liaisons mécaniques (par exemple organes de commande d'appareils incorporés), celles-ci doivent être disposées de telle sorte que la protection contre les chocs électriques ne soit pas compromise.</a:t>
            </a:r>
          </a:p>
          <a:p>
            <a:pPr>
              <a:defRPr sz="1600"/>
            </a:pPr>
            <a:r>
              <a:t>Lorsque l'enveloppe comporte des portes ou couvercles pouvant être ouverts sans l'aide d'un outil ou d'une clé, toutes les parties conductrices qui sont accessibles lorsque la porte ou le couvercle est ouvert doivent être protégées par une barrière isolante possédant au moins le degré de protection IP2X ou IPXXB, de manière à empêcher les personnes de toucher accidentellement ces parties.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412.2.3 L'installation des maté riels énoncés en 412.1.1 (fixation,</a:t>
            </a:r>
          </a:p>
        </p:txBody>
      </p:sp>
      <p:sp>
        <p:nvSpPr>
          <p:cNvPr id="3" name="Content Placeholder 2"/>
          <p:cNvSpPr>
            <a:spLocks noGrp="1"/>
          </p:cNvSpPr>
          <p:nvPr>
            <p:ph idx="1"/>
          </p:nvPr>
        </p:nvSpPr>
        <p:spPr/>
        <p:txBody>
          <a:bodyPr/>
          <a:lstStyle/>
          <a:p>
            <a:pPr>
              <a:defRPr sz="1600"/>
            </a:pPr>
            <a:r>
              <a:t>conducteurs, etc.</a:t>
            </a:r>
          </a:p>
          <a:p>
            <a:pPr>
              <a:defRPr sz="1600"/>
            </a:pPr>
            <a:r>
              <a:t>) doit être effectuée de façon à ne pas nuire à la protection assurée conformément aux règles de construction de ces matériels.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412.2.4 Un circuit alimentant des matériels de classe II doit comporter un conducteur de</a:t>
            </a:r>
          </a:p>
        </p:txBody>
      </p:sp>
      <p:sp>
        <p:nvSpPr>
          <p:cNvPr id="3" name="Content Placeholder 2"/>
          <p:cNvSpPr>
            <a:spLocks noGrp="1"/>
          </p:cNvSpPr>
          <p:nvPr>
            <p:ph idx="1"/>
          </p:nvPr>
        </p:nvSpPr>
        <p:spPr/>
        <p:txBody>
          <a:bodyPr/>
          <a:lstStyle/>
          <a:p>
            <a:pPr>
              <a:defRPr sz="1600"/>
            </a:pPr>
            <a:r>
              <a:t>protection tout au long de son parcours.</a:t>
            </a:r>
          </a:p>
          <a:p>
            <a:pPr>
              <a:defRPr sz="1600"/>
            </a:pPr>
            <a:r>
              <a:t>NOTE – Cette prescription est destinée à prendre en compte le remplacement par l’utilisateur de matériels de classe II par des matériels de classe I.</a:t>
            </a:r>
          </a:p>
          <a:p>
            <a:pPr>
              <a:defRPr sz="1600"/>
            </a:pPr>
            <a:r>
              <a:t>413 Mesure de protection par séparation électrique.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413.1.1 La séparation électrique est une mesure de protection dans laquelle :</a:t>
            </a:r>
          </a:p>
        </p:txBody>
      </p:sp>
      <p:sp>
        <p:nvSpPr>
          <p:cNvPr id="3" name="Content Placeholder 2"/>
          <p:cNvSpPr>
            <a:spLocks noGrp="1"/>
          </p:cNvSpPr>
          <p:nvPr>
            <p:ph idx="1"/>
          </p:nvPr>
        </p:nvSpPr>
        <p:spPr/>
        <p:txBody>
          <a:bodyPr/>
          <a:lstStyle/>
          <a:p>
            <a:pPr>
              <a:defRPr sz="1600"/>
            </a:pPr>
            <a:r>
              <a:t>-  -  la protection contre les contacts directs est assurée soit par une isolation principale des parties actives, soit par des barrières ou des enveloppes, conformément à l’annexe A ; et la protection contre les contacts indirects est assurée par une séparation de protection entre le circuit séparé et les autres circuits.</a:t>
            </a:r>
          </a:p>
          <a:p>
            <a:pPr>
              <a:defRPr sz="1600"/>
            </a:pPr>
            <a:r>
              <a:t>- 80 -   C  NOTE - La mesure de protection par séparation électrique consiste à séparer le circuit d'utilisation de l'installation d'alimentation de telle sorte qu'en cas de défaut d'isolement dans le circuit séparé, aucune tension de contact dangereuse ne puisse apparaître.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413.1.2 La mesure de protection par séparation électrique est applicable dans toutes les</a:t>
            </a:r>
          </a:p>
        </p:txBody>
      </p:sp>
      <p:sp>
        <p:nvSpPr>
          <p:cNvPr id="3" name="Content Placeholder 2"/>
          <p:cNvSpPr>
            <a:spLocks noGrp="1"/>
          </p:cNvSpPr>
          <p:nvPr>
            <p:ph idx="1"/>
          </p:nvPr>
        </p:nvSpPr>
        <p:spPr/>
        <p:txBody>
          <a:bodyPr/>
          <a:lstStyle/>
          <a:p>
            <a:pPr>
              <a:defRPr sz="1600"/>
            </a:pPr>
            <a:r>
              <a:t>situations, mais est limitée à l’alimentation d’un seul matériel d’utilisation à partir d’une source séparée isolée de la terre.</a:t>
            </a:r>
          </a:p>
          <a:p>
            <a:pPr>
              <a:defRPr sz="1600"/>
            </a:pPr>
            <a:r>
              <a:t>Cette mesure de protection n'est pas destinée à alimenter des appareils présentant un faible niveau d'isolement.</a:t>
            </a:r>
          </a:p>
          <a:p>
            <a:pPr>
              <a:defRPr sz="1600"/>
            </a:pPr>
            <a:r>
              <a:t>La sécurité de cette mesure repose sur le bon isolement des circuits ainsi séparés et l'état de l'isolation doit pouvoir être vérifié par un simple examen visuel.</a:t>
            </a:r>
          </a:p>
          <a:p>
            <a:pPr>
              <a:defRPr sz="1600"/>
            </a:pPr>
            <a:r>
              <a:t>C.</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413.2.1 Tous les matériels électriques doivent faire l’objet d’une des dispositions de</a:t>
            </a:r>
          </a:p>
        </p:txBody>
      </p:sp>
      <p:sp>
        <p:nvSpPr>
          <p:cNvPr id="3" name="Content Placeholder 2"/>
          <p:cNvSpPr>
            <a:spLocks noGrp="1"/>
          </p:cNvSpPr>
          <p:nvPr>
            <p:ph idx="1"/>
          </p:nvPr>
        </p:nvSpPr>
        <p:spPr/>
        <p:txBody>
          <a:bodyPr/>
          <a:lstStyle/>
          <a:p>
            <a:pPr>
              <a:defRPr sz="1600"/>
            </a:pPr>
            <a:r>
              <a:t>protection contre les contacts directs de l’annexe A ou de la mesure de protection donnée en 412.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413.2.2 La disposition de protection contre les contacts directs relative à l’isolation des</a:t>
            </a:r>
          </a:p>
        </p:txBody>
      </p:sp>
      <p:sp>
        <p:nvSpPr>
          <p:cNvPr id="3" name="Content Placeholder 2"/>
          <p:cNvSpPr>
            <a:spLocks noGrp="1"/>
          </p:cNvSpPr>
          <p:nvPr>
            <p:ph idx="1"/>
          </p:nvPr>
        </p:nvSpPr>
        <p:spPr/>
        <p:txBody>
          <a:bodyPr/>
          <a:lstStyle/>
          <a:p>
            <a:pPr>
              <a:defRPr sz="1600"/>
            </a:pPr>
            <a:r>
              <a:t>parties actives (A.</a:t>
            </a:r>
          </a:p>
          <a:p>
            <a:pPr>
              <a:defRPr sz="1600"/>
            </a:pPr>
            <a:r>
              <a:t>1 de l’annexe A) ou par barrières ou enveloppes applicable quelles que soient les conditions d’influences externes.</a:t>
            </a:r>
          </a:p>
          <a:p>
            <a:pPr>
              <a:defRPr sz="1600"/>
            </a:pPr>
            <a:r>
              <a:t>(A.</a:t>
            </a:r>
          </a:p>
          <a:p>
            <a:pPr>
              <a:defRPr sz="1600"/>
            </a:pPr>
            <a:r>
              <a:t>2 de l’annexe A) est.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413.2.3 Si plus d’un matériel d’utilisation est alimenté par une source séparée isolée de la</a:t>
            </a:r>
          </a:p>
        </p:txBody>
      </p:sp>
      <p:sp>
        <p:nvSpPr>
          <p:cNvPr id="3" name="Content Placeholder 2"/>
          <p:cNvSpPr>
            <a:spLocks noGrp="1"/>
          </p:cNvSpPr>
          <p:nvPr>
            <p:ph idx="1"/>
          </p:nvPr>
        </p:nvSpPr>
        <p:spPr/>
        <p:txBody>
          <a:bodyPr/>
          <a:lstStyle/>
          <a:p>
            <a:pPr>
              <a:defRPr sz="1600"/>
            </a:pPr>
            <a:r>
              <a:t>terre, les prescriptions de 411.</a:t>
            </a:r>
          </a:p>
          <a:p>
            <a:pPr>
              <a:defRPr sz="1600"/>
            </a:pPr>
            <a:r>
              <a:t>6.</a:t>
            </a:r>
          </a:p>
          <a:p>
            <a:pPr>
              <a:defRPr sz="1600"/>
            </a:pPr>
            <a:r>
              <a:t>1 (schéma   IT) ou de l’annexe C3 doivent être satisfaites.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413.3.1 La protection par séparation électrique doit être assurée en respectant</a:t>
            </a:r>
          </a:p>
        </p:txBody>
      </p:sp>
      <p:sp>
        <p:nvSpPr>
          <p:cNvPr id="3" name="Content Placeholder 2"/>
          <p:cNvSpPr>
            <a:spLocks noGrp="1"/>
          </p:cNvSpPr>
          <p:nvPr>
            <p:ph idx="1"/>
          </p:nvPr>
        </p:nvSpPr>
        <p:spPr/>
        <p:txBody>
          <a:bodyPr/>
          <a:lstStyle/>
          <a:p>
            <a:pPr>
              <a:defRPr sz="1600"/>
            </a:pPr>
            <a:r>
              <a:t>prescriptions énoncées dans les sou s-paragraphes 413.</a:t>
            </a:r>
          </a:p>
          <a:p>
            <a:pPr>
              <a:defRPr sz="1600"/>
            </a:pPr>
            <a:r>
              <a:t>3.</a:t>
            </a:r>
          </a:p>
          <a:p>
            <a:pPr>
              <a:defRPr sz="1600"/>
            </a:pPr>
            <a:r>
              <a:t>2 à 413.</a:t>
            </a:r>
          </a:p>
          <a:p>
            <a:pPr>
              <a:defRPr sz="1600"/>
            </a:pPr>
            <a:r>
              <a:t>3.</a:t>
            </a:r>
          </a:p>
          <a:p>
            <a:pPr>
              <a:defRPr sz="1600"/>
            </a:pPr>
            <a:r>
              <a:t>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413.3.2 Le circuit doit être alimenté par l'intermédiaire d'une source de séparation, c'est-à-</a:t>
            </a:r>
          </a:p>
        </p:txBody>
      </p:sp>
      <p:sp>
        <p:nvSpPr>
          <p:cNvPr id="3" name="Content Placeholder 2"/>
          <p:cNvSpPr>
            <a:spLocks noGrp="1"/>
          </p:cNvSpPr>
          <p:nvPr>
            <p:ph idx="1"/>
          </p:nvPr>
        </p:nvSpPr>
        <p:spPr/>
        <p:txBody>
          <a:bodyPr/>
          <a:lstStyle/>
          <a:p>
            <a:pPr>
              <a:defRPr sz="1600"/>
            </a:pPr>
            <a:r>
              <a:t>dire :  - -  d'un transformateur de séparation, ou d'une source de courant assurant une sécurité équivalente à celle du transformateur de séparation spécifié ci-dessus, par exemple un moteur-générateur ayant des enroulements procurant une séparation équivalente.</a:t>
            </a:r>
          </a:p>
          <a:p>
            <a:pPr>
              <a:defRPr sz="1600"/>
            </a:pPr>
            <a:r>
              <a:t>La norme relative aux transformateurs de séparation à considérer pour l'application de la règle énoncée en 511.</a:t>
            </a:r>
          </a:p>
          <a:p>
            <a:pPr>
              <a:defRPr sz="1600"/>
            </a:pPr>
            <a:r>
              <a:t>2 est la norme NF EN 61558-2-4 (C 52-558-2-4).</a:t>
            </a:r>
          </a:p>
          <a:p>
            <a:pPr>
              <a:defRPr sz="1600"/>
            </a:pPr>
            <a:r>
              <a:t>L'utilisation de transformateurs présentant une sécurité équivalente est nécessaire pour des appareils dont les caractéristiques (puissance.</a:t>
            </a:r>
          </a:p>
          <a:p>
            <a:pPr>
              <a:defRPr sz="1600"/>
            </a:pPr>
            <a:r>
              <a:t>) sont en dehors du domaine d'application de la norme précitée.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413.3.3 Les parties actives du circuit séparé ne doivent avoir aucun point commun avec un</a:t>
            </a:r>
          </a:p>
        </p:txBody>
      </p:sp>
      <p:sp>
        <p:nvSpPr>
          <p:cNvPr id="3" name="Content Placeholder 2"/>
          <p:cNvSpPr>
            <a:spLocks noGrp="1"/>
          </p:cNvSpPr>
          <p:nvPr>
            <p:ph idx="1"/>
          </p:nvPr>
        </p:nvSpPr>
        <p:spPr/>
        <p:txBody>
          <a:bodyPr/>
          <a:lstStyle/>
          <a:p>
            <a:pPr>
              <a:defRPr sz="1600"/>
            </a:pPr>
            <a:r>
              <a:t>autre circuit ni aucun point relié à la terre.</a:t>
            </a:r>
          </a:p>
          <a:p>
            <a:pPr>
              <a:defRPr sz="1600"/>
            </a:pPr>
            <a:r>
              <a:t>Les dispositions prises doivent assurer une séparation au moins équivalente à celle qui existe entre les circuits primaire et secondaire d'un transformateur de séparation des circuits.</a:t>
            </a:r>
          </a:p>
          <a:p>
            <a:pPr>
              <a:defRPr sz="1600"/>
            </a:pPr>
            <a:r>
              <a:t>NOTE - En particulier, si un circuit auxiliaire est un circuit séparé, une séparation électrique est nécessaire entre les parties puissance et les parties auxiliaires de matériels électriques tels que relais, contacteurs, auxiliaires de commande.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413.3.4 Les câbles souples doivent être visibles sur toute leur longueur susceptible de</a:t>
            </a:r>
          </a:p>
        </p:txBody>
      </p:sp>
      <p:sp>
        <p:nvSpPr>
          <p:cNvPr id="3" name="Content Placeholder 2"/>
          <p:cNvSpPr>
            <a:spLocks noGrp="1"/>
          </p:cNvSpPr>
          <p:nvPr>
            <p:ph idx="1"/>
          </p:nvPr>
        </p:nvSpPr>
        <p:spPr/>
        <p:txBody>
          <a:bodyPr/>
          <a:lstStyle/>
          <a:p>
            <a:pPr>
              <a:defRPr sz="1600"/>
            </a:pPr>
            <a:r>
              <a:t>subir des dommages mécaniques.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413.3.5 Il est recommandé d'utiliser, pour le circuit séparé, une canalisation dédiée. Si on</a:t>
            </a:r>
          </a:p>
        </p:txBody>
      </p:sp>
      <p:sp>
        <p:nvSpPr>
          <p:cNvPr id="3" name="Content Placeholder 2"/>
          <p:cNvSpPr>
            <a:spLocks noGrp="1"/>
          </p:cNvSpPr>
          <p:nvPr>
            <p:ph idx="1"/>
          </p:nvPr>
        </p:nvSpPr>
        <p:spPr/>
        <p:txBody>
          <a:bodyPr/>
          <a:lstStyle/>
          <a:p>
            <a:pPr>
              <a:defRPr sz="1600"/>
            </a:pPr>
            <a:r>
              <a:t>ne peut éviter d'utiliser les conducteurs d'une même canalisation pour le circuit séparé et d'autres circuits, il doit être fait usage de câbles multiconducteurs sans aucun revêtement métallique ou de conducteurs isolés posés dans des goulottes ou conduits isolants, sous réserve que ces câbles et conducteurs soient spécifiés pour une tension au moins égale à la tension la plus élevée mise en jeu et que chaque circuit soit protégé contre les surintensités.</a:t>
            </a:r>
          </a:p>
          <a:p>
            <a:pPr>
              <a:defRPr sz="1600"/>
            </a:pPr>
            <a:r>
              <a:t>La protection des circuits contre les surcharges à leur origine répond aux conditions de 434.</a:t>
            </a:r>
          </a:p>
          <a:p>
            <a:pPr>
              <a:defRPr sz="1600"/>
            </a:pPr>
            <a:r>
              <a:t>2.</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413.3.6 Les masses du circuit séparé ne doivent être connectées ni à un conducteur de</a:t>
            </a:r>
          </a:p>
        </p:txBody>
      </p:sp>
      <p:sp>
        <p:nvSpPr>
          <p:cNvPr id="3" name="Content Placeholder 2"/>
          <p:cNvSpPr>
            <a:spLocks noGrp="1"/>
          </p:cNvSpPr>
          <p:nvPr>
            <p:ph idx="1"/>
          </p:nvPr>
        </p:nvSpPr>
        <p:spPr/>
        <p:txBody>
          <a:bodyPr/>
          <a:lstStyle/>
          <a:p>
            <a:pPr>
              <a:defRPr sz="1600"/>
            </a:pPr>
            <a:r>
              <a:t>protection, ni aux masses d’autres circuits.</a:t>
            </a:r>
          </a:p>
          <a:p>
            <a:pPr>
              <a:defRPr sz="1600"/>
            </a:pPr>
            <a:r>
              <a:t>C  NOTE - Si les masses du circuit séparé sont susceptibles de se trouver en contact, soit de fait, soit fortuitement, avec des masses d'autres circuits, la sécurité des personnes ne repose plus sur la seule mesure de protection par séparation électrique, mais sur les mesures de protection dont ces dernières masses font l'objet.</a:t>
            </a:r>
          </a:p>
          <a:p>
            <a:pPr>
              <a:defRPr sz="1600"/>
            </a:pPr>
            <a:r>
              <a:t>414 Mesure de protection par très basse tension.</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414.1.1 La protection par très basse tension est une mesure de protection constituée par</a:t>
            </a:r>
          </a:p>
        </p:txBody>
      </p:sp>
      <p:sp>
        <p:nvSpPr>
          <p:cNvPr id="3" name="Content Placeholder 2"/>
          <p:cNvSpPr>
            <a:spLocks noGrp="1"/>
          </p:cNvSpPr>
          <p:nvPr>
            <p:ph idx="1"/>
          </p:nvPr>
        </p:nvSpPr>
        <p:spPr/>
        <p:txBody>
          <a:bodyPr/>
          <a:lstStyle/>
          <a:p>
            <a:pPr>
              <a:defRPr sz="1600"/>
            </a:pPr>
            <a:r>
              <a:t>deux types différents de circuits à très basse tension :  - Très Basse Tension de Sécurité (TBTS, circuits non reliés à la terre), - Très Basse Tension de Protection (TBTP, circuits reliés à la terre),  pour lesquels la protection est assurée par :  -  -  une limitation de la tension TBTS ou TBTP à 50 V en courant alternatif et 120 V en courant continu ; une séparation de protection entre les circuits TBTS ou TBTP et tous les autres circuits autres que TBTS ou TBTP, et une isolation principale entre les circuits TBTS et TBTP,  Pour les seuls circuits TBTS, une isolation principale est assurée entre le circuit TBTS et la terre.</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414.1.2 L’utilisation de la TBTS ou de la TBTP est considérée comme une mesure de</a:t>
            </a:r>
          </a:p>
        </p:txBody>
      </p:sp>
      <p:sp>
        <p:nvSpPr>
          <p:cNvPr id="3" name="Content Placeholder 2"/>
          <p:cNvSpPr>
            <a:spLocks noGrp="1"/>
          </p:cNvSpPr>
          <p:nvPr>
            <p:ph idx="1"/>
          </p:nvPr>
        </p:nvSpPr>
        <p:spPr/>
        <p:txBody>
          <a:bodyPr/>
          <a:lstStyle/>
          <a:p>
            <a:pPr>
              <a:defRPr sz="1600"/>
            </a:pPr>
            <a:r>
              <a:t>protection dans toutes les situations.</a:t>
            </a:r>
          </a:p>
          <a:p>
            <a:pPr>
              <a:defRPr sz="1600"/>
            </a:pPr>
            <a:r>
              <a:t>NOTE – Dans certains cas, la partie 7 limite la valeur de la très courant alternatif ou 120 V en courant continu lisse.</a:t>
            </a:r>
          </a:p>
          <a:p>
            <a:pPr>
              <a:defRPr sz="1600"/>
            </a:pPr>
            <a:r>
              <a:t>basse tension à des valeurs inférieures à 50 V en  - 82 -   Les différentes très basses tensions sont désignées par les abréviations suivantes :  - TBTS : très basse tension de sécurité ;  - TBTP : très basse tension de sécurité ayant un point du circuit secondaire relié à la terre  mais satisfaisant à toutes les autres conditions de la TBTS ;  - TBTF : très basse tension fonctionnelle, c'est-à-dire très basse tension ne répondant ni  aux règles de la TBTS ni aux règles de la TBTP (voir 411.</a:t>
            </a:r>
          </a:p>
          <a:p>
            <a:pPr>
              <a:defRPr sz="1600"/>
            </a:pPr>
            <a:r>
              <a:t>7).</a:t>
            </a:r>
          </a:p>
          <a:p>
            <a:pPr>
              <a:defRPr sz="1600"/>
            </a:pPr>
            <a:r>
              <a:t>Les matériels utilisés dans les circuits à TBTS et TBTP peuvent être de la classe III.</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414.2 Prescriptions pour la protection contre les contacts directs et pour la protection</a:t>
            </a:r>
          </a:p>
        </p:txBody>
      </p:sp>
      <p:sp>
        <p:nvSpPr>
          <p:cNvPr id="3" name="Content Placeholder 2"/>
          <p:cNvSpPr>
            <a:spLocks noGrp="1"/>
          </p:cNvSpPr>
          <p:nvPr>
            <p:ph idx="1"/>
          </p:nvPr>
        </p:nvSpPr>
        <p:spPr/>
        <p:txBody>
          <a:bodyPr/>
          <a:lstStyle/>
          <a:p>
            <a:pPr>
              <a:defRPr sz="1600"/>
            </a:pPr>
            <a:r>
              <a:t>contre les contacts indirects  La protection contre les contacts directs et la protection contre les contacts indirects pour les circuits dont la tension nominale ne peut être supérieure à 50 V en courant alternatif et 120 V en courant continu, sont considérées comme assurées lorsque :  - -  la source d'alimentation est une source toutes les conditions du paragraphe 414.</a:t>
            </a:r>
          </a:p>
          <a:p>
            <a:pPr>
              <a:defRPr sz="1600"/>
            </a:pPr>
            <a:r>
              <a:t>4 sont remplies.</a:t>
            </a:r>
          </a:p>
          <a:p>
            <a:pPr>
              <a:defRPr sz="1600"/>
            </a:pPr>
            <a:r>
              <a:t>répondant aux termes du paragraphe 414.</a:t>
            </a:r>
          </a:p>
          <a:p>
            <a:pPr>
              <a:defRPr sz="1600"/>
            </a:pPr>
            <a:r>
              <a:t>3,  le circuit  potentiomètres,  tels qu'autotransformateurs,    dispositifs à semiconducteurs, etc.</a:t>
            </a:r>
          </a:p>
          <a:p>
            <a:pPr>
              <a:defRPr sz="1600"/>
            </a:pPr>
            <a:r>
              <a:t>,  NOTES - 1 - Lorsque le circuit est alimenté à partir d'un circuit de tension plus élevée par l'intermédiaire d'autres matériels, secondaire ainsi formé est considéré comme faisant partie du circuit primaire et doit être inclus dans la mesure de protection de ce circuit.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414.3 Sources pour TBTS et TBTP</a:t>
            </a:r>
          </a:p>
        </p:txBody>
      </p:sp>
      <p:sp>
        <p:nvSpPr>
          <p:cNvPr id="3" name="Content Placeholder 2"/>
          <p:cNvSpPr>
            <a:spLocks noGrp="1"/>
          </p:cNvSpPr>
          <p:nvPr>
            <p:ph idx="1"/>
          </p:nvPr>
        </p:nvSpPr>
        <p:spPr/>
        <p:txBody>
          <a:bodyPr/>
          <a:lstStyle/>
          <a:p>
            <a:pPr>
              <a:defRPr sz="1600"/>
            </a:pPr>
            <a:r>
              <a:t>Ces sources sont :.</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414.3.2 Une source de courant assurant un degré de sécurité équivalent à celui d'un</a:t>
            </a:r>
          </a:p>
        </p:txBody>
      </p:sp>
      <p:sp>
        <p:nvSpPr>
          <p:cNvPr id="3" name="Content Placeholder 2"/>
          <p:cNvSpPr>
            <a:spLocks noGrp="1"/>
          </p:cNvSpPr>
          <p:nvPr>
            <p:ph idx="1"/>
          </p:nvPr>
        </p:nvSpPr>
        <p:spPr/>
        <p:txBody>
          <a:bodyPr/>
          <a:lstStyle/>
          <a:p>
            <a:pPr>
              <a:defRPr sz="1600"/>
            </a:pPr>
            <a:r>
              <a:t>transformateur de sécurité décrit en 414.</a:t>
            </a:r>
          </a:p>
          <a:p>
            <a:pPr>
              <a:defRPr sz="1600"/>
            </a:pPr>
            <a:r>
              <a:t>3.</a:t>
            </a:r>
          </a:p>
          <a:p>
            <a:pPr>
              <a:defRPr sz="1600"/>
            </a:pPr>
            <a:r>
              <a:t>1 (par exemple moteur-générateur avec enroulements présentant une séparation équivalente).</a:t>
            </a:r>
          </a:p>
          <a:p>
            <a:pPr>
              <a:defRPr sz="1600"/>
            </a:pPr>
            <a:r>
              <a:t>- 83 -   C.</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414.3.3 Une source électrochimique (piles ou accumulateurs) ou une autre source qui ne</a:t>
            </a:r>
          </a:p>
        </p:txBody>
      </p:sp>
      <p:sp>
        <p:nvSpPr>
          <p:cNvPr id="3" name="Content Placeholder 2"/>
          <p:cNvSpPr>
            <a:spLocks noGrp="1"/>
          </p:cNvSpPr>
          <p:nvPr>
            <p:ph idx="1"/>
          </p:nvPr>
        </p:nvSpPr>
        <p:spPr/>
        <p:txBody>
          <a:bodyPr/>
          <a:lstStyle/>
          <a:p>
            <a:pPr>
              <a:defRPr sz="1600"/>
            </a:pPr>
            <a:r>
              <a:t>dépend pas de circuits de tension plus élevée (par exemple groupe moteur thermique- générateur).</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414.3.4 Certains dispositifs électroniques conformes aux normes appropriées, dans</a:t>
            </a:r>
          </a:p>
        </p:txBody>
      </p:sp>
      <p:sp>
        <p:nvSpPr>
          <p:cNvPr id="3" name="Content Placeholder 2"/>
          <p:cNvSpPr>
            <a:spLocks noGrp="1"/>
          </p:cNvSpPr>
          <p:nvPr>
            <p:ph idx="1"/>
          </p:nvPr>
        </p:nvSpPr>
        <p:spPr/>
        <p:txBody>
          <a:bodyPr/>
          <a:lstStyle/>
          <a:p>
            <a:pPr>
              <a:defRPr sz="1600"/>
            </a:pPr>
            <a:r>
              <a:t>lesquels des mesures ont été prises pour assurer que, même en cas de défaut interne de ce dispositif, la tension aux bornes de sortie ne peut être supérieure aux limites indiquées en 414.</a:t>
            </a:r>
          </a:p>
          <a:p>
            <a:pPr>
              <a:defRPr sz="1600"/>
            </a:pPr>
            <a:r>
              <a:t>2.</a:t>
            </a:r>
          </a:p>
          <a:p>
            <a:pPr>
              <a:defRPr sz="1600"/>
            </a:pPr>
            <a:r>
              <a:t>Des valeurs plus élevées peuvent être admises, si, en cas de contact, direct ou indirect, la tension aux bornes de sortie est immédiatement réduite à ces limites ou au- dessous.</a:t>
            </a:r>
          </a:p>
          <a:p>
            <a:pPr>
              <a:defRPr sz="1600"/>
            </a:pPr>
            <a:r>
              <a:t>NOTES - 1 - Des matériels d'essai d'isolement sont des exemples de tels dispositifs.</a:t>
            </a:r>
          </a:p>
          <a:p>
            <a:pPr>
              <a:defRPr sz="1600"/>
            </a:pPr>
            <a:r>
              <a:t>2 - Lorsque la tension aux bornes de sortie est plus élevée, la conformité à cette disposition peut être considérée comme satisfaite si lorsqu'elle est mesurée avec un voltmètre ayant une résistance interne d'au moins 3 000 ohms.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414.3.5 Les sources mobiles, telles que transformateurs de sécurité ou groupes moteur-</a:t>
            </a:r>
          </a:p>
        </p:txBody>
      </p:sp>
      <p:sp>
        <p:nvSpPr>
          <p:cNvPr id="3" name="Content Placeholder 2"/>
          <p:cNvSpPr>
            <a:spLocks noGrp="1"/>
          </p:cNvSpPr>
          <p:nvPr>
            <p:ph idx="1"/>
          </p:nvPr>
        </p:nvSpPr>
        <p:spPr/>
        <p:txBody>
          <a:bodyPr/>
          <a:lstStyle/>
          <a:p>
            <a:pPr>
              <a:defRPr sz="1600"/>
            </a:pPr>
            <a:r>
              <a:t>générateur, doivent être choisies ou installées conformément aux prescriptions de la mesure de protection par emploi de matériels de la classe II ou par isolation équivalente (voir article 412).</a:t>
            </a:r>
          </a:p>
          <a:p>
            <a:pPr>
              <a:defRPr sz="1600"/>
            </a:pPr>
            <a:r>
              <a:t>Les normes relatives aux transformateurs de sécurité et aux convertisseurs électroniques à considérer pour l'application de la règle énoncée en NF EN 61558-1 (C 52-558-1) et NF EN 61046 (C 71-240).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511.2 sont respectivement les normes</a:t>
            </a:r>
          </a:p>
        </p:txBody>
      </p:sp>
      <p:sp>
        <p:nvSpPr>
          <p:cNvPr id="3" name="Content Placeholder 2"/>
          <p:cNvSpPr>
            <a:spLocks noGrp="1"/>
          </p:cNvSpPr>
          <p:nvPr>
            <p:ph idx="1"/>
          </p:nvPr>
        </p:nvSpPr>
        <p:spPr/>
        <p:txBody>
          <a:bodyPr/>
          <a:lstStyle/>
          <a:p>
            <a:pPr>
              <a:defRPr sz="1600"/>
            </a:pPr>
            <a:r>
              <a:t>L'utilisation de transformateurs et de convertisseurs présentant une sécurité équivalente est nécessaire pour des appareils dont les caractéristiques (puissance, tension primaire) sont en dehors du domaine d'application des normes précitées.</a:t>
            </a:r>
          </a:p>
          <a:p>
            <a:pPr>
              <a:defRPr sz="1600"/>
            </a:pPr>
            <a:r>
              <a:t>C.</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414.4.1 Les circuits TBTS et TBTP doivent présenter :</a:t>
            </a:r>
          </a:p>
        </p:txBody>
      </p:sp>
      <p:sp>
        <p:nvSpPr>
          <p:cNvPr id="3" name="Content Placeholder 2"/>
          <p:cNvSpPr>
            <a:spLocks noGrp="1"/>
          </p:cNvSpPr>
          <p:nvPr>
            <p:ph idx="1"/>
          </p:nvPr>
        </p:nvSpPr>
        <p:spPr/>
        <p:txBody>
          <a:bodyPr/>
          <a:lstStyle/>
          <a:p>
            <a:pPr>
              <a:defRPr sz="1600"/>
            </a:pPr>
            <a:r>
              <a:t>-  -  une séparation de protection entre leurs parties actives et celles des autres circuits, à l’exception des parties actives d’autres circuits TBTS ou TBTP, constituée par une double isolation ou une isolation renforcée dimensionnée pour la tension la plus élevée ou par une isolation principale et un écran de protection dimensionnée pour la tension la plus élevée présente ; une isolation principale entre leurs parties actives et les parties actives des autres circuits TBTS ou TBTP.</a:t>
            </a:r>
          </a:p>
          <a:p>
            <a:pPr>
              <a:defRPr sz="1600"/>
            </a:pPr>
            <a:r>
              <a:t>NOTE – La mise à la terre des circuits TBTP peut être réalisée par une connexion appropriée à la terre dans la source elle-même.</a:t>
            </a:r>
          </a:p>
          <a:p>
            <a:pPr>
              <a:defRPr sz="1600"/>
            </a:pPr>
            <a:r>
              <a:t>Les circuits TBTS doivent présenter une isolation principale entre leurs parties actives et la terre.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414.4.2 La séparation de protection entre les canalisations des circuits TBTS et TBTP et</a:t>
            </a:r>
          </a:p>
        </p:txBody>
      </p:sp>
      <p:sp>
        <p:nvSpPr>
          <p:cNvPr id="3" name="Content Placeholder 2"/>
          <p:cNvSpPr>
            <a:spLocks noGrp="1"/>
          </p:cNvSpPr>
          <p:nvPr>
            <p:ph idx="1"/>
          </p:nvPr>
        </p:nvSpPr>
        <p:spPr/>
        <p:txBody>
          <a:bodyPr/>
          <a:lstStyle/>
          <a:p>
            <a:pPr>
              <a:defRPr sz="1600"/>
            </a:pPr>
            <a:r>
              <a:t>les parties actives des autres circuits peut être réalisée par une des dispositions suivantes :  -  -  les conducteurs des circuits TBTS et TBTP sont munis, en plus de leur isolation principale, d'une gaine ou d’une enveloppe non métallique ; les conducteurs des circuits TBTS et TBTP sont séparés des conducteurs à des tensions différentes par un écran métallique relié à la terre ou par une gaine métallique reliée à la terre ;  - 84 -   C  -  -  les conducteurs des circuits TBTS et TBTP appartiennent à un câble multiconducteur ou à un groupement de conducteurs pouvant contenir des circuits à des tensions différentes pourvu qu’ils soient isolés, soit individuellement, soit collectivement, pour la tension la plus élevée mise en jeu ; une séparation physique est réalisée.</a:t>
            </a:r>
          </a:p>
          <a:p>
            <a:pPr>
              <a:defRPr sz="1600"/>
            </a:pPr>
            <a:r>
              <a:t>Les schémas ci-après illustrent les différentes dispositions prévues ci-dessus :  Les conducteurs du circuit TBTS ou TBTP sont munis, en plus de leur isolation principale, d'une gaine non métallique.</a:t>
            </a:r>
          </a:p>
          <a:p>
            <a:pPr>
              <a:defRPr sz="1600"/>
            </a:pPr>
            <a:r>
              <a:t>Un écran métallique mis à la terre sépare les circuits TBTS ou TBTP de tout autre circuit.</a:t>
            </a:r>
          </a:p>
          <a:p>
            <a:pPr>
              <a:defRPr sz="1600"/>
            </a:pPr>
            <a:r>
              <a:t>Le circuit TBTS ou TBTP fait partie d'un câble multiconducteur contenant d'autres circuits, les conducteurs du circuit TBTS ou TBTP étant isolés pour la tension la plus élevée mise en jeu dans les circuits du câble.</a:t>
            </a:r>
          </a:p>
          <a:p>
            <a:pPr>
              <a:defRPr sz="1600"/>
            </a:pPr>
            <a:r>
              <a:t>Le circuit TBTS ou TBTP est séparé physiquement de tout autre circuit.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414.4.3 Les prises de courant pour des circuits TBTS et TBTP doivent satisfaire aux</a:t>
            </a:r>
          </a:p>
        </p:txBody>
      </p:sp>
      <p:sp>
        <p:nvSpPr>
          <p:cNvPr id="3" name="Content Placeholder 2"/>
          <p:cNvSpPr>
            <a:spLocks noGrp="1"/>
          </p:cNvSpPr>
          <p:nvPr>
            <p:ph idx="1"/>
          </p:nvPr>
        </p:nvSpPr>
        <p:spPr/>
        <p:txBody>
          <a:bodyPr/>
          <a:lstStyle/>
          <a:p>
            <a:pPr>
              <a:defRPr sz="1600"/>
            </a:pPr>
            <a:r>
              <a:t>prescriptions suivantes :  - - -  les fiches ne doivent pas pouvoir entrer dans les socles alimentés sous d'autres tensions ; les socles doivent empêcher l'introduction de fiches conçues pour d'autres tensions ; les socles TBTS ne doivent pas comporter de contact de protection.</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414.4.4 Les parties actives des circuits TBTS ne doivent pas être reliées électriquement à</a:t>
            </a:r>
          </a:p>
        </p:txBody>
      </p:sp>
      <p:sp>
        <p:nvSpPr>
          <p:cNvPr id="3" name="Content Placeholder 2"/>
          <p:cNvSpPr>
            <a:spLocks noGrp="1"/>
          </p:cNvSpPr>
          <p:nvPr>
            <p:ph idx="1"/>
          </p:nvPr>
        </p:nvSpPr>
        <p:spPr/>
        <p:txBody>
          <a:bodyPr/>
          <a:lstStyle/>
          <a:p>
            <a:pPr>
              <a:defRPr sz="1600"/>
            </a:pPr>
            <a:r>
              <a:t>la terre, ni à des parties actives, ni à des conducteurs de protection appartenant à d'autres circuits.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414.4.5 Les masses ne doivent être reliées intentionnellement ni à la terre, ni à des</a:t>
            </a:r>
          </a:p>
        </p:txBody>
      </p:sp>
      <p:sp>
        <p:nvSpPr>
          <p:cNvPr id="3" name="Content Placeholder 2"/>
          <p:cNvSpPr>
            <a:spLocks noGrp="1"/>
          </p:cNvSpPr>
          <p:nvPr>
            <p:ph idx="1"/>
          </p:nvPr>
        </p:nvSpPr>
        <p:spPr/>
        <p:txBody>
          <a:bodyPr/>
          <a:lstStyle/>
          <a:p>
            <a:pPr>
              <a:defRPr sz="1600"/>
            </a:pPr>
            <a:r>
              <a:t>conducteurs de protection ou des masses d'autres circuits.</a:t>
            </a:r>
          </a:p>
          <a:p>
            <a:pPr>
              <a:defRPr sz="1600"/>
            </a:pPr>
            <a:r>
              <a:t>NOTE - Si des masses de circuits TBTS sont susceptibles de se trouver en contact soit de fait, soit fortuitement, avec des masses d'autres circuits, la protection contre les chocs électriques ne repose plus sur la seule mesure de protection par TBTS, mais sur les mesures de protection dont ces dernières masses font l'objet.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414.4.6 Lorsque la tension nominale du circuit TBTS est supérieure à 25 V valeur efficace en</a:t>
            </a:r>
          </a:p>
        </p:txBody>
      </p:sp>
      <p:sp>
        <p:nvSpPr>
          <p:cNvPr id="3" name="Content Placeholder 2"/>
          <p:cNvSpPr>
            <a:spLocks noGrp="1"/>
          </p:cNvSpPr>
          <p:nvPr>
            <p:ph idx="1"/>
          </p:nvPr>
        </p:nvSpPr>
        <p:spPr/>
        <p:txBody>
          <a:bodyPr/>
          <a:lstStyle/>
          <a:p>
            <a:pPr>
              <a:defRPr sz="1600"/>
            </a:pPr>
            <a:r>
              <a:t>courant alternatif ou 60 V en courant continu lisse, la protection contre les contacts directs doit être assurée : - -  soit par une isolation conforme à A.</a:t>
            </a:r>
          </a:p>
          <a:p>
            <a:pPr>
              <a:defRPr sz="1600"/>
            </a:pPr>
            <a:r>
              <a:t>1 de l’annexe A ; soit par des barrières ou enveloppes conformes à A.</a:t>
            </a:r>
          </a:p>
          <a:p>
            <a:pPr>
              <a:defRPr sz="1600"/>
            </a:pPr>
            <a:r>
              <a:t>2 de l’annexe   A.</a:t>
            </a:r>
          </a:p>
          <a:p>
            <a:pPr>
              <a:defRPr sz="1600"/>
            </a:pPr>
            <a:r>
              <a:t>Lorsque la tension nominale du circuit TBTP est supérieure à 12 V valeur efficace en courant alternatif ou 30 V en courant continu lisse, la protection contre les contacts directs doit être assurée : - -  soit par une isolation conforme à A.</a:t>
            </a:r>
          </a:p>
          <a:p>
            <a:pPr>
              <a:defRPr sz="1600"/>
            </a:pPr>
            <a:r>
              <a:t>1 de l’annexe A ; soit par des barrières ou enveloppes conformes à A.</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415.1 Protection complémentaire par dispositifs à courant différentiel-résiduel</a:t>
            </a:r>
          </a:p>
        </p:txBody>
      </p:sp>
      <p:sp>
        <p:nvSpPr>
          <p:cNvPr id="3" name="Content Placeholder 2"/>
          <p:cNvSpPr>
            <a:spLocks noGrp="1"/>
          </p:cNvSpPr>
          <p:nvPr>
            <p:ph idx="1"/>
          </p:nvPr>
        </p:nvSpPr>
        <p:spPr/>
        <p:txBody>
          <a:bodyPr/>
          <a:lstStyle/>
          <a:p>
            <a:pPr>
              <a:defRPr sz="1600"/>
            </a:pPr>
            <a:r>
              <a:t>NOTE - Cette mesure de protection est seulement destinée à compléter d'autres mesures de protection contre les contacts directs.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415.1.1 L'emploi de dispositifs à courant différentiel-résiduel, dont la valeur du courant</a:t>
            </a:r>
          </a:p>
        </p:txBody>
      </p:sp>
      <p:sp>
        <p:nvSpPr>
          <p:cNvPr id="3" name="Content Placeholder 2"/>
          <p:cNvSpPr>
            <a:spLocks noGrp="1"/>
          </p:cNvSpPr>
          <p:nvPr>
            <p:ph idx="1"/>
          </p:nvPr>
        </p:nvSpPr>
        <p:spPr/>
        <p:txBody>
          <a:bodyPr/>
          <a:lstStyle/>
          <a:p>
            <a:pPr>
              <a:defRPr sz="1600"/>
            </a:pPr>
            <a:r>
              <a:t>différentiel nominal de fonctionnement est inférieure ou égale à 30 mA, est reconnu comme mesure de protection complémentaire en cas de défaillance de la disposition de protection contre les contacts directs ou en cas d'imprudence des usagers.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415.1.2 L'utilisation de tels dispositifs n'est pas reconnue comme constituant en soi une</a:t>
            </a:r>
          </a:p>
        </p:txBody>
      </p:sp>
      <p:sp>
        <p:nvSpPr>
          <p:cNvPr id="3" name="Content Placeholder 2"/>
          <p:cNvSpPr>
            <a:spLocks noGrp="1"/>
          </p:cNvSpPr>
          <p:nvPr>
            <p:ph idx="1"/>
          </p:nvPr>
        </p:nvSpPr>
        <p:spPr/>
        <p:txBody>
          <a:bodyPr/>
          <a:lstStyle/>
          <a:p>
            <a:pPr>
              <a:defRPr sz="1600"/>
            </a:pPr>
            <a:r>
              <a:t>mesure de protection complète et ne dispense nullement de l'emploi d'une des mesures de protection énoncées aux paragraphes.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411.1 à 411.4.</a:t>
            </a:r>
          </a:p>
        </p:txBody>
      </p:sp>
      <p:sp>
        <p:nvSpPr>
          <p:cNvPr id="3" name="Content Placeholder 2"/>
          <p:cNvSpPr>
            <a:spLocks noGrp="1"/>
          </p:cNvSpPr>
          <p:nvPr>
            <p:ph idx="1"/>
          </p:nvPr>
        </p:nvSpPr>
        <p:spPr/>
        <p:txBody>
          <a:bodyPr/>
          <a:lstStyle/>
          <a:p>
            <a:pPr>
              <a:defRPr sz="1600"/>
            </a:pPr>
            <a:r>
              <a:t>L'expérience prouve que les mesures classiques de protection contre les contacts directs, qui sont de caractère préventif, peuvent se révéler défaillantes occasionnellement, par défaut d'entretien, usure normale ou anormale de l'isolation, ou imprudence.</a:t>
            </a:r>
          </a:p>
          <a:p>
            <a:pPr>
              <a:defRPr sz="1600"/>
            </a:pPr>
            <a:r>
              <a:t>Un moyen permettant d'éliminer une partie des risques d'accidents est d'utiliser un dispositif de protection à courant différentiel-résiduel de courant différentiel-résiduel assigné au plus égal à 30 mA, destiné à assurer rapidement la mise hors tension de l'installation électrique, ou de la partie d'installation intéressée, des l'apparition d'un très faible courant de défaut à la terre.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415.2 Liaison équipotentielle supplémentaire</a:t>
            </a:r>
          </a:p>
        </p:txBody>
      </p:sp>
      <p:sp>
        <p:nvSpPr>
          <p:cNvPr id="3" name="Content Placeholder 2"/>
          <p:cNvSpPr>
            <a:spLocks noGrp="1"/>
          </p:cNvSpPr>
          <p:nvPr>
            <p:ph idx="1"/>
          </p:nvPr>
        </p:nvSpPr>
        <p:spPr/>
        <p:txBody>
          <a:bodyPr/>
          <a:lstStyle/>
          <a:p>
            <a:pPr>
              <a:defRPr sz="1600"/>
            </a:pPr>
            <a:r>
              <a:t>C  NOTES - 1 - L'utilisation de liaisons équipotentielles supplémentaires ne dispense pas de la nécessité de coupure de l'alimentation pour d'autres raisons, telles que protection contre l'incendie, contraintes thermiques des matériels, etc.</a:t>
            </a:r>
          </a:p>
          <a:p>
            <a:pPr>
              <a:defRPr sz="1600"/>
            </a:pPr>
            <a:r>
              <a:t>2 - Cette liaison équipotentielle supplémentaire peut intéresser une partie de l’installation, un appareil ou un emplacement.</a:t>
            </a:r>
          </a:p>
          <a:p>
            <a:pPr>
              <a:defRPr sz="1600"/>
            </a:pPr>
            <a:r>
              <a:t>3 - Des prescriptions supplémentaires peuvent être nécessaires pour des emplacements spéciaux, voir partie 7.</a:t>
            </a:r>
          </a:p>
          <a:p>
            <a:pPr>
              <a:defRPr sz="1600"/>
            </a:pPr>
            <a:r>
              <a:t>liaison équipotentielle supplémentaire doit comprendre.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415.2.1 La</a:t>
            </a:r>
          </a:p>
        </p:txBody>
      </p:sp>
      <p:sp>
        <p:nvSpPr>
          <p:cNvPr id="3" name="Content Placeholder 2"/>
          <p:cNvSpPr>
            <a:spLocks noGrp="1"/>
          </p:cNvSpPr>
          <p:nvPr>
            <p:ph idx="1"/>
          </p:nvPr>
        </p:nvSpPr>
        <p:spPr/>
        <p:txBody>
          <a:bodyPr/>
          <a:lstStyle/>
          <a:p>
            <a:pPr>
              <a:defRPr sz="1600"/>
            </a:pPr>
            <a:r>
              <a:t>les parties conductrices simultanément accessibles, qu'il s'agisse des masses des matériels fixes ou des éléments conducteurs, y compris, dans la mesure du possible, les armatures principales du béton armé utilisées dans la construction des bâtiments.</a:t>
            </a:r>
          </a:p>
          <a:p>
            <a:pPr>
              <a:defRPr sz="1600"/>
            </a:pPr>
            <a:r>
              <a:t>A ce système équipotentiel doivent être reliés les conducteurs de protection de tous les matériels, y compris ceux des prises de courant.</a:t>
            </a:r>
          </a:p>
          <a:p>
            <a:pPr>
              <a:defRPr sz="1600"/>
            </a:pPr>
            <a:r>
              <a:t>toutes   C.</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415.2.2 En cas de doute sur l'efficacité de la liaison équipotentielle supplémentaire, elle</a:t>
            </a:r>
          </a:p>
        </p:txBody>
      </p:sp>
      <p:sp>
        <p:nvSpPr>
          <p:cNvPr id="3" name="Content Placeholder 2"/>
          <p:cNvSpPr>
            <a:spLocks noGrp="1"/>
          </p:cNvSpPr>
          <p:nvPr>
            <p:ph idx="1"/>
          </p:nvPr>
        </p:nvSpPr>
        <p:spPr/>
        <p:txBody>
          <a:bodyPr/>
          <a:lstStyle/>
          <a:p>
            <a:pPr>
              <a:defRPr sz="1600"/>
            </a:pPr>
            <a:r>
              <a:t>doit être vérifiée en s'assurant que la résistance R entre toute masse considérée et tout élément conducteur simultanément accessible remplit la condition suivante :  R ≤≤≤≤  V50 I  a    en courant alternatif  R ≤≤≤≤  V120 I  a   en courant continu  où  est le courant de fonctionnement en 5 s au plus pour les dispositifs de protection  Ia contre les surintensités.</a:t>
            </a:r>
          </a:p>
          <a:p>
            <a:pPr>
              <a:defRPr sz="1600"/>
            </a:pPr>
            <a:r>
              <a:t>- 87 -     C.</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A – (normative) – Dispositions pour la protection</a:t>
            </a:r>
          </a:p>
        </p:txBody>
      </p:sp>
      <p:sp>
        <p:nvSpPr>
          <p:cNvPr id="3" name="Content Placeholder 2"/>
          <p:cNvSpPr>
            <a:spLocks noGrp="1"/>
          </p:cNvSpPr>
          <p:nvPr>
            <p:ph idx="1"/>
          </p:nvPr>
        </p:nvSpPr>
        <p:spPr/>
        <p:txBody>
          <a:bodyPr/>
          <a:lstStyle/>
          <a:p>
            <a:pPr>
              <a:defRPr sz="1600"/>
            </a:pPr>
            <a:r>
              <a:t>contre les contacts directs  NOTE – Les dispositions pour la protection contre les contacts directs assurent une protection dans des conditions normales et sont appliquées si spécifié comme une partie de la mesure de protection choisie.</a:t>
            </a:r>
          </a:p>
          <a:p>
            <a:pPr>
              <a:defRPr sz="1600"/>
            </a:pPr>
            <a:r>
              <a:t>A.</a:t>
            </a:r>
          </a:p>
          <a:p>
            <a:pPr>
              <a:defRPr sz="1600"/>
            </a:pPr>
            <a:r>
              <a:t>1 Isolation des parties actives  NOTE - L'isolation est destinée à empêcher tout contact avec des parties actives de l'installation électrique.</a:t>
            </a:r>
          </a:p>
          <a:p>
            <a:pPr>
              <a:defRPr sz="1600"/>
            </a:pPr>
            <a:r>
              <a:t>Les parties actives doivent être complètement recouvertes d'une isolation qui ne peut être enlevée que par destruction.</a:t>
            </a:r>
          </a:p>
          <a:p>
            <a:pPr>
              <a:defRPr sz="1600"/>
            </a:pPr>
            <a:r>
              <a:t>Pour les matériels fabriqués en usine, l'isolation doit être conforme aux prescriptions correspondantes relatives à ces matériels.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B – (normative) – Mesures de protection sans disposition de protection</a:t>
            </a:r>
          </a:p>
        </p:txBody>
      </p:sp>
      <p:sp>
        <p:nvSpPr>
          <p:cNvPr id="3" name="Content Placeholder 2"/>
          <p:cNvSpPr>
            <a:spLocks noGrp="1"/>
          </p:cNvSpPr>
          <p:nvPr>
            <p:ph idx="1"/>
          </p:nvPr>
        </p:nvSpPr>
        <p:spPr/>
        <p:txBody>
          <a:bodyPr/>
          <a:lstStyle/>
          <a:p>
            <a:pPr>
              <a:defRPr sz="1600"/>
            </a:pPr>
            <a:r>
              <a:t>contre les contacts indirects, sous condition de surveillance  NOTES - 1 – Les dispositions pour la protection contre les contacts directs assurent une protection dans des conditions normales et sont appliquées si spécifié comme une partie de la mesure de protection choisie.</a:t>
            </a:r>
          </a:p>
          <a:p>
            <a:pPr>
              <a:defRPr sz="1600"/>
            </a:pPr>
            <a:r>
              <a:t>2 – Les conditions de surveillance dans lesquelles les dispositions de protection de l’annexe B peuvent s’appliquer comme une partie d’une mesure de protection sont   données en 410.</a:t>
            </a:r>
          </a:p>
          <a:p>
            <a:pPr>
              <a:defRPr sz="1600"/>
            </a:pPr>
            <a:r>
              <a:t>3.</a:t>
            </a:r>
          </a:p>
          <a:p>
            <a:pPr>
              <a:defRPr sz="1600"/>
            </a:pPr>
            <a:r>
              <a:t>3.</a:t>
            </a:r>
          </a:p>
          <a:p>
            <a:pPr>
              <a:defRPr sz="1600"/>
            </a:pPr>
            <a:r>
              <a:t>B.</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C – (normative) – Mesures de protection dans des installations</a:t>
            </a:r>
          </a:p>
        </p:txBody>
      </p:sp>
      <p:sp>
        <p:nvSpPr>
          <p:cNvPr id="3" name="Content Placeholder 2"/>
          <p:cNvSpPr>
            <a:spLocks noGrp="1"/>
          </p:cNvSpPr>
          <p:nvPr>
            <p:ph idx="1"/>
          </p:nvPr>
        </p:nvSpPr>
        <p:spPr/>
        <p:txBody>
          <a:bodyPr/>
          <a:lstStyle/>
          <a:p>
            <a:pPr>
              <a:defRPr sz="1600"/>
            </a:pPr>
            <a:r>
              <a:t>sous condition de surveillance  NOTES - 1 – Les dispositions pour la protection contre les contacts indirects assurent une protection dans des conditions de défaut et sont appliquées si spécifié comme une partie de la mesure de protection choisie.</a:t>
            </a:r>
          </a:p>
          <a:p>
            <a:pPr>
              <a:defRPr sz="1600"/>
            </a:pPr>
            <a:r>
              <a:t>2 – Les conditions de surveillance dans lesquelles les mesures de protection de la présente annexe peuvent s'appliquer sont données en 410.</a:t>
            </a:r>
          </a:p>
          <a:p>
            <a:pPr>
              <a:defRPr sz="1600"/>
            </a:pPr>
            <a:r>
              <a:t>3.</a:t>
            </a:r>
          </a:p>
          <a:p>
            <a:pPr>
              <a:defRPr sz="1600"/>
            </a:pPr>
            <a:r>
              <a:t>4.</a:t>
            </a:r>
          </a:p>
          <a:p>
            <a:pPr>
              <a:defRPr sz="1600"/>
            </a:pPr>
            <a:r>
              <a:t>C.</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D – (normative) – Compatibilité entre divers schémas de liaisons à la</a:t>
            </a:r>
          </a:p>
        </p:txBody>
      </p:sp>
      <p:sp>
        <p:nvSpPr>
          <p:cNvPr id="3" name="Content Placeholder 2"/>
          <p:cNvSpPr>
            <a:spLocks noGrp="1"/>
          </p:cNvSpPr>
          <p:nvPr>
            <p:ph idx="1"/>
          </p:nvPr>
        </p:nvSpPr>
        <p:spPr/>
        <p:txBody>
          <a:bodyPr/>
          <a:lstStyle/>
          <a:p>
            <a:pPr>
              <a:defRPr sz="1600"/>
            </a:pPr>
            <a:r>
              <a:t>terre et leur raccordement au réseau de distribution publique  D.</a:t>
            </a:r>
          </a:p>
          <a:p>
            <a:pPr>
              <a:defRPr sz="1600"/>
            </a:pPr>
            <a:r>
              <a:t>1 Règles de compatibilité  Il est possible d'alimenter par un même transformateur - ou un même poste de transformation - des installations différentes réalisées suivant des schémas différents de liaisons à la terre sous réserve que soient respectées les dispositions suivantes :  a) les schémas des installations sont TT ou TN exclusivement ;  b) chaque installation est correctement protégée et réalisée suivant les règles applicables au  schéma correspondant ;  c) une liaison équipotentielle principale est réalisée dans chaque bâtiment conformément au les installations du  sous-paragraphe 411.</a:t>
            </a:r>
          </a:p>
          <a:p>
            <a:pPr>
              <a:defRPr sz="1600"/>
            </a:pPr>
            <a:r>
              <a:t>3.</a:t>
            </a:r>
          </a:p>
          <a:p>
            <a:pPr>
              <a:defRPr sz="1600"/>
            </a:pPr>
            <a:r>
              <a:t>1.</a:t>
            </a:r>
          </a:p>
          <a:p>
            <a:pPr>
              <a:defRPr sz="1600"/>
            </a:pPr>
            <a:r>
              <a:t>1, les conducteurs de bâtiment sont reliés à cette liaison équipotentielle principale ;    protection de toutes  d) la liaison du conducteur PEN de toute installation réalisée suivant le schéma TN au point neutre du transformateur, et à la liaison équipotentielle principale est effectuée en aval du dispositif général de protection de cette installation ;  e) le point neutre du transformateur, les masses du poste et les conducteurs de protection des installations situées dans le même bâtiment sont reliés à une même prise de terre ou à un ensemble de prises de terre interconnectées ;  f) chaque installation possède son propre conducteur de protection auquel sont reliées les masses de l'installation correspondante ; lorsque, dans un même local se trouvent des appareils alimentés par des installations différentes et simultanément accessibles, il est recommandé de relier leurs masses par une liaison équipotentielle supplémentaire.</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421.1 Les matériels électriques ne doivent pas présenter de danger d'incendie pour les matériaux</a:t>
            </a:r>
          </a:p>
        </p:txBody>
      </p:sp>
      <p:sp>
        <p:nvSpPr>
          <p:cNvPr id="3" name="Content Placeholder 2"/>
          <p:cNvSpPr>
            <a:spLocks noGrp="1"/>
          </p:cNvSpPr>
          <p:nvPr>
            <p:ph idx="1"/>
          </p:nvPr>
        </p:nvSpPr>
        <p:spPr/>
        <p:txBody>
          <a:bodyPr/>
          <a:lstStyle/>
          <a:p>
            <a:pPr>
              <a:defRPr sz="1600"/>
            </a:pPr>
            <a:r>
              <a:t>voisins.</a:t>
            </a:r>
          </a:p>
          <a:p>
            <a:pPr>
              <a:defRPr sz="1600"/>
            </a:pPr>
            <a:r>
              <a:t>Les instructions correspondantes du constructeur doivent être observées en plus des prescriptions de la présente norme.</a:t>
            </a:r>
          </a:p>
          <a:p>
            <a:pPr>
              <a:defRPr sz="1600"/>
            </a:pPr>
            <a:r>
              <a:t>La protection contre les surintensités fait   l'objet de la partie 4-43.</a:t>
            </a:r>
          </a:p>
          <a:p>
            <a:pPr>
              <a:defRPr sz="1600"/>
            </a:pPr>
            <a:r>
              <a:t>Les appareils d'utilisation doivent être disposés de façon à ne pas gêner leur dissipation de chaleur.</a:t>
            </a:r>
          </a:p>
          <a:p>
            <a:pPr>
              <a:defRPr sz="1600"/>
            </a:pPr>
            <a:r>
              <a:t>H.</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421.2 Lorsque les températures extérieures des matériels fixes peuvent atteindre des valeurs</a:t>
            </a:r>
          </a:p>
        </p:txBody>
      </p:sp>
      <p:sp>
        <p:nvSpPr>
          <p:cNvPr id="3" name="Content Placeholder 2"/>
          <p:cNvSpPr>
            <a:spLocks noGrp="1"/>
          </p:cNvSpPr>
          <p:nvPr>
            <p:ph idx="1"/>
          </p:nvPr>
        </p:nvSpPr>
        <p:spPr/>
        <p:txBody>
          <a:bodyPr/>
          <a:lstStyle/>
          <a:p>
            <a:pPr>
              <a:defRPr sz="1600"/>
            </a:pPr>
            <a:r>
              <a:t>susceptibles de provoquer un incendie de matériaux voisins, les matériels doivent être :  -  -  soit installés sur ou à l'intérieur de matériaux supportant de telles températures et de faible conductivité thermique ; soit séparés des éléments de construction par des matériaux supportant de telles températures et de faible conductivité thermique.</a:t>
            </a:r>
          </a:p>
          <a:p>
            <a:pPr>
              <a:defRPr sz="1600"/>
            </a:pPr>
            <a:r>
              <a:t>Les matériaux non-métalliques des catégories M0, M1 ou M2 conviennent pour l'application des dispositions ci-dessus.</a:t>
            </a:r>
          </a:p>
          <a:p>
            <a:pPr>
              <a:defRPr sz="1600"/>
            </a:pPr>
            <a:r>
              <a:t>H  -  soit installés à une distance suffisante de tout matériau dont la conservation pourrait être compromise par de telles températures, en permettant une dissipation sûre de la chaleur, les supports des matériels ayant une faible conductivité thermique.</a:t>
            </a:r>
          </a:p>
          <a:p>
            <a:pPr>
              <a:defRPr sz="1600"/>
            </a:pPr>
            <a:r>
              <a:t>Les matériaux de catégories M3, M4 ou non classés sont visés par ce tiret.</a:t>
            </a:r>
          </a:p>
          <a:p>
            <a:pPr>
              <a:defRPr sz="1600"/>
            </a:pPr>
            <a:r>
              <a:t>En France, la classification M0 à M4 est celle qui résulte de l'arrêté du 30 juin 1983 modifié du Ministère de l'intérieur portant classification des matériaux de construction et d'aménagement selon leur réaction au feu et définition des méthodes d'essai.</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421.3 Les matériels fixes, susceptibles de produire des arcs ou des étincelles en service normal,</a:t>
            </a:r>
          </a:p>
        </p:txBody>
      </p:sp>
      <p:sp>
        <p:nvSpPr>
          <p:cNvPr id="3" name="Content Placeholder 2"/>
          <p:cNvSpPr>
            <a:spLocks noGrp="1"/>
          </p:cNvSpPr>
          <p:nvPr>
            <p:ph idx="1"/>
          </p:nvPr>
        </p:nvSpPr>
        <p:spPr/>
        <p:txBody>
          <a:bodyPr/>
          <a:lstStyle/>
          <a:p>
            <a:pPr>
              <a:defRPr sz="1600"/>
            </a:pPr>
            <a:r>
              <a:t>doivent être :  - -  -  soit complètement enfermés dans des matériaux résistant aux arcs ; soit séparés des éléments de construction sur lesquels les arcs pourraient avoir des effets nuisibles, par des écrans en matériau résistant aux arcs ; soit installés à une distance suffisante des éléments de construction sur lesquels les arcs et étincelles pourraient avoir des effets nuisibles, en permettant une extinction sûre de l'arc et des étincelles.</a:t>
            </a:r>
          </a:p>
          <a:p>
            <a:pPr>
              <a:defRPr sz="1600"/>
            </a:pPr>
            <a:r>
              <a:t>Dans le cas des arcs, les matériaux résistant aux arcs utilisés pour cette mesure de protection doivent être incombustibles, avoir une faible conductivité thermique et présenter une épaisseur appropriée pour assurer une stabilité mécanique.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421.4 Les matériels fixes présentant un effet de focalisation ou de concentration de chaleur doivent</a:t>
            </a:r>
          </a:p>
        </p:txBody>
      </p:sp>
      <p:sp>
        <p:nvSpPr>
          <p:cNvPr id="3" name="Content Placeholder 2"/>
          <p:cNvSpPr>
            <a:spLocks noGrp="1"/>
          </p:cNvSpPr>
          <p:nvPr>
            <p:ph idx="1"/>
          </p:nvPr>
        </p:nvSpPr>
        <p:spPr/>
        <p:txBody>
          <a:bodyPr/>
          <a:lstStyle/>
          <a:p>
            <a:pPr>
              <a:defRPr sz="1600"/>
            </a:pPr>
            <a:r>
              <a:t>être suffisamment éloignés de tout objet fixe et de tout élément de construction, de telle façon que ces objets ou éléments ne puissent être soumis, dans les conditions normales, à une température dangereuse.</a:t>
            </a:r>
          </a:p>
          <a:p>
            <a:pPr>
              <a:defRPr sz="1600"/>
            </a:pPr>
            <a:r>
              <a:t>Cette règle concerne notamment certains projecteurs à incandescence à faisceau intensif.</a:t>
            </a:r>
          </a:p>
          <a:p>
            <a:pPr>
              <a:defRPr sz="1600"/>
            </a:pPr>
            <a:r>
              <a:t>H.</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421.5 Lorsque les matériels électriques installés dans le même local contiennent une quantité</a:t>
            </a:r>
          </a:p>
        </p:txBody>
      </p:sp>
      <p:sp>
        <p:nvSpPr>
          <p:cNvPr id="3" name="Content Placeholder 2"/>
          <p:cNvSpPr>
            <a:spLocks noGrp="1"/>
          </p:cNvSpPr>
          <p:nvPr>
            <p:ph idx="1"/>
          </p:nvPr>
        </p:nvSpPr>
        <p:spPr/>
        <p:txBody>
          <a:bodyPr/>
          <a:lstStyle/>
          <a:p>
            <a:pPr>
              <a:defRPr sz="1600"/>
            </a:pPr>
            <a:r>
              <a:t>importante de liquide inflammable, des dispositions doivent être prises pour empêcher le liquide enflammé et les produits de combustion du liquide (flamme, fumée, gaz toxique) de se propager dans d'autres parties du bâtiment.</a:t>
            </a:r>
          </a:p>
          <a:p>
            <a:pPr>
              <a:defRPr sz="1600"/>
            </a:pPr>
            <a:r>
              <a:t>- 98 -   H  H  H  H  NOTES - 1 - Comme exemples de telles dispositions, on peut citer : - -  une fosse d'extinction recueillant les fuites de liquide et assurant leur extinction en cas d'incendie ; l'installation des matériels dans un local constitué de parois résistant au feu avec des seuils ou d'autres moyens d'empêcher la propagation de liquide enflammé dans d'autres parties du bâtiment, ce local étant ventilé uniquement sur l'extérieur.</a:t>
            </a:r>
          </a:p>
          <a:p>
            <a:pPr>
              <a:defRPr sz="1600"/>
            </a:pPr>
            <a:r>
              <a:t>2 - Une quantité de 25 l est généralement considérée comme importante.</a:t>
            </a:r>
          </a:p>
          <a:p>
            <a:pPr>
              <a:defRPr sz="1600"/>
            </a:pPr>
            <a:r>
              <a:t>3 - Pour des quantités inférieures à 25 l, il est suffisant de prendre des dispositions pour empêcher la fuite du liquide.</a:t>
            </a:r>
          </a:p>
          <a:p>
            <a:pPr>
              <a:defRPr sz="1600"/>
            </a:pPr>
            <a:r>
              <a:t>4 - Il est souhaitable de mettre hors tension le matériel dès le début d'un incendie.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421.6 Les matériaux des enveloppes disposées autour des matériels électriques lors de leur mise</a:t>
            </a:r>
          </a:p>
        </p:txBody>
      </p:sp>
      <p:sp>
        <p:nvSpPr>
          <p:cNvPr id="3" name="Content Placeholder 2"/>
          <p:cNvSpPr>
            <a:spLocks noGrp="1"/>
          </p:cNvSpPr>
          <p:nvPr>
            <p:ph idx="1"/>
          </p:nvPr>
        </p:nvSpPr>
        <p:spPr/>
        <p:txBody>
          <a:bodyPr/>
          <a:lstStyle/>
          <a:p>
            <a:pPr>
              <a:defRPr sz="1600"/>
            </a:pPr>
            <a:r>
              <a:t>en œuvre doivent pouvoir supporter les températures les plus élevées susceptibles d'être produites par le matériel électrique.</a:t>
            </a:r>
          </a:p>
          <a:p>
            <a:pPr>
              <a:defRPr sz="1600"/>
            </a:pPr>
            <a:r>
              <a:t>Lorsqu'il est envisagé de mettre en œuvre une enveloppe autour d'un matériel électrique, il convient généralement de consulter le constructeur du matériel.</a:t>
            </a:r>
          </a:p>
          <a:p>
            <a:pPr>
              <a:defRPr sz="1600"/>
            </a:pPr>
            <a:r>
              <a:t>Des matériaux combustibles ne conviennent pas pour la construction de ces enveloppes, à moins que des mesures préventives contre l'inflammation ne soient prises, telles que le revêtement par une matière incombustible ou difficilement combustible et de faible conductivité thermique.</a:t>
            </a:r>
          </a:p>
          <a:p>
            <a:pPr>
              <a:defRPr sz="1600"/>
            </a:pPr>
            <a:r>
              <a:t>Des matériaux M3, M4 ou non classés ne conviennent pas pour la construction de ces enveloppes, à moins que des mesures préventives contre l'inflammation ne soient prises, telles que le revêtement par une matière M0, M1 ou M2 de faible conductivité thermique.</a:t>
            </a:r>
          </a:p>
          <a:p>
            <a:pPr>
              <a:defRPr sz="1600"/>
            </a:pPr>
            <a:r>
              <a:t>Cette règle ne s'applique pas aux enveloppes des matériels qui en font partie intégrante lorsque ces matériels satisfont aux normes qui leur sont applicables.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422.0 Généralités</a:t>
            </a:r>
          </a:p>
        </p:txBody>
      </p:sp>
      <p:sp>
        <p:nvSpPr>
          <p:cNvPr id="3" name="Content Placeholder 2"/>
          <p:cNvSpPr>
            <a:spLocks noGrp="1"/>
          </p:cNvSpPr>
          <p:nvPr>
            <p:ph idx="1"/>
          </p:nvPr>
        </p:nvSpPr>
        <p:spPr/>
        <p:txBody>
          <a:bodyPr/>
          <a:lstStyle/>
          <a:p>
            <a:pPr>
              <a:defRPr sz="1600"/>
            </a:pPr>
            <a:r>
              <a:t>NOTE - Cette partie donne des prescriptions minimales.</a:t>
            </a:r>
          </a:p>
          <a:p>
            <a:pPr>
              <a:defRPr sz="1600"/>
            </a:pPr>
            <a:r>
              <a:t>Des réglementations peuvent prescrire des règles complémentaires.</a:t>
            </a:r>
          </a:p>
          <a:p>
            <a:pPr>
              <a:defRPr sz="1600"/>
            </a:pPr>
            <a:r>
              <a:t>La présente partie traite :  -  du choix et de la mise en œuvre d'installations dans des locaux à risques d'incendie dus à la nature des matières traitées ou entreposées telles que matériaux inflammables pour la fabrication, le traitement ou le stockage, y compris sous forme de poussières, par exemple dans des granges, des ateliers de menuiserie, des usines à papier.</a:t>
            </a:r>
          </a:p>
          <a:p>
            <a:pPr>
              <a:defRPr sz="1600"/>
            </a:pPr>
            <a:r>
              <a:t>NOTE - La nature, les quantités de matières inflammables, les surfaces et les volumes de ces locaux peuvent être fixés par des réglementations.</a:t>
            </a:r>
          </a:p>
          <a:p>
            <a:pPr>
              <a:defRPr sz="1600"/>
            </a:pPr>
            <a:r>
              <a:t>Les locaux ou emplacements visés par le présent tiret sont les locaux classés BE2.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 Locaux à risque d'incendie dû à la nature des matières traitées ou entreposées</a:t>
            </a:r>
          </a:p>
        </p:txBody>
      </p:sp>
      <p:sp>
        <p:nvSpPr>
          <p:cNvPr id="3" name="Content Placeholder 2"/>
          <p:cNvSpPr>
            <a:spLocks noGrp="1"/>
          </p:cNvSpPr>
          <p:nvPr>
            <p:ph idx="1"/>
          </p:nvPr>
        </p:nvSpPr>
        <p:spPr/>
        <p:txBody>
          <a:bodyPr/>
          <a:lstStyle/>
          <a:p>
            <a:pPr>
              <a:defRPr sz="1600"/>
            </a:pPr>
            <a:r>
              <a:t>(locaux BE2).</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422.1.1 Dans les locaux classés BE2, les installations doivent être limitées à celles nécessaires à</a:t>
            </a:r>
          </a:p>
        </p:txBody>
      </p:sp>
      <p:sp>
        <p:nvSpPr>
          <p:cNvPr id="3" name="Content Placeholder 2"/>
          <p:cNvSpPr>
            <a:spLocks noGrp="1"/>
          </p:cNvSpPr>
          <p:nvPr>
            <p:ph idx="1"/>
          </p:nvPr>
        </p:nvSpPr>
        <p:spPr/>
        <p:txBody>
          <a:bodyPr/>
          <a:lstStyle/>
          <a:p>
            <a:pPr>
              <a:defRPr sz="1600"/>
            </a:pPr>
            <a:r>
              <a:t>l'exploitation de ces locaux, à l'exception des canalisations dans Ces installations doivent satisfaire aux prescriptions des sous-paragraphes 422.</a:t>
            </a:r>
          </a:p>
          <a:p>
            <a:pPr>
              <a:defRPr sz="1600"/>
            </a:pPr>
            <a:r>
              <a:t>1.</a:t>
            </a:r>
          </a:p>
          <a:p>
            <a:pPr>
              <a:defRPr sz="1600"/>
            </a:pPr>
            <a:r>
              <a:t>2 à 422.</a:t>
            </a:r>
          </a:p>
          <a:p>
            <a:pPr>
              <a:defRPr sz="1600"/>
            </a:pPr>
            <a:r>
              <a:t>1.</a:t>
            </a:r>
          </a:p>
          <a:p>
            <a:pPr>
              <a:defRPr sz="1600"/>
            </a:pPr>
            <a:r>
              <a:t>18.</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422.1.2 Lorsque des poussières peuvent s'accumuler en quantité suffisante sur des enveloppes de</a:t>
            </a:r>
          </a:p>
        </p:txBody>
      </p:sp>
      <p:sp>
        <p:nvSpPr>
          <p:cNvPr id="3" name="Content Placeholder 2"/>
          <p:cNvSpPr>
            <a:spLocks noGrp="1"/>
          </p:cNvSpPr>
          <p:nvPr>
            <p:ph idx="1"/>
          </p:nvPr>
        </p:nvSpPr>
        <p:spPr/>
        <p:txBody>
          <a:bodyPr/>
          <a:lstStyle/>
          <a:p>
            <a:pPr>
              <a:defRPr sz="1600"/>
            </a:pPr>
            <a:r>
              <a:t>matériels électriques pouvant entraîner un risque d'incendie, des mesures doivent être prises pour empêcher ces enveloppes d'atteindre des températures excessives.</a:t>
            </a:r>
          </a:p>
          <a:p>
            <a:pPr>
              <a:defRPr sz="1600"/>
            </a:pPr>
            <a:r>
              <a:t>Cela relève du simple aspect de l'entretien.</a:t>
            </a:r>
          </a:p>
          <a:p>
            <a:pPr>
              <a:defRPr sz="1600"/>
            </a:pPr>
            <a:r>
              <a:t>H.</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422.1.3 Il est rappelé que les matériels électriques doivent être appropriés à ces locaux ; en</a:t>
            </a:r>
          </a:p>
        </p:txBody>
      </p:sp>
      <p:sp>
        <p:nvSpPr>
          <p:cNvPr id="3" name="Content Placeholder 2"/>
          <p:cNvSpPr>
            <a:spLocks noGrp="1"/>
          </p:cNvSpPr>
          <p:nvPr>
            <p:ph idx="1"/>
          </p:nvPr>
        </p:nvSpPr>
        <p:spPr/>
        <p:txBody>
          <a:bodyPr/>
          <a:lstStyle/>
          <a:p>
            <a:pPr>
              <a:defRPr sz="1600"/>
            </a:pPr>
            <a:r>
              <a:t>particulier, leurs enveloppes doivent présenter un degré de protection d'au moins IP5X en cas de présence de poussière.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422.1.4 En principe, les règles générales relatives aux canalisations sont applicables. Cependant,</a:t>
            </a:r>
          </a:p>
        </p:txBody>
      </p:sp>
      <p:sp>
        <p:nvSpPr>
          <p:cNvPr id="3" name="Content Placeholder 2"/>
          <p:cNvSpPr>
            <a:spLocks noGrp="1"/>
          </p:cNvSpPr>
          <p:nvPr>
            <p:ph idx="1"/>
          </p:nvPr>
        </p:nvSpPr>
        <p:spPr/>
        <p:txBody>
          <a:bodyPr/>
          <a:lstStyle/>
          <a:p>
            <a:pPr>
              <a:defRPr sz="1600"/>
            </a:pPr>
            <a:r>
              <a:t>lorsque les canalisations ne sont pas noyées dans des matériaux incombustibles tels que plâtre, béton ou matériau équivalent, elles doivent satisfaire aux caractéristiques de non propagation de la flamme définies dans les normes en vigueur.</a:t>
            </a:r>
          </a:p>
          <a:p>
            <a:pPr>
              <a:defRPr sz="1600"/>
            </a:pPr>
            <a:r>
              <a:t>Les conducteurs et câbles, les systèmes de conduits, de goulottes, les chemins de câbles doivent satisfaire à l'essai de non propagation de la flamme (catégorie C2 pour les câbles et conducteurs).</a:t>
            </a:r>
          </a:p>
          <a:p>
            <a:pPr>
              <a:defRPr sz="1600"/>
            </a:pPr>
            <a:r>
              <a:t>H  NOTE - Lorsque le risque de propagation de l'incendie est élevé, par exemple dans de longs parcours verticaux ou dans des groupements de câbles, il est recommandé que les câbles satisfassent aux caractéristiques de non propagation de  l'incendie définies dans la norme en vigueur.</a:t>
            </a:r>
          </a:p>
          <a:p>
            <a:pPr>
              <a:defRPr sz="1600"/>
            </a:pPr>
            <a:r>
              <a:t>(2)  Les câbles non propagateurs de l'incendie sont de la catégorie C1.</a:t>
            </a:r>
          </a:p>
          <a:p>
            <a:pPr>
              <a:defRPr sz="1600"/>
            </a:pPr>
            <a:r>
              <a:t>(2) NF EN 50266 (C 32-072)  - 100 -    H.</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422.1.5 En complément à 422.1.4, les canalisations électriques qui traversent de tels locaux, mais</a:t>
            </a:r>
          </a:p>
        </p:txBody>
      </p:sp>
      <p:sp>
        <p:nvSpPr>
          <p:cNvPr id="3" name="Content Placeholder 2"/>
          <p:cNvSpPr>
            <a:spLocks noGrp="1"/>
          </p:cNvSpPr>
          <p:nvPr>
            <p:ph idx="1"/>
          </p:nvPr>
        </p:nvSpPr>
        <p:spPr/>
        <p:txBody>
          <a:bodyPr/>
          <a:lstStyle/>
          <a:p>
            <a:pPr>
              <a:defRPr sz="1600"/>
            </a:pPr>
            <a:r>
              <a:t>qui ne sont pas destinées à l'alimentation de ces locaux ne doivent comporter aucune connexion sur leur parcours à l'intérieur de ces locaux, à moins que ces connexions ne soient placées dans une enveloppe satisfaisant aux essais au feu définis dans les normes appropriées de produits, par exemple prescriptions particulières pour les boîtiers de cloisons définies dans la norme en vigueur  (3).</a:t>
            </a:r>
          </a:p>
          <a:p>
            <a:pPr>
              <a:defRPr sz="1600"/>
            </a:pPr>
            <a:r>
              <a:t>Les enveloppes contenant des connexions satisfont à l'essai au fil incandescent conforme à la norme en vigueur   à la température de 960 °C.</a:t>
            </a:r>
          </a:p>
          <a:p>
            <a:pPr>
              <a:defRPr sz="1600"/>
            </a:pPr>
            <a:r>
              <a:t>(4)  Les canalisations électriques préfabriquées conformes à la norme en vigueur  (5)   sont autorisées.</a:t>
            </a:r>
          </a:p>
          <a:p>
            <a:pPr>
              <a:defRPr sz="1600"/>
            </a:pPr>
            <a:r>
              <a:t>Le tableau 52A précise les caractéristiques C1, C2 et C3 des principaux câbles utilisés.</a:t>
            </a:r>
          </a:p>
          <a:p>
            <a:pPr>
              <a:defRPr sz="1600"/>
            </a:pPr>
            <a:r>
              <a:t>H.</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422.1.6 Les canalisations qui alimentent ou traversent de tels locaux doivent être protégées contre</a:t>
            </a:r>
          </a:p>
        </p:txBody>
      </p:sp>
      <p:sp>
        <p:nvSpPr>
          <p:cNvPr id="3" name="Content Placeholder 2"/>
          <p:cNvSpPr>
            <a:spLocks noGrp="1"/>
          </p:cNvSpPr>
          <p:nvPr>
            <p:ph idx="1"/>
          </p:nvPr>
        </p:nvSpPr>
        <p:spPr/>
        <p:txBody>
          <a:bodyPr/>
          <a:lstStyle/>
          <a:p>
            <a:pPr>
              <a:defRPr sz="1600"/>
            </a:pPr>
            <a:r>
              <a:t>les surcharges et contre les courts-circuits par des dispositifs situés en amont du local concerné.</a:t>
            </a:r>
          </a:p>
          <a:p>
            <a:pPr>
              <a:defRPr sz="1600"/>
            </a:pPr>
            <a:r>
              <a:t>Les canalisations qui ont leur origine dans ces locaux doivent être protégées contre les surcharges et contre les courts-circuits par des dispositifs situés à l'origine de ces circuits.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422.1.7 Les canalisations doivent être protégées contre les défauts d'isolement, à l'exception des</a:t>
            </a:r>
          </a:p>
        </p:txBody>
      </p:sp>
      <p:sp>
        <p:nvSpPr>
          <p:cNvPr id="3" name="Content Placeholder 2"/>
          <p:cNvSpPr>
            <a:spLocks noGrp="1"/>
          </p:cNvSpPr>
          <p:nvPr>
            <p:ph idx="1"/>
          </p:nvPr>
        </p:nvSpPr>
        <p:spPr/>
        <p:txBody>
          <a:bodyPr/>
          <a:lstStyle/>
          <a:p>
            <a:pPr>
              <a:defRPr sz="1600"/>
            </a:pPr>
            <a:r>
              <a:t>canalisations préfabriquées :  a) en schéma TN ou TT, par des dispositifs à courant différentiel résiduel de courant différentiel-  résiduel assigné au plus égal à 300 mA conformément   à 531.</a:t>
            </a:r>
          </a:p>
          <a:p>
            <a:pPr>
              <a:defRPr sz="1600"/>
            </a:pPr>
            <a:r>
              <a:t>2.</a:t>
            </a:r>
          </a:p>
          <a:p>
            <a:pPr>
              <a:defRPr sz="1600"/>
            </a:pPr>
            <a:r>
              <a:t>4 et aux normes appropriées.</a:t>
            </a:r>
          </a:p>
          <a:p>
            <a:pPr>
              <a:defRPr sz="1600"/>
            </a:pPr>
            <a:r>
              <a:t>Si un défaut résistif peut entraîner un risque d'incendie, par exemple chauffage en plafond par films chauffants, le courant différentiel-résiduel assigné doit être au plus de 30 mA.</a:t>
            </a:r>
          </a:p>
          <a:p>
            <a:pPr>
              <a:defRPr sz="1600"/>
            </a:pPr>
            <a:r>
              <a:t>b) en schéma IT, par un contrôleur permanent d'isolement avec alarme sonore et/ou visuelle.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422.1.8 Les conducteurs PEN ne sont pas admis à l'exception de ceux appartenant à des</a:t>
            </a:r>
          </a:p>
        </p:txBody>
      </p:sp>
      <p:sp>
        <p:nvSpPr>
          <p:cNvPr id="3" name="Content Placeholder 2"/>
          <p:cNvSpPr>
            <a:spLocks noGrp="1"/>
          </p:cNvSpPr>
          <p:nvPr>
            <p:ph idx="1"/>
          </p:nvPr>
        </p:nvSpPr>
        <p:spPr/>
        <p:txBody>
          <a:bodyPr/>
          <a:lstStyle/>
          <a:p>
            <a:pPr>
              <a:defRPr sz="1600"/>
            </a:pPr>
            <a:r>
              <a:t>canalisations traversant ces locaux.</a:t>
            </a:r>
          </a:p>
          <a:p>
            <a:pPr>
              <a:defRPr sz="1600"/>
            </a:pPr>
            <a:r>
              <a:t>Dans les installations en schéma TN, les circuits desservant ces locaux sont réalisés suivant le schéma TN-S.</a:t>
            </a:r>
          </a:p>
          <a:p>
            <a:pPr>
              <a:defRPr sz="1600"/>
            </a:pPr>
            <a:r>
              <a:t>Il est admis que le tableau principal de ces locaux puisse être alimenté en schéma TN-C.</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422.1.9 Tout conducteur neutre doit pouvoir être sectionné par un dispositif associé conformément</a:t>
            </a:r>
          </a:p>
        </p:txBody>
      </p:sp>
      <p:sp>
        <p:nvSpPr>
          <p:cNvPr id="3" name="Content Placeholder 2"/>
          <p:cNvSpPr>
            <a:spLocks noGrp="1"/>
          </p:cNvSpPr>
          <p:nvPr>
            <p:ph idx="1"/>
          </p:nvPr>
        </p:nvSpPr>
        <p:spPr/>
        <p:txBody>
          <a:bodyPr/>
          <a:lstStyle/>
          <a:p>
            <a:pPr>
              <a:defRPr sz="1600"/>
            </a:pPr>
            <a:r>
              <a:t>à 537.</a:t>
            </a:r>
          </a:p>
          <a:p>
            <a:pPr>
              <a:defRPr sz="1600"/>
            </a:pPr>
            <a:r>
              <a:t>2.</a:t>
            </a:r>
          </a:p>
          <a:p>
            <a:pPr>
              <a:defRPr sz="1600"/>
            </a:pPr>
            <a:r>
              <a:t>Cette règle est précisée pour les pays n'appliquant pas systématiquement la coupure du neutre.</a:t>
            </a:r>
          </a:p>
          <a:p>
            <a:pPr>
              <a:defRPr sz="1600"/>
            </a:pPr>
            <a:r>
              <a:t>En France, le conducteur neutre est toujours sectionné.</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422.1.10 Les conducteurs nus ne sont pas admis.</a:t>
            </a:r>
          </a:p>
        </p:txBody>
      </p:sp>
      <p:sp>
        <p:nvSpPr>
          <p:cNvPr id="3" name="Content Placeholder 2"/>
          <p:cNvSpPr>
            <a:spLocks noGrp="1"/>
          </p:cNvSpPr>
          <p:nvPr>
            <p:ph idx="1"/>
          </p:nvPr>
        </p:nvSpPr>
        <p:spPr/>
        <p:txBody>
          <a:bodyPr/>
          <a:lstStyle/>
          <a:p>
            <a:pPr>
              <a:defRPr sz="1600"/>
            </a:pPr>
            <a:r>
              <a:t>On doit s'assurer que les matériaux combustibles présents ne puissent s'enflammer par formation d'arcs, étincelles, particules brûlantes ou autres phénomènes.</a:t>
            </a:r>
          </a:p>
          <a:p>
            <a:pPr>
              <a:defRPr sz="1600"/>
            </a:pPr>
            <a:r>
              <a:t>H  H  H  (3) NF EN 60669-2-2 (C 61-112) (4) NF EN 60695 (C 20-924) (5) NF EN 60439-2 (C 63-422)  - 101 -    H.</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422.1.11 Pour les câbles souples il est recommandé de choisir les câbles et cordons pour usage</a:t>
            </a:r>
          </a:p>
        </p:txBody>
      </p:sp>
      <p:sp>
        <p:nvSpPr>
          <p:cNvPr id="3" name="Content Placeholder 2"/>
          <p:cNvSpPr>
            <a:spLocks noGrp="1"/>
          </p:cNvSpPr>
          <p:nvPr>
            <p:ph idx="1"/>
          </p:nvPr>
        </p:nvSpPr>
        <p:spPr/>
        <p:txBody>
          <a:bodyPr/>
          <a:lstStyle/>
          <a:p>
            <a:pPr>
              <a:defRPr sz="1600"/>
            </a:pPr>
            <a:r>
              <a:t>intensif, par exemple du type HO7RN-F ou autre câble analogue.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422.1.13 Les moteurs commandés automatiquement ou à distance, ou non surveillés en</a:t>
            </a:r>
          </a:p>
        </p:txBody>
      </p:sp>
      <p:sp>
        <p:nvSpPr>
          <p:cNvPr id="3" name="Content Placeholder 2"/>
          <p:cNvSpPr>
            <a:spLocks noGrp="1"/>
          </p:cNvSpPr>
          <p:nvPr>
            <p:ph idx="1"/>
          </p:nvPr>
        </p:nvSpPr>
        <p:spPr/>
        <p:txBody>
          <a:bodyPr/>
          <a:lstStyle/>
          <a:p>
            <a:pPr>
              <a:defRPr sz="1600"/>
            </a:pPr>
            <a:r>
              <a:t>permanence, doivent être protégés contre les températures excessives par des dispositifs de protection contre les surcharges avec réarmement manuel ou par des dispositifs analogues.</a:t>
            </a:r>
          </a:p>
          <a:p>
            <a:pPr>
              <a:defRPr sz="1600"/>
            </a:pPr>
            <a:r>
              <a:t>Les moteurs à démarrage étoile-triangle, sans commutation automatique d'étoile à triangle, doivent être aussi protégés contre les températures excessives dans le couplage étoile.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422.1.14 Dans les locaux où il existe un risque d'accumulation de poussières sur le luminaire, seuls</a:t>
            </a:r>
          </a:p>
        </p:txBody>
      </p:sp>
      <p:sp>
        <p:nvSpPr>
          <p:cNvPr id="3" name="Content Placeholder 2"/>
          <p:cNvSpPr>
            <a:spLocks noGrp="1"/>
          </p:cNvSpPr>
          <p:nvPr>
            <p:ph idx="1"/>
          </p:nvPr>
        </p:nvSpPr>
        <p:spPr/>
        <p:txBody>
          <a:bodyPr/>
          <a:lstStyle/>
          <a:p>
            <a:pPr>
              <a:defRPr sz="1600"/>
            </a:pPr>
            <a:r>
              <a:t>les luminaires avec surfaces à températures limitées doivent être utilisés.</a:t>
            </a:r>
          </a:p>
          <a:p>
            <a:pPr>
              <a:defRPr sz="1600"/>
            </a:pPr>
            <a:r>
              <a:t>Ces luminaires doivent être conformes à la norme NF EN 60598-2-24 (NF C 71-024) et présenter le degré de protection IP6X.</a:t>
            </a:r>
          </a:p>
          <a:p>
            <a:pPr>
              <a:defRPr sz="1600"/>
            </a:pPr>
            <a:r>
              <a:t>En outre, si les luminaires utilisés peuvent surchauffer les objets éclairés en raison par exemple du type de lampe utilisé, de la forme du réflecteur, du réglage des moyens de montage, ou de la position de montage, comme indiqué dans les instructions d'installation, ces luminaires devront comporter le marquage correspondant indiquant la distance minimale des objets illuminés.</a:t>
            </a:r>
          </a:p>
          <a:p>
            <a:pPr>
              <a:defRPr sz="1600"/>
            </a:pPr>
            <a:r>
              <a:t>Le symbole pour la distance minimale des objets éclairés (mètres) est  m  H.</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422.1.16 Si des systèmes de chauffage électrique ou de ventilation sont utilisés, la présence de</a:t>
            </a:r>
          </a:p>
        </p:txBody>
      </p:sp>
      <p:sp>
        <p:nvSpPr>
          <p:cNvPr id="3" name="Content Placeholder 2"/>
          <p:cNvSpPr>
            <a:spLocks noGrp="1"/>
          </p:cNvSpPr>
          <p:nvPr>
            <p:ph idx="1"/>
          </p:nvPr>
        </p:nvSpPr>
        <p:spPr/>
        <p:txBody>
          <a:bodyPr/>
          <a:lstStyle/>
          <a:p>
            <a:pPr>
              <a:defRPr sz="1600"/>
            </a:pPr>
            <a:r>
              <a:t>poussière et la température de l'air doivent être telles qu'un risque d'incendie ne puisse se présenter dans ce local.</a:t>
            </a:r>
          </a:p>
          <a:p>
            <a:pPr>
              <a:defRPr sz="1600"/>
            </a:pPr>
            <a:r>
              <a:t>Les dispositifs de limitation de température doivent être à réenclenchement manuel.</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422.1.17 Les matériels de chauffage électrique doivent être placés sur des supports</a:t>
            </a:r>
          </a:p>
        </p:txBody>
      </p:sp>
      <p:sp>
        <p:nvSpPr>
          <p:cNvPr id="3" name="Content Placeholder 2"/>
          <p:cNvSpPr>
            <a:spLocks noGrp="1"/>
          </p:cNvSpPr>
          <p:nvPr>
            <p:ph idx="1"/>
          </p:nvPr>
        </p:nvSpPr>
        <p:spPr/>
        <p:txBody>
          <a:bodyPr/>
          <a:lstStyle/>
          <a:p>
            <a:pPr>
              <a:defRPr sz="1600"/>
            </a:pPr>
            <a:r>
              <a:t>incombustibles.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422.1.18 Les matériels de chauffage situés à proximité de matériaux combustibles doivent être</a:t>
            </a:r>
          </a:p>
        </p:txBody>
      </p:sp>
      <p:sp>
        <p:nvSpPr>
          <p:cNvPr id="3" name="Content Placeholder 2"/>
          <p:cNvSpPr>
            <a:spLocks noGrp="1"/>
          </p:cNvSpPr>
          <p:nvPr>
            <p:ph idx="1"/>
          </p:nvPr>
        </p:nvSpPr>
        <p:spPr/>
        <p:txBody>
          <a:bodyPr/>
          <a:lstStyle/>
          <a:p>
            <a:pPr>
              <a:defRPr sz="1600"/>
            </a:pPr>
            <a:r>
              <a:t>fournis avec des barrières appropriées empêchant l'inflammation de ces matériaux.</a:t>
            </a:r>
          </a:p>
          <a:p>
            <a:pPr>
              <a:defRPr sz="1600"/>
            </a:pPr>
            <a:r>
              <a:t>Les chauffages à accumulation doivent être tels qu'ils empêchent l'air de transporter de la poussière et/ou des fibres vers la résistance chauffante.</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422.2 Locaux construits en matériaux combustibles</a:t>
            </a:r>
          </a:p>
        </p:txBody>
      </p:sp>
      <p:sp>
        <p:nvSpPr>
          <p:cNvPr id="3" name="Content Placeholder 2"/>
          <p:cNvSpPr>
            <a:spLocks noGrp="1"/>
          </p:cNvSpPr>
          <p:nvPr>
            <p:ph idx="1"/>
          </p:nvPr>
        </p:nvSpPr>
        <p:spPr/>
        <p:txBody>
          <a:bodyPr/>
          <a:lstStyle/>
          <a:p>
            <a:pPr>
              <a:defRPr sz="1600"/>
            </a:pPr>
            <a:r>
              <a:t>Condition CA2 selon 512.</a:t>
            </a:r>
          </a:p>
          <a:p>
            <a:pPr>
              <a:defRPr sz="1600"/>
            </a:pPr>
            <a:r>
              <a:t>2.</a:t>
            </a:r>
          </a:p>
          <a:p>
            <a:pPr>
              <a:defRPr sz="1600"/>
            </a:pPr>
            <a:r>
              <a:t>21.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422.2.1 Des précautions doivent être prises pour que les matériels électriques ne puissent</a:t>
            </a:r>
          </a:p>
        </p:txBody>
      </p:sp>
      <p:sp>
        <p:nvSpPr>
          <p:cNvPr id="3" name="Content Placeholder 2"/>
          <p:cNvSpPr>
            <a:spLocks noGrp="1"/>
          </p:cNvSpPr>
          <p:nvPr>
            <p:ph idx="1"/>
          </p:nvPr>
        </p:nvSpPr>
        <p:spPr/>
        <p:txBody>
          <a:bodyPr/>
          <a:lstStyle/>
          <a:p>
            <a:pPr>
              <a:defRPr sz="1600"/>
            </a:pPr>
            <a:r>
              <a:t>provoquer l'inflammation des parois, des planchers et des plafonds.</a:t>
            </a:r>
          </a:p>
          <a:p>
            <a:pPr>
              <a:defRPr sz="1600"/>
            </a:pPr>
            <a:r>
              <a:t>Ceci peut être réalisé par :  - -  la prévention d'incendie dû à des défauts d'isolation conformément à le choix et la mise en œuvre des matériels électriques.</a:t>
            </a:r>
          </a:p>
          <a:p>
            <a:pPr>
              <a:defRPr sz="1600"/>
            </a:pPr>
            <a:r>
              <a:t>422.</a:t>
            </a:r>
          </a:p>
          <a:p>
            <a:pPr>
              <a:defRPr sz="1600"/>
            </a:pPr>
            <a:r>
              <a:t>1.</a:t>
            </a:r>
          </a:p>
          <a:p>
            <a:pPr>
              <a:defRPr sz="1600"/>
            </a:pPr>
            <a:r>
              <a:t>7,  Les câbles doivent être au moins de la catégorie C2.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422.2.2 Choix et mise en œuvre des matériels dans des parois creuses</a:t>
            </a:r>
          </a:p>
        </p:txBody>
      </p:sp>
      <p:sp>
        <p:nvSpPr>
          <p:cNvPr id="3" name="Content Placeholder 2"/>
          <p:cNvSpPr>
            <a:spLocks noGrp="1"/>
          </p:cNvSpPr>
          <p:nvPr>
            <p:ph idx="1"/>
          </p:nvPr>
        </p:nvSpPr>
        <p:spPr/>
        <p:txBody>
          <a:bodyPr/>
          <a:lstStyle/>
          <a:p>
            <a:pPr>
              <a:defRPr sz="1600"/>
            </a:pPr>
            <a:r>
              <a:t>NOTE - Les parois creuses sont généralement constituées par des armatures recouvertes de feuilles de contreplaqué, de plâtre, de bois ou de métal.</a:t>
            </a:r>
          </a:p>
          <a:p>
            <a:pPr>
              <a:defRPr sz="1600"/>
            </a:pPr>
            <a:r>
              <a:t>Les parois creuses peuvent aussi être préfabriquées.</a:t>
            </a:r>
          </a:p>
          <a:p>
            <a:pPr>
              <a:defRPr sz="1600"/>
            </a:pPr>
            <a:r>
              <a:t>Les matériels électriques sont installés dans ces parois.</a:t>
            </a:r>
          </a:p>
          <a:p>
            <a:pPr>
              <a:defRPr sz="1600"/>
            </a:pPr>
            <a:r>
              <a:t>Les canalisations peuvent être fixées ou non dans ces parois.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422.2.2.1 Les matériels électriques, par exemple boîtiers, tableaux de distribution, installés dans</a:t>
            </a:r>
          </a:p>
        </p:txBody>
      </p:sp>
      <p:sp>
        <p:nvSpPr>
          <p:cNvPr id="3" name="Content Placeholder 2"/>
          <p:cNvSpPr>
            <a:spLocks noGrp="1"/>
          </p:cNvSpPr>
          <p:nvPr>
            <p:ph idx="1"/>
          </p:nvPr>
        </p:nvSpPr>
        <p:spPr/>
        <p:txBody>
          <a:bodyPr/>
          <a:lstStyle/>
          <a:p>
            <a:pPr>
              <a:defRPr sz="1600"/>
            </a:pPr>
            <a:r>
              <a:t>des parois creuses combustibles doivent être conformes aux prescriptions des normes appropriées.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422.2.2.2 Si des matériels électriques sont installés dans des parois creuses et ne satisfont pas aux</a:t>
            </a:r>
          </a:p>
        </p:txBody>
      </p:sp>
      <p:sp>
        <p:nvSpPr>
          <p:cNvPr id="3" name="Content Placeholder 2"/>
          <p:cNvSpPr>
            <a:spLocks noGrp="1"/>
          </p:cNvSpPr>
          <p:nvPr>
            <p:ph idx="1"/>
          </p:nvPr>
        </p:nvSpPr>
        <p:spPr/>
        <p:txBody>
          <a:bodyPr/>
          <a:lstStyle/>
          <a:p>
            <a:pPr>
              <a:defRPr sz="1600"/>
            </a:pPr>
            <a:r>
              <a:t>prescriptions de 422.</a:t>
            </a:r>
          </a:p>
          <a:p>
            <a:pPr>
              <a:defRPr sz="1600"/>
            </a:pPr>
            <a:r>
              <a:t>2.</a:t>
            </a:r>
          </a:p>
          <a:p>
            <a:pPr>
              <a:defRPr sz="1600"/>
            </a:pPr>
            <a:r>
              <a:t>2.</a:t>
            </a:r>
          </a:p>
          <a:p>
            <a:pPr>
              <a:defRPr sz="1600"/>
            </a:pPr>
            <a:r>
              <a:t>1, ils doivent être enveloppés d'une épaisseur de 12 mm de fibro-silicate ou de matériau non combustible analogue ou d'une épaisseur de 100 mm de laine de verre ou de roche.</a:t>
            </a:r>
          </a:p>
          <a:p>
            <a:pPr>
              <a:defRPr sz="1600"/>
            </a:pPr>
            <a:r>
              <a:t>Si de tels matériaux sont utilisés, leurs effets sur la dissipation de chaleur des matériels électriques doivent être pris en compte.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422.2.2.3 Les matériels électriques tels que les prises de courant et interrupteurs ne doivent pas</a:t>
            </a:r>
          </a:p>
        </p:txBody>
      </p:sp>
      <p:sp>
        <p:nvSpPr>
          <p:cNvPr id="3" name="Content Placeholder 2"/>
          <p:cNvSpPr>
            <a:spLocks noGrp="1"/>
          </p:cNvSpPr>
          <p:nvPr>
            <p:ph idx="1"/>
          </p:nvPr>
        </p:nvSpPr>
        <p:spPr/>
        <p:txBody>
          <a:bodyPr/>
          <a:lstStyle/>
          <a:p>
            <a:pPr>
              <a:defRPr sz="1600"/>
            </a:pPr>
            <a:r>
              <a:t>être à fixation par griffes.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422.2.2.5 Les conduits doivent être conformes à la NF EN 50086 (C 68-110) et être non</a:t>
            </a:r>
          </a:p>
        </p:txBody>
      </p:sp>
      <p:sp>
        <p:nvSpPr>
          <p:cNvPr id="3" name="Content Placeholder 2"/>
          <p:cNvSpPr>
            <a:spLocks noGrp="1"/>
          </p:cNvSpPr>
          <p:nvPr>
            <p:ph idx="1"/>
          </p:nvPr>
        </p:nvSpPr>
        <p:spPr/>
        <p:txBody>
          <a:bodyPr/>
          <a:lstStyle/>
          <a:p>
            <a:pPr>
              <a:defRPr sz="1600"/>
            </a:pPr>
            <a:r>
              <a:t>propagateurs de la flamme.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422.2.2.6 Les boîtes de jonction connectées à des câbles en montage apparent doivent être</a:t>
            </a:r>
          </a:p>
        </p:txBody>
      </p:sp>
      <p:sp>
        <p:nvSpPr>
          <p:cNvPr id="3" name="Content Placeholder 2"/>
          <p:cNvSpPr>
            <a:spLocks noGrp="1"/>
          </p:cNvSpPr>
          <p:nvPr>
            <p:ph idx="1"/>
          </p:nvPr>
        </p:nvSpPr>
        <p:spPr/>
        <p:txBody>
          <a:bodyPr/>
          <a:lstStyle/>
          <a:p>
            <a:pPr>
              <a:defRPr sz="1600"/>
            </a:pPr>
            <a:r>
              <a:t>équipées d'un dispositif d'arrêt de câble.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422.4 Structures propagatrices d'incendie</a:t>
            </a:r>
          </a:p>
        </p:txBody>
      </p:sp>
      <p:sp>
        <p:nvSpPr>
          <p:cNvPr id="3" name="Content Placeholder 2"/>
          <p:cNvSpPr>
            <a:spLocks noGrp="1"/>
          </p:cNvSpPr>
          <p:nvPr>
            <p:ph idx="1"/>
          </p:nvPr>
        </p:nvSpPr>
        <p:spPr/>
        <p:txBody>
          <a:bodyPr/>
          <a:lstStyle/>
          <a:p>
            <a:pPr>
              <a:defRPr sz="1600"/>
            </a:pPr>
            <a:r>
              <a:t>Condition CB2, selon 512.</a:t>
            </a:r>
          </a:p>
          <a:p>
            <a:pPr>
              <a:defRPr sz="1600"/>
            </a:pPr>
            <a:r>
              <a:t>2.</a:t>
            </a:r>
          </a:p>
          <a:p>
            <a:pPr>
              <a:defRPr sz="1600"/>
            </a:pPr>
            <a:r>
              <a:t>22.</a:t>
            </a:r>
          </a:p>
          <a:p>
            <a:pPr>
              <a:defRPr sz="1600"/>
            </a:pPr>
            <a:r>
              <a:t>Ces conditions sont normalement réglementées par les textes traitant de la prévention contre l'incendie dans les différents types de bâtiments.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422.4.1 Dans les structures dont la forme et les dimensions facilitent la propagation d'un incendie,</a:t>
            </a:r>
          </a:p>
        </p:txBody>
      </p:sp>
      <p:sp>
        <p:nvSpPr>
          <p:cNvPr id="3" name="Content Placeholder 2"/>
          <p:cNvSpPr>
            <a:spLocks noGrp="1"/>
          </p:cNvSpPr>
          <p:nvPr>
            <p:ph idx="1"/>
          </p:nvPr>
        </p:nvSpPr>
        <p:spPr/>
        <p:txBody>
          <a:bodyPr/>
          <a:lstStyle/>
          <a:p>
            <a:pPr>
              <a:defRPr sz="1600"/>
            </a:pPr>
            <a:r>
              <a:t>des précautions doivent être prises pour que les installations électriques ne propagent pas facilement un incendie (par exemple, effet de cheminée).</a:t>
            </a:r>
          </a:p>
          <a:p>
            <a:pPr>
              <a:defRPr sz="1600"/>
            </a:pPr>
            <a:r>
              <a:t>NOTE - Des détecteurs d'incendie peuvent être prévus assurant la mise en service de mesures s'opposant à la propagation de l'incendie, par exemple la fermeture de volets coupe-feu dans des gaines, des caniveaux ou des galeries.</a:t>
            </a:r>
          </a:p>
          <a:p>
            <a:pPr>
              <a:defRPr sz="1600"/>
            </a:pPr>
            <a:r>
              <a:t>Lorsque de satisfaisantes :  telles conditions se présentent,  les dispositions suivantes sont généralement  Des barrières coupe-feu sont disposées comme indiqué en 527.</a:t>
            </a:r>
          </a:p>
          <a:p>
            <a:pPr>
              <a:defRPr sz="1600"/>
            </a:pPr>
            <a:r>
              <a:t>2, en particulier   à chaque niveau.</a:t>
            </a:r>
          </a:p>
          <a:p>
            <a:pPr>
              <a:defRPr sz="1600"/>
            </a:pPr>
            <a:r>
              <a:t>En outre, les canalisations sont réalisées de telle manière qu'elles ne puissent propager un incendie.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424.1 Dans les emplacements classés BE3, les installations doivent être limitées à celles</a:t>
            </a:r>
          </a:p>
        </p:txBody>
      </p:sp>
      <p:sp>
        <p:nvSpPr>
          <p:cNvPr id="3" name="Content Placeholder 2"/>
          <p:cNvSpPr>
            <a:spLocks noGrp="1"/>
          </p:cNvSpPr>
          <p:nvPr>
            <p:ph idx="1"/>
          </p:nvPr>
        </p:nvSpPr>
        <p:spPr/>
        <p:txBody>
          <a:bodyPr/>
          <a:lstStyle/>
          <a:p>
            <a:pPr>
              <a:defRPr sz="1600"/>
            </a:pPr>
            <a:r>
              <a:t>nécessaires à l'exploitation de ces emplacements.</a:t>
            </a:r>
          </a:p>
          <a:p>
            <a:pPr>
              <a:defRPr sz="1600"/>
            </a:pPr>
            <a:r>
              <a:t>Les matériels de ces dernières installations dont la mise en œuvre n'est pas indispensable dans les emplacements BE3 le seront de préférence dans des emplacements non dangereux.</a:t>
            </a:r>
          </a:p>
          <a:p>
            <a:pPr>
              <a:defRPr sz="1600"/>
            </a:pPr>
            <a:r>
              <a:t>Si cela n'est pas possible, il convient de les placer dans la zone présentant le moins de danger possible.</a:t>
            </a:r>
          </a:p>
          <a:p>
            <a:pPr>
              <a:defRPr sz="1600"/>
            </a:pPr>
            <a:r>
              <a:t>Les circuits desservant les emplacements BE3 doivent être réservés exclusivement à l’alimentation de ces emplacements.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424.2 Dans le cas d’atmosphères explosives gazeuses (G), les matériels doivent être choisis parmi</a:t>
            </a:r>
          </a:p>
        </p:txBody>
      </p:sp>
      <p:sp>
        <p:nvSpPr>
          <p:cNvPr id="3" name="Content Placeholder 2"/>
          <p:cNvSpPr>
            <a:spLocks noGrp="1"/>
          </p:cNvSpPr>
          <p:nvPr>
            <p:ph idx="1"/>
          </p:nvPr>
        </p:nvSpPr>
        <p:spPr/>
        <p:txBody>
          <a:bodyPr/>
          <a:lstStyle/>
          <a:p>
            <a:pPr>
              <a:defRPr sz="1600"/>
            </a:pPr>
            <a:r>
              <a:t>ceux conformes aux normes spécifiques des modes de protection.</a:t>
            </a:r>
          </a:p>
          <a:p>
            <a:pPr>
              <a:defRPr sz="1600"/>
            </a:pPr>
            <a:r>
              <a:t>Le tableau 42B donne les références des normes à considérer, ainsi que les zones dans lesquelles peuvent être installés les matériels des différents modes de protection.</a:t>
            </a:r>
          </a:p>
          <a:p>
            <a:pPr>
              <a:defRPr sz="1600"/>
            </a:pPr>
            <a:r>
              <a:t>Tableau 42B – Indications sur l’utilisation des matériels conformes aux normes spécifiques des modes de protection en atmosphère explosive gazeuse  Mode de protection  Norme  Zone d’atmosphère (G)  Zone 0  Zone 1  Zone 2  Enveloppe antidéflagrante « d »  NF EN 50018  Sécurité augmentée « e »  NF EN 50019  Sécurité intrinsèque  NF EN 50020  Mode de sécurité « ia »  Mode de sécurité « ib »  x  Encapsulage « m »  NF EN 50028  Immersion dans l’huile « o »  NF EN 50015  Surpression interne « p »  NF EN 50016  Remplissage pulvérulent « q »  NF EN 50017  Mode de protection « n »  NF EN 50021  x  x  x  x  x  x  x  x  x  x  x  x  x  x  x  x  x  x Utilisation possible sous réserve de l’adéquation à la nature de l’atmosphère explosive.</a:t>
            </a:r>
          </a:p>
          <a:p>
            <a:pPr>
              <a:defRPr sz="1600"/>
            </a:pPr>
            <a:r>
              <a:t>La norme NF EN 60079-14 (C 23-579-14) définit les règles à respecter pour la mise en œuvre des matériels des différents modes de protection.</a:t>
            </a:r>
          </a:p>
          <a:p>
            <a:pPr>
              <a:defRPr sz="1600"/>
            </a:pPr>
            <a:r>
              <a:t>Dans le cas d’atmosphères explosives du fait de la présence de poussières combustibles (D), les matériels utilisables dans les zones 20, 21 et 22 doivent être conformes à la norme NF EN 50281-1- 1 (C 23-581-1-1).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424.3 Dans les atmosphères explosives gazeuses, en cas de présence de poussières non</a:t>
            </a:r>
          </a:p>
        </p:txBody>
      </p:sp>
      <p:sp>
        <p:nvSpPr>
          <p:cNvPr id="3" name="Content Placeholder 2"/>
          <p:cNvSpPr>
            <a:spLocks noGrp="1"/>
          </p:cNvSpPr>
          <p:nvPr>
            <p:ph idx="1"/>
          </p:nvPr>
        </p:nvSpPr>
        <p:spPr/>
        <p:txBody>
          <a:bodyPr/>
          <a:lstStyle/>
          <a:p>
            <a:pPr>
              <a:defRPr sz="1600"/>
            </a:pPr>
            <a:r>
              <a:t>combustibles, les enveloppes des matériels électriques doivent présenter un degré de protection au moins égal à IP5X.</a:t>
            </a:r>
          </a:p>
          <a:p>
            <a:pPr>
              <a:defRPr sz="1600"/>
            </a:pPr>
            <a:r>
              <a:t>Dans les atmosphères explosives du fait de la présence de poussières combustibles, les degrés de protection des enveloppes des matériels électriques sont définis dans la norme NF EN 50281-1-2.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424.4 Les valeurs de courants admissibles dans les conducteurs doivent être réduites de</a:t>
            </a:r>
          </a:p>
        </p:txBody>
      </p:sp>
      <p:sp>
        <p:nvSpPr>
          <p:cNvPr id="3" name="Content Placeholder 2"/>
          <p:cNvSpPr>
            <a:spLocks noGrp="1"/>
          </p:cNvSpPr>
          <p:nvPr>
            <p:ph idx="1"/>
          </p:nvPr>
        </p:nvSpPr>
        <p:spPr/>
        <p:txBody>
          <a:bodyPr/>
          <a:lstStyle/>
          <a:p>
            <a:pPr>
              <a:defRPr sz="1600"/>
            </a:pPr>
            <a:r>
              <a:t>15 %.</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424.5 Lorsque les canalisations ne sont pas noyées dans des matériaux incombustibles tels que</a:t>
            </a:r>
          </a:p>
        </p:txBody>
      </p:sp>
      <p:sp>
        <p:nvSpPr>
          <p:cNvPr id="3" name="Content Placeholder 2"/>
          <p:cNvSpPr>
            <a:spLocks noGrp="1"/>
          </p:cNvSpPr>
          <p:nvPr>
            <p:ph idx="1"/>
          </p:nvPr>
        </p:nvSpPr>
        <p:spPr/>
        <p:txBody>
          <a:bodyPr/>
          <a:lstStyle/>
          <a:p>
            <a:pPr>
              <a:defRPr sz="1600"/>
            </a:pPr>
            <a:r>
              <a:t>plâtre, béton ou matériau équivalent, elles doivent satisfaire aux caractéristiques de non propagation de la flamme définies dans les normes en vigueur.</a:t>
            </a:r>
          </a:p>
          <a:p>
            <a:pPr>
              <a:defRPr sz="1600"/>
            </a:pPr>
            <a:r>
              <a:t>Les câbles, les conduits, les goulottes et les chemins de câbles doivent satisfaire à l'essai de non propagation de la flamme (catégorie C2 pour les câbles).</a:t>
            </a:r>
          </a:p>
          <a:p>
            <a:pPr>
              <a:defRPr sz="1600"/>
            </a:pPr>
            <a:r>
              <a:t>- 105 -.</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424.6 Lorsqu’une ligne aérienne dessert des emplacements classés BE3, l’alimentation doit</a:t>
            </a:r>
          </a:p>
        </p:txBody>
      </p:sp>
      <p:sp>
        <p:nvSpPr>
          <p:cNvPr id="3" name="Content Placeholder 2"/>
          <p:cNvSpPr>
            <a:spLocks noGrp="1"/>
          </p:cNvSpPr>
          <p:nvPr>
            <p:ph idx="1"/>
          </p:nvPr>
        </p:nvSpPr>
        <p:spPr/>
        <p:txBody>
          <a:bodyPr/>
          <a:lstStyle/>
          <a:p>
            <a:pPr>
              <a:defRPr sz="1600"/>
            </a:pPr>
            <a:r>
              <a:t>s’effectuer par l’intermédiaire d’une canalisation enterrée (529.</a:t>
            </a:r>
          </a:p>
          <a:p>
            <a:pPr>
              <a:defRPr sz="1600"/>
            </a:pPr>
            <a:r>
              <a:t>5) d’une longueur d’au moins 20 m.</a:t>
            </a:r>
          </a:p>
          <a:p>
            <a:pPr>
              <a:defRPr sz="1600"/>
            </a:pPr>
            <a:r>
              <a:t>Les conducteurs nus sont interdits.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424.7 Les caniveaux, conduits, fourreaux, etc. recevant des câbles doivent être obturés pour</a:t>
            </a:r>
          </a:p>
        </p:txBody>
      </p:sp>
      <p:sp>
        <p:nvSpPr>
          <p:cNvPr id="3" name="Content Placeholder 2"/>
          <p:cNvSpPr>
            <a:spLocks noGrp="1"/>
          </p:cNvSpPr>
          <p:nvPr>
            <p:ph idx="1"/>
          </p:nvPr>
        </p:nvSpPr>
        <p:spPr/>
        <p:txBody>
          <a:bodyPr/>
          <a:lstStyle/>
          <a:p>
            <a:pPr>
              <a:defRPr sz="1600"/>
            </a:pPr>
            <a:r>
              <a:t>empêcher le passage des gaz, vapeurs, poussières ou liquides inflammables, d’un emplacement dangereux à un emplacement non dangereux ou d’une zone à une autre.</a:t>
            </a:r>
          </a:p>
          <a:p>
            <a:pPr>
              <a:defRPr sz="1600"/>
            </a:pPr>
            <a:r>
              <a:t>Il doit en être de même pour la traversée des parois.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424.8 Les canalisations doivent être mises en œuvre, dans la mesure du possible, de façon à ce</a:t>
            </a:r>
          </a:p>
        </p:txBody>
      </p:sp>
      <p:sp>
        <p:nvSpPr>
          <p:cNvPr id="3" name="Content Placeholder 2"/>
          <p:cNvSpPr>
            <a:spLocks noGrp="1"/>
          </p:cNvSpPr>
          <p:nvPr>
            <p:ph idx="1"/>
          </p:nvPr>
        </p:nvSpPr>
        <p:spPr/>
        <p:txBody>
          <a:bodyPr/>
          <a:lstStyle/>
          <a:p>
            <a:pPr>
              <a:defRPr sz="1600"/>
            </a:pPr>
            <a:r>
              <a:t>qu‘elles ne soient pas exposées aux chocs mécaniques, à l’action de substances corrosives (par exemple, solvants) ainsi qu’aux effets de la chaleur.</a:t>
            </a:r>
          </a:p>
          <a:p>
            <a:pPr>
              <a:defRPr sz="1600"/>
            </a:pPr>
            <a:r>
              <a:t>S’il n’en est pas ainsi, elles doivent être correctement choisies en fonction des classes d’influences externes ; dans le cas de risque mécanique, la protection doit être supérieure à celle prescrite en fonction de la classe d’influence externe AG.</a:t>
            </a:r>
          </a:p>
          <a:p>
            <a:pPr>
              <a:defRPr sz="1600"/>
            </a:pPr>
            <a:r>
              <a:t>Les âmes en aluminium doivent avoir une section d'au moins 16 mm².</a:t>
            </a:r>
          </a:p>
          <a:p>
            <a:pPr>
              <a:defRPr sz="1600"/>
            </a:pPr>
            <a:r>
              <a:t>1 Sauf dans le cas des circuits de sécurité intrinsèque pour lesquels les câbles doivent être choisis en respectant les dispositions de la norme NF EN 60079-14 (C 23-579-14), et sauf dans les deux cas particuliers faisant l'objet des paragraphes 2 et 3 ci-après, les câbles sont de tension nominale 1000 volts et leur choix doit satisfaire aux dispositions suivantes :  a) dans les conditions d'influences externes AG1, tous les câbles sont admis, y compris les  câbles non armés, notamment les câbles U 1000R2V.</a:t>
            </a:r>
          </a:p>
          <a:p>
            <a:pPr>
              <a:defRPr sz="1600"/>
            </a:pPr>
            <a:r>
              <a:t>b) dans les conditions d'influences externes AG2, peuvent être utilisés les câbles armés  admissibles dans les conditions AG3 (voir   tableau 52D).</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424.9 Les canalisations qui alimentent de tels emplacements doivent être protégées contre les</a:t>
            </a:r>
          </a:p>
        </p:txBody>
      </p:sp>
      <p:sp>
        <p:nvSpPr>
          <p:cNvPr id="3" name="Content Placeholder 2"/>
          <p:cNvSpPr>
            <a:spLocks noGrp="1"/>
          </p:cNvSpPr>
          <p:nvPr>
            <p:ph idx="1"/>
          </p:nvPr>
        </p:nvSpPr>
        <p:spPr/>
        <p:txBody>
          <a:bodyPr/>
          <a:lstStyle/>
          <a:p>
            <a:pPr>
              <a:defRPr sz="1600"/>
            </a:pPr>
            <a:r>
              <a:t>surcharges et contre les courts-circuits par des dispositifs situés à l'origine de ces circuits.</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424.10 Les canalisations doivent être protégées contre les défauts d'isolement :</a:t>
            </a:r>
          </a:p>
        </p:txBody>
      </p:sp>
      <p:sp>
        <p:nvSpPr>
          <p:cNvPr id="3" name="Content Placeholder 2"/>
          <p:cNvSpPr>
            <a:spLocks noGrp="1"/>
          </p:cNvSpPr>
          <p:nvPr>
            <p:ph idx="1"/>
          </p:nvPr>
        </p:nvSpPr>
        <p:spPr/>
        <p:txBody>
          <a:bodyPr/>
          <a:lstStyle/>
          <a:p>
            <a:pPr>
              <a:defRPr sz="1600"/>
            </a:pPr>
            <a:r>
              <a:t>a) en schéma TN ou TT, par des dispositifs à courant différentiel résiduel de courant différentiel-  résiduel assigné au plus égal à 300 mA.</a:t>
            </a:r>
          </a:p>
          <a:p>
            <a:pPr>
              <a:defRPr sz="1600"/>
            </a:pPr>
            <a:r>
              <a:t>b) en schéma IT, par un contrôleur permanent d'isolement avec alarme sonore et/ou visuelle.</a:t>
            </a:r>
          </a:p>
          <a:p>
            <a:pPr>
              <a:defRPr sz="1600"/>
            </a:pPr>
            <a:r>
              <a:t>Une instruction appropriée doit indiquer, que lors d'un premier défaut sur l'un des circuits d'un local BE2, il doit être procédé à la coupure manuelle de ce circuit.</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424.12 Des liaisons équipotentielles doivent être réalisées entre les masses et les éléments</a:t>
            </a:r>
          </a:p>
        </p:txBody>
      </p:sp>
      <p:sp>
        <p:nvSpPr>
          <p:cNvPr id="3" name="Content Placeholder 2"/>
          <p:cNvSpPr>
            <a:spLocks noGrp="1"/>
          </p:cNvSpPr>
          <p:nvPr>
            <p:ph idx="1"/>
          </p:nvPr>
        </p:nvSpPr>
        <p:spPr/>
        <p:txBody>
          <a:bodyPr/>
          <a:lstStyle/>
          <a:p>
            <a:pPr>
              <a:defRPr sz="1600"/>
            </a:pPr>
            <a:r>
              <a:t>conducteurs étrangers aux installations électriques (éléments métalliques de la construction, armatures du béton, canalisations métalliques, appareils non électriques, etc.</a:t>
            </a:r>
          </a:p>
          <a:p>
            <a:pPr>
              <a:defRPr sz="1600"/>
            </a:pPr>
            <a:r>
              <a:t>).</a:t>
            </a:r>
          </a:p>
          <a:p>
            <a:pPr>
              <a:defRPr sz="1600"/>
            </a:pPr>
            <a:r>
              <a:t>Les liaisons entre masses peuvent être réalisées par leurs conducteurs de mise à le terre, si le cheminement de ces conducteurs est proche de la plus courte distance entre les masses.</a:t>
            </a:r>
          </a:p>
          <a:p>
            <a:pPr>
              <a:defRPr sz="1600"/>
            </a:pPr>
            <a:r>
              <a:t>Les éléments métalliques sous protection cathodique et les enveloppes des matériels à sécurité intrinsèque peuvent ne pas être raccordés à la liaison équipotentielle.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424.13 En dehors des dispositifs de coupure d'urgence éventuellement prévus dans les zones</a:t>
            </a:r>
          </a:p>
        </p:txBody>
      </p:sp>
      <p:sp>
        <p:nvSpPr>
          <p:cNvPr id="3" name="Content Placeholder 2"/>
          <p:cNvSpPr>
            <a:spLocks noGrp="1"/>
          </p:cNvSpPr>
          <p:nvPr>
            <p:ph idx="1"/>
          </p:nvPr>
        </p:nvSpPr>
        <p:spPr/>
        <p:txBody>
          <a:bodyPr/>
          <a:lstStyle/>
          <a:p>
            <a:pPr>
              <a:defRPr sz="1600"/>
            </a:pPr>
            <a:r>
              <a:t>dangereuses, il doit exister un ou plusieurs dispositifs de coupure d'urgence à l'extérieur de l'emplacement dangereux.</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424.14 Les câbles souples doivent être choisis parmi les câbles et cordons pour usage intensif, par</a:t>
            </a:r>
          </a:p>
        </p:txBody>
      </p:sp>
      <p:sp>
        <p:nvSpPr>
          <p:cNvPr id="3" name="Content Placeholder 2"/>
          <p:cNvSpPr>
            <a:spLocks noGrp="1"/>
          </p:cNvSpPr>
          <p:nvPr>
            <p:ph idx="1"/>
          </p:nvPr>
        </p:nvSpPr>
        <p:spPr/>
        <p:txBody>
          <a:bodyPr/>
          <a:lstStyle/>
          <a:p>
            <a:pPr>
              <a:defRPr sz="1600"/>
            </a:pPr>
            <a:r>
              <a:t>exemple du type H07RN-F, H07BB-F ou H07BN4-F.</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424.15 Les machines tournantes et les transformateurs doivent être protégés contre les surcharges</a:t>
            </a:r>
          </a:p>
        </p:txBody>
      </p:sp>
      <p:sp>
        <p:nvSpPr>
          <p:cNvPr id="3" name="Content Placeholder 2"/>
          <p:cNvSpPr>
            <a:spLocks noGrp="1"/>
          </p:cNvSpPr>
          <p:nvPr>
            <p:ph idx="1"/>
          </p:nvPr>
        </p:nvSpPr>
        <p:spPr/>
        <p:txBody>
          <a:bodyPr/>
          <a:lstStyle/>
          <a:p>
            <a:pPr>
              <a:defRPr sz="1600"/>
            </a:pPr>
            <a:r>
              <a:t>et les courts-circuits, par exemple par dispositif à maximum de courant ou par sonde thermique.</a:t>
            </a:r>
          </a:p>
          <a:p>
            <a:pPr>
              <a:defRPr sz="1600"/>
            </a:pPr>
            <a:r>
              <a:t>Les dispositifs de protection doivent être tels que le réarmement automatique soit impossible.</a:t>
            </a:r>
          </a:p>
          <a:p>
            <a:pPr>
              <a:defRPr sz="1600"/>
            </a:pPr>
            <a:r>
              <a:t>Des précautions visant à empêcher le fonctionnement d'un moteur triphasé lors de la perte d'une phase doivent être prises.</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424.16 Les éléments remplaçables tels que les lampes doivent être de types et de caractéristiques</a:t>
            </a:r>
          </a:p>
        </p:txBody>
      </p:sp>
      <p:sp>
        <p:nvSpPr>
          <p:cNvPr id="3" name="Content Placeholder 2"/>
          <p:cNvSpPr>
            <a:spLocks noGrp="1"/>
          </p:cNvSpPr>
          <p:nvPr>
            <p:ph idx="1"/>
          </p:nvPr>
        </p:nvSpPr>
        <p:spPr/>
        <p:txBody>
          <a:bodyPr/>
          <a:lstStyle/>
          <a:p>
            <a:pPr>
              <a:defRPr sz="1600"/>
            </a:pPr>
            <a:r>
              <a:t>assignés tels que précisés sur les notices des constructeurs.</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424.17 Certaines installations doivent être protégées contre les effets de la foudre. Il peut être</a:t>
            </a:r>
          </a:p>
        </p:txBody>
      </p:sp>
      <p:sp>
        <p:nvSpPr>
          <p:cNvPr id="3" name="Content Placeholder 2"/>
          <p:cNvSpPr>
            <a:spLocks noGrp="1"/>
          </p:cNvSpPr>
          <p:nvPr>
            <p:ph idx="1"/>
          </p:nvPr>
        </p:nvSpPr>
        <p:spPr/>
        <p:txBody>
          <a:bodyPr/>
          <a:lstStyle/>
          <a:p>
            <a:pPr>
              <a:defRPr sz="1600"/>
            </a:pPr>
            <a:r>
              <a:t>procédé à une évaluation du risque conformément aux normes NF C 17-100 et NF C 17-102.</a:t>
            </a:r>
          </a:p>
          <a:p>
            <a:pPr>
              <a:defRPr sz="1600"/>
            </a:pPr>
            <a:r>
              <a:t>Lorsqu’un paratonnerre est mis en œuvre, la norme NF C 17-100 donne des indications pour la réalisation de l’équipotentialité nécessaire pour éviter la formation d’étincelles.</a:t>
            </a:r>
          </a:p>
          <a:p>
            <a:pPr>
              <a:defRPr sz="1600"/>
            </a:pPr>
            <a:r>
              <a:t>La protection contre les surtensions fait   l'objet des articles 443 et   534.</a:t>
            </a:r>
          </a:p>
          <a:p>
            <a:pPr>
              <a:defRPr sz="1600"/>
            </a:pPr>
            <a:r>
              <a:t>- 107 -   Annexe (7) - Réaction au feu - Classements conventionnels  I  Matériaux a priori M0  Verre, verre cellulaire.</a:t>
            </a:r>
          </a:p>
          <a:p>
            <a:pPr>
              <a:defRPr sz="1600"/>
            </a:pPr>
            <a:r>
              <a:t>Béton.</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430.1 Les conducteurs actifs doivent être protégés par un ou plusieurs dispositifs de coupure</a:t>
            </a:r>
          </a:p>
        </p:txBody>
      </p:sp>
      <p:sp>
        <p:nvSpPr>
          <p:cNvPr id="3" name="Content Placeholder 2"/>
          <p:cNvSpPr>
            <a:spLocks noGrp="1"/>
          </p:cNvSpPr>
          <p:nvPr>
            <p:ph idx="1"/>
          </p:nvPr>
        </p:nvSpPr>
        <p:spPr/>
        <p:txBody>
          <a:bodyPr/>
          <a:lstStyle/>
          <a:p>
            <a:pPr>
              <a:defRPr sz="1600"/>
            </a:pPr>
            <a:r>
              <a:t>automatique contre les surcharges (433) et co ntre les courts-circuits (434).</a:t>
            </a:r>
          </a:p>
          <a:p>
            <a:pPr>
              <a:defRPr sz="1600"/>
            </a:pPr>
            <a:r>
              <a:t>contre les surcharges et la protection contre les courts-circuits doivent être coordonnées conformément à 435.</a:t>
            </a:r>
          </a:p>
          <a:p>
            <a:pPr>
              <a:defRPr sz="1600"/>
            </a:pPr>
            <a:r>
              <a:t>En outre, la protection  NOTES - 1 - Les conducteurs actifs protégés contre les surcharges selon 433 sont considérés comme protégés également contre tout défaut susceptible de produire des courts-circuits dans la gamme des courants de surcharge.</a:t>
            </a:r>
          </a:p>
          <a:p>
            <a:pPr>
              <a:defRPr sz="1600"/>
            </a:pPr>
            <a:r>
              <a:t>2 - La protection des câbles souples dans les installations fixes est comprise dans les présentes règles.</a:t>
            </a:r>
          </a:p>
          <a:p>
            <a:pPr>
              <a:defRPr sz="1600"/>
            </a:pPr>
            <a:r>
              <a:t>Les câbles souples connectés aux matériels reliés aux installations fixes par l'intermédiaire de prises de courant ne sont pas nécessairement protégés contre les surcharges ; la protection de tels câbles contre les courts-circuits est à l'étude.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431.1.1 La détection de surintensité doit être prévue sur tous les conducteurs de phase ; elle doit</a:t>
            </a:r>
          </a:p>
        </p:txBody>
      </p:sp>
      <p:sp>
        <p:nvSpPr>
          <p:cNvPr id="3" name="Content Placeholder 2"/>
          <p:cNvSpPr>
            <a:spLocks noGrp="1"/>
          </p:cNvSpPr>
          <p:nvPr>
            <p:ph idx="1"/>
          </p:nvPr>
        </p:nvSpPr>
        <p:spPr/>
        <p:txBody>
          <a:bodyPr/>
          <a:lstStyle/>
          <a:p>
            <a:pPr>
              <a:defRPr sz="1600"/>
            </a:pPr>
            <a:r>
              <a:t>provoquer la coupure du conducteur dans lequel la surintensité est détectée, mais ne provoque pas nécessairement la coupure des autres conducteurs actifs.</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431.1.2 Toutefois, dans les schémas TT et TN, sur les circuits alimentés entre phases et dans</a:t>
            </a:r>
          </a:p>
        </p:txBody>
      </p:sp>
      <p:sp>
        <p:nvSpPr>
          <p:cNvPr id="3" name="Content Placeholder 2"/>
          <p:cNvSpPr>
            <a:spLocks noGrp="1"/>
          </p:cNvSpPr>
          <p:nvPr>
            <p:ph idx="1"/>
          </p:nvPr>
        </p:nvSpPr>
        <p:spPr/>
        <p:txBody>
          <a:bodyPr/>
          <a:lstStyle/>
          <a:p>
            <a:pPr>
              <a:defRPr sz="1600"/>
            </a:pPr>
            <a:r>
              <a:t>lesquels le conducteur neutre n'est pas distribué, la détection de surintensité peut ne pas être prévue sur l'un des conducteurs de phase, sous réserve que les conditions suivantes soient simultanément remplies :  a) il existe, en amont ou au même niveau, une protection différentielle devant provoquer la coupure  de tous les conducteurs de phase ;  b) il ne doit pas être distribué de conducteur neutre à partir d'un point neutre artificiel sur les  circuits situés en aval du dispositif de protection différentielle visé en a).</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431.2 Protection du conducteur neutre</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431.2.1 Installations dont le point neutre est relié directement à la terre (schémas TT ou TN)</a:t>
            </a:r>
          </a:p>
        </p:txBody>
      </p:sp>
      <p:sp>
        <p:nvSpPr>
          <p:cNvPr id="3" name="Content Placeholder 2"/>
          <p:cNvSpPr>
            <a:spLocks noGrp="1"/>
          </p:cNvSpPr>
          <p:nvPr>
            <p:ph idx="1"/>
          </p:nvPr>
        </p:nvSpPr>
        <p:spPr/>
        <p:txBody>
          <a:bodyPr/>
          <a:lstStyle/>
          <a:p>
            <a:pPr>
              <a:defRPr sz="1600"/>
            </a:pPr>
            <a:r>
              <a:t>a) Lorsque la section du conducteur neutre est au moins égale ou équivalente à celle des conducteurs de phase, il n'est pas nécessaire de prévoir une détection de surintensité sur le conducteur neutre.</a:t>
            </a:r>
          </a:p>
          <a:p>
            <a:pPr>
              <a:defRPr sz="1600"/>
            </a:pPr>
            <a:r>
              <a:t>b) Lorsque la section du conducteur neutre est inférieure à celle des conducteurs de phase, il est nécessaire de prévoir une détection de surintensité sur le conducteur neutre, appropriée à la section de ce conducteur : cette détection doit entraîner la coupure des conducteurs de phase, mais pas nécessairement celle du conducteur neutre.</a:t>
            </a:r>
          </a:p>
          <a:p>
            <a:pPr>
              <a:defRPr sz="1600"/>
            </a:pPr>
            <a:r>
              <a:t>Dans le schéma TN-C, un tore de détection de surintensité peut être placé sur le conducteur PEN entraînant la coupure des conducteurs de phase et non celle du conducteur PEN.</a:t>
            </a:r>
          </a:p>
          <a:p>
            <a:pPr>
              <a:defRPr sz="1600"/>
            </a:pPr>
            <a:r>
              <a:t>- 112 -   C  Toutefois, il est admis de ne pas prévoir de détection de surintensité sur le conducteur neutre entre la source (transformateur, groupe électrogène) et le tableau général de distribution (TGBT).</a:t>
            </a:r>
          </a:p>
          <a:p>
            <a:pPr>
              <a:defRPr sz="1600"/>
            </a:pPr>
            <a:r>
              <a:t>La section du conducteur neutre doit être au moins égale à la valeur prescrite en 524.</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431.2.2 Installations dont le point neutre n'est pas relié directement à la terre (schéma IT)</a:t>
            </a:r>
          </a:p>
        </p:txBody>
      </p:sp>
      <p:sp>
        <p:nvSpPr>
          <p:cNvPr id="3" name="Content Placeholder 2"/>
          <p:cNvSpPr>
            <a:spLocks noGrp="1"/>
          </p:cNvSpPr>
          <p:nvPr>
            <p:ph idx="1"/>
          </p:nvPr>
        </p:nvSpPr>
        <p:spPr/>
        <p:txBody>
          <a:bodyPr/>
          <a:lstStyle/>
          <a:p>
            <a:pPr>
              <a:defRPr sz="1600"/>
            </a:pPr>
            <a:r>
              <a:t>C  Lorsqu'il est nécessaire de distribuer le conducteur neutre en schéma IT, il y a lieu de prévoir une détection de surintensité sur le conducteur neutre de tout circuit, détection qui doit entraîner la coupure de tous les conducteurs actifs du circuit correspondant, y compris le conducteur neutre.</a:t>
            </a:r>
          </a:p>
          <a:p>
            <a:pPr>
              <a:defRPr sz="1600"/>
            </a:pPr>
            <a:r>
              <a:t>Toutefois, lorsque le circuit alimente des appareils monophasés ou comportant des éléments branchés entre phase et neutre de faible puissance (par exemple, appareils de mesure) et qui ne sont pas susceptibles de provoquer un incendie s'ils se trouvent soumis à la tension entre phases, mais dont la détérioration est admissible, le dispositif de coupure du conducteur neutre peut ne pas entraîner la coupure des conducteurs de phase du circuit.</a:t>
            </a:r>
          </a:p>
          <a:p>
            <a:pPr>
              <a:defRPr sz="1600"/>
            </a:pPr>
            <a:r>
              <a:t>C  Cette disposition n'est pas nécessaire si :  -  -  le conducteur neutre considéré est effectivement protégé contre les courts-circuits par un dispositif de protection placé en amont, par exemple à l'origine de l'installation, conformément aux règles énoncées en 434.</a:t>
            </a:r>
          </a:p>
          <a:p>
            <a:pPr>
              <a:defRPr sz="1600"/>
            </a:pPr>
            <a:r>
              <a:t>5.</a:t>
            </a:r>
          </a:p>
          <a:p>
            <a:pPr>
              <a:defRPr sz="1600"/>
            </a:pPr>
            <a:r>
              <a:t>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431.3 Coupure du conducteur neutre</a:t>
            </a:r>
          </a:p>
        </p:txBody>
      </p:sp>
      <p:sp>
        <p:nvSpPr>
          <p:cNvPr id="3" name="Content Placeholder 2"/>
          <p:cNvSpPr>
            <a:spLocks noGrp="1"/>
          </p:cNvSpPr>
          <p:nvPr>
            <p:ph idx="1"/>
          </p:nvPr>
        </p:nvSpPr>
        <p:spPr/>
        <p:txBody>
          <a:bodyPr/>
          <a:lstStyle/>
          <a:p>
            <a:pPr>
              <a:defRPr sz="1600"/>
            </a:pPr>
            <a:r>
              <a:t>Lorsque la coupure du conducteur neutre est prescrite, la coupure et la fermeture du conducteur doivent être telles que le conducteur neutre ne soit jamais coupé avant les conducteurs de phase et qu'il soit fermé en même temps ou avant les conducteurs de phase.</a:t>
            </a:r>
          </a:p>
          <a:p>
            <a:pPr>
              <a:defRPr sz="1600"/>
            </a:pPr>
            <a:r>
              <a:t>432 Nature des dispositifs de protection  Les dispositifs de protection doivent 432.</a:t>
            </a:r>
          </a:p>
          <a:p>
            <a:pPr>
              <a:defRPr sz="1600"/>
            </a:pPr>
            <a:r>
              <a:t>3.</a:t>
            </a:r>
          </a:p>
          <a:p>
            <a:pPr>
              <a:defRPr sz="1600"/>
            </a:pPr>
            <a:r>
              <a:t>être choisis parmi ceux indiqués aux paragraphes 432.</a:t>
            </a:r>
          </a:p>
          <a:p>
            <a:pPr>
              <a:defRPr sz="1600"/>
            </a:pPr>
            <a:r>
              <a:t>1 à  C  C  - 113 -   C.</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432.1 Dispositifs assurant à la fois la protection contre les surcharges et la protection contre</a:t>
            </a:r>
          </a:p>
        </p:txBody>
      </p:sp>
      <p:sp>
        <p:nvSpPr>
          <p:cNvPr id="3" name="Content Placeholder 2"/>
          <p:cNvSpPr>
            <a:spLocks noGrp="1"/>
          </p:cNvSpPr>
          <p:nvPr>
            <p:ph idx="1"/>
          </p:nvPr>
        </p:nvSpPr>
        <p:spPr/>
        <p:txBody>
          <a:bodyPr/>
          <a:lstStyle/>
          <a:p>
            <a:pPr>
              <a:defRPr sz="1600"/>
            </a:pPr>
            <a:r>
              <a:t>les courts-circuits  Ces dispositifs de protection doivent pouvoir interrompre toute surintensité jusqu'au courant de court-circuit présumé au point où le dispositif est installé.</a:t>
            </a:r>
          </a:p>
          <a:p>
            <a:pPr>
              <a:defRPr sz="1600"/>
            </a:pPr>
            <a:r>
              <a:t>Ils doivent satisfaire aux prescriptions de l'article 433.</a:t>
            </a:r>
          </a:p>
          <a:p>
            <a:pPr>
              <a:defRPr sz="1600"/>
            </a:pPr>
            <a:r>
              <a:t>De tels dispositifs de protection peuvent être :  - -  des disjoncteurs magnétothermiques ou électroniques, des fusibles du type gG.</a:t>
            </a:r>
          </a:p>
          <a:p>
            <a:pPr>
              <a:defRPr sz="1600"/>
            </a:pPr>
            <a:r>
              <a:t>NOTES - 1 - Le fusible comprend toutes les parties formant l'ensemble du dispositif de protection.</a:t>
            </a:r>
          </a:p>
          <a:p>
            <a:pPr>
              <a:defRPr sz="1600"/>
            </a:pPr>
            <a:r>
              <a:t>2 - L'utilisation d'un dispositif possédant un pouvoir de coupure inférieur au courant de court-circuit présumé au point où il est installé, est sujette aux prescriptions 3 - Le présent paragraphe n'exclut pas l'utilisation de dispositifs de protection présentant des caractéristiques différentes si les prescriptions du paragraphe 433.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432.2 Dispositifs assurant uniquement la protection contre les surcharges</a:t>
            </a:r>
          </a:p>
        </p:txBody>
      </p:sp>
      <p:sp>
        <p:nvSpPr>
          <p:cNvPr id="3" name="Content Placeholder 2"/>
          <p:cNvSpPr>
            <a:spLocks noGrp="1"/>
          </p:cNvSpPr>
          <p:nvPr>
            <p:ph idx="1"/>
          </p:nvPr>
        </p:nvSpPr>
        <p:spPr/>
        <p:txBody>
          <a:bodyPr/>
          <a:lstStyle/>
          <a:p>
            <a:pPr>
              <a:defRPr sz="1600"/>
            </a:pPr>
            <a:r>
              <a:t>Ce sont des dispositifs possédant généralement une caractéristique de fonctionnement à temps inverse et pouvant avoir un pouvoir de coupure inférieur au courant de court-circuit présumé au point où ils sont installés.</a:t>
            </a:r>
          </a:p>
          <a:p>
            <a:pPr>
              <a:defRPr sz="1600"/>
            </a:pPr>
            <a:r>
              <a:t>Ils doivent satisfaire aux prescriptions de l'article 433.</a:t>
            </a:r>
          </a:p>
          <a:p>
            <a:pPr>
              <a:defRPr sz="1600"/>
            </a:pPr>
            <a:r>
              <a:t>Les fusibles aM ne protègent pas contre les surcharges.</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432.3 Dispositifs assurant uniquement la protection contre les courts-circuits</a:t>
            </a:r>
          </a:p>
        </p:txBody>
      </p:sp>
      <p:sp>
        <p:nvSpPr>
          <p:cNvPr id="3" name="Content Placeholder 2"/>
          <p:cNvSpPr>
            <a:spLocks noGrp="1"/>
          </p:cNvSpPr>
          <p:nvPr>
            <p:ph idx="1"/>
          </p:nvPr>
        </p:nvSpPr>
        <p:spPr/>
        <p:txBody>
          <a:bodyPr/>
          <a:lstStyle/>
          <a:p>
            <a:pPr>
              <a:defRPr sz="1600"/>
            </a:pPr>
            <a:r>
              <a:t>C  Ces dispositifs peuvent être utilisés lorsque la protection contre les surcharges est réalisée par d'autres moyens ou lorsque l'article 433 admet   de se dispenser de la protection contre les surcharges.</a:t>
            </a:r>
          </a:p>
          <a:p>
            <a:pPr>
              <a:defRPr sz="1600"/>
            </a:pPr>
            <a:r>
              <a:t>Ils doivent pouvoir interrompre tout courant de court-circuit inférieur ou égal au courant de court-circuit présumé.</a:t>
            </a:r>
          </a:p>
          <a:p>
            <a:pPr>
              <a:defRPr sz="1600"/>
            </a:pPr>
            <a:r>
              <a:t>Ils   doivent satisfaire aux prescriptions de l'article 434.</a:t>
            </a:r>
          </a:p>
          <a:p>
            <a:pPr>
              <a:defRPr sz="1600"/>
            </a:pPr>
            <a:r>
              <a:t>De tels dispositifs de protection peuvent être :  - -  des disjoncteurs avec déclencheur à maximum de courant, des coupe-circuit à fusibles, de type gG ou aM.</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432.4 Caractéristiques des dispositifs de protection</a:t>
            </a:r>
          </a:p>
        </p:txBody>
      </p:sp>
      <p:sp>
        <p:nvSpPr>
          <p:cNvPr id="3" name="Content Placeholder 2"/>
          <p:cNvSpPr>
            <a:spLocks noGrp="1"/>
          </p:cNvSpPr>
          <p:nvPr>
            <p:ph idx="1"/>
          </p:nvPr>
        </p:nvSpPr>
        <p:spPr/>
        <p:txBody>
          <a:bodyPr/>
          <a:lstStyle/>
          <a:p>
            <a:pPr>
              <a:defRPr sz="1600"/>
            </a:pPr>
            <a:r>
              <a:t>Les caractéristiques temps/courant des dispositifs de protection contre les surintensités doivent être conformes à celles spécifiées dans les normes en vigueur.</a:t>
            </a:r>
          </a:p>
          <a:p>
            <a:pPr>
              <a:defRPr sz="1600"/>
            </a:pPr>
            <a:r>
              <a:t>Les caractéristiques des dispositifs de protection sont définies dans les normes suivantes :  NF C 60-200, NF C 61-201, NF C 61-410, NF C 61-440, NF C 63-120, NF C 63-161, NF C 63-210.</a:t>
            </a:r>
          </a:p>
          <a:p>
            <a:pPr>
              <a:defRPr sz="1600"/>
            </a:pPr>
            <a:r>
              <a:t>NOTE - Ceci ne s'oppose pas à l'utilisation d'autres dispositifs de protection à condition que leurs caractéristiques temps/courant assurent un niveau de protection équivalent à celui spécifié par le présent paragraphe.</a:t>
            </a:r>
          </a:p>
          <a:p>
            <a:pPr>
              <a:defRPr sz="1600"/>
            </a:pPr>
            <a:r>
              <a:t>433 Protection contre les courants de surcharge.</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433.0 Règle générale</a:t>
            </a:r>
          </a:p>
        </p:txBody>
      </p:sp>
      <p:sp>
        <p:nvSpPr>
          <p:cNvPr id="3" name="Content Placeholder 2"/>
          <p:cNvSpPr>
            <a:spLocks noGrp="1"/>
          </p:cNvSpPr>
          <p:nvPr>
            <p:ph idx="1"/>
          </p:nvPr>
        </p:nvSpPr>
        <p:spPr/>
        <p:txBody>
          <a:bodyPr/>
          <a:lstStyle/>
          <a:p>
            <a:pPr>
              <a:defRPr sz="1600"/>
            </a:pPr>
            <a:r>
              <a:t>Des dispositifs de protection doivent être prévus pour interrompre tout courant de surcharge dans les conducteurs du circuit avant qu'il ne puisse provoquer un échauffement nuisible à l'isolation, aux connexions, aux extrémités ou à l'environnement des canalisations.</a:t>
            </a:r>
          </a:p>
          <a:p>
            <a:pPr>
              <a:defRPr sz="1600"/>
            </a:pPr>
            <a:r>
              <a:t>Pour la détermination des sections de conducteurs et le choix des dispositifs de protection contre les surcharges, se reporter   au paragraphe 533.</a:t>
            </a:r>
          </a:p>
          <a:p>
            <a:pPr>
              <a:defRPr sz="1600"/>
            </a:pPr>
            <a:r>
              <a:t>2.</a:t>
            </a:r>
          </a:p>
          <a:p>
            <a:pPr>
              <a:defRPr sz="1600"/>
            </a:pPr>
            <a:r>
              <a:t>(1) NF C 61-201, NF EN 60269-2 (C 63-210) (2) NF EN 60898 (C 61-410), NF EN 61009-1 (C 61-440), NF EN 60947-2 (C 63-120) (3) NF EN 60947-6-2 (C 63-161)  - 114 -    C.</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433.1 Coordination entre les conducteurs et les dispositifs de protection</a:t>
            </a:r>
          </a:p>
        </p:txBody>
      </p:sp>
      <p:sp>
        <p:nvSpPr>
          <p:cNvPr id="3" name="Content Placeholder 2"/>
          <p:cNvSpPr>
            <a:spLocks noGrp="1"/>
          </p:cNvSpPr>
          <p:nvPr>
            <p:ph idx="1"/>
          </p:nvPr>
        </p:nvSpPr>
        <p:spPr/>
        <p:txBody>
          <a:bodyPr/>
          <a:lstStyle/>
          <a:p>
            <a:pPr>
              <a:defRPr sz="1600"/>
            </a:pPr>
            <a:r>
              <a:t>La caractéristique de fonctionnement d'un dispositif protégeant une canalisation contre les surcharges doit satisfaire aux deux conditions suivantes : 1) IB ≤ In ≤ Iz 2) I2 ≤ 1,45 Iz  IB Courant d'emploi du circuit, Iz Courant admissible de la canalisation (voir 523), In Courant assigné du dispositif de protection ; pour les dispositifs de protection réglables, In est le  courant de réglage choisi (I r),  NOTE - Pour les dispositifs de protection réglables.</a:t>
            </a:r>
          </a:p>
          <a:p>
            <a:pPr>
              <a:defRPr sz="1600"/>
            </a:pPr>
            <a:r>
              <a:t>Le courant de réglage choisi peut être In ou I r.</a:t>
            </a:r>
          </a:p>
          <a:p>
            <a:pPr>
              <a:defRPr sz="1600"/>
            </a:pPr>
            <a:r>
              <a:t>I2 Courant assurant effectivement le fonctionnement du dispositif de protection : en pratique I2 est pris égal : - -  au courant de fonctionnement dans le temps conventionnel pour les disjoncteurs ; au courant de fusion dans le temps conventionnel, pour les fusibles du type gG.</a:t>
            </a:r>
          </a:p>
          <a:p>
            <a:pPr>
              <a:defRPr sz="1600"/>
            </a:pPr>
            <a:r>
              <a:t>Le courant I 2 est donné dans la norme produit ou peut être obtenu auprès du constructeur.</a:t>
            </a:r>
          </a:p>
          <a:p>
            <a:pPr>
              <a:defRPr sz="1600"/>
            </a:pPr>
            <a:r>
              <a:t>NOTE - La protection prévue par ce paragraphe n'assure pas une protection complète dans certains cas, par exemple contre les surintensités prolongées inférieures à I 2, et ne conduit pas nécessairement à la solution la plus économique.</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433.2 Emplacement des dispositifs de protection contre les surcharges</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433.2.1 Un dispositif assurant la protection contre les surcharges doit être placé à l'endroit où un</a:t>
            </a:r>
          </a:p>
        </p:txBody>
      </p:sp>
      <p:sp>
        <p:nvSpPr>
          <p:cNvPr id="3" name="Content Placeholder 2"/>
          <p:cNvSpPr>
            <a:spLocks noGrp="1"/>
          </p:cNvSpPr>
          <p:nvPr>
            <p:ph idx="1"/>
          </p:nvPr>
        </p:nvSpPr>
        <p:spPr/>
        <p:txBody>
          <a:bodyPr/>
          <a:lstStyle/>
          <a:p>
            <a:pPr>
              <a:defRPr sz="1600"/>
            </a:pPr>
            <a:r>
              <a:t>changement de section, de nature, de mode de pose ou de constitution entraîne une réduction de la valeur du courant admissible dans les conducteurs, à l'exception des cas mentionnés en 433.</a:t>
            </a:r>
          </a:p>
          <a:p>
            <a:pPr>
              <a:defRPr sz="1600"/>
            </a:pPr>
            <a:r>
              <a:t>2.</a:t>
            </a:r>
          </a:p>
          <a:p>
            <a:pPr>
              <a:defRPr sz="1600"/>
            </a:pPr>
            <a:r>
              <a:t>2 et 433.</a:t>
            </a:r>
          </a:p>
          <a:p>
            <a:pPr>
              <a:defRPr sz="1600"/>
            </a:pPr>
            <a:r>
              <a:t>3.</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433.2.2 Le dispositif protégeant une canalisation contre les surcharges peut être placé sur le</a:t>
            </a:r>
          </a:p>
        </p:txBody>
      </p:sp>
      <p:sp>
        <p:nvSpPr>
          <p:cNvPr id="3" name="Content Placeholder 2"/>
          <p:cNvSpPr>
            <a:spLocks noGrp="1"/>
          </p:cNvSpPr>
          <p:nvPr>
            <p:ph idx="1"/>
          </p:nvPr>
        </p:nvSpPr>
        <p:spPr/>
        <p:txBody>
          <a:bodyPr/>
          <a:lstStyle/>
          <a:p>
            <a:pPr>
              <a:defRPr sz="1600"/>
            </a:pPr>
            <a:r>
              <a:t>parcours de cette canalisation si la partie de canalisation comprise entre, d'une part le changement de section, de nature, de mode de pose ou de constitution, et le dispositif de protection d'autre part, ne comporte ni dérivation ni prise de courant et répond à l'une des deux conditions suivantes :  a) Elle est protégée contre les courts-circuits conformément aux règles énoncées   en 434.</a:t>
            </a:r>
          </a:p>
          <a:p>
            <a:pPr>
              <a:defRPr sz="1600"/>
            </a:pPr>
            <a:r>
              <a:t>Exemple de réalisation  Figure 433B – Dispositif de protection contre les surcharges placé sur le parcours de la canalisation Le dispositif de protection P1 protège AO et OB - 116 -   C  b) Sa longueur n'est pas supérieure à 3 mètres, elle est réalisée de manière à réduire au minimum  le risque d'un court-circuit et elle n'est pas placée à proximité de matériaux combustibles.</a:t>
            </a:r>
          </a:p>
          <a:p>
            <a:pPr>
              <a:defRPr sz="1600"/>
            </a:pPr>
            <a:r>
              <a:t>Exemple de réalisation  Figure 433C – Dispositif de protection placé sur le parcours de la canalisation Le dispositif P1 peut ne pas protéger la dérivation OB contre les courts-circuits.</a:t>
            </a:r>
          </a:p>
          <a:p>
            <a:pPr>
              <a:defRPr sz="1600"/>
            </a:pPr>
            <a:r>
              <a:t>La longueur de 3 m est fixée pour des raisons de commodité pratique d'utilisation.</a:t>
            </a:r>
          </a:p>
          <a:p>
            <a:pPr>
              <a:defRPr sz="1600"/>
            </a:pPr>
            <a:r>
              <a:t>C.</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433.3 Dispense de protection contre les surcharges</a:t>
            </a:r>
          </a:p>
        </p:txBody>
      </p:sp>
      <p:sp>
        <p:nvSpPr>
          <p:cNvPr id="3" name="Content Placeholder 2"/>
          <p:cNvSpPr>
            <a:spLocks noGrp="1"/>
          </p:cNvSpPr>
          <p:nvPr>
            <p:ph idx="1"/>
          </p:nvPr>
        </p:nvSpPr>
        <p:spPr/>
        <p:txBody>
          <a:bodyPr/>
          <a:lstStyle/>
          <a:p>
            <a:pPr>
              <a:defRPr sz="1600"/>
            </a:pPr>
            <a:r>
              <a:t>Les différents cas énoncés ci-après ne sont pas valables dans les installations situées dans les locaux (ou emplacements) présentant des risques d'incendie ou d'explosion (condition BE2 ou BE3) et lorsque les règles particulières à certains locaux spécifient des conditions différentes.</a:t>
            </a:r>
          </a:p>
          <a:p>
            <a:pPr>
              <a:defRPr sz="1600"/>
            </a:pPr>
            <a:r>
              <a:t>Il est admis de ne pas prévoir de dispositif de protection contre les surcharges :  a) sur une canalisation située en aval d'un changement de section, de nature, de mode de pose ou de constitution, et effectivement protégée contre les surcharges par un dispositif de protection placé en amont,  Exemple de réalisation :  Figure 433D – Exemple de dispense de dispositif de protection contre les surcharges Le dispositif P protège la dérivation OB contre les surcharges  C  b) sur une canalisation qui n'est pas susceptible d'être parcourue par des courants de surcharge, à condition que cette canalisation soit protégée contre les courts-circuits conformément aux règles énoncées en 434 et qu'elle ne comporte ni dérivation ni prise de courant.</a:t>
            </a:r>
          </a:p>
          <a:p>
            <a:pPr>
              <a:defRPr sz="1600"/>
            </a:pPr>
            <a:r>
              <a:t>- 117 -  2002   Exemple de réalisation :  i) canalisation alimentant un appareil d'utilisation comportant sa protection incorporée contre les surcharges, sous réserve que le dispositif de protection de l'appareil soit approprié à la canalisation (figure 433E).</a:t>
            </a:r>
          </a:p>
          <a:p>
            <a:pPr>
              <a:defRPr sz="1600"/>
            </a:pPr>
            <a:r>
              <a:t>Figure 433E – Exemple de dispense de protection contre les surcharges L'appareil d'utilisation comporte sa protection incorporée contre les surcharges  ii) canalisation alimentant un appareil d'utilisation raccordé à demeure, non susceptible de produire de surcharges et non protégé contre les surcharges, le courant d'emploi de cet appareil n'étant pas supérieur au courant admissible dans la canalisation (figure 433F).</a:t>
            </a:r>
          </a:p>
          <a:p>
            <a:pPr>
              <a:defRPr sz="1600"/>
            </a:pPr>
            <a:r>
              <a:t>Figure 433F – Exemple de dispense de protection contre les surcharges Les appareils M n'étant pas susceptibles de donner lieu à des surcharges, les canalisations OB n'ont pas besoin de protection  Un moteur dont le courant à rotor calé n'est pas supérieur au courant admissible dans la canalisation est considéré comme non susceptible de produire des surcharges.</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433.4 Emplacement ou dispense de protection contre les surcharges dans le schéma IT</a:t>
            </a:r>
          </a:p>
        </p:txBody>
      </p:sp>
      <p:sp>
        <p:nvSpPr>
          <p:cNvPr id="3" name="Content Placeholder 2"/>
          <p:cNvSpPr>
            <a:spLocks noGrp="1"/>
          </p:cNvSpPr>
          <p:nvPr>
            <p:ph idx="1"/>
          </p:nvPr>
        </p:nvSpPr>
        <p:spPr/>
        <p:txBody>
          <a:bodyPr/>
          <a:lstStyle/>
          <a:p>
            <a:pPr>
              <a:defRPr sz="1600"/>
            </a:pPr>
            <a:r>
              <a:t>Les dispositions de 433.</a:t>
            </a:r>
          </a:p>
          <a:p>
            <a:pPr>
              <a:defRPr sz="1600"/>
            </a:pPr>
            <a:r>
              <a:t>2.</a:t>
            </a:r>
          </a:p>
          <a:p>
            <a:pPr>
              <a:defRPr sz="1600"/>
            </a:pPr>
            <a:r>
              <a:t>2 pour protection contre les surcharges ne sont pas applicables au schéma IT sauf si chacun des circuits non protégés contre les surcharges est protégé contre les défauts par l'une des mesures suivantes :   le déplacement ou de 433.</a:t>
            </a:r>
          </a:p>
          <a:p>
            <a:pPr>
              <a:defRPr sz="1600"/>
            </a:pPr>
            <a:r>
              <a:t>3 pour la dispense de dispositifs pour la  a) utilisation des mesures de protection indiquées   en 412 ;  Tous les matériels alimentés par de tels circuits - y compris les canalisations - sont de la classe Il ou réalisés suivant la mesure de protection «isolation supplémentaire lors de l'installation» décrite en 412.</a:t>
            </a:r>
          </a:p>
          <a:p>
            <a:pPr>
              <a:defRPr sz="1600"/>
            </a:pPr>
            <a:r>
              <a:t>b) protection de chaque circuit par un dispositif de protection à courant différentiel-résiduel  fonctionnant à l'apparition du deuxième défaut ;  c) utilisation d'un contrôleur permanent d'isolement provoquant la coupure du circuit dès  l'apparition du premier défaut.</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433.5 Cas où il est recommandé de se dispenser de protection contre les surcharges pour</a:t>
            </a:r>
          </a:p>
        </p:txBody>
      </p:sp>
      <p:sp>
        <p:nvSpPr>
          <p:cNvPr id="3" name="Content Placeholder 2"/>
          <p:cNvSpPr>
            <a:spLocks noGrp="1"/>
          </p:cNvSpPr>
          <p:nvPr>
            <p:ph idx="1"/>
          </p:nvPr>
        </p:nvSpPr>
        <p:spPr/>
        <p:txBody>
          <a:bodyPr/>
          <a:lstStyle/>
          <a:p>
            <a:pPr>
              <a:defRPr sz="1600"/>
            </a:pPr>
            <a:r>
              <a:t>des raisons de sécurité  Il est recommandé de ne pas placer de dispositif de protection contre les surcharges sur les canalisations alimentant des appareils si l'ouverture du circuit peut entraîner des dangers.</a:t>
            </a:r>
          </a:p>
          <a:p>
            <a:pPr>
              <a:defRPr sz="1600"/>
            </a:pPr>
            <a:r>
              <a:t>Des exemples de tels cas sont :  - les circuits d'excitation de machines tournantes ; - les circuits induits des machines à courant alternatif ; - les circuits d'alimentation d'électro-aimants de manutention ou de levage ; NOTE - Dans ce cas, il est recommandé de prévoir une alarme de surcharge.</a:t>
            </a:r>
          </a:p>
          <a:p>
            <a:pPr>
              <a:defRPr sz="1600"/>
            </a:pPr>
            <a:r>
              <a:t>- les circuits secondaires des transformateurs de courant.</a:t>
            </a:r>
          </a:p>
          <a:p>
            <a:pPr>
              <a:defRPr sz="1600"/>
            </a:pPr>
            <a:r>
              <a:t>- 119 -.</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433.6 Protection contre les surcharges de conducteurs en parallèle</a:t>
            </a:r>
          </a:p>
        </p:txBody>
      </p:sp>
      <p:sp>
        <p:nvSpPr>
          <p:cNvPr id="3" name="Content Placeholder 2"/>
          <p:cNvSpPr>
            <a:spLocks noGrp="1"/>
          </p:cNvSpPr>
          <p:nvPr>
            <p:ph idx="1"/>
          </p:nvPr>
        </p:nvSpPr>
        <p:spPr/>
        <p:txBody>
          <a:bodyPr/>
          <a:lstStyle/>
          <a:p>
            <a:pPr>
              <a:defRPr sz="1600"/>
            </a:pPr>
            <a:r>
              <a:t>C  Si un seul dispositif de protection est à l'origine de plusieurs conducteurs en parallèle, il ne doit pas exister de circuits dérivés ou de dispositifs de coupure ou de sectionnement dans les conducteurs en parallèle.</a:t>
            </a:r>
          </a:p>
          <a:p>
            <a:pPr>
              <a:defRPr sz="1600"/>
            </a:pPr>
            <a:r>
              <a:t>Ce paragraphe ne s'oppose pas à l'utilisation de circuits en boucle.</a:t>
            </a:r>
          </a:p>
          <a:p>
            <a:pPr>
              <a:defRPr sz="1600"/>
            </a:pPr>
            <a:r>
              <a:t>Lorsqu'un dispositif de protection protège plusieurs conducteurs en parallèle, la valeur de Iz est la somme des courants admissibles dans les différents conducteurs, à condition toutefois que les conducteurs soient disposés de manière à transporter des courants sensiblement égaux.</a:t>
            </a:r>
          </a:p>
          <a:p>
            <a:pPr>
              <a:defRPr sz="1600"/>
            </a:pPr>
            <a:r>
              <a:t>NOTE - En pratique, cette disposition n'est acceptable que si les canalisations ont les mêmes caractéristiques électriques (nature, mode de pose, longueur, section) et ne comportent aucune dérivation sur leur parcours.</a:t>
            </a:r>
          </a:p>
          <a:p>
            <a:pPr>
              <a:defRPr sz="1600"/>
            </a:pPr>
            <a:r>
              <a:t>Toutefois, une vérification peut être souhaitable.</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434.0 Règle générale</a:t>
            </a:r>
          </a:p>
        </p:txBody>
      </p:sp>
      <p:sp>
        <p:nvSpPr>
          <p:cNvPr id="3" name="Content Placeholder 2"/>
          <p:cNvSpPr>
            <a:spLocks noGrp="1"/>
          </p:cNvSpPr>
          <p:nvPr>
            <p:ph idx="1"/>
          </p:nvPr>
        </p:nvSpPr>
        <p:spPr/>
        <p:txBody>
          <a:bodyPr/>
          <a:lstStyle/>
          <a:p>
            <a:pPr>
              <a:defRPr sz="1600"/>
            </a:pPr>
            <a:r>
              <a:t>Des dispositifs de protection doivent être prévus pour interrompre tout courant de court-circuit avant que celui-ci ne puisse devenir dangereux du fait des effets thermiques et mécaniques produits dans les conducteurs et dans les connexions.</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434.1 Détermination des courants de court-circuit présumés</a:t>
            </a:r>
          </a:p>
        </p:txBody>
      </p:sp>
      <p:sp>
        <p:nvSpPr>
          <p:cNvPr id="3" name="Content Placeholder 2"/>
          <p:cNvSpPr>
            <a:spLocks noGrp="1"/>
          </p:cNvSpPr>
          <p:nvPr>
            <p:ph idx="1"/>
          </p:nvPr>
        </p:nvSpPr>
        <p:spPr/>
        <p:txBody>
          <a:bodyPr/>
          <a:lstStyle/>
          <a:p>
            <a:pPr>
              <a:defRPr sz="1600"/>
            </a:pPr>
            <a:r>
              <a:t>C  Les courants de court-circuit présumés doivent être déterminés aux endroits de l'installation jugés nécessaires.</a:t>
            </a:r>
          </a:p>
          <a:p>
            <a:pPr>
              <a:defRPr sz="1600"/>
            </a:pPr>
            <a:r>
              <a:t>Cette détermination peut être effectuée soit par calcul, soit par mesure.</a:t>
            </a:r>
          </a:p>
          <a:p>
            <a:pPr>
              <a:defRPr sz="1600"/>
            </a:pPr>
            <a:r>
              <a:t>Les valeurs de courants de court-circuit diffèrent suivant qu'ils intéressent deux phases, trois phases ou une phase et le neutre.</a:t>
            </a:r>
          </a:p>
          <a:p>
            <a:pPr>
              <a:defRPr sz="1600"/>
            </a:pPr>
            <a:r>
              <a:t>Le pouvoir de coupure des dispositifs de protection doit être assuré pour chacun de ces courants de court-circuit.</a:t>
            </a:r>
          </a:p>
          <a:p>
            <a:pPr>
              <a:defRPr sz="1600"/>
            </a:pPr>
            <a:r>
              <a:t>Les valeurs de courants de court-circuit peuvent être déterminées par l'un des moyens suivants :  - une méthode de calcul appropriée ; - des études sur modèle de réseau ; - des mesures effectuées dans l'installation ; - des renseignements fournis par le distributeur d'énergie électrique.</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434.2 Emplacement des dispositifs de protection contre les courts-circuits</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434.2.1 Règle générale</a:t>
            </a:r>
          </a:p>
        </p:txBody>
      </p:sp>
      <p:sp>
        <p:nvSpPr>
          <p:cNvPr id="3" name="Content Placeholder 2"/>
          <p:cNvSpPr>
            <a:spLocks noGrp="1"/>
          </p:cNvSpPr>
          <p:nvPr>
            <p:ph idx="1"/>
          </p:nvPr>
        </p:nvSpPr>
        <p:spPr/>
        <p:txBody>
          <a:bodyPr/>
          <a:lstStyle/>
          <a:p>
            <a:pPr>
              <a:defRPr sz="1600"/>
            </a:pPr>
            <a:r>
              <a:t>Un dispositif assurant la protection contre les courts-circuits doit être placé à l'endroit où une réduction de section des conducteurs ou un autre changement entraîne une modification des caractéristiques définies en 433.</a:t>
            </a:r>
          </a:p>
          <a:p>
            <a:pPr>
              <a:defRPr sz="1600"/>
            </a:pPr>
            <a:r>
              <a:t>2.</a:t>
            </a:r>
          </a:p>
          <a:p>
            <a:pPr>
              <a:defRPr sz="1600"/>
            </a:pPr>
            <a:r>
              <a:t>1.</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434.2.2 Déplacement du dispositif de protection contre les courts-circuits</a:t>
            </a:r>
          </a:p>
        </p:txBody>
      </p:sp>
      <p:sp>
        <p:nvSpPr>
          <p:cNvPr id="3" name="Content Placeholder 2"/>
          <p:cNvSpPr>
            <a:spLocks noGrp="1"/>
          </p:cNvSpPr>
          <p:nvPr>
            <p:ph idx="1"/>
          </p:nvPr>
        </p:nvSpPr>
        <p:spPr/>
        <p:txBody>
          <a:bodyPr/>
          <a:lstStyle/>
          <a:p>
            <a:pPr>
              <a:defRPr sz="1600"/>
            </a:pPr>
            <a:r>
              <a:t>Il est admis de ne pas placer de dispositif de protection contre les courts-circuits à un endroit tel que défini dans les deux cas énoncés ci-après.</a:t>
            </a:r>
          </a:p>
          <a:p>
            <a:pPr>
              <a:defRPr sz="1600"/>
            </a:pPr>
            <a:r>
              <a:t>- 120 -   C.</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434.2.2.1 La partie de canalisation comprise entre, d'une part la réduction de section ou autre</a:t>
            </a:r>
          </a:p>
        </p:txBody>
      </p:sp>
      <p:sp>
        <p:nvSpPr>
          <p:cNvPr id="3" name="Content Placeholder 2"/>
          <p:cNvSpPr>
            <a:spLocks noGrp="1"/>
          </p:cNvSpPr>
          <p:nvPr>
            <p:ph idx="1"/>
          </p:nvPr>
        </p:nvSpPr>
        <p:spPr/>
        <p:txBody>
          <a:bodyPr/>
          <a:lstStyle/>
          <a:p>
            <a:pPr>
              <a:defRPr sz="1600"/>
            </a:pPr>
            <a:r>
              <a:t>changement, et le dispositif de protection d'autre part, répond simultanément aux trois conditions suivantes :  a) sa longueur n'est pas supérieure à 3 mètres ; b) elle est réalisée de manière à réduire au minimum le risque d'un court-circuit ; c) elle n'est pas placée à proximité de matériaux combustibles.</a:t>
            </a:r>
          </a:p>
          <a:p>
            <a:pPr>
              <a:defRPr sz="1600"/>
            </a:pPr>
            <a:r>
              <a:t>La condition b) peut être obtenue par exemple par un renforcement des protections de la canalisation contre les contraintes extérieures (mécanique, thermique, humidité,.</a:t>
            </a:r>
          </a:p>
          <a:p>
            <a:pPr>
              <a:defRPr sz="1600"/>
            </a:pPr>
            <a:r>
              <a:t>).</a:t>
            </a:r>
          </a:p>
          <a:p>
            <a:pPr>
              <a:defRPr sz="1600"/>
            </a:pPr>
            <a:r>
              <a:t>C.</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434.2.2.2 Un dispositif de protection placé en amont possède une caractéristique de</a:t>
            </a:r>
          </a:p>
        </p:txBody>
      </p:sp>
      <p:sp>
        <p:nvSpPr>
          <p:cNvPr id="3" name="Content Placeholder 2"/>
          <p:cNvSpPr>
            <a:spLocks noGrp="1"/>
          </p:cNvSpPr>
          <p:nvPr>
            <p:ph idx="1"/>
          </p:nvPr>
        </p:nvSpPr>
        <p:spPr/>
        <p:txBody>
          <a:bodyPr/>
          <a:lstStyle/>
          <a:p>
            <a:pPr>
              <a:defRPr sz="1600"/>
            </a:pPr>
            <a:r>
              <a:t>fonctionnement telle qu'elle protège contre les courts-circuits conformément à la règle de 434.</a:t>
            </a:r>
          </a:p>
          <a:p>
            <a:pPr>
              <a:defRPr sz="1600"/>
            </a:pPr>
            <a:r>
              <a:t>2.</a:t>
            </a:r>
          </a:p>
          <a:p>
            <a:pPr>
              <a:defRPr sz="1600"/>
            </a:pPr>
            <a:r>
              <a:t>3, la canalisation située en aval de la réduction de section ou autre changement.</a:t>
            </a:r>
          </a:p>
          <a:p>
            <a:pPr>
              <a:defRPr sz="1600"/>
            </a:pPr>
            <a:r>
              <a:t>La longueur de la canalisation située en aval, de section S2, ne doit pas être supérieure à celle qui est déterminée par le diagramme de la figure 434A en forme de triangle rectangle.</a:t>
            </a:r>
          </a:p>
          <a:p>
            <a:pPr>
              <a:defRPr sz="1600"/>
            </a:pPr>
            <a:r>
              <a:t>Figure 434A – Règle du triangle  L1 = PB  L2 = PC  étant la longueur maximale de canalisation de section S1 protégée contre les courts- circuits par le dispositif de protection placé en P.</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434.3 Dispense de protection contre les courts-circuits</a:t>
            </a:r>
          </a:p>
        </p:txBody>
      </p:sp>
      <p:sp>
        <p:nvSpPr>
          <p:cNvPr id="3" name="Content Placeholder 2"/>
          <p:cNvSpPr>
            <a:spLocks noGrp="1"/>
          </p:cNvSpPr>
          <p:nvPr>
            <p:ph idx="1"/>
          </p:nvPr>
        </p:nvSpPr>
        <p:spPr/>
        <p:txBody>
          <a:bodyPr/>
          <a:lstStyle/>
          <a:p>
            <a:pPr>
              <a:defRPr sz="1600"/>
            </a:pPr>
            <a:r>
              <a:t>Il est admis de se dispenser de protection contre les courts-circuits si les deux conditions suivantes sont simultanément remplies :  a)  b)  la canalisation est réalisée de manière à réduire au minimum le risque d’un court-circuit (voir.</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434.2.2.1 b) ;</a:t>
            </a:r>
          </a:p>
        </p:txBody>
      </p:sp>
      <p:sp>
        <p:nvSpPr>
          <p:cNvPr id="3" name="Content Placeholder 2"/>
          <p:cNvSpPr>
            <a:spLocks noGrp="1"/>
          </p:cNvSpPr>
          <p:nvPr>
            <p:ph idx="1"/>
          </p:nvPr>
        </p:nvSpPr>
        <p:spPr/>
        <p:txBody>
          <a:bodyPr/>
          <a:lstStyle/>
          <a:p>
            <a:pPr>
              <a:defRPr sz="1600"/>
            </a:pPr>
            <a:r>
              <a:t>la canalisation ne doit pas être placée à proximité de matériaux combustibles.</a:t>
            </a:r>
          </a:p>
          <a:p>
            <a:pPr>
              <a:defRPr sz="1600"/>
            </a:pPr>
            <a:r>
              <a:t>Exemples de cas où l'on peut se dispenser de protection contre les courts-circuits :  -  -  -  canalisations reliant les machines génératrices, les transformateurs, les redresseurs, les batteries d'accumulateurs aux tableaux de distribution correspondants, les dispositifs de protection étant placés sur ces tableaux ; circuits dont la coupure pourrait entraîner des dangers pour le fonctionnement des installations intéressées, tels que ceux cités ci-dessus ; certains circuits de mesure.</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434.4 Protection contre les courts-circuits de conducteurs en parallèle</a:t>
            </a:r>
          </a:p>
        </p:txBody>
      </p:sp>
      <p:sp>
        <p:nvSpPr>
          <p:cNvPr id="3" name="Content Placeholder 2"/>
          <p:cNvSpPr>
            <a:spLocks noGrp="1"/>
          </p:cNvSpPr>
          <p:nvPr>
            <p:ph idx="1"/>
          </p:nvPr>
        </p:nvSpPr>
        <p:spPr/>
        <p:txBody>
          <a:bodyPr/>
          <a:lstStyle/>
          <a:p>
            <a:pPr>
              <a:defRPr sz="1600"/>
            </a:pPr>
            <a:r>
              <a:t>Un même dispositif de protection peut protéger plusieurs conducteurs en parallèle contre les courts- circuits.</a:t>
            </a:r>
          </a:p>
          <a:p>
            <a:pPr>
              <a:defRPr sz="1600"/>
            </a:pPr>
            <a:r>
              <a:t>- 121 -   C  C.</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434.5 Caractéristiques des dispositifs de protection contre les courts-circuits</a:t>
            </a:r>
          </a:p>
        </p:txBody>
      </p:sp>
      <p:sp>
        <p:nvSpPr>
          <p:cNvPr id="3" name="Content Placeholder 2"/>
          <p:cNvSpPr>
            <a:spLocks noGrp="1"/>
          </p:cNvSpPr>
          <p:nvPr>
            <p:ph idx="1"/>
          </p:nvPr>
        </p:nvSpPr>
        <p:spPr/>
        <p:txBody>
          <a:bodyPr/>
          <a:lstStyle/>
          <a:p>
            <a:pPr>
              <a:defRPr sz="1600"/>
            </a:pPr>
            <a:r>
              <a:t>Tout dispositif assurant la protection contre les courts-circuits doit répondre aux deux conditions suivantes :.</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434.5.1 Son pouvoir de coupure doit être au moins égal au courant de court-circuit présumé au</a:t>
            </a:r>
          </a:p>
        </p:txBody>
      </p:sp>
      <p:sp>
        <p:nvSpPr>
          <p:cNvPr id="3" name="Content Placeholder 2"/>
          <p:cNvSpPr>
            <a:spLocks noGrp="1"/>
          </p:cNvSpPr>
          <p:nvPr>
            <p:ph idx="1"/>
          </p:nvPr>
        </p:nvSpPr>
        <p:spPr/>
        <p:txBody>
          <a:bodyPr/>
          <a:lstStyle/>
          <a:p>
            <a:pPr>
              <a:defRPr sz="1600"/>
            </a:pPr>
            <a:r>
              <a:t>point où il est installé, sauf dans le cas admis à l'alinéa suivant.</a:t>
            </a:r>
          </a:p>
          <a:p>
            <a:pPr>
              <a:defRPr sz="1600"/>
            </a:pPr>
            <a:r>
              <a:t>Un dispositif possédant un pouvoir de coupure inférieur est admis, à condition qu'il soit doublé en amont par un dispositif ayant le pouvoir de coupure nécessaire.</a:t>
            </a:r>
          </a:p>
          <a:p>
            <a:pPr>
              <a:defRPr sz="1600"/>
            </a:pPr>
            <a:r>
              <a:t>Dans ce cas, les caractéristiques des deux dispositifs doivent être coordonnées de telle manière que l'énergie que laissent passer les dispositifs ne soit pas supérieure à celle que peuvent supporter sans dommage le dispositif placé en aval et les canalisations protégées par ces dispositifs.</a:t>
            </a:r>
          </a:p>
          <a:p>
            <a:pPr>
              <a:defRPr sz="1600"/>
            </a:pPr>
            <a:r>
              <a:t>NOTE - Dans certains cas particuliers, il peut être nécessaire de prendre en considération d'autres caractéristiques telles que contraintes dynamiques et énergie d'arc pour les dispositifs placés en aval.</a:t>
            </a:r>
          </a:p>
          <a:p>
            <a:pPr>
              <a:defRPr sz="1600"/>
            </a:pPr>
            <a:r>
              <a:t>Les renseignements nécessaires doivent être obtenus auprès des constructeurs de ces dispositifs.</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434.5.2 Le temps de coupure de tout</a:t>
            </a:r>
          </a:p>
        </p:txBody>
      </p:sp>
      <p:sp>
        <p:nvSpPr>
          <p:cNvPr id="3" name="Content Placeholder 2"/>
          <p:cNvSpPr>
            <a:spLocks noGrp="1"/>
          </p:cNvSpPr>
          <p:nvPr>
            <p:ph idx="1"/>
          </p:nvPr>
        </p:nvSpPr>
        <p:spPr/>
        <p:txBody>
          <a:bodyPr/>
          <a:lstStyle/>
          <a:p>
            <a:pPr>
              <a:defRPr sz="1600"/>
            </a:pPr>
            <a:r>
              <a:t>un point quelconque du circuit ne doit pas être supérieur au temps portant la température des conducteurs à la limite admissible.</a:t>
            </a:r>
          </a:p>
          <a:p>
            <a:pPr>
              <a:defRPr sz="1600"/>
            </a:pPr>
            <a:r>
              <a:t>Pour les courts-circuits d'une durée au plus égale à 5 s, la durée nécessaire pour qu'un courant de court-circuit élève la température des conducteurs de la température maximale admissible en service normal à la valeur limite, peut être calculée, en première approximation, à l'aide de la formule suivante :  t = k  S I  où t S I  est la durée en secondes, est la section en mm2, est le courant de court-circuit effectif en A, exprimé en valeur efficace (appelé Ik dans le guide UTE C 15-105)  k = facteur tenant compte de la résistivité, du coefficient de température et de la tenue d'échauffements du matériau du conducteur, ainsi que des températures initiales finales.</a:t>
            </a:r>
          </a:p>
          <a:p>
            <a:pPr>
              <a:defRPr sz="1600"/>
            </a:pPr>
            <a:r>
              <a:t>Pour les isolations les plus communes des conducteurs, les valeurs de k pour les conducteurs de phase sont indiquées dans le tableau 43A.</a:t>
            </a:r>
          </a:p>
          <a:p>
            <a:pPr>
              <a:defRPr sz="1600"/>
            </a:pPr>
            <a:r>
              <a:t>Tableau 43A - Valeurs de k pour un conducteur actif  Isolation du conducteur  PVC 70 °C ≤ 300 mm²  PVC 70 °C &gt; 300 mm²  PVC 90°C ≤ 300 mm²  PVC 90°C &gt; 300 mm²  PR/EPR  Température initiale ° C  Température finale ° C  Matériau du Conducteur  Cuivre  Aluminium  Connexions soudées à l'étain pour des conducteurs en cuivre  70  160  115  76  115  70  140  103  68  -  90  160  100  66  90  140  86  57  90  250  143  94  -  Caout- chouc 60 °C  60  200  141  93  -  NOTES - 1 - Pour les durées très courtes (&lt; 0,1 s) où l'asymétrie est importante et pour les dispositifs limitant le courant, k2S2 doit être supérieur à la valeur de l'énergie (I 2 t) que laisse passer le dispositif de protection, indiquée par le constructeur.</a:t>
            </a:r>
          </a:p>
          <a:p>
            <a:pPr>
              <a:defRPr sz="1600"/>
            </a:pPr>
            <a:r>
              <a:t>2 - D'autres valeurs de k sont à l'étude pour :  - les conducteurs de faible section (notamment pour des sections inférieures à 10 mm 2), - les durées de court-circuit supérieures à 5 s, - d'autres types de connexions dans les conducteurs, - les conducteurs nus, - les conducteurs blindés à isolant minéral.</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435.1 Protections assurées par le même dispositif</a:t>
            </a:r>
          </a:p>
        </p:txBody>
      </p:sp>
      <p:sp>
        <p:nvSpPr>
          <p:cNvPr id="3" name="Content Placeholder 2"/>
          <p:cNvSpPr>
            <a:spLocks noGrp="1"/>
          </p:cNvSpPr>
          <p:nvPr>
            <p:ph idx="1"/>
          </p:nvPr>
        </p:nvSpPr>
        <p:spPr/>
        <p:txBody>
          <a:bodyPr/>
          <a:lstStyle/>
          <a:p>
            <a:pPr>
              <a:defRPr sz="1600"/>
            </a:pPr>
            <a:r>
              <a:t>33 possède un Si un dispositif de protection contre les surcharges répondant aux prescriptions en 4 pouvoir de coupure au moins égal au courant de court-circuit présumé au point où il est installé, il est considéré comme assurant également la protection contre les courants de court-circuit de la canalisation située en aval de ce point.</a:t>
            </a:r>
          </a:p>
          <a:p>
            <a:pPr>
              <a:defRPr sz="1600"/>
            </a:pPr>
            <a:r>
              <a:t>Le pouvoir de coupure peut être celui du dispositif seul ou celui obtenu par coordination avec un autre dispositif amont tel que prévu en 434.</a:t>
            </a:r>
          </a:p>
          <a:p>
            <a:pPr>
              <a:defRPr sz="1600"/>
            </a:pPr>
            <a:r>
              <a:t>2.</a:t>
            </a:r>
          </a:p>
          <a:p>
            <a:pPr>
              <a:defRPr sz="1600"/>
            </a:pPr>
            <a:r>
              <a:t>1.</a:t>
            </a:r>
          </a:p>
          <a:p>
            <a:pPr>
              <a:defRPr sz="1600"/>
            </a:pPr>
            <a:r>
              <a:t>NOTE - Ceci peut ne pas être valable pour toute la plage des courants de court-circuit pour certains types de disjoncteurs, notamment pour ceux ne limitant pas le courant.</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435.2 Protections assurées par des dispositifs distincts</a:t>
            </a:r>
          </a:p>
        </p:txBody>
      </p:sp>
      <p:sp>
        <p:nvSpPr>
          <p:cNvPr id="3" name="Content Placeholder 2"/>
          <p:cNvSpPr>
            <a:spLocks noGrp="1"/>
          </p:cNvSpPr>
          <p:nvPr>
            <p:ph idx="1"/>
          </p:nvPr>
        </p:nvSpPr>
        <p:spPr/>
        <p:txBody>
          <a:bodyPr/>
          <a:lstStyle/>
          <a:p>
            <a:pPr>
              <a:defRPr sz="1600"/>
            </a:pPr>
            <a:r>
              <a:t>Les règles en 433 et 434 s'appliquent respectivement au dispositif surcharges et au dispositif de protection contre les courts-circuits.</a:t>
            </a:r>
          </a:p>
          <a:p>
            <a:pPr>
              <a:defRPr sz="1600"/>
            </a:pPr>
            <a:r>
              <a:t>de protection contre les  Les caractéristiques des dispositifs doivent être coordonnées de telle manière que l'énergie que laisse passer le dispositif de protection contre les courts-circuits ne soit pas supérieure à celle que peut supporter sans dommage le dispositif de protection contre les surcharges.</a:t>
            </a:r>
          </a:p>
          <a:p>
            <a:pPr>
              <a:defRPr sz="1600"/>
            </a:pPr>
            <a:r>
              <a:t>436 Limitation des surintensités par les caractéristiques de l'alimentation  Sont réputés être protégés contre toute surintensité les conducteurs alimentés par une source dont l'impédance est telle que le courant maximal qu'elle peut fournir ne peut pas être supérieur au courant admissible dans les conducteurs (par exemple certains transformateurs de sonnerie, certains transformateurs de soudage, certaines génératrices entraînées par moteur thermique).</a:t>
            </a:r>
          </a:p>
          <a:p>
            <a:pPr>
              <a:defRPr sz="1600"/>
            </a:pPr>
            <a:r>
              <a:t>______________  - 123 -   Partie 4-44 – Protection contre les perturbations de tension et les perturbations électromagnétiques  440 Introduction.</a:t>
            </a:r>
          </a:p>
          <a:p>
            <a:pPr>
              <a:defRPr sz="1600"/>
            </a:pPr>
            <a:r>
              <a:t>126 441 (disponible).</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442.1 Domaine d'application et objet</a:t>
            </a:r>
          </a:p>
        </p:txBody>
      </p:sp>
      <p:sp>
        <p:nvSpPr>
          <p:cNvPr id="3" name="Content Placeholder 2"/>
          <p:cNvSpPr>
            <a:spLocks noGrp="1"/>
          </p:cNvSpPr>
          <p:nvPr>
            <p:ph idx="1"/>
          </p:nvPr>
        </p:nvSpPr>
        <p:spPr/>
        <p:txBody>
          <a:bodyPr/>
          <a:lstStyle/>
          <a:p>
            <a:pPr>
              <a:defRPr sz="1600"/>
            </a:pPr>
            <a:r>
              <a:t>Les règles du présent article sont destinées à assurer la sécurité des personnes et des matériels dans une installation à basse tension en cas de surtension temporaire à fréquence industrielle.</a:t>
            </a:r>
          </a:p>
          <a:p>
            <a:pPr>
              <a:defRPr sz="1600"/>
            </a:pPr>
            <a:r>
              <a:t>Les articles suivants ne prennent en considération que quatre situations généralement à l’origine des surtensions temporaires, ces situations étant les plus contraignantes :  - - -  défaut à la terre de l’installation à haute tension (442.</a:t>
            </a:r>
          </a:p>
          <a:p>
            <a:pPr>
              <a:defRPr sz="1600"/>
            </a:pPr>
            <a:r>
              <a:t>2) ; rupture du conducteur neutre dans une installation en schéma TN ou TT (442.</a:t>
            </a:r>
          </a:p>
          <a:p>
            <a:pPr>
              <a:defRPr sz="1600"/>
            </a:pPr>
            <a:r>
              <a:t>5) ; premier défaut à la terre dans une installation en schéma IT (442.</a:t>
            </a:r>
          </a:p>
          <a:p>
            <a:pPr>
              <a:defRPr sz="1600"/>
            </a:pPr>
            <a:r>
              <a:t>6).</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 Surtensions en cas de défaut à la terre dans les installations à haute tension</a:t>
            </a:r>
          </a:p>
        </p:txBody>
      </p:sp>
      <p:sp>
        <p:nvSpPr>
          <p:cNvPr id="3" name="Content Placeholder 2"/>
          <p:cNvSpPr>
            <a:spLocks noGrp="1"/>
          </p:cNvSpPr>
          <p:nvPr>
            <p:ph idx="1"/>
          </p:nvPr>
        </p:nvSpPr>
        <p:spPr/>
        <p:txBody>
          <a:bodyPr/>
          <a:lstStyle/>
          <a:p>
            <a:pPr>
              <a:defRPr sz="1600"/>
            </a:pPr>
            <a:r>
              <a:t>La circulation d'un courant de défaut haute tension dans la prise de terre des masses du poste provoque une élévation du potentiel de ces masses par rapport à la terre dont la valeur dépend :  - -  de l'intensité du courant de défaut, et de la résistance de la prise de terre des masses du poste.</a:t>
            </a:r>
          </a:p>
          <a:p>
            <a:pPr>
              <a:defRPr sz="1600"/>
            </a:pPr>
            <a:r>
              <a:t>Le courant de défaut peut provoquer :  -  -  soit une élévation générale du potentiel de l'installation à basse tension par rapport à la terre, c'est-à-dire des contraintes de tension pouvant provoquer des amorçages dans les matériels à basse tension ;  soit une élévation générale du potentiel des masses de l'installation à basse tension par rapport à la terre pouvant augmenter les tensions de défaut et de contact.</a:t>
            </a:r>
          </a:p>
          <a:p>
            <a:pPr>
              <a:defRPr sz="1600"/>
            </a:pPr>
            <a:r>
              <a:t>Les paragraphes qui suivent sont à lire en liaison avec les figures 442A à 442G.</a:t>
            </a:r>
          </a:p>
          <a:p>
            <a:pPr>
              <a:defRPr sz="1600"/>
            </a:pPr>
            <a:r>
              <a:t>- 126 -.</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442.2.1 Contraintes de tension admissibles à fréquence industrielle par les matériels de</a:t>
            </a:r>
          </a:p>
        </p:txBody>
      </p:sp>
      <p:sp>
        <p:nvSpPr>
          <p:cNvPr id="3" name="Content Placeholder 2"/>
          <p:cNvSpPr>
            <a:spLocks noGrp="1"/>
          </p:cNvSpPr>
          <p:nvPr>
            <p:ph idx="1"/>
          </p:nvPr>
        </p:nvSpPr>
        <p:spPr/>
        <p:txBody>
          <a:bodyPr/>
          <a:lstStyle/>
          <a:p>
            <a:pPr>
              <a:defRPr sz="1600"/>
            </a:pPr>
            <a:r>
              <a:t>l’installation à basse tension  Les matériels à basse tension comprennent les matériels de l’installation à basse tension et les matériels à basse tension du poste de transformation.</a:t>
            </a:r>
          </a:p>
          <a:p>
            <a:pPr>
              <a:defRPr sz="1600"/>
            </a:pPr>
            <a:r>
              <a:t>Le présent paragraphe traite des contraintes de tension des matériels de l’installation à basse tension.</a:t>
            </a:r>
          </a:p>
          <a:p>
            <a:pPr>
              <a:defRPr sz="1600"/>
            </a:pPr>
            <a:r>
              <a:t>Les contraintes de tension admissibles à fréquence industrielle par les masses BT du poste de transformation sont   précisées dans la norme NF C 13-100, 442.</a:t>
            </a:r>
          </a:p>
          <a:p>
            <a:pPr>
              <a:defRPr sz="1600"/>
            </a:pPr>
            <a:r>
              <a:t>1.</a:t>
            </a:r>
          </a:p>
          <a:p>
            <a:pPr>
              <a:defRPr sz="1600"/>
            </a:pPr>
            <a:r>
              <a:t>H  Les contraintes de tension à fréquence industrielle subies par les matériels des installations à basse tension en cas de défaut à la terre dans les installations à haute tension ne doivent pas dépasser les contraintes de tension admissibles indiquées dans le tableau 44A, en fonction de la durée du défaut.</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442.2.2 Symboles</a:t>
            </a:r>
          </a:p>
        </p:txBody>
      </p:sp>
      <p:sp>
        <p:nvSpPr>
          <p:cNvPr id="3" name="Content Placeholder 2"/>
          <p:cNvSpPr>
            <a:spLocks noGrp="1"/>
          </p:cNvSpPr>
          <p:nvPr>
            <p:ph idx="1"/>
          </p:nvPr>
        </p:nvSpPr>
        <p:spPr/>
        <p:txBody>
          <a:bodyPr/>
          <a:lstStyle/>
          <a:p>
            <a:pPr>
              <a:defRPr sz="1600"/>
            </a:pPr>
            <a:r>
              <a:t>Dans le présent article, les symboles suivants sont utilisés :  IE  RP  RA  RB  RAB  RPB  est la partie du courant de défaut à la terre dans l'installation à haute tension qui s'écoule par la prise de terre des masses du poste de transformation.</a:t>
            </a:r>
          </a:p>
          <a:p>
            <a:pPr>
              <a:defRPr sz="1600"/>
            </a:pPr>
            <a:r>
              <a:t>est la résistance de la prise de terre des masses du poste de transformation.</a:t>
            </a:r>
          </a:p>
          <a:p>
            <a:pPr>
              <a:defRPr sz="1600"/>
            </a:pPr>
            <a:r>
              <a:t>est la résistance de la prise de terre des masses de l'installation à basse tension.</a:t>
            </a:r>
          </a:p>
          <a:p>
            <a:pPr>
              <a:defRPr sz="1600"/>
            </a:pPr>
            <a:r>
              <a:t>est la résistance de la prise de terre du neutre de l'installation à basse tension, pour des installations à basse tension dans lesquelles la prise de terre des masses du poste et du neutre sont électriquement indépendantes.</a:t>
            </a:r>
          </a:p>
          <a:p>
            <a:pPr>
              <a:defRPr sz="1600"/>
            </a:pPr>
            <a:r>
              <a:t>est la résistance des prises de terre interconnectées du neutre et des masses de l'installation à basse tension.</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442.2.3 Mise à la terre dans les postes de transformation</a:t>
            </a:r>
          </a:p>
        </p:txBody>
      </p:sp>
      <p:sp>
        <p:nvSpPr>
          <p:cNvPr id="3" name="Content Placeholder 2"/>
          <p:cNvSpPr>
            <a:spLocks noGrp="1"/>
          </p:cNvSpPr>
          <p:nvPr>
            <p:ph idx="1"/>
          </p:nvPr>
        </p:nvSpPr>
        <p:spPr/>
        <p:txBody>
          <a:bodyPr/>
          <a:lstStyle/>
          <a:p>
            <a:pPr>
              <a:defRPr sz="1600"/>
            </a:pPr>
            <a:r>
              <a:t>La prise de terre des masses du poste de transformation doit être réalisée conformément aux normes en vigueur  (*).</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442.2.4 Prescriptions applicables suivant le schéma des liaisons à la terre des installations à</a:t>
            </a:r>
          </a:p>
        </p:txBody>
      </p:sp>
      <p:sp>
        <p:nvSpPr>
          <p:cNvPr id="3" name="Content Placeholder 2"/>
          <p:cNvSpPr>
            <a:spLocks noGrp="1"/>
          </p:cNvSpPr>
          <p:nvPr>
            <p:ph idx="1"/>
          </p:nvPr>
        </p:nvSpPr>
        <p:spPr/>
        <p:txBody>
          <a:bodyPr/>
          <a:lstStyle/>
          <a:p>
            <a:pPr>
              <a:defRPr sz="1600"/>
            </a:pPr>
            <a:r>
              <a:t>basse tension Si le risque de défaut d'isolement entre l’installation à haute tension et l’installation à basse tension existe, la prise de terre du neutre doit satisfaire à la condition énoncée en 442.</a:t>
            </a:r>
          </a:p>
          <a:p>
            <a:pPr>
              <a:defRPr sz="1600"/>
            </a:pPr>
            <a:r>
              <a:t>2.</a:t>
            </a:r>
          </a:p>
          <a:p>
            <a:pPr>
              <a:defRPr sz="1600"/>
            </a:pPr>
            <a:r>
              <a:t>6.</a:t>
            </a:r>
          </a:p>
          <a:p>
            <a:pPr>
              <a:defRPr sz="1600"/>
            </a:pPr>
            <a:r>
              <a:t>1.</a:t>
            </a:r>
          </a:p>
          <a:p>
            <a:pPr>
              <a:defRPr sz="1600"/>
            </a:pPr>
            <a:r>
              <a:t>Les schémas des liaisons à la terre sont symbolisés par les deux lettres dont la définition est donnée en 312.</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442.2.4.1 Schéma TN</a:t>
            </a:r>
          </a:p>
        </p:txBody>
      </p:sp>
      <p:sp>
        <p:nvSpPr>
          <p:cNvPr id="3" name="Content Placeholder 2"/>
          <p:cNvSpPr>
            <a:spLocks noGrp="1"/>
          </p:cNvSpPr>
          <p:nvPr>
            <p:ph idx="1"/>
          </p:nvPr>
        </p:nvSpPr>
        <p:spPr/>
        <p:txBody>
          <a:bodyPr/>
          <a:lstStyle/>
          <a:p>
            <a:pPr>
              <a:defRPr sz="1600"/>
            </a:pPr>
            <a:r>
              <a:t>H  Schéma TNR : la prise de terre commune au neutre et aux masses de l’installation à basse tension est connectée à la prise de terre des masses du poste de transformation (figure 442A).</a:t>
            </a:r>
          </a:p>
          <a:p>
            <a:pPr>
              <a:defRPr sz="1600"/>
            </a:pPr>
            <a:r>
              <a:t>Dans la zone d'influence de la liaison équipotentielle principale présente dans chaque bâtiment, aucune tension de contact dangereuse n’apparaît et aucune valeur maximale n’est prescrite pour la résistance globale de la prise de terre.</a:t>
            </a:r>
          </a:p>
          <a:p>
            <a:pPr>
              <a:defRPr sz="1600"/>
            </a:pPr>
            <a:r>
              <a:t>Si des masses sont situées hors de cette zone, la résistance globale de la prise de terre ne doit pas dépasser 1 ohm.</a:t>
            </a:r>
          </a:p>
          <a:p>
            <a:pPr>
              <a:defRPr sz="1600"/>
            </a:pPr>
            <a:r>
              <a:t>Si le poste de transformation est à l’intérieur d’un bâtiment, du fait des dispositions en vigueur (*) pour la mise à la terre des masses du poste, les prises de terre des masses du poste et du neutre de l’installation à basse tension sont de fait électriquement confondues.</a:t>
            </a:r>
          </a:p>
          <a:p>
            <a:pPr>
              <a:defRPr sz="1600"/>
            </a:pPr>
            <a:r>
              <a:t>HT  IE  Poste  U1  Installation BT  U2  BT  L1  L2 L3  PEN   = U U1  0   R  PAB  2  U U U  = = U R I  =  PAB E  1  f  0  Uf  (*) NF C 13-100 et NF C 13-200.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442.2.4.2 Schéma TT</a:t>
            </a:r>
          </a:p>
        </p:txBody>
      </p:sp>
      <p:sp>
        <p:nvSpPr>
          <p:cNvPr id="3" name="Content Placeholder 2"/>
          <p:cNvSpPr>
            <a:spLocks noGrp="1"/>
          </p:cNvSpPr>
          <p:nvPr>
            <p:ph idx="1"/>
          </p:nvPr>
        </p:nvSpPr>
        <p:spPr/>
        <p:txBody>
          <a:bodyPr/>
          <a:lstStyle/>
          <a:p>
            <a:pPr>
              <a:defRPr sz="1600"/>
            </a:pPr>
            <a:r>
              <a:t>Schéma TTN : si le conducteur neutre de l'installation à basse tension est relié à la prise de terre des masses du poste de transformation, la contrainte de tension U2 = RPB IE + U0 ne doit pas dépasser la contrainte de tension admissible définie dans le tableau 44A en fon ction du temps de coupure du défaut haute tension (figure 442C).</a:t>
            </a:r>
          </a:p>
          <a:p>
            <a:pPr>
              <a:defRPr sz="1600"/>
            </a:pPr>
            <a:r>
              <a:t>Poste  U1  HT  Installation BT  U2  BT  L1  L2  L3  N   = U U1  0   = U R I PB E 2 f = U 0   +  U  0  IE   R PB  Figure 442C – Schéma TTN  Uf  RA  - 129 -  2002    H  Schéma TTS : si le conducteur neutre de l'installation à basse tension est relié à une prise de terre électriquement distincte de celle des masses du poste de transformation, la condition en 442.</a:t>
            </a:r>
          </a:p>
          <a:p>
            <a:pPr>
              <a:defRPr sz="1600"/>
            </a:pPr>
            <a:r>
              <a:t>2.</a:t>
            </a:r>
          </a:p>
          <a:p>
            <a:pPr>
              <a:defRPr sz="1600"/>
            </a:pPr>
            <a:r>
              <a:t>5.</a:t>
            </a:r>
          </a:p>
          <a:p>
            <a:pPr>
              <a:defRPr sz="1600"/>
            </a:pPr>
            <a:r>
              <a:t>1 doit être appliquée (figure 442D).</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442.2.4.3 Schéma IT</a:t>
            </a:r>
          </a:p>
        </p:txBody>
      </p:sp>
      <p:sp>
        <p:nvSpPr>
          <p:cNvPr id="3" name="Content Placeholder 2"/>
          <p:cNvSpPr>
            <a:spLocks noGrp="1"/>
          </p:cNvSpPr>
          <p:nvPr>
            <p:ph idx="1"/>
          </p:nvPr>
        </p:nvSpPr>
        <p:spPr/>
        <p:txBody>
          <a:bodyPr/>
          <a:lstStyle/>
          <a:p>
            <a:pPr>
              <a:defRPr sz="1600"/>
            </a:pPr>
            <a:r>
              <a:t>Figure 442D – Schéma TTS  Schéma ITR : les masses de l’installation à basse tension sont reliées à la prise de terre des masses du poste de transformation et à celle du neutre (figure 442E).</a:t>
            </a:r>
          </a:p>
          <a:p>
            <a:pPr>
              <a:defRPr sz="1600"/>
            </a:pPr>
            <a:r>
              <a:t>Dans la zone d'influence de la liaison équipotentielle principale prescrite dans chaque bâtiment, aucune tension de contact dangereuse n’apparaît et aucune valeur maximale n’est prescrite pour la résistance globale de la prise de terre.</a:t>
            </a:r>
          </a:p>
          <a:p>
            <a:pPr>
              <a:defRPr sz="1600"/>
            </a:pPr>
            <a:r>
              <a:t>Si des masses sont situées hors de cette zone, la résistance globale de la prise de terre ne doit pas dépasser 1 ohm.</a:t>
            </a:r>
          </a:p>
          <a:p>
            <a:pPr>
              <a:defRPr sz="1600"/>
            </a:pPr>
            <a:r>
              <a:t>Si le poste de transformation est à l’intérieur d’un bâtiment, du fait des dispositions en vigueur pour la mise à la terre des masses du poste, les prises de terre des masses du poste et des masses de l’installation à basse tension sont, de fait, électriquement confondues.</a:t>
            </a:r>
          </a:p>
          <a:p>
            <a:pPr>
              <a:defRPr sz="1600"/>
            </a:pPr>
            <a:r>
              <a:t>Il en résulte que, comme en schéma TN, la séparation électrique entre les prises de terre respectives des masses du poste et des masses de l’installation à basse tension ne peut être envisagée que dans les mêmes cas tels que postes sur poteau, postes simplifiés préfabriqués ou postes semi-enterrés préfabriqués.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442.2.5 Limitation des contraintes de tension dans les matériels à basse tension du poste de</a:t>
            </a:r>
          </a:p>
        </p:txBody>
      </p:sp>
      <p:sp>
        <p:nvSpPr>
          <p:cNvPr id="3" name="Content Placeholder 2"/>
          <p:cNvSpPr>
            <a:spLocks noGrp="1"/>
          </p:cNvSpPr>
          <p:nvPr>
            <p:ph idx="1"/>
          </p:nvPr>
        </p:nvSpPr>
        <p:spPr/>
        <p:txBody>
          <a:bodyPr/>
          <a:lstStyle/>
          <a:p>
            <a:pPr>
              <a:defRPr sz="1600"/>
            </a:pPr>
            <a:r>
              <a:t>transformation.</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442.2.5.1 Schémas TN et TT</a:t>
            </a:r>
          </a:p>
        </p:txBody>
      </p:sp>
      <p:sp>
        <p:nvSpPr>
          <p:cNvPr id="3" name="Content Placeholder 2"/>
          <p:cNvSpPr>
            <a:spLocks noGrp="1"/>
          </p:cNvSpPr>
          <p:nvPr>
            <p:ph idx="1"/>
          </p:nvPr>
        </p:nvSpPr>
        <p:spPr/>
        <p:txBody>
          <a:bodyPr/>
          <a:lstStyle/>
          <a:p>
            <a:pPr>
              <a:defRPr sz="1600"/>
            </a:pPr>
            <a:r>
              <a:t>Lorsque dans les schémas TN et TT, la prise de terre du neutre est électriquement distincte de celle des masses du poste de transformation (figures 442B matériels à basse tension du poste de transformation doit être compatible avec la contrainte de tension (R P IE + U0).</a:t>
            </a:r>
          </a:p>
          <a:p>
            <a:pPr>
              <a:defRPr sz="1600"/>
            </a:pPr>
            <a:r>
              <a:t>et 442D), le niveau d'isolement des.</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442.2.5.2 Schéma IT</a:t>
            </a:r>
          </a:p>
        </p:txBody>
      </p:sp>
      <p:sp>
        <p:nvSpPr>
          <p:cNvPr id="3" name="Content Placeholder 2"/>
          <p:cNvSpPr>
            <a:spLocks noGrp="1"/>
          </p:cNvSpPr>
          <p:nvPr>
            <p:ph idx="1"/>
          </p:nvPr>
        </p:nvSpPr>
        <p:spPr/>
        <p:txBody>
          <a:bodyPr/>
          <a:lstStyle/>
          <a:p>
            <a:pPr>
              <a:defRPr sz="1600"/>
            </a:pPr>
            <a:r>
              <a:t>Lorsque dans le schéma IT, la prise de terre du neutre est électriquement distincte de celle des masses du poste de transformation (figure 442G), tension du poste de (RP IE + U0 3 ).</a:t>
            </a:r>
          </a:p>
          <a:p>
            <a:pPr>
              <a:defRPr sz="1600"/>
            </a:pPr>
            <a:r>
              <a:t>transformation doit être compatible avec    des matériels à basse  le niveau d'isolement  la contrainte de  tension  NOTE - Le distributeur peut donner des indications sur les contraintes susceptibles de se produire.</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442.2.6.1 Pour se prémunir contre les surtensions dues à des défauts directs entre installations à</a:t>
            </a:r>
          </a:p>
        </p:txBody>
      </p:sp>
      <p:sp>
        <p:nvSpPr>
          <p:cNvPr id="3" name="Content Placeholder 2"/>
          <p:cNvSpPr>
            <a:spLocks noGrp="1"/>
          </p:cNvSpPr>
          <p:nvPr>
            <p:ph idx="1"/>
          </p:nvPr>
        </p:nvSpPr>
        <p:spPr/>
        <p:txBody>
          <a:bodyPr/>
          <a:lstStyle/>
          <a:p>
            <a:pPr>
              <a:defRPr sz="1600"/>
            </a:pPr>
            <a:r>
              <a:t>haute tension et installations à basse tension lorsque la prise de terre du neutre est distincte de la prise de terre des masses de l'installation (schémas TTS et ITS), la condition suivante doit être remplie :  ≤≤≤≤  R B  U  U  −−−−  tB I E  UtB  U  étant la contrainte de tension admissible à fréquence industrielle des masses de l'installation à basse tension indiquée dans 442.</a:t>
            </a:r>
          </a:p>
          <a:p>
            <a:pPr>
              <a:defRPr sz="1600"/>
            </a:pPr>
            <a:r>
              <a:t>2.</a:t>
            </a:r>
          </a:p>
          <a:p>
            <a:pPr>
              <a:defRPr sz="1600"/>
            </a:pPr>
            <a:r>
              <a:t>1.</a:t>
            </a:r>
          </a:p>
          <a:p>
            <a:pPr>
              <a:defRPr sz="1600"/>
            </a:pPr>
            <a:r>
              <a:t>étant la tension nominale de l'installation (tension entre phase et neutre dans le schéma TT et tension entre phases dans le schéma IT).</a:t>
            </a:r>
          </a:p>
          <a:p>
            <a:pPr>
              <a:defRPr sz="1600"/>
            </a:pPr>
            <a:r>
              <a:t>- 132 -  2002    H.</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442.2.6.2 En outre, dans les installations IT, un dispositif limiteur de surtension doit être connecté à</a:t>
            </a:r>
          </a:p>
        </p:txBody>
      </p:sp>
      <p:sp>
        <p:nvSpPr>
          <p:cNvPr id="3" name="Content Placeholder 2"/>
          <p:cNvSpPr>
            <a:spLocks noGrp="1"/>
          </p:cNvSpPr>
          <p:nvPr>
            <p:ph idx="1"/>
          </p:nvPr>
        </p:nvSpPr>
        <p:spPr/>
        <p:txBody>
          <a:bodyPr/>
          <a:lstStyle/>
          <a:p>
            <a:pPr>
              <a:defRPr sz="1600"/>
            </a:pPr>
            <a:r>
              <a:t>l'origine de l'installation entre la prise de terre du neutre de l'installation et soit le neutre, soit un conducteur de phase.</a:t>
            </a:r>
          </a:p>
          <a:p>
            <a:pPr>
              <a:defRPr sz="1600"/>
            </a:pPr>
            <a:r>
              <a:t>La tension nominale d'amorçage de ce dispositif doit être inférieure à la valeur de la tension UtB diminuée de la tension entre phase et neutre de l'installation ou de la tension entre phases suivant qu'il est relié au neutre ou à un conducteur de phase.</a:t>
            </a:r>
          </a:p>
          <a:p>
            <a:pPr>
              <a:defRPr sz="1600"/>
            </a:pPr>
            <a:r>
              <a:t>Les conditions de choix et de mise en œuvre des dispositifs limiteurs de surtension sont indiquées en 534 et dans le guide UTE C 15-105.</a:t>
            </a:r>
          </a:p>
          <a:p>
            <a:pPr>
              <a:defRPr sz="1600"/>
            </a:pPr>
            <a:r>
              <a:t>H  H.</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442.2.6.3 Les canalisations électriques à basse et à haute tension ne doivent pas emprunter les</a:t>
            </a:r>
          </a:p>
        </p:txBody>
      </p:sp>
      <p:sp>
        <p:nvSpPr>
          <p:cNvPr id="3" name="Content Placeholder 2"/>
          <p:cNvSpPr>
            <a:spLocks noGrp="1"/>
          </p:cNvSpPr>
          <p:nvPr>
            <p:ph idx="1"/>
          </p:nvPr>
        </p:nvSpPr>
        <p:spPr/>
        <p:txBody>
          <a:bodyPr/>
          <a:lstStyle/>
          <a:p>
            <a:pPr>
              <a:defRPr sz="1600"/>
            </a:pPr>
            <a:r>
              <a:t>mêmes gaines ou caniveaux, à moins que des dispositions ne soient prises pour que les canalisations basse tension ne puissent être soumises à une tension supérieure à leur contrainte de tension de tenue admissible à fréquence industrielle.</a:t>
            </a:r>
          </a:p>
          <a:p>
            <a:pPr>
              <a:defRPr sz="1600"/>
            </a:pPr>
            <a:r>
              <a:t>Ces dispositions peuvent consister à disposer les canalisations de tensions différentes sur des supports distincts.</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442.5 Contraintes de tension en cas de rupture du conducteur neutre en schémas TN et TT</a:t>
            </a:r>
          </a:p>
        </p:txBody>
      </p:sp>
      <p:sp>
        <p:nvSpPr>
          <p:cNvPr id="3" name="Content Placeholder 2"/>
          <p:cNvSpPr>
            <a:spLocks noGrp="1"/>
          </p:cNvSpPr>
          <p:nvPr>
            <p:ph idx="1"/>
          </p:nvPr>
        </p:nvSpPr>
        <p:spPr/>
        <p:txBody>
          <a:bodyPr/>
          <a:lstStyle/>
          <a:p>
            <a:pPr>
              <a:defRPr sz="1600"/>
            </a:pPr>
            <a:r>
              <a:t>L'attention doit se porter sur le fait qu'en cas de rupture du conducteur neutre en schémas triphasés TN ou TT, les isolations principale, double et renforcée ainsi que les matériels dimensionnés pour la tension simple peuvent être soumis temporairement à la tension composée.</a:t>
            </a:r>
          </a:p>
          <a:p>
            <a:pPr>
              <a:defRPr sz="1600"/>
            </a:pPr>
            <a:r>
              <a:t>La contrainte de tension peut atteindre U = U0 3.</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442.6 Contraintes de tension en cas de premier défaut à la terre en schéma IT</a:t>
            </a:r>
          </a:p>
        </p:txBody>
      </p:sp>
      <p:sp>
        <p:nvSpPr>
          <p:cNvPr id="3" name="Content Placeholder 2"/>
          <p:cNvSpPr>
            <a:spLocks noGrp="1"/>
          </p:cNvSpPr>
          <p:nvPr>
            <p:ph idx="1"/>
          </p:nvPr>
        </p:nvSpPr>
        <p:spPr/>
        <p:txBody>
          <a:bodyPr/>
          <a:lstStyle/>
          <a:p>
            <a:pPr>
              <a:defRPr sz="1600"/>
            </a:pPr>
            <a:r>
              <a:t>L'attention doit se porter sur le fait qu'en cas de premier défaut à la terre d'un conducteur de phase en schéma IT, les isolations principale, double et renforcée ainsi que les matériels dimensionnés pour la tension simple peuvent être soumis temporairement à la tension composée.</a:t>
            </a:r>
          </a:p>
          <a:p>
            <a:pPr>
              <a:defRPr sz="1600"/>
            </a:pPr>
            <a:r>
              <a:t>La contrainte de tension peut atteindre U = U0 3.</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442.7 Contraintes de tension en cas de court-circuit entre phase et neutre dans l’installation</a:t>
            </a:r>
          </a:p>
        </p:txBody>
      </p:sp>
      <p:sp>
        <p:nvSpPr>
          <p:cNvPr id="3" name="Content Placeholder 2"/>
          <p:cNvSpPr>
            <a:spLocks noGrp="1"/>
          </p:cNvSpPr>
          <p:nvPr>
            <p:ph idx="1"/>
          </p:nvPr>
        </p:nvSpPr>
        <p:spPr/>
        <p:txBody>
          <a:bodyPr/>
          <a:lstStyle/>
          <a:p>
            <a:pPr>
              <a:defRPr sz="1600"/>
            </a:pPr>
            <a:r>
              <a:t>à basse tension  L'attention doit se porter sur le fait qu'en cas de court-circuit entre phase et neutre, les contraintes de tension peuvent atteindre la valeur de 1,45 U0 pendant une durée non supérieure à 5s.</a:t>
            </a:r>
          </a:p>
          <a:p>
            <a:pPr>
              <a:defRPr sz="1600"/>
            </a:pPr>
            <a:r>
              <a:t>443 Protection contre les surtensions d'origine atmosphérique ou dues à des manœuvres  Les matériels électriques comportant des composants électroniques sont aujourd’hui largement utilisés à la fois dans les installations industrielles, tertiaires et domestiques.</a:t>
            </a:r>
          </a:p>
          <a:p>
            <a:pPr>
              <a:defRPr sz="1600"/>
            </a:pPr>
            <a:r>
              <a:t>De plus, un grand nombre de ces matériels reste en état de veille permanente et assure des fonctions de contrôle ou de sécurité.</a:t>
            </a:r>
          </a:p>
          <a:p>
            <a:pPr>
              <a:defRPr sz="1600"/>
            </a:pPr>
            <a:r>
              <a:t>La faible tenue de ces matériels aux surtensions a donné une importance accrue à la protection des installations électriques à basse tension, et notamment à l’utilisation des parafoudres pour leur protection contre les surtensions induites transmises à travers le réseau électrique ou les réseaux de communication.</a:t>
            </a:r>
          </a:p>
          <a:p>
            <a:pPr>
              <a:defRPr sz="1600"/>
            </a:pPr>
            <a:r>
              <a:t>H.</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443.1 Domaine d'application et objet</a:t>
            </a:r>
          </a:p>
        </p:txBody>
      </p:sp>
      <p:sp>
        <p:nvSpPr>
          <p:cNvPr id="3" name="Content Placeholder 2"/>
          <p:cNvSpPr>
            <a:spLocks noGrp="1"/>
          </p:cNvSpPr>
          <p:nvPr>
            <p:ph idx="1"/>
          </p:nvPr>
        </p:nvSpPr>
        <p:spPr/>
        <p:txBody>
          <a:bodyPr/>
          <a:lstStyle/>
          <a:p>
            <a:pPr>
              <a:defRPr sz="1600"/>
            </a:pPr>
            <a:r>
              <a:t>Le présent article traite de la protection des installations électriques contre les surtensions transitoires d'origine atmosphérique transmises par les réseaux de distribution et contre les surtensions de manœuvre créées par les matériels de l'installation.</a:t>
            </a:r>
          </a:p>
          <a:p>
            <a:pPr>
              <a:defRPr sz="1600"/>
            </a:pPr>
            <a:r>
              <a:t>Il y a lieu de prendre en considération les surtensions qui peuvent apparaître à l'origine d'une installation, le niveau kéraunique présumé, l'emplacement et les caractéristiques des dispositifs de  - 133 -   H  protection contre les surtensions, de sorte que les probabilités d'incidents dus à des contraintes de surtension soient réduites à un niveau acceptable pour la sécurité des personnes et des biens, ainsi que pour la continuité de service souhaitée.</a:t>
            </a:r>
          </a:p>
          <a:p>
            <a:pPr>
              <a:defRPr sz="1600"/>
            </a:pPr>
            <a:r>
              <a:t>Les valeurs de surtensions transitoires dépendent de la nature du réseau d'alimentation (souterrain ou aérien) et de la présence éventuelle de dispositifs de protection contre les surtensions en amont de l'origine de l'installation et de la tension nominale de l'alimentation à basse tension.</a:t>
            </a:r>
          </a:p>
          <a:p>
            <a:pPr>
              <a:defRPr sz="1600"/>
            </a:pPr>
            <a:r>
              <a:t>Le présent article contient des indications lorsque la protection contre les surtensions est satisfaite par la situation naturelle ou assurée par la situation contrôlée.</a:t>
            </a:r>
          </a:p>
          <a:p>
            <a:pPr>
              <a:defRPr sz="1600"/>
            </a:pPr>
            <a:r>
              <a:t>Si la protection conformément au présent article n'est pas prévue, la coordination de l'isolement n'est pas assurée et le risque dû aux surtensions doit être estimé.</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443.2.1 Objet de la classification des catégories de tenue aux chocs (catégories de</a:t>
            </a:r>
          </a:p>
        </p:txBody>
      </p:sp>
      <p:sp>
        <p:nvSpPr>
          <p:cNvPr id="3" name="Content Placeholder 2"/>
          <p:cNvSpPr>
            <a:spLocks noGrp="1"/>
          </p:cNvSpPr>
          <p:nvPr>
            <p:ph idx="1"/>
          </p:nvPr>
        </p:nvSpPr>
        <p:spPr/>
        <p:txBody>
          <a:bodyPr/>
          <a:lstStyle/>
          <a:p>
            <a:pPr>
              <a:defRPr sz="1600"/>
            </a:pPr>
            <a:r>
              <a:t>surtensions)  Voir tableau 44B.</a:t>
            </a:r>
          </a:p>
          <a:p>
            <a:pPr>
              <a:defRPr sz="1600"/>
            </a:pPr>
            <a:r>
              <a:t>Les catégories de tenue aux chocs sont des moyens de distinguer les divers degrés de disponibilité des matériels en fonction de la continuité du service et du risque acceptable de défaillance.</a:t>
            </a:r>
          </a:p>
          <a:p>
            <a:pPr>
              <a:defRPr sz="1600"/>
            </a:pPr>
            <a:r>
              <a:t>A l'aide des choix de la série préférentielle de tensions de tenue aux chocs, elles permettent de réaliser une coordination appropriée de l'isolement dans l'ensemble de l'installation, réduisant ainsi le risque de défaillance à un niveau acceptable et donnent un fondement pour la maîtrise des surtensions.</a:t>
            </a:r>
          </a:p>
          <a:p>
            <a:pPr>
              <a:defRPr sz="1600"/>
            </a:pPr>
            <a:r>
              <a:t>H  H  - 134 -   Un chiffre caractéristique supérieur de catégorie de tenue aux chocs (catégorie de surtensions) indique une meilleure tenue aux chocs du matériel et offre un choix plus vaste de méthodes de maîtrise des surtensions.</a:t>
            </a:r>
          </a:p>
          <a:p>
            <a:pPr>
              <a:defRPr sz="1600"/>
            </a:pPr>
            <a:r>
              <a:t>Le concept de catégories de tenue aux chocs est utilisé pour les matériels alimentés directement par le réseau.</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443.2.2 Description des catégories de tenue aux chocs (catégories de surtensions)</a:t>
            </a:r>
          </a:p>
        </p:txBody>
      </p:sp>
      <p:sp>
        <p:nvSpPr>
          <p:cNvPr id="3" name="Content Placeholder 2"/>
          <p:cNvSpPr>
            <a:spLocks noGrp="1"/>
          </p:cNvSpPr>
          <p:nvPr>
            <p:ph idx="1"/>
          </p:nvPr>
        </p:nvSpPr>
        <p:spPr/>
        <p:txBody>
          <a:bodyPr/>
          <a:lstStyle/>
          <a:p>
            <a:pPr>
              <a:defRPr sz="1600"/>
            </a:pPr>
            <a:r>
              <a:t>Catégorie I  Les matériels de tenue aux chocs de catégorie I sont des matériels qui sont destinés à être connectés à l’installation électrique fixe des bâtiments.</a:t>
            </a:r>
          </a:p>
          <a:p>
            <a:pPr>
              <a:defRPr sz="1600"/>
            </a:pPr>
            <a:r>
              <a:t>Dans ce cas, les mesures de protection sont prises à l'extérieur des matériels – soit dans l'installation fixe ou entre l'installation fixe et les matériels, afin de limiter les surtensions transitoires à un niveau spécifié.</a:t>
            </a:r>
          </a:p>
          <a:p>
            <a:pPr>
              <a:defRPr sz="1600"/>
            </a:pPr>
            <a:r>
              <a:t>Exemples : - matériels comportant des circuits électroniques particulièrement sensibles ; - stations de travail informatiques ; - appareils électroménagers à programmation électronique, etc.</a:t>
            </a:r>
          </a:p>
          <a:p>
            <a:pPr>
              <a:defRPr sz="1600"/>
            </a:pPr>
            <a:r>
              <a:t>Ces matériels de tenue aux chocs réduite sont conçus pour une tension de tenue aux chocs ne dépassant généralement pas 1,5 kV.</a:t>
            </a:r>
          </a:p>
          <a:p>
            <a:pPr>
              <a:defRPr sz="1600"/>
            </a:pPr>
            <a:r>
              <a:t>Des mesures de protection peuvent avoir été prises à l'intérieur du matériel.</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443.3 Dispositions pour le contrôle des surtensions</a:t>
            </a:r>
          </a:p>
        </p:txBody>
      </p:sp>
      <p:sp>
        <p:nvSpPr>
          <p:cNvPr id="3" name="Content Placeholder 2"/>
          <p:cNvSpPr>
            <a:spLocks noGrp="1"/>
          </p:cNvSpPr>
          <p:nvPr>
            <p:ph idx="1"/>
          </p:nvPr>
        </p:nvSpPr>
        <p:spPr/>
        <p:txBody>
          <a:bodyPr/>
          <a:lstStyle/>
          <a:p>
            <a:pPr>
              <a:defRPr sz="1600"/>
            </a:pPr>
            <a:r>
              <a:t>NOTES - 1 – Les coups de foudre directs sur les lignes aériennes à basse tension ou sur les ne sont pas pris en considération (conditions 2 – Le contrôle des surtensions dues à des manœuvres dans l’installation n'est généralement pas nécessaire ; en effet, des mesures statistiques ont montré qu'un risque de surtensions dues à des manœuvres supérieures à la catégorie de surtension II est faible.</a:t>
            </a:r>
          </a:p>
          <a:p>
            <a:pPr>
              <a:defRPr sz="1600"/>
            </a:pPr>
            <a:r>
              <a:t>installations électriques des bâtiments   d'influences externes AQ 3).</a:t>
            </a:r>
          </a:p>
          <a:p>
            <a:pPr>
              <a:defRPr sz="1600"/>
            </a:pPr>
            <a:r>
              <a:t>La méthode d'évaluation du risque applicable en France est donnée dans le guide UTE C 15-443.</a:t>
            </a:r>
          </a:p>
          <a:p>
            <a:pPr>
              <a:defRPr sz="1600"/>
            </a:pPr>
            <a:r>
              <a:t>H  Lorsqu’un bâtiment est équipé d’un paratonnerre, une protection par parafoudre est mise en œuvre conformément à 534.</a:t>
            </a:r>
          </a:p>
          <a:p>
            <a:pPr>
              <a:defRPr sz="1600"/>
            </a:pPr>
            <a:r>
              <a:t>1.</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443.3.1 Situation naturelle</a:t>
            </a:r>
          </a:p>
        </p:txBody>
      </p:sp>
      <p:sp>
        <p:nvSpPr>
          <p:cNvPr id="3" name="Content Placeholder 2"/>
          <p:cNvSpPr>
            <a:spLocks noGrp="1"/>
          </p:cNvSpPr>
          <p:nvPr>
            <p:ph idx="1"/>
          </p:nvPr>
        </p:nvSpPr>
        <p:spPr/>
        <p:txBody>
          <a:bodyPr/>
          <a:lstStyle/>
          <a:p>
            <a:pPr>
              <a:defRPr sz="1600"/>
            </a:pPr>
            <a:r>
              <a:t>Situation d'un système installation) électrique où grâce aux caractéristiques mêmes du système (réseau), on peut s'attendre à ce que les surtensions transitoires présumées soient inférieures à la tension de tenue aux chocs des matériels.</a:t>
            </a:r>
          </a:p>
          <a:p>
            <a:pPr>
              <a:defRPr sz="1600"/>
            </a:pPr>
            <a:r>
              <a:t>(réseau de distribution et  H.</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443.3.1.1 Lorsqu'une installation est alimentée par un réseau à basse tension entièrement</a:t>
            </a:r>
          </a:p>
        </p:txBody>
      </p:sp>
      <p:sp>
        <p:nvSpPr>
          <p:cNvPr id="3" name="Content Placeholder 2"/>
          <p:cNvSpPr>
            <a:spLocks noGrp="1"/>
          </p:cNvSpPr>
          <p:nvPr>
            <p:ph idx="1"/>
          </p:nvPr>
        </p:nvSpPr>
        <p:spPr/>
        <p:txBody>
          <a:bodyPr/>
          <a:lstStyle/>
          <a:p>
            <a:pPr>
              <a:defRPr sz="1600"/>
            </a:pPr>
            <a:r>
              <a:t>souterrain et ne comporte pas de lignes aériennes, la tension de tenue aux chocs des matériels, donnée dans le tableau 44B, est suffisante et aucune protection supplémentaire contre les surtensions d'origine atmosphérique n'est requise.</a:t>
            </a:r>
          </a:p>
          <a:p>
            <a:pPr>
              <a:defRPr sz="1600"/>
            </a:pPr>
            <a:r>
              <a:t>NOTE - Une ligne aérienne constituée de conducteurs isolés avec écran métallique relié à la terre ou comportant un conducteur relié à la terre est considérée comme équivalente à un câble souterrain.</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443.3.1.2 Lorsqu'une installation est alimentée par, ou comprend, une ligne aérienne à basse</a:t>
            </a:r>
          </a:p>
        </p:txBody>
      </p:sp>
      <p:sp>
        <p:nvSpPr>
          <p:cNvPr id="3" name="Content Placeholder 2"/>
          <p:cNvSpPr>
            <a:spLocks noGrp="1"/>
          </p:cNvSpPr>
          <p:nvPr>
            <p:ph idx="1"/>
          </p:nvPr>
        </p:nvSpPr>
        <p:spPr/>
        <p:txBody>
          <a:bodyPr/>
          <a:lstStyle/>
          <a:p>
            <a:pPr>
              <a:defRPr sz="1600"/>
            </a:pPr>
            <a:r>
              <a:t>tension et que la condition d'influences externes est AQ 1 (≤ 25 jours par an), aucune protection complémentaire contre les surtensions d'origine atmosphérique n'est requise.</a:t>
            </a:r>
          </a:p>
          <a:p>
            <a:pPr>
              <a:defRPr sz="1600"/>
            </a:pPr>
            <a:r>
              <a:t>NOTES - 1 – Une protection additionnelle contre les surtensions peut être nécessaire dans des situations où un plus haut niveau de fiabilité ou un plus haut risque (par exemple un incendie) est attendu.</a:t>
            </a:r>
          </a:p>
          <a:p>
            <a:pPr>
              <a:defRPr sz="1600"/>
            </a:pPr>
            <a:r>
              <a:t>2 – Conformément au guide UTE C 15-443, 25 jours d'orage par an sont équivalents à une valeur de 2,5 coups par km² et par an.</a:t>
            </a:r>
          </a:p>
          <a:p>
            <a:pPr>
              <a:defRPr sz="1600"/>
            </a:pPr>
            <a:r>
              <a:t>Ceci est dû à la formule :  N = N /  K  g  10  3 – Dans certains cas, la mise en œuvre de la protection contre les surtensions peut dépendre de la méthode d'évaluation du risque choisie afin de remplacer les conditions d'influences externes (voir le guide UTE C 15-443).</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443.3.2 Situation contrôlée</a:t>
            </a:r>
          </a:p>
        </p:txBody>
      </p:sp>
      <p:sp>
        <p:nvSpPr>
          <p:cNvPr id="3" name="Content Placeholder 2"/>
          <p:cNvSpPr>
            <a:spLocks noGrp="1"/>
          </p:cNvSpPr>
          <p:nvPr>
            <p:ph idx="1"/>
          </p:nvPr>
        </p:nvSpPr>
        <p:spPr/>
        <p:txBody>
          <a:bodyPr/>
          <a:lstStyle/>
          <a:p>
            <a:pPr>
              <a:defRPr sz="1600"/>
            </a:pPr>
            <a:r>
              <a:t>Situation d'un système (réseau de distribution et installation) électrique où grâce aux moyens spécifiques de réduction, on peut s'attendre à ce que les surtensions transitoires présumées soient inférieures à la tension de tenue aux chocs des matériels.</a:t>
            </a:r>
          </a:p>
          <a:p>
            <a:pPr>
              <a:defRPr sz="1600"/>
            </a:pPr>
            <a:r>
              <a:t>H.</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443.3.2.1 Lorsqu'une installation est alimentée par, ou comprend, une ligne aérienne, une mesure</a:t>
            </a:r>
          </a:p>
        </p:txBody>
      </p:sp>
      <p:sp>
        <p:nvSpPr>
          <p:cNvPr id="3" name="Content Placeholder 2"/>
          <p:cNvSpPr>
            <a:spLocks noGrp="1"/>
          </p:cNvSpPr>
          <p:nvPr>
            <p:ph idx="1"/>
          </p:nvPr>
        </p:nvSpPr>
        <p:spPr/>
        <p:txBody>
          <a:bodyPr/>
          <a:lstStyle/>
          <a:p>
            <a:pPr>
              <a:defRPr sz="1600"/>
            </a:pPr>
            <a:r>
              <a:t>de protection contre les surtensions d'origine atmosphérique doit être prévue conformément à 443.</a:t>
            </a:r>
          </a:p>
          <a:p>
            <a:pPr>
              <a:defRPr sz="1600"/>
            </a:pPr>
            <a:r>
              <a:t>3.</a:t>
            </a:r>
          </a:p>
          <a:p>
            <a:pPr>
              <a:defRPr sz="1600"/>
            </a:pPr>
            <a:r>
              <a:t>2.</a:t>
            </a:r>
          </a:p>
          <a:p>
            <a:pPr>
              <a:defRPr sz="1600"/>
            </a:pPr>
            <a:r>
              <a:t>2, si le niveau kéraunique du lieu considéré correspond à la condition d'influences externes AQ2 (&gt; 25 jours par an).</a:t>
            </a:r>
          </a:p>
          <a:p>
            <a:pPr>
              <a:defRPr sz="1600"/>
            </a:pPr>
            <a:r>
              <a:t>Le niveau de protection Up des dispositifs de protection ne doit pas être supérieur à la valeur de la catégorie de surtensions II, donnée dans le   tableau 44B.</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443.3.2.2 Dans les conditions de 443.3.2.1, une mesure de protection contre les surtensions</a:t>
            </a:r>
          </a:p>
        </p:txBody>
      </p:sp>
      <p:sp>
        <p:nvSpPr>
          <p:cNvPr id="3" name="Content Placeholder 2"/>
          <p:cNvSpPr>
            <a:spLocks noGrp="1"/>
          </p:cNvSpPr>
          <p:nvPr>
            <p:ph idx="1"/>
          </p:nvPr>
        </p:nvSpPr>
        <p:spPr/>
        <p:txBody>
          <a:bodyPr/>
          <a:lstStyle/>
          <a:p>
            <a:pPr>
              <a:defRPr sz="1600"/>
            </a:pPr>
            <a:r>
              <a:t>d'origine atmosphérique peut être prévue dans l'installation des bâtiments par un dispositif de protection contre la foudre approprié au niveau de protection requis dans l'installation et placé conformément à 534.</a:t>
            </a:r>
          </a:p>
          <a:p>
            <a:pPr>
              <a:defRPr sz="1600"/>
            </a:pPr>
            <a:r>
              <a:t>- 136 -  2002   H  H  H  D’autres moyens procurant au moins une atténuation équivalente des surtensions peuvent être utilisés.</a:t>
            </a:r>
          </a:p>
          <a:p>
            <a:pPr>
              <a:defRPr sz="1600"/>
            </a:pPr>
            <a:r>
              <a:t>NOTES - 1 – Le niveau des surtensions peut être contrôlé par des dispositifs de protection contre les surtensions placés sur les lignes aériennes ou dans l'installation des bâtiments.</a:t>
            </a:r>
          </a:p>
          <a:p>
            <a:pPr>
              <a:defRPr sz="1600"/>
            </a:pPr>
            <a:r>
              <a:t>2 – La coordination de parafoudres en cascade est à l'étude.</a:t>
            </a:r>
          </a:p>
          <a:p>
            <a:pPr>
              <a:defRPr sz="1600"/>
            </a:pPr>
            <a:r>
              <a:t>En France, cette coordination est traitée dans le guide UTE C 15-443.</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443.4.1 Les matériels sont choisis de manière que leur tension assignée de tenue aux chocs ne soit</a:t>
            </a:r>
          </a:p>
        </p:txBody>
      </p:sp>
      <p:sp>
        <p:nvSpPr>
          <p:cNvPr id="3" name="Content Placeholder 2"/>
          <p:cNvSpPr>
            <a:spLocks noGrp="1"/>
          </p:cNvSpPr>
          <p:nvPr>
            <p:ph idx="1"/>
          </p:nvPr>
        </p:nvSpPr>
        <p:spPr/>
        <p:txBody>
          <a:bodyPr/>
          <a:lstStyle/>
          <a:p>
            <a:pPr>
              <a:defRPr sz="1600"/>
            </a:pPr>
            <a:r>
              <a:t>de la pas inférieure à la tension de tenue aux chocs prescrite dans le tableau 44B.</a:t>
            </a:r>
          </a:p>
          <a:p>
            <a:pPr>
              <a:defRPr sz="1600"/>
            </a:pPr>
            <a:r>
              <a:t>Il est responsabilité des comités de produit de prescrire la tension assignée de tenue aux chocs de leurs matériels dans les normes correspondantes, comme il est spécifié   au tableau 44B.</a:t>
            </a:r>
          </a:p>
          <a:p>
            <a:pPr>
              <a:defRPr sz="1600"/>
            </a:pPr>
            <a:r>
              <a:t>NOTE - La tension assignée de tenue aux chocs est la valeur de tension de tenue aux chocs fixée par le constructeur aux matériels ou à une partie d'entre eux, caractérisant la capacité de tenue spécifiée de leur isolation contre des surtensions transitoires (conformément à 1.</a:t>
            </a:r>
          </a:p>
          <a:p>
            <a:pPr>
              <a:defRPr sz="1600"/>
            </a:pPr>
            <a:r>
              <a:t>3.</a:t>
            </a:r>
          </a:p>
          <a:p>
            <a:pPr>
              <a:defRPr sz="1600"/>
            </a:pPr>
            <a:r>
              <a:t>9.</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443.4.2 Les matériels ayant une tension de tenue aux chocs inférieure à celle spécifiée dans le</a:t>
            </a:r>
          </a:p>
        </p:txBody>
      </p:sp>
      <p:sp>
        <p:nvSpPr>
          <p:cNvPr id="3" name="Content Placeholder 2"/>
          <p:cNvSpPr>
            <a:spLocks noGrp="1"/>
          </p:cNvSpPr>
          <p:nvPr>
            <p:ph idx="1"/>
          </p:nvPr>
        </p:nvSpPr>
        <p:spPr/>
        <p:txBody>
          <a:bodyPr/>
          <a:lstStyle/>
          <a:p>
            <a:pPr>
              <a:defRPr sz="1600"/>
            </a:pPr>
            <a:r>
              <a:t>tableau 44B peuvent être utilisés, si un risque supérieur est accepté.</a:t>
            </a:r>
          </a:p>
          <a:p>
            <a:pPr>
              <a:defRPr sz="1600"/>
            </a:pPr>
            <a:r>
              <a:t>Les dispositifs de protection contre la foudre et leurs dispositifs de protection en série doivent supporter sans danger les surtensions temporaires en 442.</a:t>
            </a:r>
          </a:p>
          <a:p>
            <a:pPr>
              <a:defRPr sz="1600"/>
            </a:pPr>
            <a:r>
              <a:t>Tableau 44B - Tension assignée de tenue aux chocs (kV) prescrite pour les matériels  Tension nominale de l'installation U0/U (V)  230/400 400/690 690/1000  Catégorie de tenue aux chocs des matériels  (IV) 6 8  (III) 4 6  (kV)  (II) 2,5 4  (I) 1,5 2,5  Valeurs proposées par les constructeurs du matériel.</a:t>
            </a:r>
          </a:p>
          <a:p>
            <a:pPr>
              <a:defRPr sz="1600"/>
            </a:pPr>
            <a:r>
              <a:t>A défaut, les valeurs de la ligne ci-dessus peuvent être choisies.</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443.5 Caractéristiques des dispositifs de protection contre les surtensions</a:t>
            </a:r>
          </a:p>
        </p:txBody>
      </p:sp>
      <p:sp>
        <p:nvSpPr>
          <p:cNvPr id="3" name="Content Placeholder 2"/>
          <p:cNvSpPr>
            <a:spLocks noGrp="1"/>
          </p:cNvSpPr>
          <p:nvPr>
            <p:ph idx="1"/>
          </p:nvPr>
        </p:nvSpPr>
        <p:spPr/>
        <p:txBody>
          <a:bodyPr/>
          <a:lstStyle/>
          <a:p>
            <a:pPr>
              <a:defRPr sz="1600"/>
            </a:pPr>
            <a:r>
              <a:t>Les parafoudres dans les installations doivent être conformes à la norme NF C 61-740.</a:t>
            </a:r>
          </a:p>
          <a:p>
            <a:pPr>
              <a:defRPr sz="1600"/>
            </a:pPr>
            <a:r>
              <a:t>444 Mesures de limitation des interférences électromagnétiques  H.</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444.0 Généralités</a:t>
            </a:r>
          </a:p>
        </p:txBody>
      </p:sp>
      <p:sp>
        <p:nvSpPr>
          <p:cNvPr id="3" name="Content Placeholder 2"/>
          <p:cNvSpPr>
            <a:spLocks noGrp="1"/>
          </p:cNvSpPr>
          <p:nvPr>
            <p:ph idx="1"/>
          </p:nvPr>
        </p:nvSpPr>
        <p:spPr/>
        <p:txBody>
          <a:bodyPr/>
          <a:lstStyle/>
          <a:p>
            <a:pPr>
              <a:defRPr sz="1600"/>
            </a:pPr>
            <a:r>
              <a:t>Les courants de électromagnétiques peuvent provoquer des surtensions et des interférences électro-magnétiques.</a:t>
            </a:r>
          </a:p>
          <a:p>
            <a:pPr>
              <a:defRPr sz="1600"/>
            </a:pPr>
            <a:r>
              <a:t>les courts-circuits et autres phénomènes  les manœuvres,  foudre,  Ces phénomènes apparaissent : - s’il existe de grandes boucles métalliques ; - si des canalisations électriques de systèmes différents suivent des cheminements différents, par exemple pour l'alimentation de puissance et pour les signaux de matériels de traitement de l'information à l’intérieur du bâtiment.</a:t>
            </a:r>
          </a:p>
          <a:p>
            <a:pPr>
              <a:defRPr sz="1600"/>
            </a:pPr>
            <a:r>
              <a:t>La valeur de la tension induite dépend du gradient (di/dt) du courant perturbateur et de la dimension de la boucle.</a:t>
            </a:r>
          </a:p>
          <a:p>
            <a:pPr>
              <a:defRPr sz="1600"/>
            </a:pPr>
            <a:r>
              <a:t>- 137 -   H  Les câbles de puissance qui véhiculent des courants importants à croissance rapide (di/dt), (par exemple les courants de démarrage d'ascenseurs ou les courants commandés par redresseurs) peuvent induire des surtensions dans les câbles des matériels de traitement de l'information qui peuvent perturber ou endommager ces matériels ou des matériels analogues.</a:t>
            </a:r>
          </a:p>
          <a:p>
            <a:pPr>
              <a:defRPr sz="1600"/>
            </a:pPr>
            <a:r>
              <a:t>A proximité ou dans des locaux à usage médical, les champs électriques ou magnétiques liés à l'installation électrique peuvent perturber les matériels électriques médicaux.</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444.1 Domaine d'application</a:t>
            </a:r>
          </a:p>
        </p:txBody>
      </p:sp>
      <p:sp>
        <p:nvSpPr>
          <p:cNvPr id="3" name="Content Placeholder 2"/>
          <p:cNvSpPr>
            <a:spLocks noGrp="1"/>
          </p:cNvSpPr>
          <p:nvPr>
            <p:ph idx="1"/>
          </p:nvPr>
        </p:nvSpPr>
        <p:spPr/>
        <p:txBody>
          <a:bodyPr/>
          <a:lstStyle/>
          <a:p>
            <a:pPr>
              <a:defRPr sz="1600"/>
            </a:pPr>
            <a:r>
              <a:t>Le présent article informe les architectes, les concepteurs et les installateurs électriciens au sujet des principes d'installation qui peuvent limiter les perturbations électromagnétiques.</a:t>
            </a:r>
          </a:p>
          <a:p>
            <a:pPr>
              <a:defRPr sz="1600"/>
            </a:pPr>
            <a:r>
              <a:t>Des principes fondamentaux y sont donnés pour atténuer ces perturbations.</a:t>
            </a:r>
          </a:p>
          <a:p>
            <a:pPr>
              <a:defRPr sz="1600"/>
            </a:pPr>
            <a:r>
              <a:t>Des prescriptions complémentaires sont indiquées dans d'autres parties ou articles (par  exemple, en 545), les normes NF C 17-100 et NF C 17-102.</a:t>
            </a:r>
          </a:p>
          <a:p>
            <a:pPr>
              <a:defRPr sz="1600"/>
            </a:pPr>
            <a:r>
              <a:t>Ces principes sont conformes avec ceux des normes citées ci-dessus (figure 444C).</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 Dispositions à prendre contre les influences électriques et magnétiques sur les</a:t>
            </a:r>
          </a:p>
        </p:txBody>
      </p:sp>
      <p:sp>
        <p:nvSpPr>
          <p:cNvPr id="3" name="Content Placeholder 2"/>
          <p:cNvSpPr>
            <a:spLocks noGrp="1"/>
          </p:cNvSpPr>
          <p:nvPr>
            <p:ph idx="1"/>
          </p:nvPr>
        </p:nvSpPr>
        <p:spPr/>
        <p:txBody>
          <a:bodyPr/>
          <a:lstStyle/>
          <a:p>
            <a:pPr>
              <a:defRPr sz="1600"/>
            </a:pPr>
            <a:r>
              <a:t>matériels électriques  Tout matériel électrique doit satisfaire aux prescriptions appropriées de électromagnétique (CEM) et être conforme aux normes CEM le concernant.</a:t>
            </a:r>
          </a:p>
          <a:p>
            <a:pPr>
              <a:defRPr sz="1600"/>
            </a:pPr>
            <a:r>
              <a:t>la compatibilité  Voir aussi 545.</a:t>
            </a:r>
          </a:p>
          <a:p>
            <a:pPr>
              <a:defRPr sz="1600"/>
            </a:pPr>
            <a:r>
              <a:t>Des règles particulières relatives à la cohabitation des réseaux de puissance et de communication sont données dans le guide UTE C 15-900.</a:t>
            </a:r>
          </a:p>
          <a:p>
            <a:pPr>
              <a:defRPr sz="1600"/>
            </a:pPr>
            <a:r>
              <a:t>Les points suivants doivent être pris en considération pour la conception et la mise en œuvre des installations électriques.</a:t>
            </a:r>
          </a:p>
          <a:p>
            <a:pPr>
              <a:defRPr sz="1600"/>
            </a:pPr>
            <a:r>
              <a:t>H.</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444.3.2 Emplacement des matériels sensibles par rapport à de fortes intensités présentes, par</a:t>
            </a:r>
          </a:p>
        </p:txBody>
      </p:sp>
      <p:sp>
        <p:nvSpPr>
          <p:cNvPr id="3" name="Content Placeholder 2"/>
          <p:cNvSpPr>
            <a:spLocks noGrp="1"/>
          </p:cNvSpPr>
          <p:nvPr>
            <p:ph idx="1"/>
          </p:nvPr>
        </p:nvSpPr>
        <p:spPr/>
        <p:txBody>
          <a:bodyPr/>
          <a:lstStyle/>
          <a:p>
            <a:pPr>
              <a:defRPr sz="1600"/>
            </a:pPr>
            <a:r>
              <a:t>exemple dans les barres de distribution ou des matériels tels que les ascenseurs.</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444.3.3 Mise en œuvre de filtres et/ou de parafoudres dans les circuits alimentant les matériels</a:t>
            </a:r>
          </a:p>
        </p:txBody>
      </p:sp>
      <p:sp>
        <p:nvSpPr>
          <p:cNvPr id="3" name="Content Placeholder 2"/>
          <p:cNvSpPr>
            <a:spLocks noGrp="1"/>
          </p:cNvSpPr>
          <p:nvPr>
            <p:ph idx="1"/>
          </p:nvPr>
        </p:nvSpPr>
        <p:spPr/>
        <p:txBody>
          <a:bodyPr/>
          <a:lstStyle/>
          <a:p>
            <a:pPr>
              <a:defRPr sz="1600"/>
            </a:pPr>
            <a:r>
              <a:t>électriques sensibles.</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444.3.4 Choix de dispositifs de protection avec des retards appropriés pour éviter des</a:t>
            </a:r>
          </a:p>
        </p:txBody>
      </p:sp>
      <p:sp>
        <p:nvSpPr>
          <p:cNvPr id="3" name="Content Placeholder 2"/>
          <p:cNvSpPr>
            <a:spLocks noGrp="1"/>
          </p:cNvSpPr>
          <p:nvPr>
            <p:ph idx="1"/>
          </p:nvPr>
        </p:nvSpPr>
        <p:spPr/>
        <p:txBody>
          <a:bodyPr/>
          <a:lstStyle/>
          <a:p>
            <a:pPr>
              <a:defRPr sz="1600"/>
            </a:pPr>
            <a:r>
              <a:t>déclenchements indésirables dus à des transitoires.</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444.3.6 Séparation appropriée (éloignement ou blindage) des câbles de puissance et de</a:t>
            </a:r>
          </a:p>
        </p:txBody>
      </p:sp>
      <p:sp>
        <p:nvSpPr>
          <p:cNvPr id="3" name="Content Placeholder 2"/>
          <p:cNvSpPr>
            <a:spLocks noGrp="1"/>
          </p:cNvSpPr>
          <p:nvPr>
            <p:ph idx="1"/>
          </p:nvPr>
        </p:nvSpPr>
        <p:spPr/>
        <p:txBody>
          <a:bodyPr/>
          <a:lstStyle/>
          <a:p>
            <a:pPr>
              <a:defRPr sz="1600"/>
            </a:pPr>
            <a:r>
              <a:t>communication y compris aux changements de direction et aux traversées de parois, croisements à angle droit.</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444.3.6.1 Dans les parties entre les répartiteurs, les câbles de puissance et de communication</a:t>
            </a:r>
          </a:p>
        </p:txBody>
      </p:sp>
      <p:sp>
        <p:nvSpPr>
          <p:cNvPr id="3" name="Content Placeholder 2"/>
          <p:cNvSpPr>
            <a:spLocks noGrp="1"/>
          </p:cNvSpPr>
          <p:nvPr>
            <p:ph idx="1"/>
          </p:nvPr>
        </p:nvSpPr>
        <p:spPr/>
        <p:txBody>
          <a:bodyPr/>
          <a:lstStyle/>
          <a:p>
            <a:pPr>
              <a:defRPr sz="1600"/>
            </a:pPr>
            <a:r>
              <a:t>doivent cheminer sur des supports métalliques ou isolants distincts.</a:t>
            </a:r>
          </a:p>
          <a:p>
            <a:pPr>
              <a:defRPr sz="1600"/>
            </a:pPr>
            <a:r>
              <a:t>La distance minimale entre les parois les plus proches des supports est de 30 cm.</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444.3.6.2 Dans les parties terminales entre les répartiteurs et les points d'utilisation, les câbles des</a:t>
            </a:r>
          </a:p>
        </p:txBody>
      </p:sp>
      <p:sp>
        <p:nvSpPr>
          <p:cNvPr id="3" name="Content Placeholder 2"/>
          <p:cNvSpPr>
            <a:spLocks noGrp="1"/>
          </p:cNvSpPr>
          <p:nvPr>
            <p:ph idx="1"/>
          </p:nvPr>
        </p:nvSpPr>
        <p:spPr/>
        <p:txBody>
          <a:bodyPr/>
          <a:lstStyle/>
          <a:p>
            <a:pPr>
              <a:defRPr sz="1600"/>
            </a:pPr>
            <a:r>
              <a:t>réseaux de puissance et de communication peuvent cheminer sur ou dans des supports communs.</a:t>
            </a:r>
          </a:p>
          <a:p>
            <a:pPr>
              <a:defRPr sz="1600"/>
            </a:pPr>
            <a:r>
              <a:t>Les distances de séparation sont fonction du mode de pose concerné :  câbles apparents, en faux plancher ou en faux plafonds : séparation minimale de 5 cm ;  - - mode de pose en goulottes et conduits profilés, installer les réseaux dans les différents compartiments dans l'ordre décroissant de sensibilité par rapport au plan de masse (le réseau le plus sensible étant le plus proche du plan de masse) ; conduits encastrés ou apparents fournisseur.</a:t>
            </a:r>
          </a:p>
          <a:p>
            <a:pPr>
              <a:defRPr sz="1600"/>
            </a:pPr>
            <a:r>
              <a:t>: conduits séparés sauf spécifications contraires du  -  - 138 -   H.</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444.3.7 Séparation appropriée (éloignement ou blindage) des câbles de puissance et de</a:t>
            </a:r>
          </a:p>
        </p:txBody>
      </p:sp>
      <p:sp>
        <p:nvSpPr>
          <p:cNvPr id="3" name="Content Placeholder 2"/>
          <p:cNvSpPr>
            <a:spLocks noGrp="1"/>
          </p:cNvSpPr>
          <p:nvPr>
            <p:ph idx="1"/>
          </p:nvPr>
        </p:nvSpPr>
        <p:spPr/>
        <p:txBody>
          <a:bodyPr/>
          <a:lstStyle/>
          <a:p>
            <a:pPr>
              <a:defRPr sz="1600"/>
            </a:pPr>
            <a:r>
              <a:t>communication, par rapport aux conducteurs de descente des systèmes de protection contre la foudre (voir NF C 17-100 et figure 444C).</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444.3.8 Réduction des boucles d'induction par le choix d'un cheminement commun pour les</a:t>
            </a:r>
          </a:p>
        </p:txBody>
      </p:sp>
      <p:sp>
        <p:nvSpPr>
          <p:cNvPr id="3" name="Content Placeholder 2"/>
          <p:cNvSpPr>
            <a:spLocks noGrp="1"/>
          </p:cNvSpPr>
          <p:nvPr>
            <p:ph idx="1"/>
          </p:nvPr>
        </p:nvSpPr>
        <p:spPr/>
        <p:txBody>
          <a:bodyPr/>
          <a:lstStyle/>
          <a:p>
            <a:pPr>
              <a:defRPr sz="1600"/>
            </a:pPr>
            <a:r>
              <a:t>canalisations des divers systèmes (voir aussi 444.</a:t>
            </a:r>
          </a:p>
          <a:p>
            <a:pPr>
              <a:defRPr sz="1600"/>
            </a:pPr>
            <a:r>
              <a:t>4.</a:t>
            </a:r>
          </a:p>
          <a:p>
            <a:pPr>
              <a:defRPr sz="1600"/>
            </a:pPr>
            <a:r>
              <a:t>4).</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444.3.11 Mise en œuvre sous enveloppes métalliques mises à la terre ou équivalent des</a:t>
            </a:r>
          </a:p>
        </p:txBody>
      </p:sp>
      <p:sp>
        <p:nvSpPr>
          <p:cNvPr id="3" name="Content Placeholder 2"/>
          <p:cNvSpPr>
            <a:spLocks noGrp="1"/>
          </p:cNvSpPr>
          <p:nvPr>
            <p:ph idx="1"/>
          </p:nvPr>
        </p:nvSpPr>
        <p:spPr/>
        <p:txBody>
          <a:bodyPr/>
          <a:lstStyle/>
          <a:p>
            <a:pPr>
              <a:defRPr sz="1600"/>
            </a:pPr>
            <a:r>
              <a:t>canalisations constituées par des conducteurs séparés.</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444.3.12 Eviter le schéma TN-C dans les installations comportant des matériels sensibles</a:t>
            </a:r>
          </a:p>
        </p:txBody>
      </p:sp>
      <p:sp>
        <p:nvSpPr>
          <p:cNvPr id="3" name="Content Placeholder 2"/>
          <p:cNvSpPr>
            <a:spLocks noGrp="1"/>
          </p:cNvSpPr>
          <p:nvPr>
            <p:ph idx="1"/>
          </p:nvPr>
        </p:nvSpPr>
        <p:spPr/>
        <p:txBody>
          <a:bodyPr/>
          <a:lstStyle/>
          <a:p>
            <a:pPr>
              <a:defRPr sz="1600"/>
            </a:pPr>
            <a:r>
              <a:t>(voir 545.</a:t>
            </a:r>
          </a:p>
          <a:p>
            <a:pPr>
              <a:defRPr sz="1600"/>
            </a:pPr>
            <a:r>
              <a:t>4).</a:t>
            </a:r>
          </a:p>
          <a:p>
            <a:pPr>
              <a:defRPr sz="1600"/>
            </a:pPr>
            <a:r>
              <a:t>Pour les bâtiments qui comportent   manière significative, des matériels de traitement de l'information, le schéma TN-C n’est admis qu’entre le point de pénétration et le tableau général de distribution (TGBT).</a:t>
            </a:r>
          </a:p>
          <a:p>
            <a:pPr>
              <a:defRPr sz="1600"/>
            </a:pPr>
            <a:r>
              <a:t>En aval, le schéma est TN-S.</a:t>
            </a:r>
          </a:p>
          <a:p>
            <a:pPr>
              <a:defRPr sz="1600"/>
            </a:pPr>
            <a:r>
              <a:t>ou sont susceptibles de comporter de  Conducteur de liaison équipotentielle, si nécessaire  N  L  PE  Equipement 1  U  1)  Circuit de communication  2)  Equipement 2  1) La chute de tension ∆ U est évitée le long du PE 2) Boucle de surface restreinte  Figure 444A −−−− Mise en œuvre d’un schéma TN-S dans un bâtiment  - 139 -   Le schéma TT peut conduire à des surtensions plus élevées qu'en schéma TN entre les parties actives des matériels et leurs masses.</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444.3.13 Il convient que les canalisations métalliques (par exemple pour l'eau, le gaz ou le</a:t>
            </a:r>
          </a:p>
        </p:txBody>
      </p:sp>
      <p:sp>
        <p:nvSpPr>
          <p:cNvPr id="3" name="Content Placeholder 2"/>
          <p:cNvSpPr>
            <a:spLocks noGrp="1"/>
          </p:cNvSpPr>
          <p:nvPr>
            <p:ph idx="1"/>
          </p:nvPr>
        </p:nvSpPr>
        <p:spPr/>
        <p:txBody>
          <a:bodyPr/>
          <a:lstStyle/>
          <a:p>
            <a:pPr>
              <a:defRPr sz="1600"/>
            </a:pPr>
            <a:r>
              <a:t>chauffage) et les câbles d'alimentation du bâtiment pénètrent dans le bâtiment au même endroit.</a:t>
            </a:r>
          </a:p>
          <a:p>
            <a:pPr>
              <a:defRPr sz="1600"/>
            </a:pPr>
            <a:r>
              <a:t>Les blindages, les écrans, les tuyauteries métalliques et leurs connexions doivent être reliés entre eux et à la liaison équipotentielle principale (LEP) du bâtiment (fig conducteurs de basse impédance.</a:t>
            </a:r>
          </a:p>
          <a:p>
            <a:pPr>
              <a:defRPr sz="1600"/>
            </a:pPr>
            <a:r>
              <a:t>ure 444B), à l'aide de.</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444.3.14 Dans le cas de zones ou de bâtiments distincts réalisés avec des liaisons équipotentielles</a:t>
            </a:r>
          </a:p>
        </p:txBody>
      </p:sp>
      <p:sp>
        <p:nvSpPr>
          <p:cNvPr id="3" name="Content Placeholder 2"/>
          <p:cNvSpPr>
            <a:spLocks noGrp="1"/>
          </p:cNvSpPr>
          <p:nvPr>
            <p:ph idx="1"/>
          </p:nvPr>
        </p:nvSpPr>
        <p:spPr/>
        <p:txBody>
          <a:bodyPr/>
          <a:lstStyle/>
          <a:p>
            <a:pPr>
              <a:defRPr sz="1600"/>
            </a:pPr>
            <a:r>
              <a:t>principales séparées, il est recommandé d'utiliser pour les liaisons de communication des câbles en fibre optique sans partie métallique ou tout autre système non conducteur.</a:t>
            </a:r>
          </a:p>
          <a:p>
            <a:pPr>
              <a:defRPr sz="1600"/>
            </a:pPr>
            <a:r>
              <a:t>NOTE − Le problème des terres portées à des tensions différentes dans de grands réseaux publics de télécommunication est de la responsabilité du distributeur qui peut utiliser d'autres méthodes.</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444.4 Mesures de protection des circuits de communication</a:t>
            </a:r>
          </a:p>
        </p:txBody>
      </p:sp>
      <p:sp>
        <p:nvSpPr>
          <p:cNvPr id="3" name="Content Placeholder 2"/>
          <p:cNvSpPr>
            <a:spLocks noGrp="1"/>
          </p:cNvSpPr>
          <p:nvPr>
            <p:ph idx="1"/>
          </p:nvPr>
        </p:nvSpPr>
        <p:spPr/>
        <p:txBody>
          <a:bodyPr/>
          <a:lstStyle/>
          <a:p>
            <a:pPr>
              <a:defRPr sz="1600"/>
            </a:pPr>
            <a:r>
              <a:t>les bâtiments comportant un conducteur PEN ou  lorsque des perturbations Dans électromagnétiques apparaissent sur des câbles de communication en raison de dispositions inappropriées de l'installation électrique (voir 545.</a:t>
            </a:r>
          </a:p>
          <a:p>
            <a:pPr>
              <a:defRPr sz="1600"/>
            </a:pPr>
            <a:r>
              <a:t>5), les méthodes suivantes peuvent être  prises en considération pour éviter ou minimiser le phénomène.</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444.4.3 Utilisation locale de transformateurs à deux enroulements pour l'alimentation des matériels</a:t>
            </a:r>
          </a:p>
        </p:txBody>
      </p:sp>
      <p:sp>
        <p:nvSpPr>
          <p:cNvPr id="3" name="Content Placeholder 2"/>
          <p:cNvSpPr>
            <a:spLocks noGrp="1"/>
          </p:cNvSpPr>
          <p:nvPr>
            <p:ph idx="1"/>
          </p:nvPr>
        </p:nvSpPr>
        <p:spPr/>
        <p:txBody>
          <a:bodyPr/>
          <a:lstStyle/>
          <a:p>
            <a:pPr>
              <a:defRPr sz="1600"/>
            </a:pPr>
            <a:r>
              <a:t>de traitement de l'information, en prenant en compte les prescriptions de 411.</a:t>
            </a:r>
          </a:p>
          <a:p>
            <a:pPr>
              <a:defRPr sz="1600"/>
            </a:pPr>
            <a:r>
              <a:t>6 en schéma IT (schéma IT local), ou de l'article 413 pour la protection par   séparation électrique.</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444.4.4 Utilisation de cheminements appropriés des canalisations afin de minimiser les aires</a:t>
            </a:r>
          </a:p>
        </p:txBody>
      </p:sp>
      <p:sp>
        <p:nvSpPr>
          <p:cNvPr id="3" name="Content Placeholder 2"/>
          <p:cNvSpPr>
            <a:spLocks noGrp="1"/>
          </p:cNvSpPr>
          <p:nvPr>
            <p:ph idx="1"/>
          </p:nvPr>
        </p:nvSpPr>
        <p:spPr/>
        <p:txBody>
          <a:bodyPr/>
          <a:lstStyle/>
          <a:p>
            <a:pPr>
              <a:defRPr sz="1600"/>
            </a:pPr>
            <a:r>
              <a:t>formées par les boucles constituées conjointement par les câbles d'alimentation de puissance et les câbles de communication.</a:t>
            </a:r>
          </a:p>
          <a:p>
            <a:pPr>
              <a:defRPr sz="1600"/>
            </a:pPr>
            <a:r>
              <a:t>- 140 -  2002   H  Téléphone  Alimentation de puissance  LEP  LEP  • • • •  • •  V  I  Câble issu de l'antenne  I  I  Prise de terre par boucle de fond de fouille  Téléphone  Alimentation de puissance  I  I  I  Câble issu de l'antenne  •  • •  •  V  •  Eau, gaz, chauffage collectif, eaux usées  IEC 320/96  Eau, gaz, chauffage collectif, eaux usées  I  IEC 321/96  Figure 444B1 Une pénétration commune est préférée : U ≅ 0 V  Figure 444B2 Des pénétrations en divers endroits devant être évitées : U ≠ 0 V  LEP liaison équipotentielle principale  I  courant induit  Figure 444B −−−− Pénétration de câbles armés et de canalisations métalliques dans un bâtiment (exemples)              - 141 -    H  Classe II  Classe I  8  Tableau BT  FE  4  Dalle  PE  Classe I  Classe II  Classe I  Tableau BT  6  FE  Dalle  Conducteurs de télécommunication pour télécom ou système de traitement de l'information  Parafoudres  1-5  Alimentation de puissance  3  2  3  Tableau BT  3  7  Tableau BT  7  PE  FE  Schéma TN-S  Borne principale de terre  Schéma TN-C  PEN  Neutre  PE  Vers la prise de terre, par exemple: la boucle à fond de fouille  FE : Conducteur de mise à la terre fonctionnel (optionnel), utilisé et mis à la terre selon les instructions de l'opérateur  Référence  Description des mesures représentées  Article  1) 2)  3)  4) 5) 6) 7) 8)  Câbles et conduits métalliques pénètrent dans le bâtiment au même endroit Cheminement commun des canalisations avec séparations adaptées et en évitant les boucles Liaisons aussi courtes que possible et utilisation de conducteurs d'accompagnement (voir le guide UTE C 15-900) Câbles de communication blindés et/ou paires torsadées Eviter le schéma TN-C au-delà du point de livraison à l’entrée Utilisation de transformateurs à enroulements séparés Ceinturage d’équipotentialité Utilisation de matériels de classe II  444.</a:t>
            </a:r>
          </a:p>
          <a:p>
            <a:pPr>
              <a:defRPr sz="1600"/>
            </a:pPr>
            <a:r>
              <a:t>3.</a:t>
            </a:r>
          </a:p>
          <a:p>
            <a:pPr>
              <a:defRPr sz="1600"/>
            </a:pPr>
            <a:r>
              <a:t>14 444.</a:t>
            </a:r>
          </a:p>
          <a:p>
            <a:pPr>
              <a:defRPr sz="1600"/>
            </a:pPr>
            <a:r>
              <a:t>3.</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445.1 Prescriptions générales</a:t>
            </a:r>
          </a:p>
        </p:txBody>
      </p:sp>
      <p:sp>
        <p:nvSpPr>
          <p:cNvPr id="3" name="Content Placeholder 2"/>
          <p:cNvSpPr>
            <a:spLocks noGrp="1"/>
          </p:cNvSpPr>
          <p:nvPr>
            <p:ph idx="1"/>
          </p:nvPr>
        </p:nvSpPr>
        <p:spPr/>
        <p:txBody>
          <a:bodyPr/>
          <a:lstStyle/>
          <a:p>
            <a:pPr>
              <a:defRPr sz="1600"/>
            </a:pPr>
            <a:r>
              <a:t>tension et son.</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445.1.1 Des précautions doivent être prises</a:t>
            </a:r>
          </a:p>
        </p:txBody>
      </p:sp>
      <p:sp>
        <p:nvSpPr>
          <p:cNvPr id="3" name="Content Placeholder 2"/>
          <p:cNvSpPr>
            <a:spLocks noGrp="1"/>
          </p:cNvSpPr>
          <p:nvPr>
            <p:ph idx="1"/>
          </p:nvPr>
        </p:nvSpPr>
        <p:spPr/>
        <p:txBody>
          <a:bodyPr/>
          <a:lstStyle/>
          <a:p>
            <a:pPr>
              <a:defRPr sz="1600"/>
            </a:pPr>
            <a:r>
              <a:t>rétablissement peuvent entraîner des dangers pour les personnes et pour les biens.</a:t>
            </a:r>
          </a:p>
          <a:p>
            <a:pPr>
              <a:defRPr sz="1600"/>
            </a:pPr>
            <a:r>
              <a:t>De même des précautions appropriées doivent être prises lorsqu'une partie de l'installation ou un matériel d'utilisation peut être endommagé par une baisse de tension.</a:t>
            </a:r>
          </a:p>
          <a:p>
            <a:pPr>
              <a:defRPr sz="1600"/>
            </a:pPr>
            <a:r>
              <a:t>la disparition de  lorsque  la  Il n'est pas exigé de dispositif de protection contre les effets des baisses de tension si les dommages subis par l'installation ou par le matériel constituent un risque acceptable sans cause de danger pour les personnes.</a:t>
            </a:r>
          </a:p>
          <a:p>
            <a:pPr>
              <a:defRPr sz="1600"/>
            </a:pPr>
            <a:r>
              <a:t>Cette règle s'applique notamment aux appareils comportant des moteurs susceptibles de démarrer automatiquement après un arrêt dû à une baisse de tension au-dessous d'une certaine valeur.</a:t>
            </a:r>
          </a:p>
          <a:p>
            <a:pPr>
              <a:defRPr sz="1600"/>
            </a:pPr>
            <a:r>
              <a:t>Les machines soumises au décret du 29 juillet 1992 doivent répondre à cette prescription.</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445.1.2 Les dispositifs de protection contre les effets des baisses de tension peuvent être retardés</a:t>
            </a:r>
          </a:p>
        </p:txBody>
      </p:sp>
      <p:sp>
        <p:nvSpPr>
          <p:cNvPr id="3" name="Content Placeholder 2"/>
          <p:cNvSpPr>
            <a:spLocks noGrp="1"/>
          </p:cNvSpPr>
          <p:nvPr>
            <p:ph idx="1"/>
          </p:nvPr>
        </p:nvSpPr>
        <p:spPr/>
        <p:txBody>
          <a:bodyPr/>
          <a:lstStyle/>
          <a:p>
            <a:pPr>
              <a:defRPr sz="1600"/>
            </a:pPr>
            <a:r>
              <a:t>si le fonctionnement de l'appareil qu'ils protègent admet sans danger une interruption ou une baisse de tension de courte durée.</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445.1.3 S'il est fait usage de contacteurs, le retard à l'ouverture et à la refermeture ne doit pas</a:t>
            </a:r>
          </a:p>
        </p:txBody>
      </p:sp>
      <p:sp>
        <p:nvSpPr>
          <p:cNvPr id="3" name="Content Placeholder 2"/>
          <p:cNvSpPr>
            <a:spLocks noGrp="1"/>
          </p:cNvSpPr>
          <p:nvPr>
            <p:ph idx="1"/>
          </p:nvPr>
        </p:nvSpPr>
        <p:spPr/>
        <p:txBody>
          <a:bodyPr/>
          <a:lstStyle/>
          <a:p>
            <a:pPr>
              <a:defRPr sz="1600"/>
            </a:pPr>
            <a:r>
              <a:t>empêcher la coupure instantanée par des dispositifs de commande ou de protection.</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445.1.4 Les caractéristiques des dispositifs de protection contre les effets des baisses de tension</a:t>
            </a:r>
          </a:p>
        </p:txBody>
      </p:sp>
      <p:sp>
        <p:nvSpPr>
          <p:cNvPr id="3" name="Content Placeholder 2"/>
          <p:cNvSpPr>
            <a:spLocks noGrp="1"/>
          </p:cNvSpPr>
          <p:nvPr>
            <p:ph idx="1"/>
          </p:nvPr>
        </p:nvSpPr>
        <p:spPr/>
        <p:txBody>
          <a:bodyPr/>
          <a:lstStyle/>
          <a:p>
            <a:pPr>
              <a:defRPr sz="1600"/>
            </a:pPr>
            <a:r>
              <a:t>doivent être compatibles avec les prescriptions des normes relatives à la mise en service et à l'utilisation du matériel.</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445.1.5 Lorsque la refermeture d'un dispositif de protection est susceptible de créer une situation</a:t>
            </a:r>
          </a:p>
        </p:txBody>
      </p:sp>
      <p:sp>
        <p:nvSpPr>
          <p:cNvPr id="3" name="Content Placeholder 2"/>
          <p:cNvSpPr>
            <a:spLocks noGrp="1"/>
          </p:cNvSpPr>
          <p:nvPr>
            <p:ph idx="1"/>
          </p:nvPr>
        </p:nvSpPr>
        <p:spPr/>
        <p:txBody>
          <a:bodyPr/>
          <a:lstStyle/>
          <a:p>
            <a:pPr>
              <a:defRPr sz="1600"/>
            </a:pPr>
            <a:r>
              <a:t>dangereuse, la refermeture ne doit pas être automatique.</a:t>
            </a:r>
          </a:p>
          <a:p>
            <a:pPr>
              <a:defRPr sz="1600"/>
            </a:pPr>
            <a:r>
              <a:t>____________  - 144 -   Partie 4-46 – Sectionnement et commande  460 Introduction.</a:t>
            </a:r>
          </a:p>
          <a:p>
            <a:pPr>
              <a:defRPr sz="1600"/>
            </a:pPr>
            <a:r>
              <a:t>146 461 Généralités.</a:t>
            </a:r>
          </a:p>
          <a:p>
            <a:pPr>
              <a:defRPr sz="1600"/>
            </a:pPr>
            <a:r>
              <a:t>146 462 Sectionnement.</a:t>
            </a:r>
          </a:p>
          <a:p>
            <a:pPr>
              <a:defRPr sz="1600"/>
            </a:pPr>
            <a:r>
              <a:t>146 463 Coupure d'urgence.</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461.1 Selon les fonctions désirées, tout dispositif prévu pour le sectionnement ou la</a:t>
            </a:r>
          </a:p>
        </p:txBody>
      </p:sp>
      <p:sp>
        <p:nvSpPr>
          <p:cNvPr id="3" name="Content Placeholder 2"/>
          <p:cNvSpPr>
            <a:spLocks noGrp="1"/>
          </p:cNvSpPr>
          <p:nvPr>
            <p:ph idx="1"/>
          </p:nvPr>
        </p:nvSpPr>
        <p:spPr/>
        <p:txBody>
          <a:bodyPr/>
          <a:lstStyle/>
          <a:p>
            <a:pPr>
              <a:defRPr sz="1600"/>
            </a:pPr>
            <a:r>
              <a:t>commande doit satisfaire aux prescriptions correspondantes de l'article 536.</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461.2 Il doit être placé à l'origine de toute installation un dispositif de commande et un</a:t>
            </a:r>
          </a:p>
        </p:txBody>
      </p:sp>
      <p:sp>
        <p:nvSpPr>
          <p:cNvPr id="3" name="Content Placeholder 2"/>
          <p:cNvSpPr>
            <a:spLocks noGrp="1"/>
          </p:cNvSpPr>
          <p:nvPr>
            <p:ph idx="1"/>
          </p:nvPr>
        </p:nvSpPr>
        <p:spPr/>
        <p:txBody>
          <a:bodyPr/>
          <a:lstStyle/>
          <a:p>
            <a:pPr>
              <a:defRPr sz="1600"/>
            </a:pPr>
            <a:r>
              <a:t>dispositif de sectionnement coupant tous les conducteurs actifs de l'ensemble de l'installation.</a:t>
            </a:r>
          </a:p>
          <a:p>
            <a:pPr>
              <a:defRPr sz="1600"/>
            </a:pPr>
            <a:r>
              <a:t>Le dispositif de commande et le dispositif de sectionnement sont généralement combinés en un seul dispositif (voir 536.</a:t>
            </a:r>
          </a:p>
          <a:p>
            <a:pPr>
              <a:defRPr sz="1600"/>
            </a:pPr>
            <a:r>
              <a:t>1).</a:t>
            </a:r>
          </a:p>
          <a:p>
            <a:pPr>
              <a:defRPr sz="1600"/>
            </a:pPr>
            <a:r>
              <a:t>Dans les installations alimentées directement par un réseau de distribution publique à basse tension, ce dispositif peut être l'appareil général de commande et de protection.</a:t>
            </a:r>
          </a:p>
          <a:p>
            <a:pPr>
              <a:defRPr sz="1600"/>
            </a:pPr>
            <a:r>
              <a:t>H.</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461.3 Dans le schéma TN-C, le conducteur PEN ne doit être ni sectionné ni coupé. Dans le</a:t>
            </a:r>
          </a:p>
        </p:txBody>
      </p:sp>
      <p:sp>
        <p:nvSpPr>
          <p:cNvPr id="3" name="Content Placeholder 2"/>
          <p:cNvSpPr>
            <a:spLocks noGrp="1"/>
          </p:cNvSpPr>
          <p:nvPr>
            <p:ph idx="1"/>
          </p:nvPr>
        </p:nvSpPr>
        <p:spPr/>
        <p:txBody>
          <a:bodyPr/>
          <a:lstStyle/>
          <a:p>
            <a:pPr>
              <a:defRPr sz="1600"/>
            </a:pPr>
            <a:r>
              <a:t>schéma TN-S, le conducteur neutre doit pouvoir être sectionné et coupé.</a:t>
            </a:r>
          </a:p>
          <a:p>
            <a:pPr>
              <a:defRPr sz="1600"/>
            </a:pPr>
            <a:r>
              <a:t>NOTE - Il est rappelé que dans tous les schémas, le conducteur de protection ne doit être ni sectionné ni coupé (voir aussi 543.</a:t>
            </a:r>
          </a:p>
          <a:p>
            <a:pPr>
              <a:defRPr sz="1600"/>
            </a:pPr>
            <a:r>
              <a:t>4).</a:t>
            </a:r>
          </a:p>
          <a:p>
            <a:pPr>
              <a:defRPr sz="1600"/>
            </a:pPr>
            <a:r>
              <a:t>462 Sectionnement.</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462.1 Tout circuit doit pouvoir être sectionné sur chacun des conducteurs actifs, à l'exception</a:t>
            </a:r>
          </a:p>
        </p:txBody>
      </p:sp>
      <p:sp>
        <p:nvSpPr>
          <p:cNvPr id="3" name="Content Placeholder 2"/>
          <p:cNvSpPr>
            <a:spLocks noGrp="1"/>
          </p:cNvSpPr>
          <p:nvPr>
            <p:ph idx="1"/>
          </p:nvPr>
        </p:nvSpPr>
        <p:spPr/>
        <p:txBody>
          <a:bodyPr/>
          <a:lstStyle/>
          <a:p>
            <a:pPr>
              <a:defRPr sz="1600"/>
            </a:pPr>
            <a:r>
              <a:t>du conducteur PEN, comme prescrit en 461.</a:t>
            </a:r>
          </a:p>
          <a:p>
            <a:pPr>
              <a:defRPr sz="1600"/>
            </a:pPr>
            <a:r>
              <a:t>3  Des dispositions complémentaires peuvent être prises pour le sectionnement d'un ensemble de circuits par un même dispositif, si les conditions de service le permettent.</a:t>
            </a:r>
          </a:p>
          <a:p>
            <a:pPr>
              <a:defRPr sz="1600"/>
            </a:pPr>
            <a:r>
              <a:t>Il est précisé que l'expression “si les conditions de service le permettent” signifie que la coupure correspondante est nécessaire en exploitation pour permettre d'effectuer hors tension des travaux d'entretien ou de réparation.</a:t>
            </a:r>
          </a:p>
          <a:p>
            <a:pPr>
              <a:defRPr sz="1600"/>
            </a:pPr>
            <a:r>
              <a:t>Afin de se prémunir contre toute réalimentation éventuelle en retour, il peut être nécessaire de prévoir un sectionnement en amont et en aval de la partie à mettre hors tension.</a:t>
            </a:r>
          </a:p>
          <a:p>
            <a:pPr>
              <a:defRPr sz="1600"/>
            </a:pPr>
            <a:r>
              <a:t>Dans le cas d'alimentation en schéma TN-C d'une armoire électrique comportant des départs en schéma TN-S, un dispositif de sectionnement et de commande tripolaire mis en œuvre sur la canalisation d'arrivée est satisfaisant pour assurer la fonction de sectionnement, de commande et de coupure d'urgence et ce, quels que soient le nombre et la répartition des départs TN-S et TN-C dans l'armoire.</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462.2 Des moyens appropriés doivent être prévus pour empêcher toute mise sous tension</a:t>
            </a:r>
          </a:p>
        </p:txBody>
      </p:sp>
      <p:sp>
        <p:nvSpPr>
          <p:cNvPr id="3" name="Content Placeholder 2"/>
          <p:cNvSpPr>
            <a:spLocks noGrp="1"/>
          </p:cNvSpPr>
          <p:nvPr>
            <p:ph idx="1"/>
          </p:nvPr>
        </p:nvSpPr>
        <p:spPr/>
        <p:txBody>
          <a:bodyPr/>
          <a:lstStyle/>
          <a:p>
            <a:pPr>
              <a:defRPr sz="1600"/>
            </a:pPr>
            <a:r>
              <a:t>intempestive du matériel.</a:t>
            </a:r>
          </a:p>
          <a:p>
            <a:pPr>
              <a:defRPr sz="1600"/>
            </a:pPr>
            <a:r>
              <a:t>NOTE - Ces dispositions peuvent comprendre une ou plusieurs des mesures suivantes :  - condamnation, - pancartes d'avertissement, - disposition dans un local ou sous enveloppe, fermant à clé.</a:t>
            </a:r>
          </a:p>
          <a:p>
            <a:pPr>
              <a:defRPr sz="1600"/>
            </a:pPr>
            <a:r>
              <a:t>La mise en court-circuit et à la terre peut être utilisée comme mesure complémentaire.</a:t>
            </a:r>
          </a:p>
          <a:p>
            <a:pPr>
              <a:defRPr sz="1600"/>
            </a:pPr>
            <a:r>
              <a:t>H  H  Ces dispositions permettent de réaliser la consignation prévue par la Publication UTE C 18- 510.</a:t>
            </a:r>
          </a:p>
          <a:p>
            <a:pPr>
              <a:defRPr sz="1600"/>
            </a:pPr>
            <a:r>
              <a:t>Il est également possible de satisfaire à cette règle par verrouillage ou téléverrouillage à condition que les dispositifs présentent le même degré de sécurité.</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462.3 Lorsqu'un matériel ou une enveloppe contient des parties actives reliées à plusieurs</a:t>
            </a:r>
          </a:p>
        </p:txBody>
      </p:sp>
      <p:sp>
        <p:nvSpPr>
          <p:cNvPr id="3" name="Content Placeholder 2"/>
          <p:cNvSpPr>
            <a:spLocks noGrp="1"/>
          </p:cNvSpPr>
          <p:nvPr>
            <p:ph idx="1"/>
          </p:nvPr>
        </p:nvSpPr>
        <p:spPr/>
        <p:txBody>
          <a:bodyPr/>
          <a:lstStyle/>
          <a:p>
            <a:pPr>
              <a:defRPr sz="1600"/>
            </a:pPr>
            <a:r>
              <a:t>alimentations, une pancarte d'avertissement doit être disposée de telle manière que toute personne accédant aux parties actives soit prévenue de la nécessité de sectionner ces parties des différentes alimentations, à moins qu'un verrouillage assure que tous les circuits concernés sont sectionnés.</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462.4 Des moyens appropriés doivent être prévus, si nécessaire, pour assurer la décharge de</a:t>
            </a:r>
          </a:p>
        </p:txBody>
      </p:sp>
      <p:sp>
        <p:nvSpPr>
          <p:cNvPr id="3" name="Content Placeholder 2"/>
          <p:cNvSpPr>
            <a:spLocks noGrp="1"/>
          </p:cNvSpPr>
          <p:nvPr>
            <p:ph idx="1"/>
          </p:nvPr>
        </p:nvSpPr>
        <p:spPr/>
        <p:txBody>
          <a:bodyPr/>
          <a:lstStyle/>
          <a:p>
            <a:pPr>
              <a:defRPr sz="1600"/>
            </a:pPr>
            <a:r>
              <a:t>l'énergie électrique emmagasinée.</a:t>
            </a:r>
          </a:p>
          <a:p>
            <a:pPr>
              <a:defRPr sz="1600"/>
            </a:pPr>
            <a:r>
              <a:t>Après sectionnement, certains matériels (tels que condensateurs, câbles,.</a:t>
            </a:r>
          </a:p>
          <a:p>
            <a:pPr>
              <a:defRPr sz="1600"/>
            </a:pPr>
            <a:r>
              <a:t>) pouvant provoquer des risques de choc électrique, il est alors nécessaire d'assurer leur décharge, par exemple par fermeture d'un interrupteur assurant la liaison des conducteurs à la terre.</a:t>
            </a:r>
          </a:p>
          <a:p>
            <a:pPr>
              <a:defRPr sz="1600"/>
            </a:pPr>
            <a:r>
              <a:t>463 Coupure d'urgence.</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463.1 Des moyens de coupure d'urgence doivent être prévus pour toute partie d'installation</a:t>
            </a:r>
          </a:p>
        </p:txBody>
      </p:sp>
      <p:sp>
        <p:nvSpPr>
          <p:cNvPr id="3" name="Content Placeholder 2"/>
          <p:cNvSpPr>
            <a:spLocks noGrp="1"/>
          </p:cNvSpPr>
          <p:nvPr>
            <p:ph idx="1"/>
          </p:nvPr>
        </p:nvSpPr>
        <p:spPr/>
        <p:txBody>
          <a:bodyPr/>
          <a:lstStyle/>
          <a:p>
            <a:pPr>
              <a:defRPr sz="1600"/>
            </a:pPr>
            <a:r>
              <a:t>pour laquelle il peut être nécessaire de couper l'alimentation afin de supprimer un danger inattendu.</a:t>
            </a:r>
          </a:p>
          <a:p>
            <a:pPr>
              <a:defRPr sz="1600"/>
            </a:pPr>
            <a:r>
              <a:t>Des exemples d'installations dans lesquelles une coupure d'urgence est utilisée sont :  - - - - - - -  pompage de liquides inflammables ; laboratoires électriques ; plates-formes d'essais ; chaufferies ; grandes cuisines ; laboratoires des établissements d'enseignement ; lampes à décharge alimentées en haute tension (par exemple, enseignes au néon).</a:t>
            </a:r>
          </a:p>
          <a:p>
            <a:pPr>
              <a:defRPr sz="1600"/>
            </a:pPr>
            <a:r>
              <a:t>Les dispositifs de coupure d’urgence installés sur les circuits d’alimentation basse tension des lampes à décharge alimentées en haute tension (par exemple, enseignes au néon) doivent assurer aussi la fonction de sectionnement (voir NF C 15-150-1).</a:t>
            </a:r>
          </a:p>
          <a:p>
            <a:pPr>
              <a:defRPr sz="1600"/>
            </a:pPr>
            <a:r>
              <a:t>——————— (2) NF C 13-100  - 147 -   Les dispositifs de coupure d’urgence ne doivent pas être confondus avec les dispositifs d’arrêt d’urgence prescrits par la réglementation pour certains équipements, notamment pour les machines, par le décret du 29 juillet 1992.</a:t>
            </a:r>
          </a:p>
          <a:p>
            <a:pPr>
              <a:defRPr sz="1600"/>
            </a:pPr>
            <a:r>
              <a:t>Le dispositif de commande servant à la mise en marche et à l'arrêt d'un appareil d'utilisation ou le dispositif d’arrêt d’urgence peut servir de dispositif de coupure d'urgence s'il satisfait à toutes les conditions correspondant à cette fonction.</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463.2 Le dispositif de coupure d'urgence doit couper tous les conducteurs actifs.</a:t>
            </a:r>
          </a:p>
        </p:txBody>
      </p:sp>
      <p:sp>
        <p:nvSpPr>
          <p:cNvPr id="3" name="Content Placeholder 2"/>
          <p:cNvSpPr>
            <a:spLocks noGrp="1"/>
          </p:cNvSpPr>
          <p:nvPr>
            <p:ph idx="1"/>
          </p:nvPr>
        </p:nvSpPr>
        <p:spPr/>
        <p:txBody>
          <a:bodyPr/>
          <a:lstStyle/>
          <a:p>
            <a:pPr>
              <a:defRPr sz="1600"/>
            </a:pPr>
            <a:r>
              <a:t>Toutefois, dans le schéma TN-C, le conducteur PEN ne doit pas être coupé.</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463.3 Les moyens de coupure d'urgence doivent agir aussi directement que possible sur les</a:t>
            </a:r>
          </a:p>
        </p:txBody>
      </p:sp>
      <p:sp>
        <p:nvSpPr>
          <p:cNvPr id="3" name="Content Placeholder 2"/>
          <p:cNvSpPr>
            <a:spLocks noGrp="1"/>
          </p:cNvSpPr>
          <p:nvPr>
            <p:ph idx="1"/>
          </p:nvPr>
        </p:nvSpPr>
        <p:spPr/>
        <p:txBody>
          <a:bodyPr/>
          <a:lstStyle/>
          <a:p>
            <a:pPr>
              <a:defRPr sz="1600"/>
            </a:pPr>
            <a:r>
              <a:t>conducteurs d'alimentation appropriés.</a:t>
            </a:r>
          </a:p>
          <a:p>
            <a:pPr>
              <a:defRPr sz="1600"/>
            </a:pPr>
            <a:r>
              <a:t>Les dispositions doivent être telles qu'une seule manœuvre soit suffisante pour provoquer la coupure de l'alimentation appropriée.</a:t>
            </a:r>
          </a:p>
          <a:p>
            <a:pPr>
              <a:defRPr sz="1600"/>
            </a:pPr>
            <a:r>
              <a:t>Par moyen de coupure d'urgence, on entend l'organe de commande manuelle agissant sur l'appareil comportant les dispositifs capables d'interrompre le courant dans les conditions d'alimentation, soit directement, soit par transmission (mécaniques, électriques, électroniques, pneumatiques,.</a:t>
            </a:r>
          </a:p>
          <a:p>
            <a:pPr>
              <a:defRPr sz="1600"/>
            </a:pPr>
            <a:r>
              <a:t>).</a:t>
            </a:r>
          </a:p>
          <a:p>
            <a:pPr>
              <a:defRPr sz="1600"/>
            </a:pPr>
            <a:r>
              <a:t>l'intermédiaire de systèmes de  H.</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463.4 Les dispositions du système de coupure d'urgence doivent être telles que son</a:t>
            </a:r>
          </a:p>
        </p:txBody>
      </p:sp>
      <p:sp>
        <p:nvSpPr>
          <p:cNvPr id="3" name="Content Placeholder 2"/>
          <p:cNvSpPr>
            <a:spLocks noGrp="1"/>
          </p:cNvSpPr>
          <p:nvPr>
            <p:ph idx="1"/>
          </p:nvPr>
        </p:nvSpPr>
        <p:spPr/>
        <p:txBody>
          <a:bodyPr/>
          <a:lstStyle/>
          <a:p>
            <a:pPr>
              <a:defRPr sz="1600"/>
            </a:pPr>
            <a:r>
              <a:t>fonctionnement ne provoque pas un autre danger ni n'interfère avec l'opération complète nécessaire pour supprimer le danger.</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463.5 Le dispositif de coupure d'urgence doit se trouver au niveau des appareils d'utilisation,</a:t>
            </a:r>
          </a:p>
        </p:txBody>
      </p:sp>
      <p:sp>
        <p:nvSpPr>
          <p:cNvPr id="3" name="Content Placeholder 2"/>
          <p:cNvSpPr>
            <a:spLocks noGrp="1"/>
          </p:cNvSpPr>
          <p:nvPr>
            <p:ph idx="1"/>
          </p:nvPr>
        </p:nvSpPr>
        <p:spPr/>
        <p:txBody>
          <a:bodyPr/>
          <a:lstStyle/>
          <a:p>
            <a:pPr>
              <a:defRPr sz="1600"/>
            </a:pPr>
            <a:r>
              <a:t>étant entendu qu’un même dispositif peut intéresser plusieurs appareils.</a:t>
            </a:r>
          </a:p>
          <a:p>
            <a:pPr>
              <a:defRPr sz="1600"/>
            </a:pPr>
            <a:r>
              <a:t>L'organe de manœuvre doit être facilement reconnaissable et rapidement accessible.</a:t>
            </a:r>
          </a:p>
          <a:p>
            <a:pPr>
              <a:defRPr sz="1600"/>
            </a:pPr>
            <a:r>
              <a:t>Un organe de manœuvre dont l'action nécessite le bris d'une glace est considéré comme rapidement accessible.</a:t>
            </a:r>
          </a:p>
          <a:p>
            <a:pPr>
              <a:defRPr sz="1600"/>
            </a:pPr>
            <a:r>
              <a:t>464 Coupure pour entretien mécanique  Des dispositifs assurant à la fois la fonction de sectionnement (voir 462)  463) sont parfois prescrits.</a:t>
            </a:r>
          </a:p>
          <a:p>
            <a:pPr>
              <a:defRPr sz="1600"/>
            </a:pPr>
            <a:r>
              <a:t>coupure d’urgence (voir    et la fonction de  Ces dispositifs sont parfois appelés dispositifs de coupure de proximité.</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465.1.1 Un dispositif de commande fonctionnelle doit être prévu sur tout élément de circuit</a:t>
            </a:r>
          </a:p>
        </p:txBody>
      </p:sp>
      <p:sp>
        <p:nvSpPr>
          <p:cNvPr id="3" name="Content Placeholder 2"/>
          <p:cNvSpPr>
            <a:spLocks noGrp="1"/>
          </p:cNvSpPr>
          <p:nvPr>
            <p:ph idx="1"/>
          </p:nvPr>
        </p:nvSpPr>
        <p:spPr/>
        <p:txBody>
          <a:bodyPr/>
          <a:lstStyle/>
          <a:p>
            <a:pPr>
              <a:defRPr sz="1600"/>
            </a:pPr>
            <a:r>
              <a:t>qui peut avoir besoin d'être commandé indépendamment des autres parties de l'installation.</a:t>
            </a:r>
          </a:p>
          <a:p>
            <a:pPr>
              <a:defRPr sz="1600"/>
            </a:pPr>
            <a:r>
              <a:t>- 148 -   H.</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465.1.2 Les dispositifs de commande fonctionnelle ne coupent pas nécessairement tous les</a:t>
            </a:r>
          </a:p>
        </p:txBody>
      </p:sp>
      <p:sp>
        <p:nvSpPr>
          <p:cNvPr id="3" name="Content Placeholder 2"/>
          <p:cNvSpPr>
            <a:spLocks noGrp="1"/>
          </p:cNvSpPr>
          <p:nvPr>
            <p:ph idx="1"/>
          </p:nvPr>
        </p:nvSpPr>
        <p:spPr/>
        <p:txBody>
          <a:bodyPr/>
          <a:lstStyle/>
          <a:p>
            <a:pPr>
              <a:defRPr sz="1600"/>
            </a:pPr>
            <a:r>
              <a:t>conducteurs actifs d'un circuit.</a:t>
            </a:r>
          </a:p>
          <a:p>
            <a:pPr>
              <a:defRPr sz="1600"/>
            </a:pPr>
            <a:r>
              <a:t>Un dispositif de commande unipolaire ne doit pas être placé sur le conducteur neutre.</a:t>
            </a:r>
          </a:p>
          <a:p>
            <a:pPr>
              <a:defRPr sz="1600"/>
            </a:pPr>
            <a:r>
              <a:t>Cette règle peut ne pas être appliquée aux circuits de commande (voir le guide UTE C15- 476, 10.</a:t>
            </a:r>
          </a:p>
          <a:p>
            <a:pPr>
              <a:defRPr sz="1600"/>
            </a:pPr>
            <a:r>
              <a:t>2).</a:t>
            </a:r>
          </a:p>
          <a:p>
            <a:pPr>
              <a:defRPr sz="1600"/>
            </a:pPr>
            <a:r>
              <a:t>Le dispositif de commande peut être :  - - -  -  soit un dispositif incorporé à l'appareil si celui-ci en comporte un ; soit un dispositif placé à proximité de chaque appareil ; soit un dispositif commandant l'ensemble de l'installation et placé sur le tableau de répartition ou à proximité immédiate si l'installation n'intéresse qu'un seul niveau ; soit un dispositif commandant l'ensemble des appareils d'un même niveau, lorsque l'installation intéresse plusieurs niveaux.</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465.1.3 En général, tout appareil d'utilisation nécessitant une commande doit être commandé</a:t>
            </a:r>
          </a:p>
        </p:txBody>
      </p:sp>
      <p:sp>
        <p:nvSpPr>
          <p:cNvPr id="3" name="Content Placeholder 2"/>
          <p:cNvSpPr>
            <a:spLocks noGrp="1"/>
          </p:cNvSpPr>
          <p:nvPr>
            <p:ph idx="1"/>
          </p:nvPr>
        </p:nvSpPr>
        <p:spPr/>
        <p:txBody>
          <a:bodyPr/>
          <a:lstStyle/>
          <a:p>
            <a:pPr>
              <a:defRPr sz="1600"/>
            </a:pPr>
            <a:r>
              <a:t>par un dispositif de commande fonctionnelle approprié.</a:t>
            </a:r>
          </a:p>
          <a:p>
            <a:pPr>
              <a:defRPr sz="1600"/>
            </a:pPr>
            <a:r>
              <a:t>Un même dispositif de commande fonctionnelle peut commander plusieurs appareils destinés à fonctionner simultanément.</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465.1.4 Les prises de courant peuvent assurer la commande fonctionnelle si leur courant</a:t>
            </a:r>
          </a:p>
        </p:txBody>
      </p:sp>
      <p:sp>
        <p:nvSpPr>
          <p:cNvPr id="3" name="Content Placeholder 2"/>
          <p:cNvSpPr>
            <a:spLocks noGrp="1"/>
          </p:cNvSpPr>
          <p:nvPr>
            <p:ph idx="1"/>
          </p:nvPr>
        </p:nvSpPr>
        <p:spPr/>
        <p:txBody>
          <a:bodyPr/>
          <a:lstStyle/>
          <a:p>
            <a:pPr>
              <a:defRPr sz="1600"/>
            </a:pPr>
            <a:r>
              <a:t>assigné est au plus égal à 32 A.</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465.1.5 Les dispositifs de commande fonctionnelle assurant la permutation de sources</a:t>
            </a:r>
          </a:p>
        </p:txBody>
      </p:sp>
      <p:sp>
        <p:nvSpPr>
          <p:cNvPr id="3" name="Content Placeholder 2"/>
          <p:cNvSpPr>
            <a:spLocks noGrp="1"/>
          </p:cNvSpPr>
          <p:nvPr>
            <p:ph idx="1"/>
          </p:nvPr>
        </p:nvSpPr>
        <p:spPr/>
        <p:txBody>
          <a:bodyPr/>
          <a:lstStyle/>
          <a:p>
            <a:pPr>
              <a:defRPr sz="1600"/>
            </a:pPr>
            <a:r>
              <a:t>d'alimentation doivent intéresser tous les conducteurs actifs et ne doivent pas pouvoir mettre les sources en parallèle, à moins que l'installation ne soit spécialement conçue pour cette condition.</a:t>
            </a:r>
          </a:p>
          <a:p>
            <a:pPr>
              <a:defRPr sz="1600"/>
            </a:pPr>
            <a:r>
              <a:t>Dans ces cas, aucune disposition n'est à prendre pour le sectionnement des conducteurs PEN.</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465.2 Circuits de commande</a:t>
            </a:r>
          </a:p>
        </p:txBody>
      </p:sp>
      <p:sp>
        <p:nvSpPr>
          <p:cNvPr id="3" name="Content Placeholder 2"/>
          <p:cNvSpPr>
            <a:spLocks noGrp="1"/>
          </p:cNvSpPr>
          <p:nvPr>
            <p:ph idx="1"/>
          </p:nvPr>
        </p:nvSpPr>
        <p:spPr/>
        <p:txBody>
          <a:bodyPr/>
          <a:lstStyle/>
          <a:p>
            <a:pPr>
              <a:defRPr sz="1600"/>
            </a:pPr>
            <a:r>
              <a:t>Les circuits de commande doivent être conçus, disposés et protégés de manière à limiter les dangers résultant d'un défaut entre le circuit de commande et d'autres parties conductrices susceptibles de provoquer un mauvais fonctionnement de l'appareil commandé (par exemple manœuvre intempestive).</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465.3 Commande des moteurs</a:t>
            </a:r>
          </a:p>
        </p:txBody>
      </p:sp>
      <p:sp>
        <p:nvSpPr>
          <p:cNvPr id="3" name="Content Placeholder 2"/>
          <p:cNvSpPr>
            <a:spLocks noGrp="1"/>
          </p:cNvSpPr>
          <p:nvPr>
            <p:ph idx="1"/>
          </p:nvPr>
        </p:nvSpPr>
        <p:spPr/>
        <p:txBody>
          <a:bodyPr/>
          <a:lstStyle/>
          <a:p>
            <a:pPr>
              <a:defRPr sz="1600"/>
            </a:pPr>
            <a:r>
              <a:t>Les dispositifs de démarrage peuvent être combinés avec ceux assurant la protection des moteurs ; ils doivent alors répondre aux règles applicables aux dispositifs de protection.</a:t>
            </a:r>
          </a:p>
          <a:p>
            <a:pPr>
              <a:defRPr sz="1600"/>
            </a:pPr>
            <a:r>
              <a:t>Les différents dispositifs de commande et de réglage d'un moteur ou d'un ensemble de moteurs associés, doivent être convenablement   groupés (voir 514.</a:t>
            </a:r>
          </a:p>
          <a:p>
            <a:pPr>
              <a:defRPr sz="1600"/>
            </a:pPr>
            <a:r>
              <a:t>1).</a:t>
            </a:r>
          </a:p>
          <a:p>
            <a:pPr>
              <a:defRPr sz="1600"/>
            </a:pPr>
            <a:r>
              <a:t>H.</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465.3.1 Les circuits de commande des moteurs doivent être conçus de manière à empêcher</a:t>
            </a:r>
          </a:p>
        </p:txBody>
      </p:sp>
      <p:sp>
        <p:nvSpPr>
          <p:cNvPr id="3" name="Content Placeholder 2"/>
          <p:cNvSpPr>
            <a:spLocks noGrp="1"/>
          </p:cNvSpPr>
          <p:nvPr>
            <p:ph idx="1"/>
          </p:nvPr>
        </p:nvSpPr>
        <p:spPr/>
        <p:txBody>
          <a:bodyPr/>
          <a:lstStyle/>
          <a:p>
            <a:pPr>
              <a:defRPr sz="1600"/>
            </a:pPr>
            <a:r>
              <a:t>un démarrage automatique d'un moteur après un arrêt dû à une baisse ou un manque de tension, si un tel démarrage est susceptible de provoquer un danger.</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465.3.2 Lorsque le freinage par contre-courant d'un moteur est prévu, toutes précautions</a:t>
            </a:r>
          </a:p>
        </p:txBody>
      </p:sp>
      <p:sp>
        <p:nvSpPr>
          <p:cNvPr id="3" name="Content Placeholder 2"/>
          <p:cNvSpPr>
            <a:spLocks noGrp="1"/>
          </p:cNvSpPr>
          <p:nvPr>
            <p:ph idx="1"/>
          </p:nvPr>
        </p:nvSpPr>
        <p:spPr/>
        <p:txBody>
          <a:bodyPr/>
          <a:lstStyle/>
          <a:p>
            <a:pPr>
              <a:defRPr sz="1600"/>
            </a:pPr>
            <a:r>
              <a:t>doivent être prises pour éviter l'inversion du sens de rotation à la fin du freinage, si une telle inversion peut provoquer un danger.</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465.3.3 Lorsque la sécurité dépend du sens de rotation d'un moteur, des dispositions doivent</a:t>
            </a:r>
          </a:p>
        </p:txBody>
      </p:sp>
      <p:sp>
        <p:nvSpPr>
          <p:cNvPr id="3" name="Content Placeholder 2"/>
          <p:cNvSpPr>
            <a:spLocks noGrp="1"/>
          </p:cNvSpPr>
          <p:nvPr>
            <p:ph idx="1"/>
          </p:nvPr>
        </p:nvSpPr>
        <p:spPr/>
        <p:txBody>
          <a:bodyPr/>
          <a:lstStyle/>
          <a:p>
            <a:pPr>
              <a:defRPr sz="1600"/>
            </a:pPr>
            <a:r>
              <a:t>être prises pour éviter le fonctionnement en sens inverse, provoqué, par exemple, par la disparition d'une phase.</a:t>
            </a:r>
          </a:p>
          <a:p>
            <a:pPr>
              <a:defRPr sz="1600"/>
            </a:pPr>
            <a:r>
              <a:t>- 149 -.</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5. - Choix et mise en œuvre des matériels</a:t>
            </a:r>
          </a:p>
        </p:txBody>
      </p:sp>
      <p:sp>
        <p:nvSpPr>
          <p:cNvPr id="3" name="Content Placeholder 2"/>
          <p:cNvSpPr>
            <a:spLocks noGrp="1"/>
          </p:cNvSpPr>
          <p:nvPr>
            <p:ph idx="1"/>
          </p:nvPr>
        </p:nvSpPr>
        <p:spPr/>
        <p:txBody>
          <a:bodyPr/>
          <a:lstStyle/>
          <a:p>
            <a:pPr>
              <a:defRPr sz="1600"/>
            </a:pPr>
            <a:r>
              <a:t>Partie 5-51 – Règles communes à tous les matériels  Partie 5-52 – Règles complémentaires pour les canalisations  Partie 5-53 – Appareillage (Protection, commande, sectionnement et surveillance)  Partie 5-54 – Mises à la terre, conducteurs de protection et d’équipotentialité  Partie 5-55 – Autres matériels  Partie 5-56 – Installations de sécurité   Partie 5-51 – Règles communes à tous les matériels  510 Domaine d’applicatio n.</a:t>
            </a:r>
          </a:p>
          <a:p>
            <a:pPr>
              <a:defRPr sz="1600"/>
            </a:pPr>
            <a:r>
              <a:t>152 511 Conformité aux normes.</a:t>
            </a:r>
          </a:p>
          <a:p>
            <a:pPr>
              <a:defRPr sz="1600"/>
            </a:pPr>
            <a:r>
              <a:t>152 512 Conditions de fonctionnement et classification des in 513 Accessibilité des matériels électrique 514 Identification et repérage.</a:t>
            </a:r>
          </a:p>
          <a:p>
            <a:pPr>
              <a:defRPr sz="1600"/>
            </a:pPr>
            <a:r>
              <a:t>184 515 Indépendance des matériels.</a:t>
            </a:r>
          </a:p>
          <a:p>
            <a:pPr>
              <a:defRPr sz="1600"/>
            </a:pPr>
            <a:r>
              <a:t>187  fluences exte rnes.</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B - Repérage des conducteurs de protection et de mise à la terre</a:t>
            </a:r>
          </a:p>
        </p:txBody>
      </p:sp>
      <p:sp>
        <p:nvSpPr>
          <p:cNvPr id="3" name="Content Placeholder 2"/>
          <p:cNvSpPr>
            <a:spLocks noGrp="1"/>
          </p:cNvSpPr>
          <p:nvPr>
            <p:ph idx="1"/>
          </p:nvPr>
        </p:nvSpPr>
        <p:spPr/>
        <p:txBody>
          <a:bodyPr/>
          <a:lstStyle/>
          <a:p>
            <a:pPr>
              <a:defRPr sz="1600"/>
            </a:pPr>
            <a:r>
              <a:t>dans les installations fixes.</a:t>
            </a:r>
          </a:p>
          <a:p>
            <a:pPr>
              <a:defRPr sz="1600"/>
            </a:pPr>
            <a:r>
              <a:t>189  ____________  - 151 -   510 Domaine d’application  H  La présente partie traite du choix des matériels et de leur mise en œuvre.</a:t>
            </a:r>
          </a:p>
          <a:p>
            <a:pPr>
              <a:defRPr sz="1600"/>
            </a:pPr>
            <a:r>
              <a:t>Il doit permettre de satisfaire aux mesures de protection pour assurer la sécurité, aux prescriptions pour assurer un fonctionnement satisfaisant de l’installation pour l’utilisation prévue et aux prescriptions appropriées aux conditions d’influences externes prévisibles.</a:t>
            </a:r>
          </a:p>
          <a:p>
            <a:pPr>
              <a:defRPr sz="1600"/>
            </a:pPr>
            <a:r>
              <a:t>Les matériels doivent être choisis et installés de façon à satisfaire aux règles énoncées dans la présente partie et, pour autant qu’elles leur soient applicables, à celles des autres parties de cette norme.</a:t>
            </a:r>
          </a:p>
          <a:p>
            <a:pPr>
              <a:defRPr sz="1600"/>
            </a:pPr>
            <a:r>
              <a:t>511 Conformité aux normes.</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511.1 Tout matériel électrique doit être conforme à la norme européenne (EN) ou document</a:t>
            </a:r>
          </a:p>
        </p:txBody>
      </p:sp>
      <p:sp>
        <p:nvSpPr>
          <p:cNvPr id="3" name="Content Placeholder 2"/>
          <p:cNvSpPr>
            <a:spLocks noGrp="1"/>
          </p:cNvSpPr>
          <p:nvPr>
            <p:ph idx="1"/>
          </p:nvPr>
        </p:nvSpPr>
        <p:spPr/>
        <p:txBody>
          <a:bodyPr/>
          <a:lstStyle/>
          <a:p>
            <a:pPr>
              <a:defRPr sz="1600"/>
            </a:pPr>
            <a:r>
              <a:t>d’harmonisation (HD) approprié ou à la norme nationale issue du HD.</a:t>
            </a:r>
          </a:p>
          <a:p>
            <a:pPr>
              <a:defRPr sz="1600"/>
            </a:pPr>
            <a:r>
              <a:t>En l’absence de EN ou HD, les matériels doivent être conformes aux normes nationales appropriées.</a:t>
            </a:r>
          </a:p>
          <a:p>
            <a:pPr>
              <a:defRPr sz="1600"/>
            </a:pPr>
            <a:r>
              <a:t>Dans tous les autres cas, il convient de faire référence à la norme CEI appropriée ou à la norme nationale appropriée d’un autre pays.</a:t>
            </a:r>
          </a:p>
          <a:p>
            <a:pPr>
              <a:defRPr sz="1600"/>
            </a:pPr>
            <a:r>
              <a:t>L'utilisation de matériels conformes aux normes éditées par l'Union Technique de l'Électricité et de la Communication permet de satisfaire à cette règle.</a:t>
            </a:r>
          </a:p>
          <a:p>
            <a:pPr>
              <a:defRPr sz="1600"/>
            </a:pPr>
            <a:r>
              <a:t>Lorsqu'un matériel est revêtu d'une marque de conformité aux normes, il est considéré sans autre vérification comme conforme à ces normes.</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511.2 Lorsque pour un matériel électrique donné, il n'existe pas de norme qui puisse lui être</a:t>
            </a:r>
          </a:p>
        </p:txBody>
      </p:sp>
      <p:sp>
        <p:nvSpPr>
          <p:cNvPr id="3" name="Content Placeholder 2"/>
          <p:cNvSpPr>
            <a:spLocks noGrp="1"/>
          </p:cNvSpPr>
          <p:nvPr>
            <p:ph idx="1"/>
          </p:nvPr>
        </p:nvSpPr>
        <p:spPr/>
        <p:txBody>
          <a:bodyPr/>
          <a:lstStyle/>
          <a:p>
            <a:pPr>
              <a:defRPr sz="1600"/>
            </a:pPr>
            <a:r>
              <a:t>appliquée, le constructeur ou l'importateur doit pouvoir présenter un rapport établi par un organisme accrédité pour la certification de produits.</a:t>
            </a:r>
          </a:p>
          <a:p>
            <a:pPr>
              <a:defRPr sz="1600"/>
            </a:pPr>
            <a:r>
              <a:t>H  Les matériels dits à usage industriel font l'objet d'une déclaration délivrée par le constructeur ou l'importateur agissant en son nom, précisant qu'ils répondent aux exigences de sécurité dans les conditions d'emploi prévues.</a:t>
            </a:r>
          </a:p>
          <a:p>
            <a:pPr>
              <a:defRPr sz="1600"/>
            </a:pPr>
            <a:r>
              <a:t>En cas de contestation, le constructeur ou l'importateur doit pouvoir présenter un rapport établi par un organisme accrédité.</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511.3 Un procédé d'installation non décrit dans la présente norme doit faire l'objet d'une étude par</a:t>
            </a:r>
          </a:p>
        </p:txBody>
      </p:sp>
      <p:sp>
        <p:nvSpPr>
          <p:cNvPr id="3" name="Content Placeholder 2"/>
          <p:cNvSpPr>
            <a:spLocks noGrp="1"/>
          </p:cNvSpPr>
          <p:nvPr>
            <p:ph idx="1"/>
          </p:nvPr>
        </p:nvSpPr>
        <p:spPr/>
        <p:txBody>
          <a:bodyPr/>
          <a:lstStyle/>
          <a:p>
            <a:pPr>
              <a:defRPr sz="1600"/>
            </a:pPr>
            <a:r>
              <a:t>l'Union technique de l'Électricité qui émettra, s'il y a lieu, un Avis sur l'application de ce procédé dans la mesure où il satisfait aux règles de la présente norme.</a:t>
            </a:r>
          </a:p>
          <a:p>
            <a:pPr>
              <a:defRPr sz="1600"/>
            </a:pPr>
            <a:r>
              <a:t>De même, certains matériels, bien que faisant l'objet de normes, peuvent être utilisés dans des conditions différentes de celles prévues dans la présente norme ; de telles applications doivent faire l'objet de la même procédure.</a:t>
            </a:r>
          </a:p>
          <a:p>
            <a:pPr>
              <a:defRPr sz="1600"/>
            </a:pPr>
            <a:r>
              <a:t>La Commission 07 de l'UTE délivre des Avis techniques pour les nouveaux procédés d'installation.</a:t>
            </a:r>
          </a:p>
          <a:p>
            <a:pPr>
              <a:defRPr sz="1600"/>
            </a:pPr>
            <a:r>
              <a:t>- 152 -   512 Conditions de fonctionnement et classification des influences externes  H  Les matériels électriques doivent être choisis en tenant compte :  - des conditions de fonctionnement (512.</a:t>
            </a:r>
          </a:p>
          <a:p>
            <a:pPr>
              <a:defRPr sz="1600"/>
            </a:pPr>
            <a:r>
              <a:t>1), - des conditions d'influences externes (512.</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512.1.1 Tension</a:t>
            </a:r>
          </a:p>
        </p:txBody>
      </p:sp>
      <p:sp>
        <p:nvSpPr>
          <p:cNvPr id="3" name="Content Placeholder 2"/>
          <p:cNvSpPr>
            <a:spLocks noGrp="1"/>
          </p:cNvSpPr>
          <p:nvPr>
            <p:ph idx="1"/>
          </p:nvPr>
        </p:nvSpPr>
        <p:spPr/>
        <p:txBody>
          <a:bodyPr/>
          <a:lstStyle/>
          <a:p>
            <a:pPr>
              <a:defRPr sz="1600"/>
            </a:pPr>
            <a:r>
              <a:t>Les matériels électriques doivent être adaptés à la valeur de la tension nominale (valeur efficace en courant alternatif) de l’installation.</a:t>
            </a:r>
          </a:p>
          <a:p>
            <a:pPr>
              <a:defRPr sz="1600"/>
            </a:pPr>
            <a:r>
              <a:t>Si, dans une installation IT, le conducteur neutre est distribué, les matériels connectés entre une phase et le neutre doivent être isolés pour la tension entre phases.</a:t>
            </a:r>
          </a:p>
          <a:p>
            <a:pPr>
              <a:defRPr sz="1600"/>
            </a:pPr>
            <a:r>
              <a:t>NOTE - Pour certains matériels, il peut être nécessaire de tenir compte de la tension la plus basse susceptible de se présenter.</a:t>
            </a:r>
          </a:p>
          <a:p>
            <a:pPr>
              <a:defRPr sz="1600"/>
            </a:pPr>
            <a:r>
              <a:t>La tension assignée d'un matériel doit être au moins égale à la tension nominale de l'installation.</a:t>
            </a:r>
          </a:p>
          <a:p>
            <a:pPr>
              <a:defRPr sz="1600"/>
            </a:pPr>
            <a:r>
              <a:t>Pour l'application de cette règle, il y a lieu de distinguer les matériels suivant que leur fonctionnement dépend ou non de la tension :  - Cas des matériels dont le fonctionnement dépend de la tension.</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512.1.2 Courant</a:t>
            </a:r>
          </a:p>
        </p:txBody>
      </p:sp>
      <p:sp>
        <p:nvSpPr>
          <p:cNvPr id="3" name="Content Placeholder 2"/>
          <p:cNvSpPr>
            <a:spLocks noGrp="1"/>
          </p:cNvSpPr>
          <p:nvPr>
            <p:ph idx="1"/>
          </p:nvPr>
        </p:nvSpPr>
        <p:spPr/>
        <p:txBody>
          <a:bodyPr/>
          <a:lstStyle/>
          <a:p>
            <a:pPr>
              <a:defRPr sz="1600"/>
            </a:pPr>
            <a:r>
              <a:t>H  Les matériels électriques doivent être choisis compte tenu du courant d'emploi (valeur efficace en courant alternatif) qui les parcourt en service normal.</a:t>
            </a:r>
          </a:p>
          <a:p>
            <a:pPr>
              <a:defRPr sz="1600"/>
            </a:pPr>
            <a:r>
              <a:t>Il y a également lieu de considérer le courant susceptible de les parcourir dans des conditions anormales, compte tenu de la durée du passage d'un tel courant en fonction des dispositifs de protection éventuels.</a:t>
            </a:r>
          </a:p>
          <a:p>
            <a:pPr>
              <a:defRPr sz="1600"/>
            </a:pPr>
            <a:r>
              <a:t>Il n'y a généralement pas lieu de tenir compte des surintensités pouvant se produire, par exemple lors de la mise en service d'un appareil d'utilisation, sauf si ces surintensités sont fréquentes et prolongées, auquel cas il peut être nécessaire de choisir un matériel d'un courant assigné supérieur à celui qui résulterait de l'application de la règle.</a:t>
            </a:r>
          </a:p>
          <a:p>
            <a:pPr>
              <a:defRPr sz="1600"/>
            </a:pPr>
            <a:r>
              <a:t>(1)  NF EN 60742 (C 52-742) NF EN 60669-1 (C 61-110) NF C 61-141 NF C 61-303 NF C 61-320 NF C 61-400 NF EN 61009-1 (C 61-440) NF C 61-602 NF C 61-750 NF EN 60269-2 (C 63-210)  NF EN 60269-1 (C 60-200) NF EN 60669-2-1 (C 61-111) NF EN 61008-1 (C 61-150) NF EN 50075 (C 61-304) NF EN 60320-1 (C 61-350) NF C 61-401 NF EN 61184 (C 61-510) NF C 61-650 NF C 61-910 NF C 63-213  NF EN 60269-3 (C 61-202) NF EN 60669-2-2 (C 61-112) NF EN 60799 (C61-351) NF C 61-305 NF C 61-601 NF EN 60934 (C 61-406) NF EN 60238 (C 61-550) NF EN 61242 (C 61-720) NF C 62-411 NF EN 60598-2-8 (C 71-008)  NF C 61-203 NF EN 60669-2-3 (C 61-113) NF C 61-300 NF C 61-306 NF EN 60320-2-1 (C 61-355) NF EN 60898 (C 61-410) NF C 62-911 NF C 61-740 NF C 62-412  - 154 -    Le sous-paragraphe 330.</a:t>
            </a:r>
          </a:p>
          <a:p>
            <a:pPr>
              <a:defRPr sz="1600"/>
            </a:pPr>
            <a:r>
              <a:t>1.</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512.1.3 Fréquence</a:t>
            </a:r>
          </a:p>
        </p:txBody>
      </p:sp>
      <p:sp>
        <p:nvSpPr>
          <p:cNvPr id="3" name="Content Placeholder 2"/>
          <p:cNvSpPr>
            <a:spLocks noGrp="1"/>
          </p:cNvSpPr>
          <p:nvPr>
            <p:ph idx="1"/>
          </p:nvPr>
        </p:nvSpPr>
        <p:spPr/>
        <p:txBody>
          <a:bodyPr/>
          <a:lstStyle/>
          <a:p>
            <a:pPr>
              <a:defRPr sz="1600"/>
            </a:pPr>
            <a:r>
              <a:t>H  Si la fréquence a une influence sur les caractéristiques des matériels électriques, leur fréquence nominale doit correspondre à la fréquence susceptible de se produire dans le circuit.</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512.1.4 Puissance</a:t>
            </a:r>
          </a:p>
        </p:txBody>
      </p:sp>
      <p:sp>
        <p:nvSpPr>
          <p:cNvPr id="3" name="Content Placeholder 2"/>
          <p:cNvSpPr>
            <a:spLocks noGrp="1"/>
          </p:cNvSpPr>
          <p:nvPr>
            <p:ph idx="1"/>
          </p:nvPr>
        </p:nvSpPr>
        <p:spPr/>
        <p:txBody>
          <a:bodyPr/>
          <a:lstStyle/>
          <a:p>
            <a:pPr>
              <a:defRPr sz="1600"/>
            </a:pPr>
            <a:r>
              <a:t>Les matériels électriques, choisis sur la base de leurs caractéristiques de puissance, doivent pouvoir être utilisés dans les conditions de fonctionnement en tenant compte du facteur de charge.</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512.1.5 Compatibilité</a:t>
            </a:r>
          </a:p>
        </p:txBody>
      </p:sp>
      <p:sp>
        <p:nvSpPr>
          <p:cNvPr id="3" name="Content Placeholder 2"/>
          <p:cNvSpPr>
            <a:spLocks noGrp="1"/>
          </p:cNvSpPr>
          <p:nvPr>
            <p:ph idx="1"/>
          </p:nvPr>
        </p:nvSpPr>
        <p:spPr/>
        <p:txBody>
          <a:bodyPr/>
          <a:lstStyle/>
          <a:p>
            <a:pPr>
              <a:defRPr sz="1600"/>
            </a:pPr>
            <a:r>
              <a:t>Les matériels doivent être choisis de manière à ce qu’ils ne génèrent pas d’effets nuisibles sur les autres matériels et qu’ils ne perturbent pas l’alimentation en service normal, y compris lors de manœuvres, sauf si des précautions appropriées ont été prises lors de leur mise en œuvre.</a:t>
            </a:r>
          </a:p>
          <a:p>
            <a:pPr>
              <a:defRPr sz="1600"/>
            </a:pPr>
            <a:r>
              <a:t>Les articles 33 et 444 donnent des indications sur les différents considération.</a:t>
            </a:r>
          </a:p>
          <a:p>
            <a:pPr>
              <a:defRPr sz="1600"/>
            </a:pPr>
            <a:r>
              <a:t>paramètres à prendre en.</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512.1.6 Tension assignée de tenue aux chocs</a:t>
            </a:r>
          </a:p>
        </p:txBody>
      </p:sp>
      <p:sp>
        <p:nvSpPr>
          <p:cNvPr id="3" name="Content Placeholder 2"/>
          <p:cNvSpPr>
            <a:spLocks noGrp="1"/>
          </p:cNvSpPr>
          <p:nvPr>
            <p:ph idx="1"/>
          </p:nvPr>
        </p:nvSpPr>
        <p:spPr/>
        <p:txBody>
          <a:bodyPr/>
          <a:lstStyle/>
          <a:p>
            <a:pPr>
              <a:defRPr sz="1600"/>
            </a:pPr>
            <a:r>
              <a:t>Les matériels doivent être choisis de manière que leur tension assignée de tenue aux chocs soit au moins égale à la valeur des surtensions présumées au lieu de leur installation.</a:t>
            </a:r>
          </a:p>
          <a:p>
            <a:pPr>
              <a:defRPr sz="1600"/>
            </a:pPr>
            <a:r>
              <a:t>Les valeurs de surtensions présumées sont définies en 443.</a:t>
            </a:r>
          </a:p>
          <a:p>
            <a:pPr>
              <a:defRPr sz="1600"/>
            </a:pPr>
            <a:r>
              <a:t>Lorsqu'un matériel est défini par sa catégorie de surtensions, sa tension assignée de tenue aux chocs est définie par le tableau 44B.</a:t>
            </a:r>
          </a:p>
          <a:p>
            <a:pPr>
              <a:defRPr sz="1600"/>
            </a:pPr>
            <a:r>
              <a:t>Un matériel ayant une tension assignée de tenue aux chocs inférieure au niveau présumé de surtensions peut être utilisé s'il est admis que la coordination de l'isolement ne soit pas assurée et si les conséquences possibles ont été évaluées.</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512.1.7 Autres caractéristiques</a:t>
            </a:r>
          </a:p>
        </p:txBody>
      </p:sp>
      <p:sp>
        <p:nvSpPr>
          <p:cNvPr id="3" name="Content Placeholder 2"/>
          <p:cNvSpPr>
            <a:spLocks noGrp="1"/>
          </p:cNvSpPr>
          <p:nvPr>
            <p:ph idx="1"/>
          </p:nvPr>
        </p:nvSpPr>
        <p:spPr/>
        <p:txBody>
          <a:bodyPr/>
          <a:lstStyle/>
          <a:p>
            <a:pPr>
              <a:defRPr sz="1600"/>
            </a:pPr>
            <a:r>
              <a:t>Pour la détermination des conditions d'alimentation des matériels, il peut être éventuellement nécessaire de tenir compte en outre de certaines caractéristiques particulières à ces matériels telles que :  - -  leur service, leur facteur de puissance, etc.</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512.2 Influences externes</a:t>
            </a:r>
          </a:p>
        </p:txBody>
      </p:sp>
      <p:sp>
        <p:nvSpPr>
          <p:cNvPr id="3" name="Content Placeholder 2"/>
          <p:cNvSpPr>
            <a:spLocks noGrp="1"/>
          </p:cNvSpPr>
          <p:nvPr>
            <p:ph idx="1"/>
          </p:nvPr>
        </p:nvSpPr>
        <p:spPr/>
        <p:txBody>
          <a:bodyPr/>
          <a:lstStyle/>
          <a:p>
            <a:pPr>
              <a:defRPr sz="1600"/>
            </a:pPr>
            <a:r>
              <a:t>L'annexe A donne une liste abrégée des influences externes.</a:t>
            </a:r>
          </a:p>
          <a:p>
            <a:pPr>
              <a:defRPr sz="1600"/>
            </a:pPr>
            <a:r>
              <a:t>Les matériels électriques doivent être choisis et mis en œuvre conformément aux prescriptions du tableau 51A qui donne les caractéristiques des matériels nécessaires selon les influences externes auxquelles ils peuvent être soumis.</a:t>
            </a:r>
          </a:p>
          <a:p>
            <a:pPr>
              <a:defRPr sz="1600"/>
            </a:pPr>
            <a:r>
              <a:t>H  - 155 -   Les caractéristiques des matériels doivent être déterminées soit par un degré de protection, soit par la conformité aux essais.</a:t>
            </a:r>
          </a:p>
          <a:p>
            <a:pPr>
              <a:defRPr sz="1600"/>
            </a:pPr>
            <a:r>
              <a:t>H  Si les matériels électriques ne présentent pas, par construction les caractéristiques appropriées aux influences externes de leur emplacement, ils peuvent toutefois être utilisés si une protection supplémentaire a été prévue lors de leur mise en œuvre dans l’installation; Une telle protection ne doit pas affecter le fonctionnement du matériel ainsi protégé.</a:t>
            </a:r>
          </a:p>
          <a:p>
            <a:pPr>
              <a:defRPr sz="1600"/>
            </a:pPr>
            <a:r>
              <a:t>Si plusieurs influences externes peuvent apparaître simultanément, elles peuvent avoir des effets le degré de protection doit être choisi en indépendants ou s'influencer mutuellement et conséquence.</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512.2.10.1.1 Harmoniques,</a:t>
            </a:r>
          </a:p>
        </p:txBody>
      </p:sp>
      <p:sp>
        <p:nvSpPr>
          <p:cNvPr id="3" name="Content Placeholder 2"/>
          <p:cNvSpPr>
            <a:spLocks noGrp="1"/>
          </p:cNvSpPr>
          <p:nvPr>
            <p:ph idx="1"/>
          </p:nvPr>
        </p:nvSpPr>
        <p:spPr/>
        <p:txBody>
          <a:bodyPr/>
          <a:lstStyle/>
          <a:p>
            <a:pPr>
              <a:defRPr sz="1600"/>
            </a:pPr>
            <a:r>
              <a:t>interharmoniques (AM-1)   [voir 330.</a:t>
            </a:r>
          </a:p>
          <a:p>
            <a:pPr>
              <a:defRPr sz="1600"/>
            </a:pPr>
            <a:r>
              <a:t>1.</a:t>
            </a:r>
          </a:p>
          <a:p>
            <a:pPr>
              <a:defRPr sz="1600"/>
            </a:pPr>
            <a:r>
              <a:t>1 d].</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512.2.10.1.9 Champs électriques BF</a:t>
            </a:r>
          </a:p>
        </p:txBody>
      </p:sp>
      <p:sp>
        <p:nvSpPr>
          <p:cNvPr id="3" name="Content Placeholder 2"/>
          <p:cNvSpPr>
            <a:spLocks noGrp="1"/>
          </p:cNvSpPr>
          <p:nvPr>
            <p:ph idx="1"/>
          </p:nvPr>
        </p:nvSpPr>
        <p:spPr/>
        <p:txBody>
          <a:bodyPr/>
          <a:lstStyle/>
          <a:p>
            <a:pPr>
              <a:defRPr sz="1600"/>
            </a:pPr>
            <a:r>
              <a:t>-  1 7 0  -     Code  Désignation des classes  Caractéristiques  Application et exemples  Caractéristiques des matériels et mise en œuvre  Références  512.</a:t>
            </a:r>
          </a:p>
          <a:p>
            <a:pPr>
              <a:defRPr sz="1600"/>
            </a:pPr>
            <a:r>
              <a:t>2.</a:t>
            </a:r>
          </a:p>
          <a:p>
            <a:pPr>
              <a:defRPr sz="1600"/>
            </a:pPr>
            <a:r>
              <a:t>10.</a:t>
            </a:r>
          </a:p>
          <a:p>
            <a:pPr>
              <a:defRPr sz="1600"/>
            </a:pPr>
            <a:r>
              <a:t>2  Phénomènes électromagnétiques à haute fréquence conduits, induits ou rayonnés (continus ou transitoires).</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512.2.10.2.5 Phénomènes rayonnés à haute fréquence</a:t>
            </a:r>
          </a:p>
        </p:txBody>
      </p:sp>
      <p:sp>
        <p:nvSpPr>
          <p:cNvPr id="3" name="Content Placeholder 2"/>
          <p:cNvSpPr>
            <a:spLocks noGrp="1"/>
          </p:cNvSpPr>
          <p:nvPr>
            <p:ph idx="1"/>
          </p:nvPr>
        </p:nvSpPr>
        <p:spPr/>
        <p:txBody>
          <a:bodyPr/>
          <a:lstStyle/>
          <a:p>
            <a:pPr>
              <a:defRPr sz="1600"/>
            </a:pPr>
            <a:r>
              <a:t>CEI 61000-4-3  512.</a:t>
            </a:r>
          </a:p>
          <a:p>
            <a:pPr>
              <a:defRPr sz="1600"/>
            </a:pPr>
            <a:r>
              <a:t>2.</a:t>
            </a:r>
          </a:p>
          <a:p>
            <a:pPr>
              <a:defRPr sz="1600"/>
            </a:pPr>
            <a:r>
              <a:t>10.</a:t>
            </a:r>
          </a:p>
          <a:p>
            <a:pPr>
              <a:defRPr sz="1600"/>
            </a:pPr>
            <a:r>
              <a:t>3  Décharges électrostatiques  CEI 61000-4-2  512.</a:t>
            </a:r>
          </a:p>
          <a:p>
            <a:pPr>
              <a:defRPr sz="1600"/>
            </a:pPr>
            <a:r>
              <a:t>2.</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513.1 Dispositions générales</a:t>
            </a:r>
          </a:p>
        </p:txBody>
      </p:sp>
      <p:sp>
        <p:nvSpPr>
          <p:cNvPr id="3" name="Content Placeholder 2"/>
          <p:cNvSpPr>
            <a:spLocks noGrp="1"/>
          </p:cNvSpPr>
          <p:nvPr>
            <p:ph idx="1"/>
          </p:nvPr>
        </p:nvSpPr>
        <p:spPr/>
        <p:txBody>
          <a:bodyPr/>
          <a:lstStyle/>
          <a:p>
            <a:pPr>
              <a:defRPr sz="1600"/>
            </a:pPr>
            <a:r>
              <a:t>Les matériels, y compris les canalisations, doivent être disposés de façon à faciliter leur manœuvre, leur visite, leur entretien et l'accès à leurs connexions.</a:t>
            </a:r>
          </a:p>
          <a:p>
            <a:pPr>
              <a:defRPr sz="1600"/>
            </a:pPr>
            <a:r>
              <a:t>Ces possibilités ne doivent pas être notablement diminuées par le montage d'appareils dans des enveloppes ou des compartiments.</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513.2 Contrôle et remplacement des conducteurs et câbles</a:t>
            </a:r>
          </a:p>
        </p:txBody>
      </p:sp>
      <p:sp>
        <p:nvSpPr>
          <p:cNvPr id="3" name="Content Placeholder 2"/>
          <p:cNvSpPr>
            <a:spLocks noGrp="1"/>
          </p:cNvSpPr>
          <p:nvPr>
            <p:ph idx="1"/>
          </p:nvPr>
        </p:nvSpPr>
        <p:spPr/>
        <p:txBody>
          <a:bodyPr/>
          <a:lstStyle/>
          <a:p>
            <a:pPr>
              <a:defRPr sz="1600"/>
            </a:pPr>
            <a:r>
              <a:t>Les conducteurs et câbles électriques doivent être disposés de façon qu'on puisse en tout temps contrôler leur isolement et localiser les défauts.</a:t>
            </a:r>
          </a:p>
          <a:p>
            <a:pPr>
              <a:defRPr sz="1600"/>
            </a:pPr>
            <a:r>
              <a:t>Les canalisations doivent être réalisées de manière à pouvoir remplacer les conducteurs détériorés.</a:t>
            </a:r>
          </a:p>
          <a:p>
            <a:pPr>
              <a:defRPr sz="1600"/>
            </a:pPr>
            <a:r>
              <a:t>Cette dernière condition n'est pour les canalisations enterrées.</a:t>
            </a:r>
          </a:p>
          <a:p>
            <a:pPr>
              <a:defRPr sz="1600"/>
            </a:pPr>
            <a:r>
              <a:t>pas exigée pour les c€bles blindés à isolant minéral   encastré ni  La règle du deuxième alinéa implique notamment l'interdiction d'encastrer directement des câbles dans les parois ; par contre, des câbles peuvent être disposés dans des parois s'ils sont posés dans des conduits ou dans des vides de construction.</a:t>
            </a:r>
          </a:p>
          <a:p>
            <a:pPr>
              <a:defRPr sz="1600"/>
            </a:pPr>
            <a:r>
              <a:t>Cette interdiction n'est pas applicable aux câbles utilisés dans les circuits à très basse tension.</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514.1 Généralités</a:t>
            </a:r>
          </a:p>
        </p:txBody>
      </p:sp>
      <p:sp>
        <p:nvSpPr>
          <p:cNvPr id="3" name="Content Placeholder 2"/>
          <p:cNvSpPr>
            <a:spLocks noGrp="1"/>
          </p:cNvSpPr>
          <p:nvPr>
            <p:ph idx="1"/>
          </p:nvPr>
        </p:nvSpPr>
        <p:spPr/>
        <p:txBody>
          <a:bodyPr/>
          <a:lstStyle/>
          <a:p>
            <a:pPr>
              <a:defRPr sz="1600"/>
            </a:pPr>
            <a:r>
              <a:t>Des plaques indicatrices ou d'autres moyens appropriés d'identification doivent permettre de reconnaître l'affectation de l'appareillage, à moins que toute possibilité de confusion ne soit écartée.</a:t>
            </a:r>
          </a:p>
          <a:p>
            <a:pPr>
              <a:defRPr sz="1600"/>
            </a:pPr>
            <a:r>
              <a:t>Si le fonctionnement d'un appareillage ne peut pas être observé par l'opérateur et qu'il peut en résulter un danger, un dispositif de signalisation conforme dans la mesure applicable à la NF EN 60073 : Principes de codage pour les dispositifs indicateurs et les organes de commande et à la NF EN 60447 : Principes de manœuvre, doit être placé de façon à être vu par l'opérateur.</a:t>
            </a:r>
          </a:p>
          <a:p>
            <a:pPr>
              <a:defRPr sz="1600"/>
            </a:pPr>
            <a:r>
              <a:t>Ceci est généralement obtenu par construction ou par installation.</a:t>
            </a:r>
          </a:p>
          <a:p>
            <a:pPr>
              <a:defRPr sz="1600"/>
            </a:pPr>
            <a:r>
              <a:t>H.</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514.2 Identification et repérage des canalisations</a:t>
            </a:r>
          </a:p>
        </p:txBody>
      </p:sp>
      <p:sp>
        <p:nvSpPr>
          <p:cNvPr id="3" name="Content Placeholder 2"/>
          <p:cNvSpPr>
            <a:spLocks noGrp="1"/>
          </p:cNvSpPr>
          <p:nvPr>
            <p:ph idx="1"/>
          </p:nvPr>
        </p:nvSpPr>
        <p:spPr/>
        <p:txBody>
          <a:bodyPr/>
          <a:lstStyle/>
          <a:p>
            <a:pPr>
              <a:defRPr sz="1600"/>
            </a:pPr>
            <a:r>
              <a:t>Les canalisations électriques doivent être établies ou repérées de façon à permettre leur identification lors des vérifications, essais, réparations ou transformations de l'installation.</a:t>
            </a:r>
          </a:p>
          <a:p>
            <a:pPr>
              <a:defRPr sz="1600"/>
            </a:pPr>
            <a:r>
              <a:t>En particulier le tracé des canalisations enterrées doit être relevé sur un plan qui permette de connaître leur emplacement sans avoir à recourir à une fouille.</a:t>
            </a:r>
          </a:p>
          <a:p>
            <a:pPr>
              <a:defRPr sz="1600"/>
            </a:pPr>
            <a:r>
              <a:t>Le plus souvent les différentes canalisations électriques d'une installation sont suffisamment différenciées les unes des autres pour permettre leur identification, soit par leur nature, soit par leurs dimensions, soit enfin par leur tracé.</a:t>
            </a:r>
          </a:p>
          <a:p>
            <a:pPr>
              <a:defRPr sz="1600"/>
            </a:pPr>
            <a:r>
              <a:t>Lorsque l'identification est difficile, il y a lieu d'établir un plan de l'installation et de placer de distance en distance des étiquettes indiquant la destination des circuits.</a:t>
            </a:r>
          </a:p>
          <a:p>
            <a:pPr>
              <a:defRPr sz="1600"/>
            </a:pPr>
            <a:r>
              <a:t>Lorsque coexistent dans les mêmes locaux des installations différentes ou lorsqu'il est nécessaire de repérer les phases ou les polarités recourir à des marques et repères appropriés.</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514.3 Repérage des conducteurs isolés</a:t>
            </a:r>
          </a:p>
        </p:txBody>
      </p:sp>
      <p:sp>
        <p:nvSpPr>
          <p:cNvPr id="3" name="Content Placeholder 2"/>
          <p:cNvSpPr>
            <a:spLocks noGrp="1"/>
          </p:cNvSpPr>
          <p:nvPr>
            <p:ph idx="1"/>
          </p:nvPr>
        </p:nvSpPr>
        <p:spPr/>
        <p:txBody>
          <a:bodyPr/>
          <a:lstStyle/>
          <a:p>
            <a:pPr>
              <a:defRPr sz="1600"/>
            </a:pPr>
            <a:r>
              <a:t>Les dispositions énoncées ci-après en a, b, c s'appliquent aux canalisations constituées de conducteurs isolés et aux câbles multiconducteurs, à âmes circulaires ou sectorales :  a) Lorsque le circuit comporte un conducteur de protection, ce conducteur doit être repéré par la  double coloration vert-et-jaune.</a:t>
            </a:r>
          </a:p>
          <a:p>
            <a:pPr>
              <a:defRPr sz="1600"/>
            </a:pPr>
            <a:r>
              <a:t>Lorsque le circuit ne comporte pas de conducteur de protection :  -  dans le cas de câbles multiconducteurs, il ne doit pas être fait usage de câbles comportant un conducteur repéré par la double coloration vert-et-jaune.</a:t>
            </a:r>
          </a:p>
          <a:p>
            <a:pPr>
              <a:defRPr sz="1600"/>
            </a:pPr>
            <a:r>
              <a:t>Toutefois, dans le cas où on ne dispose que de câbles comportant un conducteur repéré par la double coloration vert-et-jaune pour la section choisie, il est admis d'employer un tel câble sous réserve de ne pas utiliser le conducteur repéré par la double coloration vert-et-jaune :  -  dans le cas de conducteurs isolés, il ne doit pas être fait usage de conducteur repéré par la double coloration vert-et-jaune.</a:t>
            </a:r>
          </a:p>
          <a:p>
            <a:pPr>
              <a:defRPr sz="1600"/>
            </a:pPr>
            <a:r>
              <a:t>b) Lorsque le circuit comporte un conducteur neutre, ce conducteur doit être repéré par la couleur  bleu clair (ou pour les câbles de plus de 5 conducteurs, par le chiffre 1).</a:t>
            </a:r>
          </a:p>
          <a:p>
            <a:pPr>
              <a:defRPr sz="1600"/>
            </a:pPr>
            <a:r>
              <a:t>Lorsque le circuit ne comporte pas de conducteur neutre : -  dans le cas de câbles multiconducteurs, le conducteur repéré par la couleur bleu clair peut être utilise pour un autre usage, sauf comme conducteur de protection.</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514.3.1 Ces prescriptions concernent essentiellement le choix des moyens utilisés pour repérer le</a:t>
            </a:r>
          </a:p>
        </p:txBody>
      </p:sp>
      <p:sp>
        <p:nvSpPr>
          <p:cNvPr id="3" name="Content Placeholder 2"/>
          <p:cNvSpPr>
            <a:spLocks noGrp="1"/>
          </p:cNvSpPr>
          <p:nvPr>
            <p:ph idx="1"/>
          </p:nvPr>
        </p:nvSpPr>
        <p:spPr/>
        <p:txBody>
          <a:bodyPr/>
          <a:lstStyle/>
          <a:p>
            <a:pPr>
              <a:defRPr sz="1600"/>
            </a:pPr>
            <a:r>
              <a:t>conducteur de protection et le conducteur neutre.</a:t>
            </a:r>
          </a:p>
          <a:p>
            <a:pPr>
              <a:defRPr sz="1600"/>
            </a:pPr>
            <a:r>
              <a:t>Ces moyens sont :  - -  pour le conducteur de protection, la double coloration vert-et-jaune (annexe B).</a:t>
            </a:r>
          </a:p>
          <a:p>
            <a:pPr>
              <a:defRPr sz="1600"/>
            </a:pPr>
            <a:r>
              <a:t>pour le conducteur neutre, la couleur bleu clair (ou, pour les câbles à plus de 5 conducteurs, le chiffre 1).</a:t>
            </a:r>
          </a:p>
          <a:p>
            <a:pPr>
              <a:defRPr sz="1600"/>
            </a:pPr>
            <a:r>
              <a:t>Les couleurs retenues ont été choisies de telle manière qu'elles ne puissent prêter à confusion avec des couleurs utilisées dans certains pays pour des usages différents.</a:t>
            </a:r>
          </a:p>
          <a:p>
            <a:pPr>
              <a:defRPr sz="1600"/>
            </a:pPr>
            <a:r>
              <a:t>Dans le schéma TN : -  -  le conducteur neutre utilisé également comme conducteur de protection (PEN) doit être repéré comme le conducteur de protection, c'est-à-dire par la double coloration vert-et-jaune.</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514.3.2 L'exclusivité des moyens de repérage</a:t>
            </a:r>
          </a:p>
        </p:txBody>
      </p:sp>
      <p:sp>
        <p:nvSpPr>
          <p:cNvPr id="3" name="Content Placeholder 2"/>
          <p:cNvSpPr>
            <a:spLocks noGrp="1"/>
          </p:cNvSpPr>
          <p:nvPr>
            <p:ph idx="1"/>
          </p:nvPr>
        </p:nvSpPr>
        <p:spPr/>
        <p:txBody>
          <a:bodyPr/>
          <a:lstStyle/>
          <a:p>
            <a:pPr>
              <a:defRPr sz="1600"/>
            </a:pPr>
            <a:r>
              <a:t>La règle d'exclusivité des moyens de repérage implique que les conducteurs comportant l'un des repérages définis soient utilisés exclusivement pour la fonction pour laquelle ce moyen de repérage a été prévu.</a:t>
            </a:r>
          </a:p>
          <a:p>
            <a:pPr>
              <a:defRPr sz="1600"/>
            </a:pPr>
            <a:r>
              <a:t>Cette règle d'exclusivité doit être considérée différemment suivant qu'elle s'applique au conducteur de protection ou au conducteur neutre.</a:t>
            </a:r>
          </a:p>
          <a:p>
            <a:pPr>
              <a:defRPr sz="1600"/>
            </a:pPr>
            <a:r>
              <a:t>a) Pour le conducteur de protection, en raison de la fonction de sécurité assurée par ce conducteur, les moyens de repérage de ce conducteur doivent être exclusifs.</a:t>
            </a:r>
          </a:p>
          <a:p>
            <a:pPr>
              <a:defRPr sz="1600"/>
            </a:pPr>
            <a:r>
              <a:t>Il en résulte que le conducteur portant la double coloration vert-et-jaune doit être utilisé exclusivement comme conducteur de protection (annexe B).</a:t>
            </a:r>
          </a:p>
          <a:p>
            <a:pPr>
              <a:defRPr sz="1600"/>
            </a:pPr>
            <a:r>
              <a:t>b) Pour le conducteur neutre son repérage ne présente qu'un caractère indicatif et l'utilisation du conducteur portant le repérage du conducteur neutre pour un conducteur de phase ne présente pas d'inconvénient grave, du fait que ces conducteurs sont tous actifs et que les mêmes mesures de protection contre les contacts directs s'appliquent à ces conducteurs.</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514.3.3 Dans le cas particulier d'une installation desservie par un branchement monophasé entre</a:t>
            </a:r>
          </a:p>
        </p:txBody>
      </p:sp>
      <p:sp>
        <p:nvSpPr>
          <p:cNvPr id="3" name="Content Placeholder 2"/>
          <p:cNvSpPr>
            <a:spLocks noGrp="1"/>
          </p:cNvSpPr>
          <p:nvPr>
            <p:ph idx="1"/>
          </p:nvPr>
        </p:nvSpPr>
        <p:spPr/>
        <p:txBody>
          <a:bodyPr/>
          <a:lstStyle/>
          <a:p>
            <a:pPr>
              <a:defRPr sz="1600"/>
            </a:pPr>
            <a:r>
              <a:t>phases à deux conducteurs sous une tension assignée au plus égale à 250 volts, et alimentée directement par un réseau de distribution publique, l'un des deux conducteurs de l'installation est identifié par le marquage distinctif du conducteur neutre.</a:t>
            </a:r>
          </a:p>
          <a:p>
            <a:pPr>
              <a:defRPr sz="1600"/>
            </a:pPr>
            <a:r>
              <a:t>Le conducteur ainsi repéré est assimilé au conducteur neutre notamment en ce qui concerne la disposition des appareillages de protection et de commande.</a:t>
            </a:r>
          </a:p>
          <a:p>
            <a:pPr>
              <a:defRPr sz="1600"/>
            </a:pPr>
            <a:r>
              <a:t>- 186 -.</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514.4 Dispositifs de protection contre les surintensités</a:t>
            </a:r>
          </a:p>
        </p:txBody>
      </p:sp>
      <p:sp>
        <p:nvSpPr>
          <p:cNvPr id="3" name="Content Placeholder 2"/>
          <p:cNvSpPr>
            <a:spLocks noGrp="1"/>
          </p:cNvSpPr>
          <p:nvPr>
            <p:ph idx="1"/>
          </p:nvPr>
        </p:nvSpPr>
        <p:spPr/>
        <p:txBody>
          <a:bodyPr/>
          <a:lstStyle/>
          <a:p>
            <a:pPr>
              <a:defRPr sz="1600"/>
            </a:pPr>
            <a:r>
              <a:t>H  Les dispositifs de protection doivent être disposés et repérés de façon qu'il soit facile d'identifier les circuits protégés à cet effet, il peut être commode de les grouper en tableaux.</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514.5.1 Pour toute installation électrique, il y a lieu d'établir des schémas, diagrammes ou tableaux</a:t>
            </a:r>
          </a:p>
        </p:txBody>
      </p:sp>
      <p:sp>
        <p:nvSpPr>
          <p:cNvPr id="3" name="Content Placeholder 2"/>
          <p:cNvSpPr>
            <a:spLocks noGrp="1"/>
          </p:cNvSpPr>
          <p:nvPr>
            <p:ph idx="1"/>
          </p:nvPr>
        </p:nvSpPr>
        <p:spPr/>
        <p:txBody>
          <a:bodyPr/>
          <a:lstStyle/>
          <a:p>
            <a:pPr>
              <a:defRPr sz="1600"/>
            </a:pPr>
            <a:r>
              <a:t>conformes aux normes   indiquant notamment :  (2)  -  -  la nature et la constitution des circuits (points d'utilisation desservis, nombre et section des conducteurs, nature des canalisations) ; les caractéristiques nécessaires à l'identification des dispositifs assurant les fonctions de protection, de sectionnement et de commande et leur emplacement.</a:t>
            </a:r>
          </a:p>
          <a:p>
            <a:pPr>
              <a:defRPr sz="1600"/>
            </a:pPr>
            <a:r>
              <a:t>Les indications que doivent comporter les schémas et documents annexés sont les suivants :  - - - - -  type et section des conducteurs, longueur du circuit, nature et type des dispositifs de protection, courant assigné ou de réglage des dispositifs de protection, courants présumés de court-circuit et pouvoirs de coupure des dispositifs.</a:t>
            </a:r>
          </a:p>
          <a:p>
            <a:pPr>
              <a:defRPr sz="1600"/>
            </a:pPr>
            <a:r>
              <a:t>Ces indications doivent être mentionnées pour chaque circuit de l'installation.</a:t>
            </a:r>
          </a:p>
          <a:p>
            <a:pPr>
              <a:defRPr sz="1600"/>
            </a:pPr>
            <a:r>
              <a:t>Il est recommandé de les mettre à jour lors de toute modification de l'installation.</a:t>
            </a:r>
          </a:p>
          <a:p>
            <a:pPr>
              <a:defRPr sz="1600"/>
            </a:pPr>
            <a:r>
              <a:t>Des plans doivent indiquer, le cas échéant, l'emplacement des appareils non visibles.</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514.5.2 Les symboles utilisés doivent être choisis parmi ceux des normes</a:t>
            </a:r>
          </a:p>
        </p:txBody>
      </p:sp>
      <p:sp>
        <p:nvSpPr>
          <p:cNvPr id="3" name="Content Placeholder 2"/>
          <p:cNvSpPr>
            <a:spLocks noGrp="1"/>
          </p:cNvSpPr>
          <p:nvPr>
            <p:ph idx="1"/>
          </p:nvPr>
        </p:nvSpPr>
        <p:spPr/>
        <p:txBody>
          <a:bodyPr/>
          <a:lstStyle/>
          <a:p>
            <a:pPr>
              <a:defRPr sz="1600"/>
            </a:pPr>
            <a:r>
              <a:t>(3).</a:t>
            </a:r>
          </a:p>
          <a:p>
            <a:pPr>
              <a:defRPr sz="1600"/>
            </a:pPr>
            <a:r>
              <a:t>515 Indépendance des matériels.</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515.1 Les matériels doivent être choisis et disposés de manière à empêcher toute influence nuisible</a:t>
            </a:r>
          </a:p>
        </p:txBody>
      </p:sp>
      <p:sp>
        <p:nvSpPr>
          <p:cNvPr id="3" name="Content Placeholder 2"/>
          <p:cNvSpPr>
            <a:spLocks noGrp="1"/>
          </p:cNvSpPr>
          <p:nvPr>
            <p:ph idx="1"/>
          </p:nvPr>
        </p:nvSpPr>
        <p:spPr/>
        <p:txBody>
          <a:bodyPr/>
          <a:lstStyle/>
          <a:p>
            <a:pPr>
              <a:defRPr sz="1600"/>
            </a:pPr>
            <a:r>
              <a:t>entre les installations électriques et les installations non électriques.</a:t>
            </a:r>
          </a:p>
          <a:p>
            <a:pPr>
              <a:defRPr sz="1600"/>
            </a:pPr>
            <a:r>
              <a:t>Les matériels ne présentant pas de face arrière ne doivent pas être installés sur la paroi d’un bâtiment sauf si les prescriptions suivantes sont satisfaites :  - -  toute propagation de potentiel sur la paroi du bâtiment est empêchée ; une séparation contre le feu est prévue entre le matériel et la paroi combustible du bâtiment.</a:t>
            </a:r>
          </a:p>
          <a:p>
            <a:pPr>
              <a:defRPr sz="1600"/>
            </a:pPr>
            <a:r>
              <a:t>Si la paroi du bâtiment n’est pas métallique et est non combustible, aucune disposition complémentaire n’est prescrite.</a:t>
            </a:r>
          </a:p>
          <a:p>
            <a:pPr>
              <a:defRPr sz="1600"/>
            </a:pPr>
            <a:r>
              <a:t>Dans le cas contraire, ces prescriptions peuvent être satisfaites par l’une des dispositions suivantes :  - -  si la surface de montage est métallique, elle doit être reliée à un conducteur de protection (PE).</a:t>
            </a:r>
          </a:p>
          <a:p>
            <a:pPr>
              <a:defRPr sz="1600"/>
            </a:pPr>
            <a:r>
              <a:t>si la surface de montage est combustible, le matériel doit en être séparé par une couche intermédiaire au matériau isolant de catégorie d’inflammabilité au moins M2 (voir l'annexe à la partie 4-42).</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515.2 Lorsque des matériels parcourus par des courants de natures ou de tensions différentes sont</a:t>
            </a:r>
          </a:p>
        </p:txBody>
      </p:sp>
      <p:sp>
        <p:nvSpPr>
          <p:cNvPr id="3" name="Content Placeholder 2"/>
          <p:cNvSpPr>
            <a:spLocks noGrp="1"/>
          </p:cNvSpPr>
          <p:nvPr>
            <p:ph idx="1"/>
          </p:nvPr>
        </p:nvSpPr>
        <p:spPr/>
        <p:txBody>
          <a:bodyPr/>
          <a:lstStyle/>
          <a:p>
            <a:pPr>
              <a:defRPr sz="1600"/>
            </a:pPr>
            <a:r>
              <a:t>groupés en un même ensemble (tableau, armoire, pupitre de commande, coffret de manœuvre, etc.</a:t>
            </a:r>
          </a:p>
          <a:p>
            <a:pPr>
              <a:defRPr sz="1600"/>
            </a:pPr>
            <a:r>
              <a:t>), tous les matériels appartenant à un même genre de courant ou de tension doivent être effectivement séparés des autres matériels dans la mesure nécessaire pour éviter toute influence mutuelle nuisible.</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515.3 Compatibilité électromagnétique</a:t>
            </a:r>
          </a:p>
        </p:txBody>
      </p:sp>
      <p:sp>
        <p:nvSpPr>
          <p:cNvPr id="3" name="Content Placeholder 2"/>
          <p:cNvSpPr>
            <a:spLocks noGrp="1"/>
          </p:cNvSpPr>
          <p:nvPr>
            <p:ph idx="1"/>
          </p:nvPr>
        </p:nvSpPr>
        <p:spPr/>
        <p:txBody>
          <a:bodyPr/>
          <a:lstStyle/>
          <a:p>
            <a:pPr>
              <a:defRPr sz="1600"/>
            </a:pPr>
            <a:r>
              <a:t>(A l'étude).</a:t>
            </a:r>
          </a:p>
          <a:p>
            <a:pPr>
              <a:defRPr sz="1600"/>
            </a:pPr>
            <a:r>
              <a:t>(2) NF C 03-151 à NF C 03-158 (3) NF C 03-201 - NF EN 60617-13 (C 03-213)  - 187 -  2002.</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A – (normative) – Repérage des conducteurs de protection et</a:t>
            </a:r>
          </a:p>
        </p:txBody>
      </p:sp>
      <p:sp>
        <p:nvSpPr>
          <p:cNvPr id="3" name="Content Placeholder 2"/>
          <p:cNvSpPr>
            <a:spLocks noGrp="1"/>
          </p:cNvSpPr>
          <p:nvPr>
            <p:ph idx="1"/>
          </p:nvPr>
        </p:nvSpPr>
        <p:spPr/>
        <p:txBody>
          <a:bodyPr/>
          <a:lstStyle/>
          <a:p>
            <a:pPr>
              <a:defRPr sz="1600"/>
            </a:pPr>
            <a:r>
              <a:t>de mise à la terre dans les installations fixes  1.</a:t>
            </a:r>
          </a:p>
          <a:p>
            <a:pPr>
              <a:defRPr sz="1600"/>
            </a:pPr>
            <a:r>
              <a:t>- La double coloration vert-et-jaune est destinée au repérage d'un conducteur de protection assurant une fonction de sécurité.</a:t>
            </a:r>
          </a:p>
          <a:p>
            <a:pPr>
              <a:defRPr sz="1600"/>
            </a:pPr>
            <a:r>
              <a:t>Par définition (241.</a:t>
            </a:r>
          </a:p>
          <a:p>
            <a:pPr>
              <a:defRPr sz="1600"/>
            </a:pPr>
            <a:r>
              <a:t>1 de la NF C 15-100) un conducteur de protection est un conducteur utilisé dans certaines mesures de protection contre les contacts indirects et reliant des masses :  - - -  soit à d'autres masses ; soit à des éléments conducteurs ; soit à des prises de terre, à un conducteur relié à la terre ou à une partie active reliée à la terre.</a:t>
            </a:r>
          </a:p>
          <a:p>
            <a:pPr>
              <a:defRPr sz="1600"/>
            </a:pPr>
            <a:r>
              <a:t>Les conducteurs de protection répondant à cette définition doivent être repérés par la double coloration vert-et-jaune.</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B – (informative) – Liste abrégée des influences externes</a:t>
            </a:r>
          </a:p>
        </p:txBody>
      </p:sp>
      <p:sp>
        <p:nvSpPr>
          <p:cNvPr id="3" name="Content Placeholder 2"/>
          <p:cNvSpPr>
            <a:spLocks noGrp="1"/>
          </p:cNvSpPr>
          <p:nvPr>
            <p:ph idx="1"/>
          </p:nvPr>
        </p:nvSpPr>
        <p:spPr/>
        <p:txBody>
          <a:bodyPr/>
          <a:lstStyle/>
          <a:p>
            <a:pPr>
              <a:defRPr sz="1600"/>
            </a:pPr>
            <a:r>
              <a:t>AP  AP1 AP2 AP3 AP4  AQ  AQ1 AQ2 AQ3  AR  AR1 AR2 AR3  AS  AS1 AS2 AS3  Sismique  Négligeable Faible Moyen Fort  Foudre  Négligeable Indirecte Directe  Mouvement de l’air  Faibles Moyens Forts  Vent  Faible Moyen Fort  BE  BE1 BE2 BE3 BE4  Matières  Négligeables Incendie Explosion Contamination  AA  AA1 AA2 AA3 AA4 AA5 AA6 AA7 AA8  Température (°C)  –60 –40 –25 –5 +5 +5 -25 -50  +5 +5 +5 +40 +40 +60 +55 +40  AB  Température et humidité  AC  AC1 AC2  AD  AD1 AD2 AD3 AD4 AD5 AD6 AD7 AD8  AE  AE1 AE2 AE3 AE4  AF  AF1 AF2 AF3 AF4  BA  BA1 BA2 BA3 BA4 BA5  BB  BB1 BB2 BB3  CA  CA1 CA2  Altitude (m) ≤ 2 000 &gt; 2 000  Eau  Négligeable Gouttes Aspersion Projections Jets Paquets Immersion Submersion  Corps étrangers  Négligeables Petits Très petits Poussière légère  Corrosion  Négligeable Atmosphérique Intermittente Permanente  Compétence  Ordinaires Enfants Handicapés Avertis Qualifiés  Résistance  Normale Faible Très faible  Matériaux  Non combustibles Combustibles  AG  AG1 AG2 AG3 AG4  AH  AH1 AH2 AH3  AK  AK1 AK2  AL  AL1 AL2  AM  AM1 à AM9 AM21 A AM25 AM31  AM41  AN  AN1 AN2 AN3  BC  BC1 BC2 BC3 BC4  BD  BD1 BD2 BD3 BD4  CB  CB1 CB2 CB3 CB4  Impact  Faibles Moyens Importants Très importants  Vibrations  Faibles Moyennes Importantes  Flore  Négligeable Risque  Faune  Négligeables Risque  Influences électromagnétiques  Phénomènes à basse fréquence  Phénomènes à haute fréquence  Décharges électrostatiques Ionisation  Soleil  Faibles Significatifs Forts  Contacts  Nuls Faibles Fréquents Continus  Evacuation  Normales Difficiles Encombrées Difficiles et encombrées  Structure  Négligeable Propagation d’incendie Mouvements Flexible  ______________  - 189 -  2002   Partie 5-52 – Règles complémentaires pour les canalisations  520 Généralités.</a:t>
            </a:r>
          </a:p>
          <a:p>
            <a:pPr>
              <a:defRPr sz="1600"/>
            </a:pPr>
            <a:r>
              <a:t>192 521 Modes de pose.</a:t>
            </a:r>
          </a:p>
          <a:p>
            <a:pPr>
              <a:defRPr sz="1600"/>
            </a:pPr>
            <a:r>
              <a:t>195 522 Choix et mise en œuvre en fonction des influences externes.</a:t>
            </a:r>
          </a:p>
          <a:p>
            <a:pPr>
              <a:defRPr sz="1600"/>
            </a:pPr>
            <a:r>
              <a:t>203 523 Courants admissibles.</a:t>
            </a:r>
          </a:p>
          <a:p>
            <a:pPr>
              <a:defRPr sz="1600"/>
            </a:pPr>
            <a:r>
              <a:t>206 524 Sections des conducteurs.</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520.1 Le choix et la mise en œuvre des canalisations doivent tenir compte des principes</a:t>
            </a:r>
          </a:p>
        </p:txBody>
      </p:sp>
      <p:sp>
        <p:nvSpPr>
          <p:cNvPr id="3" name="Content Placeholder 2"/>
          <p:cNvSpPr>
            <a:spLocks noGrp="1"/>
          </p:cNvSpPr>
          <p:nvPr>
            <p:ph idx="1"/>
          </p:nvPr>
        </p:nvSpPr>
        <p:spPr/>
        <p:txBody>
          <a:bodyPr/>
          <a:lstStyle/>
          <a:p>
            <a:pPr>
              <a:defRPr sz="1600"/>
            </a:pPr>
            <a:r>
              <a:t>fondamentaux de la partie 1, applicables aux conducteurs et câbles, à leurs connexions et à leurs extrémités, à leurs supports et leurs enveloppes ou méthodes de protection contre les influences externes.</a:t>
            </a:r>
          </a:p>
          <a:p>
            <a:pPr>
              <a:defRPr sz="1600"/>
            </a:pPr>
            <a:r>
              <a:t>NOTE - En général, la présente partie s'applique également aux conducteurs de protection, mais la partie 5-54 contient d'autres prescriptions pour ces conducteurs.</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520.2.1 Profilés, conduits et systèmes de conduits</a:t>
            </a:r>
          </a:p>
        </p:txBody>
      </p:sp>
      <p:sp>
        <p:nvSpPr>
          <p:cNvPr id="3" name="Content Placeholder 2"/>
          <p:cNvSpPr>
            <a:spLocks noGrp="1"/>
          </p:cNvSpPr>
          <p:nvPr>
            <p:ph idx="1"/>
          </p:nvPr>
        </p:nvSpPr>
        <p:spPr/>
        <p:txBody>
          <a:bodyPr/>
          <a:lstStyle/>
          <a:p>
            <a:pPr>
              <a:defRPr sz="1600"/>
            </a:pPr>
            <a:r>
              <a:t>- Plinthes, moulures et chambranles en bois : Règles et dimensions (1)  H  ; - Profilés utilisés pour le cheminement des conducteurs et câbles et leurs accessoires de pose : Règles (2)  ; - Systèmes de profilés utilisés pour le cheminement des conducteurs et câbles : Règles (3)  ; - Systèmes de conduits pour installations électriques – partie 2-2 : Règles particulières pour les systèmes de conduits cintrables – types ICA, ICTA, ICTL (4)  ; - Systèmes de conduits pour installations électriques – partie 2-1 : Règles particulières pour les systèmes de conduits rigides - types IRL, MRL (5)  ; - Systèmes de conduits pour installations électriques – partie 2-3 : Règles particulières pour les systèmes de conduits souples - type CSA (6)  ; - Systèmes de conduits pour installations électriques – partie 2-4 : Règles particulières pour les systèmes de conduits enterrés dans le sol - type TPC (7).</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520.2.2 Conducteurs et câbles</a:t>
            </a:r>
          </a:p>
        </p:txBody>
      </p:sp>
      <p:sp>
        <p:nvSpPr>
          <p:cNvPr id="3" name="Content Placeholder 2"/>
          <p:cNvSpPr>
            <a:spLocks noGrp="1"/>
          </p:cNvSpPr>
          <p:nvPr>
            <p:ph idx="1"/>
          </p:nvPr>
        </p:nvSpPr>
        <p:spPr/>
        <p:txBody>
          <a:bodyPr/>
          <a:lstStyle/>
          <a:p>
            <a:pPr>
              <a:defRPr sz="1600"/>
            </a:pPr>
            <a:r>
              <a:t>Les profilés comprennent les goulottes, les moulures et les conduits profilés.</a:t>
            </a:r>
          </a:p>
          <a:p>
            <a:pPr>
              <a:defRPr sz="1600"/>
            </a:pPr>
            <a:r>
              <a:t>Le tableau 52A précise les normes à considérer et les caractéristiques des câbles et conducteurs isolés.</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520.2.3 Presse-étoupe</a:t>
            </a:r>
          </a:p>
        </p:txBody>
      </p:sp>
      <p:sp>
        <p:nvSpPr>
          <p:cNvPr id="3" name="Content Placeholder 2"/>
          <p:cNvSpPr>
            <a:spLocks noGrp="1"/>
          </p:cNvSpPr>
          <p:nvPr>
            <p:ph idx="1"/>
          </p:nvPr>
        </p:nvSpPr>
        <p:spPr/>
        <p:txBody>
          <a:bodyPr/>
          <a:lstStyle/>
          <a:p>
            <a:pPr>
              <a:defRPr sz="1600"/>
            </a:pPr>
            <a:r>
              <a:t>Pour l'application des règles énoncées en 511.</a:t>
            </a:r>
          </a:p>
          <a:p>
            <a:pPr>
              <a:defRPr sz="1600"/>
            </a:pPr>
            <a:r>
              <a:t>1, les normes à considérer sont les suivantes : - Presse-étoupe à pas métrique (8)  ; - Presse-étoupe à pas non-métrique - Règles générales (9) ; - Presse-étoupe à pas non-métrique en matière plastique - Règles particulières (10) ; - Presse-étoupe à pas non-métrique métalliques - Règles particulières (11).</a:t>
            </a:r>
          </a:p>
          <a:p>
            <a:pPr>
              <a:defRPr sz="1600"/>
            </a:pPr>
            <a:r>
              <a:t>-191-  (1) NF C 68-091 (2) NF C 68-102 (3) NF C 68-104 (4) NF EN 50086-2-2 (C 68-112) (5) NF EN 50086-2-1 (C 68-111) (6) NF EN 50086-2-3 (C 68-113) (7) NF EN 50086-2-4 (C 68-114) (8) NF EN 50262 (C 68-302) (9) UTE C 68-300 (10) UTE C 68-311 (11) UTE C 68-312     Le tableau 52A précise les normes à considérer dont les lettres ont la signification suivante :  Colonne 1 :  Colonne 2 :  Colonne 3 :  Colonne 4 :  Colonne 5 :  Colonne 6 :  Les câbles indiqués en gras sont les plus couramment utilisés.</a:t>
            </a:r>
          </a:p>
          <a:p>
            <a:pPr>
              <a:defRPr sz="1600"/>
            </a:pPr>
            <a:r>
              <a:t>A H FR-N U  Type national reconnu.</a:t>
            </a:r>
          </a:p>
          <a:p>
            <a:pPr>
              <a:defRPr sz="1600"/>
            </a:pPr>
            <a:r>
              <a:t>Type harmonisé.</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521.1 Généralités</a:t>
            </a:r>
          </a:p>
        </p:txBody>
      </p:sp>
      <p:sp>
        <p:nvSpPr>
          <p:cNvPr id="3" name="Content Placeholder 2"/>
          <p:cNvSpPr>
            <a:spLocks noGrp="1"/>
          </p:cNvSpPr>
          <p:nvPr>
            <p:ph idx="1"/>
          </p:nvPr>
        </p:nvSpPr>
        <p:spPr/>
        <p:txBody>
          <a:bodyPr/>
          <a:lstStyle/>
          <a:p>
            <a:pPr>
              <a:defRPr sz="1600"/>
            </a:pPr>
            <a:r>
              <a:t>Des exemples de modes de pose sont présentés dans le tableau 52C.</a:t>
            </a:r>
          </a:p>
          <a:p>
            <a:pPr>
              <a:defRPr sz="1600"/>
            </a:pPr>
            <a:r>
              <a:t>NOTE - D'autres modes de pose, non décrits dans cette partie, peuvent être utilisés à condition de satisfaire aux prescriptions générales de la présente partie.</a:t>
            </a:r>
          </a:p>
          <a:p>
            <a:pPr>
              <a:defRPr sz="1600"/>
            </a:pPr>
            <a:r>
              <a:t>Les règles particulières aux différents modes de pose sont précisées en 529.</a:t>
            </a:r>
          </a:p>
          <a:p>
            <a:pPr>
              <a:defRPr sz="1600"/>
            </a:pPr>
            <a:r>
              <a:t>Le guide UTE C 15-520 donne des indications sur les conditions d'utilisation et de mise en œuvre des différents modes de pose.</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521.2 Choix des canalisations</a:t>
            </a:r>
          </a:p>
        </p:txBody>
      </p:sp>
      <p:sp>
        <p:nvSpPr>
          <p:cNvPr id="3" name="Content Placeholder 2"/>
          <p:cNvSpPr>
            <a:spLocks noGrp="1"/>
          </p:cNvSpPr>
          <p:nvPr>
            <p:ph idx="1"/>
          </p:nvPr>
        </p:nvSpPr>
        <p:spPr/>
        <p:txBody>
          <a:bodyPr/>
          <a:lstStyle/>
          <a:p>
            <a:pPr>
              <a:defRPr sz="1600"/>
            </a:pPr>
            <a:r>
              <a:t>Tableau 52B – Choix des canalisations Conducteurs et câbles Modes de pose  H  H  n o i t a x i f  s n a S  Conducteurs nus.</a:t>
            </a:r>
          </a:p>
          <a:p>
            <a:pPr>
              <a:defRPr sz="1600"/>
            </a:pPr>
            <a:r>
              <a:t>N  Conducteurs isolés.</a:t>
            </a:r>
          </a:p>
          <a:p>
            <a:pPr>
              <a:defRPr sz="1600"/>
            </a:pPr>
            <a:r>
              <a:t>N Câbles (y compris Multiconducteurs.</a:t>
            </a:r>
          </a:p>
          <a:p>
            <a:pPr>
              <a:defRPr sz="1600"/>
            </a:pPr>
            <a:r>
              <a:t>A câbles armés) Monoconducteurs.</a:t>
            </a:r>
          </a:p>
          <a:p>
            <a:pPr>
              <a:defRPr sz="1600"/>
            </a:pPr>
            <a:r>
              <a:t>0  A  Admis  l  , s e b â c e d  i  s n m e h C  e t c e r i d n o  i t  a x F  i  N  N  A  A  s t i  u d n o c e d  s e m è t s y S  N  A*  A  A  s e  l  t t o u o G  N  A*  A  A  , s e  t t  l  e b a t , s e  l l  e h c é  N  N  A  A  x u a e b r o c  s r u e t a o s  l  i  r u S  A  A  0  0  r u e  t r o p  l  e b â C  N  N  A  A  A* Les conducteurs isolés ne sont admis que si le conduit, conduit-profilé ou goulotte possède le degré de protection IP4X ou IPXXD et que les couvercles de la goulotte nécessitent l'emploi d'un outil pour être retirés.</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521.3 (disponible)</a:t>
            </a:r>
          </a:p>
        </p:txBody>
      </p:sp>
      <p:sp>
        <p:nvSpPr>
          <p:cNvPr id="3" name="Content Placeholder 2"/>
          <p:cNvSpPr>
            <a:spLocks noGrp="1"/>
          </p:cNvSpPr>
          <p:nvPr>
            <p:ph idx="1"/>
          </p:nvPr>
        </p:nvSpPr>
        <p:spPr/>
        <p:txBody>
          <a:bodyPr/>
          <a:lstStyle/>
          <a:p>
            <a:pPr>
              <a:defRPr sz="1600"/>
            </a:pPr>
            <a:r>
              <a:t>H.</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521.4 Canalisations préfabriquées</a:t>
            </a:r>
          </a:p>
        </p:txBody>
      </p:sp>
      <p:sp>
        <p:nvSpPr>
          <p:cNvPr id="3" name="Content Placeholder 2"/>
          <p:cNvSpPr>
            <a:spLocks noGrp="1"/>
          </p:cNvSpPr>
          <p:nvPr>
            <p:ph idx="1"/>
          </p:nvPr>
        </p:nvSpPr>
        <p:spPr/>
        <p:txBody>
          <a:bodyPr/>
          <a:lstStyle/>
          <a:p>
            <a:pPr>
              <a:defRPr sz="1600"/>
            </a:pPr>
            <a:r>
              <a:t>Les canalisations préfabriquées doivent être conformes à la norme en vigueur (12) et mises en œuvres suivant les instructions du constructeur.</a:t>
            </a:r>
          </a:p>
          <a:p>
            <a:pPr>
              <a:defRPr sz="1600"/>
            </a:pPr>
            <a:r>
              <a:t>Leur installation doit satisfaire aux prescriptions des articles 522, 525, 526, 527 et 528.</a:t>
            </a:r>
          </a:p>
          <a:p>
            <a:pPr>
              <a:defRPr sz="1600"/>
            </a:pPr>
            <a:r>
              <a:t>Le guide UTE C 15-107 contient des informations permettant d'effectuer les différents calculs destinés à choisir les canalisations préfabriquées leur permettant d'assurer les différentes conditions de protection définies par les règles de la présente norme.</a:t>
            </a:r>
          </a:p>
          <a:p>
            <a:pPr>
              <a:defRPr sz="1600"/>
            </a:pPr>
            <a:r>
              <a:t>Les dispositions de cet article s'appliquent également aux systèmes de distribution électrique par canalisation préfabriquée équipée de socles de prises de courant 16A conformes à la norme en vigueur (12).</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521.5 Circuits en courant alternatif et enveloppes en matériau ferromagnétique</a:t>
            </a:r>
          </a:p>
        </p:txBody>
      </p:sp>
      <p:sp>
        <p:nvSpPr>
          <p:cNvPr id="3" name="Content Placeholder 2"/>
          <p:cNvSpPr>
            <a:spLocks noGrp="1"/>
          </p:cNvSpPr>
          <p:nvPr>
            <p:ph idx="1"/>
          </p:nvPr>
        </p:nvSpPr>
        <p:spPr/>
        <p:txBody>
          <a:bodyPr/>
          <a:lstStyle/>
          <a:p>
            <a:pPr>
              <a:defRPr sz="1600"/>
            </a:pPr>
            <a:r>
              <a:t>H  Les conducteurs des circuits en courant alternatif disposés dans des enveloppes en matériau ferromagnétique doivent être installés de telle manière que les conducteurs de chaque circuit se trouvent dans la même enveloppe.</a:t>
            </a:r>
          </a:p>
          <a:p>
            <a:pPr>
              <a:defRPr sz="1600"/>
            </a:pPr>
            <a:r>
              <a:t>NOTE - Si cette condition n'est pas remplie, des suréchauffements et des chutes de tension excessives peuvent se produire en raison de phénomènes d'induction.</a:t>
            </a:r>
          </a:p>
          <a:p>
            <a:pPr>
              <a:defRPr sz="1600"/>
            </a:pPr>
            <a:r>
              <a:t>Cette condition concerne notamment revêtement métallique.</a:t>
            </a:r>
          </a:p>
          <a:p>
            <a:pPr>
              <a:defRPr sz="1600"/>
            </a:pPr>
            <a:r>
              <a:t>les conduits métalliques et  les câbles comportant un  Des colliers ferromagnétiques peuvent également s'échauffer et il est préférable d'utiliser des colliers en matériau amagnétique.</a:t>
            </a:r>
          </a:p>
          <a:p>
            <a:pPr>
              <a:defRPr sz="1600"/>
            </a:pPr>
            <a:r>
              <a:t>Il est rappelé que dans les schémas TN et IT, le conducteur de protection doit également être installé dans la même enveloppe que les conducteurs actifs.</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521.6.1 Des conducteurs appartenant à des circuits différents peuvent emprunter un même câble</a:t>
            </a:r>
          </a:p>
        </p:txBody>
      </p:sp>
      <p:sp>
        <p:nvSpPr>
          <p:cNvPr id="3" name="Content Placeholder 2"/>
          <p:cNvSpPr>
            <a:spLocks noGrp="1"/>
          </p:cNvSpPr>
          <p:nvPr>
            <p:ph idx="1"/>
          </p:nvPr>
        </p:nvSpPr>
        <p:spPr/>
        <p:txBody>
          <a:bodyPr/>
          <a:lstStyle/>
          <a:p>
            <a:pPr>
              <a:defRPr sz="1600"/>
            </a:pPr>
            <a:r>
              <a:t>multiconducteur, un même conduit ou un même compartiment de goulotte, sous réserve que tous les conducteurs soient isolés pour la tension assignée présente la plus élevée.</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521.6.2 Les câbles monoconducteurs et les conducteurs isolés, appartenant à un même circuit,</a:t>
            </a:r>
          </a:p>
        </p:txBody>
      </p:sp>
      <p:sp>
        <p:nvSpPr>
          <p:cNvPr id="3" name="Content Placeholder 2"/>
          <p:cNvSpPr>
            <a:spLocks noGrp="1"/>
          </p:cNvSpPr>
          <p:nvPr>
            <p:ph idx="1"/>
          </p:nvPr>
        </p:nvSpPr>
        <p:spPr/>
        <p:txBody>
          <a:bodyPr/>
          <a:lstStyle/>
          <a:p>
            <a:pPr>
              <a:defRPr sz="1600"/>
            </a:pPr>
            <a:r>
              <a:t>doivent être posés à proximité immédiate les uns des autres.</a:t>
            </a:r>
          </a:p>
          <a:p>
            <a:pPr>
              <a:defRPr sz="1600"/>
            </a:pPr>
            <a:r>
              <a:t>Cette règle s'applique également au conducteur de protection correspondant   (voir 544.</a:t>
            </a:r>
          </a:p>
          <a:p>
            <a:pPr>
              <a:defRPr sz="1600"/>
            </a:pPr>
            <a:r>
              <a:t>1).</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521.6.3 Lorsque plusieurs câbles monoconducteurs sont réunis en parallèle, ils sont répartis en</a:t>
            </a:r>
          </a:p>
        </p:txBody>
      </p:sp>
      <p:sp>
        <p:nvSpPr>
          <p:cNvPr id="3" name="Content Placeholder 2"/>
          <p:cNvSpPr>
            <a:spLocks noGrp="1"/>
          </p:cNvSpPr>
          <p:nvPr>
            <p:ph idx="1"/>
          </p:nvPr>
        </p:nvSpPr>
        <p:spPr/>
        <p:txBody>
          <a:bodyPr/>
          <a:lstStyle/>
          <a:p>
            <a:pPr>
              <a:defRPr sz="1600"/>
            </a:pPr>
            <a:r>
              <a:t>autant de groupes qu'il existe de conducteurs en parallèle, chaque groupe comprenant un conducteur de chaque phase ou polarité.</a:t>
            </a:r>
          </a:p>
          <a:p>
            <a:pPr>
              <a:defRPr sz="1600"/>
            </a:pPr>
            <a:r>
              <a:t>Les conducteurs de chaque groupe doivent être posés à proximité les uns des autres.</a:t>
            </a:r>
          </a:p>
          <a:p>
            <a:pPr>
              <a:defRPr sz="1600"/>
            </a:pPr>
            <a:r>
              <a:t>Ces dispositions ont pour but de réduire les impédances de boucle et d'assurer la répartition correcte des courants dans les conducteurs en parallèle (voir 523.</a:t>
            </a:r>
          </a:p>
          <a:p>
            <a:pPr>
              <a:defRPr sz="1600"/>
            </a:pPr>
            <a:r>
              <a:t>6).</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521.6.4 Les canalisations doivent être choisies et installées de manière à empêcher pendant la mise</a:t>
            </a:r>
          </a:p>
        </p:txBody>
      </p:sp>
      <p:sp>
        <p:nvSpPr>
          <p:cNvPr id="3" name="Content Placeholder 2"/>
          <p:cNvSpPr>
            <a:spLocks noGrp="1"/>
          </p:cNvSpPr>
          <p:nvPr>
            <p:ph idx="1"/>
          </p:nvPr>
        </p:nvSpPr>
        <p:spPr/>
        <p:txBody>
          <a:bodyPr/>
          <a:lstStyle/>
          <a:p>
            <a:pPr>
              <a:defRPr sz="1600"/>
            </a:pPr>
            <a:r>
              <a:t>en œuvre, l'utilisation et la maintenance, tout dommage aux gaines et à l'isolation des conducteurs isolés et des câbles.</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521.6.5 Les dimensions intérieures des conduits, des conduits-profilés et des accessoires de</a:t>
            </a:r>
          </a:p>
        </p:txBody>
      </p:sp>
      <p:sp>
        <p:nvSpPr>
          <p:cNvPr id="3" name="Content Placeholder 2"/>
          <p:cNvSpPr>
            <a:spLocks noGrp="1"/>
          </p:cNvSpPr>
          <p:nvPr>
            <p:ph idx="1"/>
          </p:nvPr>
        </p:nvSpPr>
        <p:spPr/>
        <p:txBody>
          <a:bodyPr/>
          <a:lstStyle/>
          <a:p>
            <a:pPr>
              <a:defRPr sz="1600"/>
            </a:pPr>
            <a:r>
              <a:t>raccordement doivent permettre de tirer et de retirer facilement les conducteurs ou câbles après la pose des conduits et de leurs accessoires.</a:t>
            </a:r>
          </a:p>
          <a:p>
            <a:pPr>
              <a:defRPr sz="1600"/>
            </a:pPr>
            <a:r>
              <a:t>Dans le cas de conducteurs, cette règle est satisfaite si leur section d'occupation, toutes protections comprises, n'est pas supérieure au tiers de la section intérieure du conduit ou du conduit-profilé.</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521.6.6 Le rayon de courbure d'une canalisation doit être tel que les conducteurs et câbles ne soient</a:t>
            </a:r>
          </a:p>
        </p:txBody>
      </p:sp>
      <p:sp>
        <p:nvSpPr>
          <p:cNvPr id="3" name="Content Placeholder 2"/>
          <p:cNvSpPr>
            <a:spLocks noGrp="1"/>
          </p:cNvSpPr>
          <p:nvPr>
            <p:ph idx="1"/>
          </p:nvPr>
        </p:nvSpPr>
        <p:spPr/>
        <p:txBody>
          <a:bodyPr/>
          <a:lstStyle/>
          <a:p>
            <a:pPr>
              <a:defRPr sz="1600"/>
            </a:pPr>
            <a:r>
              <a:t>pas endommagés.</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521.6.7 Lorsque les conducteurs et câbles ne sont pas supportés sur toute leur longueur par des</a:t>
            </a:r>
          </a:p>
        </p:txBody>
      </p:sp>
      <p:sp>
        <p:nvSpPr>
          <p:cNvPr id="3" name="Content Placeholder 2"/>
          <p:cNvSpPr>
            <a:spLocks noGrp="1"/>
          </p:cNvSpPr>
          <p:nvPr>
            <p:ph idx="1"/>
          </p:nvPr>
        </p:nvSpPr>
        <p:spPr/>
        <p:txBody>
          <a:bodyPr/>
          <a:lstStyle/>
          <a:p>
            <a:pPr>
              <a:defRPr sz="1600"/>
            </a:pPr>
            <a:r>
              <a:t>supports ou en raison de leur mode de pose, ils doivent être supportés par des moyens appropriés à des intervalles suffisants de telle manière que les conducteurs et câbles ne soient pas endommagés par leur propre poids.</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521.6.8 Lorsque les canalisations sont soumises à une traction permanente (par exemple en raison</a:t>
            </a:r>
          </a:p>
        </p:txBody>
      </p:sp>
      <p:sp>
        <p:nvSpPr>
          <p:cNvPr id="3" name="Content Placeholder 2"/>
          <p:cNvSpPr>
            <a:spLocks noGrp="1"/>
          </p:cNvSpPr>
          <p:nvPr>
            <p:ph idx="1"/>
          </p:nvPr>
        </p:nvSpPr>
        <p:spPr/>
        <p:txBody>
          <a:bodyPr/>
          <a:lstStyle/>
          <a:p>
            <a:pPr>
              <a:defRPr sz="1600"/>
            </a:pPr>
            <a:r>
              <a:t>de leur propre poids en parcours vertical), un type approprié de câble ou conducteur avec une section et un mode de pose appropriés doit être choisi, de manière à éviter tout dommage aux câbles ou conducteurs et à leurs supports.</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521.6.9 Les canalisations dans lesquelles des conducteurs ou câbles doivent être tirés doivent</a:t>
            </a:r>
          </a:p>
        </p:txBody>
      </p:sp>
      <p:sp>
        <p:nvSpPr>
          <p:cNvPr id="3" name="Content Placeholder 2"/>
          <p:cNvSpPr>
            <a:spLocks noGrp="1"/>
          </p:cNvSpPr>
          <p:nvPr>
            <p:ph idx="1"/>
          </p:nvPr>
        </p:nvSpPr>
        <p:spPr/>
        <p:txBody>
          <a:bodyPr/>
          <a:lstStyle/>
          <a:p>
            <a:pPr>
              <a:defRPr sz="1600"/>
            </a:pPr>
            <a:r>
              <a:t>comporter des moyens d'accès appropriés pour permettre leur tirage.</a:t>
            </a:r>
          </a:p>
          <a:p>
            <a:pPr>
              <a:defRPr sz="1600"/>
            </a:pPr>
            <a:r>
              <a:t>Cette prescription s'applique notamment à la pose des conduits dans des caniveaux fermés et dans des vides de construction.</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521.6.10 Les canalisations encastrées dans les planchers doivent être suffisamment protégées</a:t>
            </a:r>
          </a:p>
        </p:txBody>
      </p:sp>
      <p:sp>
        <p:nvSpPr>
          <p:cNvPr id="3" name="Content Placeholder 2"/>
          <p:cNvSpPr>
            <a:spLocks noGrp="1"/>
          </p:cNvSpPr>
          <p:nvPr>
            <p:ph idx="1"/>
          </p:nvPr>
        </p:nvSpPr>
        <p:spPr/>
        <p:txBody>
          <a:bodyPr/>
          <a:lstStyle/>
          <a:p>
            <a:pPr>
              <a:defRPr sz="1600"/>
            </a:pPr>
            <a:r>
              <a:t>contre les dommages dus à l'utilisation prévue du plancher.</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521.6.11 Les parcours des canalisations apparentes qui sont rigidement fixées doivent être</a:t>
            </a:r>
          </a:p>
        </p:txBody>
      </p:sp>
      <p:sp>
        <p:nvSpPr>
          <p:cNvPr id="3" name="Content Placeholder 2"/>
          <p:cNvSpPr>
            <a:spLocks noGrp="1"/>
          </p:cNvSpPr>
          <p:nvPr>
            <p:ph idx="1"/>
          </p:nvPr>
        </p:nvSpPr>
        <p:spPr/>
        <p:txBody>
          <a:bodyPr/>
          <a:lstStyle/>
          <a:p>
            <a:pPr>
              <a:defRPr sz="1600"/>
            </a:pPr>
            <a:r>
              <a:t>horizontaux ou verticaux ou parallèles aux arêtes des parois.</a:t>
            </a:r>
          </a:p>
          <a:p>
            <a:pPr>
              <a:defRPr sz="1600"/>
            </a:pPr>
            <a:r>
              <a:t>Ceci ne s'oppose pas à des parcours obliques lorsque de tels parcours sont nécessaires, par exemple pour des changements de plan ou le contournement d'obstacles.</a:t>
            </a:r>
          </a:p>
          <a:p>
            <a:pPr>
              <a:defRPr sz="1600"/>
            </a:pPr>
            <a:r>
              <a:t>Les canalisations noyées ou encastrées dans les plafonds ou planchers peuvent suivre le parcours pratique le plus courPour les canalisations encastrées dans des murs ou cloisons, voir le guide UTE C 15-520.</a:t>
            </a:r>
          </a:p>
          <a:p>
            <a:pPr>
              <a:defRPr sz="1600"/>
            </a:pPr>
            <a:r>
              <a:t>- 202 -.</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521.6.12 Les câbles souples doivent être installés de manière à éviter des efforts de traction</a:t>
            </a:r>
          </a:p>
        </p:txBody>
      </p:sp>
      <p:sp>
        <p:nvSpPr>
          <p:cNvPr id="3" name="Content Placeholder 2"/>
          <p:cNvSpPr>
            <a:spLocks noGrp="1"/>
          </p:cNvSpPr>
          <p:nvPr>
            <p:ph idx="1"/>
          </p:nvPr>
        </p:nvSpPr>
        <p:spPr/>
        <p:txBody>
          <a:bodyPr/>
          <a:lstStyle/>
          <a:p>
            <a:pPr>
              <a:defRPr sz="1600"/>
            </a:pPr>
            <a:r>
              <a:t>excessifs sur les conducteurs ; les connexions et la gaine ou autres moyens de protection doivent être fixés de façon sûre aux deux extrémités.</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521.7 Protection contre les influences externes</a:t>
            </a:r>
          </a:p>
        </p:txBody>
      </p:sp>
      <p:sp>
        <p:nvSpPr>
          <p:cNvPr id="3" name="Content Placeholder 2"/>
          <p:cNvSpPr>
            <a:spLocks noGrp="1"/>
          </p:cNvSpPr>
          <p:nvPr>
            <p:ph idx="1"/>
          </p:nvPr>
        </p:nvSpPr>
        <p:spPr/>
        <p:txBody>
          <a:bodyPr/>
          <a:lstStyle/>
          <a:p>
            <a:pPr>
              <a:defRPr sz="1600"/>
            </a:pPr>
            <a:r>
              <a:t>La protection contre les influences externes conférée par le mode de pose doit être assurée de façon continue sur tout le parcours des canalisations, notamment aux angles, changements de plan et endroits de pénétration dans les appareils.</a:t>
            </a:r>
          </a:p>
          <a:p>
            <a:pPr>
              <a:defRPr sz="1600"/>
            </a:pPr>
            <a:r>
              <a:t>Le raccordement doit assurer, si nécessaire, l'étanchéité, par exemple à l'aide de presse-étoupe.</a:t>
            </a:r>
          </a:p>
          <a:p>
            <a:pPr>
              <a:defRPr sz="1600"/>
            </a:pPr>
            <a:r>
              <a:t>Les conditions de protection contre les influences externes sont indiquées en 522.</a:t>
            </a:r>
          </a:p>
          <a:p>
            <a:pPr>
              <a:defRPr sz="1600"/>
            </a:pPr>
            <a:r>
              <a:t>Les systèmes de goulottes conformes à la norme NF C 68-104 et les systèmes de conduits conformes à leurs normes assurent, après installation, un degré de protection IP homogène quel que soit l'accessoire du système utilisé.</a:t>
            </a:r>
          </a:p>
          <a:p>
            <a:pPr>
              <a:defRPr sz="1600"/>
            </a:pPr>
            <a:r>
              <a:t>Lorsque les canalisations comportent une gaine conférant un certain degré de protection, le presse- étoupe est serré sur cette gaine.</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521.8 Traversées</a:t>
            </a:r>
          </a:p>
        </p:txBody>
      </p:sp>
      <p:sp>
        <p:nvSpPr>
          <p:cNvPr id="3" name="Content Placeholder 2"/>
          <p:cNvSpPr>
            <a:spLocks noGrp="1"/>
          </p:cNvSpPr>
          <p:nvPr>
            <p:ph idx="1"/>
          </p:nvPr>
        </p:nvSpPr>
        <p:spPr/>
        <p:txBody>
          <a:bodyPr/>
          <a:lstStyle/>
          <a:p>
            <a:pPr>
              <a:defRPr sz="1600"/>
            </a:pPr>
            <a:r>
              <a:t>Dans les traversées de parois, les canalisations autres que celles constituées de conduits de degré de protection mécanique au moins égal à IK07, doivent comporter une protection mécanique supplémentaire constituée par un fourreau.</a:t>
            </a:r>
          </a:p>
          <a:p>
            <a:pPr>
              <a:defRPr sz="1600"/>
            </a:pPr>
            <a:r>
              <a:t>522 Choix et mise en œuvre en fonction des influences externes  H  Les règles essentielles de choix règles complémentaires pour les canalisations sont énoncées dans cet article.</a:t>
            </a:r>
          </a:p>
          <a:p>
            <a:pPr>
              <a:defRPr sz="1600"/>
            </a:pPr>
            <a:r>
              <a:t>et de mise en œuvre des matériels sont données en 512.</a:t>
            </a:r>
          </a:p>
          <a:p>
            <a:pPr>
              <a:defRPr sz="1600"/>
            </a:pPr>
            <a:r>
              <a:t>2.</a:t>
            </a:r>
          </a:p>
          <a:p>
            <a:pPr>
              <a:defRPr sz="1600"/>
            </a:pPr>
            <a:r>
              <a:t>Des  Le tableau 52D indique pour chaque série de câbles normalisée les classes des influences externes dans lesquelles ils peuvent être utilisés.</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522.1 Sources externes de chaleur</a:t>
            </a:r>
          </a:p>
        </p:txBody>
      </p:sp>
      <p:sp>
        <p:nvSpPr>
          <p:cNvPr id="3" name="Content Placeholder 2"/>
          <p:cNvSpPr>
            <a:spLocks noGrp="1"/>
          </p:cNvSpPr>
          <p:nvPr>
            <p:ph idx="1"/>
          </p:nvPr>
        </p:nvSpPr>
        <p:spPr/>
        <p:txBody>
          <a:bodyPr/>
          <a:lstStyle/>
          <a:p>
            <a:pPr>
              <a:defRPr sz="1600"/>
            </a:pPr>
            <a:r>
              <a:t>H.</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522.1.1 Afin d'éviter les effets de la chaleur émise par des sources externes, les méthodes</a:t>
            </a:r>
          </a:p>
        </p:txBody>
      </p:sp>
      <p:sp>
        <p:nvSpPr>
          <p:cNvPr id="3" name="Content Placeholder 2"/>
          <p:cNvSpPr>
            <a:spLocks noGrp="1"/>
          </p:cNvSpPr>
          <p:nvPr>
            <p:ph idx="1"/>
          </p:nvPr>
        </p:nvSpPr>
        <p:spPr/>
        <p:txBody>
          <a:bodyPr/>
          <a:lstStyle/>
          <a:p>
            <a:pPr>
              <a:defRPr sz="1600"/>
            </a:pPr>
            <a:r>
              <a:t>suivantes, ou d'autres méthodes aussi efficaces, doivent être utilisées pour protéger les canalisations :  - - - -  écran de protection ; éloignement suffisant des sources de chaleur ; choix d'une canalisation tenant compte des effets nuisibles qui peuvent se produire ; renforcement local ou modification du matériau isolant.</a:t>
            </a:r>
          </a:p>
          <a:p>
            <a:pPr>
              <a:defRPr sz="1600"/>
            </a:pPr>
            <a:r>
              <a:t>NOTE - La chaleur émise par des sources extérieures peut être transmise par rayonnement, par convection ou par conduction, provenant :  - - - - -  de distributions d'eau chaude ; d'installations, appareils et luminaires ; de procédés de fabrication ; de transmission par des matériaux conducteurs de la chaleur ; d'absorption par la canalisation de la chaleur du soleil ou du milieu environnant.</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522.3 Influences électromagnétiques, électrostatiques ou ionisantes (AM)</a:t>
            </a:r>
          </a:p>
        </p:txBody>
      </p:sp>
      <p:sp>
        <p:nvSpPr>
          <p:cNvPr id="3" name="Content Placeholder 2"/>
          <p:cNvSpPr>
            <a:spLocks noGrp="1"/>
          </p:cNvSpPr>
          <p:nvPr>
            <p:ph idx="1"/>
          </p:nvPr>
        </p:nvSpPr>
        <p:spPr/>
        <p:txBody>
          <a:bodyPr/>
          <a:lstStyle/>
          <a:p>
            <a:pPr>
              <a:defRPr sz="1600"/>
            </a:pPr>
            <a:r>
              <a:t>Voir 444 et le guide UTE C 15-900.</a:t>
            </a:r>
          </a:p>
          <a:p>
            <a:pPr>
              <a:defRPr sz="1600"/>
            </a:pPr>
            <a:r>
              <a:t>- 204 -   Tableau 52D - Conditions d'utilisation des conducteurs isolés et des câbles  N°  Désignation  AA  AD  AE  AF  AG  AH  AK  AL  BB  BC  BD  BE  CA  CB  10  11  12  13  14  15  16  1  1 2 3 4 5 6  7  8 9  21 22 23 24 25 26 27 28  51 52 53 54  2  3  4  5  6  7  CÂBLES ISOLÉS AUX ÉLASTOMÈRES (famille PR)  U 1000 R2V U 1000 RVFV U 1000 RGPFV FR-N1 X1X2 FR-N1 X1G1 FR-N1 X1X2Z4X2 FR-N1 X1G1Z4G1 0,6/1 Torsades FR-N1XDV-AR- AS,-AU  4 à 6(a) 4 à 6(a) 4 à 6(a) 4 à 6(a) 4 à 6(a) 4 à 6(a)  7 (e) 7 (e) 8 6  4 à 6(a)  6  1 à 6 4 à 6(a)  6 7(e)  H 07 BB-F H 07 BN4-F H 07 BQ-F H 07 RN-F A 07 RN-F H 07 RN8-F FR-N 07 X4X5-F H 07 ZZ-F  3 à 6 4 à 6(a) 2 à 6 3 à 5 3 à 5 4 à 6(a) 4 à 6(a) 4 à 6(a)  H 05 BB-F H 05 GG-F H 05 RR-F A-05 RR-F  3 à 6 5 à 6 3 à 5 3 à 5  7(e) 7(e) 7 e) 7(e) 7(e) 8 6 6  4 4 4 4  4 4 4 4 4 4  4  4 4  4 4 4 4 4 4 4 4  4 4 4 4  1 à 3 1 à 3 1 à 3 1 à 3 1 à 3 1 à 3  1 à 3  1 à 3 1 à 3  1 à 3 1 à 3 1 à 3 1 à 3 1 à 3 1 à 3 1 à 3 1 à 3  1 à 3 1 à 3 1 à 3 1 à 3  3 4 4 3 3 4  4  1 1  4 4 4 4 4 4 4 4  2 2 2 2  8  1 1 1 1 1 1  1  1 1  3 3 3 3 3 3 3 3  3 3 3 3  9  1 2 2 1 1 1  1  1 1  1 1 1 1 1 1 1 1  1 1 1 1  1 2 2 1 1 2  2  1 1  1 1 1 1 1 1 2 2  1 1 1 1  3 2(d) 2(d) 3 3 2(d)  4 2,3(d) 2,3(d) 4 4 2,3(d)  2(d)  2,3(d)  3 1  3 3 3 3 3 3 3 3  3 3  4 4 4 4 4 4 4 4  3 (f) 3 (f) 3 (f) 3 (f)  4 (f) 4 (f) 4 (f) 4 (f)  CÂBLES ISOLÉS AU POLYCHLORURE DE VINYLE (famille PVC)  101 H 07 VVD3H2-F 5 à 6(a) 5 à 6(a) 102 H 07 VVH2-F 5 à 6(a) 111 FR-N 05 VV-U FR-N 05 VV-R 112 5 à 6(a) FR-N 05 VL2V-U 5 à 6(a) 113 FR-N 05 VL2V-R 5 à 6(a) 114  6 6 6 6 6 6  4 4 4 4 4 4  1 à 3 1 à 3 1 à 3 1 à 3 1 à 3 1 à 3  2 2 2 2 2 2  3 3 1 1 1 1  1 1 1 1 1 1  1 1 1 1 1 1  2,3(d) 3 2,3(b) 2,3(b) 2 (f) 2 (f)  2,3 (d) 4 3, 4 (f) 3, 4 (f) 2, 3 (f) 2, 3 (f)  6 6 6 6 6 6  5 à 6(a) 5 à 6(a) 5 à 6(a) 5 à 6(a) 5 à 6(a) 5 à 6(a)  H 05 VV-F A-05 VV-F H 05 V2V2-F FR-N 05 VV5-F H 05 VV5-F H 05 VVC4V5-K  4 4 4 4 4 4 CONDUCTEURS ISOLÉS AU POLYCHLORURE DE VINYLE (famille PVC) – – –  1 à 3 1 à 3 1 à 3 1 à 3 1 à 3 1 à 3  H 07 V-U H 07 V-R H 07 V-K  5 à 6(a) 5 à 6(a) 5 à 6(a)  3 3 3 3 3 3  1 1 1 1 1 1  1 1 1 1 1 1  2 2 2 2 2 2  1 1 3  – – –  – – –  – – –  1 1 1  – – –  2,3(b) 2,3(b) 2,3(b) 2,3(b) 2,3(b) 2 (f)  H 07 V2-U H 07 V2-R H 07 V2-K  5 à 6(a) 5 à 6(a) 5 à 6(a)  1 1 1  – – –  – – –  – – –  1 1 3  – – –  – – –  – – –  1 1 3  5 à 6(a) 5 à 6(a) 5 à 6(a)  H 07 V3-U H 07 V3-R H 07 V3-K  1 1 1 CONDUCTEURS ISOLÉS AUX ÉLASTOMÈRES (famille PR) 1 1 1 1 1 1 1  H 05 SJ-K H 07 G-U H 07 G-R H 07 G-K H 07 Z-U H 07 Z-R H 07 Z-K  3 à 6(a) 3 à 6(a) 3 à 6(a) 3 à 6(a) 5 à 6(a) 5 à 6(a) 5 à 6(a)  – – – – – – –  – – – – – – –  – – – – – – –  3 1 1 3 1 1 3  – – –  – – –  – – – – – – –  – – –  – – –  – – – – – – –  3, 4 (f) 3, 4 (f) 3, 4 (f) 3, 4 (f) 3, 4 (f) 2, 3 (f)  – – –  – – –  – – –  – – – – – – –  – – –  – – –  – – –  – – – – – – –  4 4 4 4 4 4  4  4 4  1 4 1 4 4 4 4 4  1 1 1 1  4 4 4 4 4 4  4 4 4 4 4 4  – – –  – – –  – – –  – – – – – – –  1 à 3 1 à 3 1 à 3 1 à 3 1 à 3 1 à 3  1 à 3  1 1 à 3  1 1 à 3 1 1 à 3 1 à 3 1 à 3 1 à 3 1 à 3  1 1 1 1  1, 2 1, 2 1, 2 1, 2 1, 2 1, 2  1, 2 1, 2 1, 2 1, 2 1, 2 1, 2  – – –  – – –  – – –  – – – – – – –  CÂBLES RÉSISTANTS AU FEU À ISOLATION SYNTHÉTIQUE (famille PR ou famille PVC selon le cas) 1 à 3 1 à 3 1 à 3 1 à 3  4 à 6(a) 4 à 6(a) 4 à 6(a) 4 à 6(a)  4 2,3(d) 4 2,3(d)  1 à 3 1 à 3 1 à 3 1 à 3  7 (e) 7 (e) 6 (e) 6 (e)  3 2 (d) 3 2 (d)  1 1 1 1  1 2 1 2  1 2 1 2  4 4 4 4  4 4 4 4  3 4 3 4  4 4 4 4  7 (e) 7 (e) 6 (e) 6 (e)  1 à 3 1 à 3 1 à 3 1 à 3  4 à 6(a) 4 à 6(a) 4 à 6(a) 4 à 6(a)  3 4 3 4 Ces câbles peuvent être utilisés dans les autres conditions s'ils ne sont soumis à aucun effort mécanique Câbles fixés à demeure et tension d'alimentation par rapport à la terre au plus égale à 250 V.</a:t>
            </a:r>
          </a:p>
          <a:p>
            <a:pPr>
              <a:defRPr sz="1600"/>
            </a:pPr>
            <a:r>
              <a:t>Les conducteurs doivent être de la série H07V-K.</a:t>
            </a:r>
          </a:p>
          <a:p>
            <a:pPr>
              <a:defRPr sz="1600"/>
            </a:pPr>
            <a:r>
              <a:t>Si mise à la terre des revêtements métalliques.</a:t>
            </a:r>
          </a:p>
          <a:p>
            <a:pPr>
              <a:defRPr sz="1600"/>
            </a:pPr>
            <a:r>
              <a:t>Durée d'immersion cumulée limitée à deux mois par an.</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523.0 Objet</a:t>
            </a:r>
          </a:p>
        </p:txBody>
      </p:sp>
      <p:sp>
        <p:nvSpPr>
          <p:cNvPr id="3" name="Content Placeholder 2"/>
          <p:cNvSpPr>
            <a:spLocks noGrp="1"/>
          </p:cNvSpPr>
          <p:nvPr>
            <p:ph idx="1"/>
          </p:nvPr>
        </p:nvSpPr>
        <p:spPr/>
        <p:txBody>
          <a:bodyPr/>
          <a:lstStyle/>
          <a:p>
            <a:pPr>
              <a:defRPr sz="1600"/>
            </a:pPr>
            <a:r>
              <a:t>Les prescriptions de cet article sont destinées à assurer une durée de vie satisfaisante des conducteurs et des isolations soumises aux effets thermiques de fonctionnement à la température maximale de fonctionnement appropriée pendant des périodes prolongées en service normal et pour des conditions habituelles d'installation.</a:t>
            </a:r>
          </a:p>
          <a:p>
            <a:pPr>
              <a:defRPr sz="1600"/>
            </a:pPr>
            <a:r>
              <a:t>D'autres considérations interviennent dans la détermination de la section des conducteurs, telles que les règles pour la protection contre les chocs électriques (voir 4-41), la protection contre les  4-42), la protection contre les surintensités (voir 4-43), la chute de tension (voir 525).</a:t>
            </a:r>
          </a:p>
          <a:p>
            <a:pPr>
              <a:defRPr sz="1600"/>
            </a:pPr>
            <a:r>
              <a:t>effets thermiques (voir  Cet article traite des câbles sans armure et des conducteurs, sous des tensions nominales non supérieures à 1000 V à 50-60 Hz et jusqu'à 100 Hz ou 1500 V en courant continu.</a:t>
            </a:r>
          </a:p>
          <a:p>
            <a:pPr>
              <a:defRPr sz="1600"/>
            </a:pPr>
            <a:r>
              <a:t>Pour les fréquences de 100 à 400 Hz, voir le guide UTE C 15-421.</a:t>
            </a:r>
          </a:p>
          <a:p>
            <a:pPr>
              <a:defRPr sz="1600"/>
            </a:pPr>
            <a:r>
              <a:t>Les valeurs des tableaux pour les câbles multiconducteurs peuvent être utilisées pour les câbles armés à condition que chaque câble contienne tous les conducteurs du circuit, les erreurs étant dans le sens de la sécurité.</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523.1 Généralités</a:t>
            </a:r>
          </a:p>
        </p:txBody>
      </p:sp>
      <p:sp>
        <p:nvSpPr>
          <p:cNvPr id="3" name="Content Placeholder 2"/>
          <p:cNvSpPr>
            <a:spLocks noGrp="1"/>
          </p:cNvSpPr>
          <p:nvPr>
            <p:ph idx="1"/>
          </p:nvPr>
        </p:nvSpPr>
        <p:spPr/>
        <p:txBody>
          <a:bodyPr/>
          <a:lstStyle/>
          <a:p>
            <a:pPr>
              <a:defRPr sz="1600"/>
            </a:pPr>
            <a:r>
              <a:t>H.</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523.1.1 Le courant</a:t>
            </a:r>
          </a:p>
        </p:txBody>
      </p:sp>
      <p:sp>
        <p:nvSpPr>
          <p:cNvPr id="3" name="Content Placeholder 2"/>
          <p:cNvSpPr>
            <a:spLocks noGrp="1"/>
          </p:cNvSpPr>
          <p:nvPr>
            <p:ph idx="1"/>
          </p:nvPr>
        </p:nvSpPr>
        <p:spPr/>
        <p:txBody>
          <a:bodyPr/>
          <a:lstStyle/>
          <a:p>
            <a:pPr>
              <a:defRPr sz="1600"/>
            </a:pPr>
            <a:r>
              <a:t>tout conducteur pendant des périodes prolongées en fonctionnement normal doit être tel que la température maximale de fonctionnement ne soit pas supérieure à la valeur appropriée spécifiée dans le tableau 52F.</a:t>
            </a:r>
          </a:p>
          <a:p>
            <a:pPr>
              <a:defRPr sz="1600"/>
            </a:pPr>
            <a:r>
              <a:t>La valeur du courant doit être choisie conformément à 523.</a:t>
            </a:r>
          </a:p>
          <a:p>
            <a:pPr>
              <a:defRPr sz="1600"/>
            </a:pPr>
            <a:r>
              <a:t>1.</a:t>
            </a:r>
          </a:p>
          <a:p>
            <a:pPr>
              <a:defRPr sz="1600"/>
            </a:pPr>
            <a:r>
              <a:t>2, ou déterminée conformément à 523.</a:t>
            </a:r>
          </a:p>
          <a:p>
            <a:pPr>
              <a:defRPr sz="1600"/>
            </a:pPr>
            <a:r>
              <a:t>1.</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523.1.2 La règle du 523.1.1 est considérée comme satisfaite si le courant dans les conducteurs</a:t>
            </a:r>
          </a:p>
        </p:txBody>
      </p:sp>
      <p:sp>
        <p:nvSpPr>
          <p:cNvPr id="3" name="Content Placeholder 2"/>
          <p:cNvSpPr>
            <a:spLocks noGrp="1"/>
          </p:cNvSpPr>
          <p:nvPr>
            <p:ph idx="1"/>
          </p:nvPr>
        </p:nvSpPr>
        <p:spPr/>
        <p:txBody>
          <a:bodyPr/>
          <a:lstStyle/>
          <a:p>
            <a:pPr>
              <a:defRPr sz="1600"/>
            </a:pPr>
            <a:r>
              <a:t>isolés et les câbles sans armure n'est pas supérieur à la valeur appropriée choisie dans les tableaux 52H et 52J.</a:t>
            </a:r>
          </a:p>
          <a:p>
            <a:pPr>
              <a:defRPr sz="1600"/>
            </a:pPr>
            <a:r>
              <a:t>Pour les types de câbles auxquels cet article ne s'applique pas, les courants admissibles doivent être déterminés conformément à 523.</a:t>
            </a:r>
          </a:p>
          <a:p>
            <a:pPr>
              <a:defRPr sz="1600"/>
            </a:pPr>
            <a:r>
              <a:t>1.</a:t>
            </a:r>
          </a:p>
          <a:p>
            <a:pPr>
              <a:defRPr sz="1600"/>
            </a:pPr>
            <a:r>
              <a:t>3.</a:t>
            </a:r>
          </a:p>
          <a:p>
            <a:pPr>
              <a:defRPr sz="1600"/>
            </a:pPr>
            <a:r>
              <a:t>Le tableau 52G indique pour E, F) pour lesquelles les courants admissibles sont indiqués dans les tableaux correspondants et la procédure à utiliser pour déduire les valeurs de courants admissibles de ceux des méthodes de référence.</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523.1.3 Les valeurs de courants admissibles et de facteurs de correction satisfaisant aux</a:t>
            </a:r>
          </a:p>
        </p:txBody>
      </p:sp>
      <p:sp>
        <p:nvSpPr>
          <p:cNvPr id="3" name="Content Placeholder 2"/>
          <p:cNvSpPr>
            <a:spLocks noGrp="1"/>
          </p:cNvSpPr>
          <p:nvPr>
            <p:ph idx="1"/>
          </p:nvPr>
        </p:nvSpPr>
        <p:spPr/>
        <p:txBody>
          <a:bodyPr/>
          <a:lstStyle/>
          <a:p>
            <a:pPr>
              <a:defRPr sz="1600"/>
            </a:pPr>
            <a:r>
              <a:t>prescriptions de 523.</a:t>
            </a:r>
          </a:p>
          <a:p>
            <a:pPr>
              <a:defRPr sz="1600"/>
            </a:pPr>
            <a:r>
              <a:t>1.</a:t>
            </a:r>
          </a:p>
          <a:p>
            <a:pPr>
              <a:defRPr sz="1600"/>
            </a:pPr>
            <a:r>
              <a:t>1 peuvent être déterminées suivant les méthodes de la CEI 60287 par essai ou par des calculs utilisant une méthode reconnue à condition qu'elle soit précisée.</a:t>
            </a:r>
          </a:p>
          <a:p>
            <a:pPr>
              <a:defRPr sz="1600"/>
            </a:pPr>
            <a:r>
              <a:t>Il peut être nécessaire de tenir compte des caractéristiques de la charge.</a:t>
            </a:r>
          </a:p>
          <a:p>
            <a:pPr>
              <a:defRPr sz="1600"/>
            </a:pPr>
            <a:r>
              <a:t>- 207 -   H  Tableau 52G - Choix des méthodes de référence pour les courants admissibles en fonction des modes de pose  Pour chacun des modes de pose décrits dans le tableau 52C, le tableau indique la   méthode de référence - repérée par l'une des lettres : B, C, D, E ou F - à appliquer et les facteurs de correction éventuels.</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523.2 Température ambiante</a:t>
            </a:r>
          </a:p>
        </p:txBody>
      </p:sp>
      <p:sp>
        <p:nvSpPr>
          <p:cNvPr id="3" name="Content Placeholder 2"/>
          <p:cNvSpPr>
            <a:spLocks noGrp="1"/>
          </p:cNvSpPr>
          <p:nvPr>
            <p:ph idx="1"/>
          </p:nvPr>
        </p:nvSpPr>
        <p:spPr/>
        <p:txBody>
          <a:bodyPr/>
          <a:lstStyle/>
          <a:p>
            <a:pPr>
              <a:defRPr sz="1600"/>
            </a:pPr>
            <a:r>
              <a:t>H  La valeur de la température ambiante à utiliser est la température du milieu environnant lorsque le câble ou le conducteur considéré n'est pas chargé.</a:t>
            </a:r>
          </a:p>
          <a:p>
            <a:pPr>
              <a:defRPr sz="1600"/>
            </a:pPr>
            <a:r>
              <a:t>Les valeurs de courants admissibles indiquées dans cet article sont valables pour une température ambiante de :  30 °C, pour les câbles dans l'air, quel que soit le mode de pose ; 20 °C, pour les câbles enterrés directement dans le sol ou dans des conduits enterrés.</a:t>
            </a:r>
          </a:p>
          <a:p>
            <a:pPr>
              <a:defRPr sz="1600"/>
            </a:pPr>
            <a:r>
              <a:t>Pour d'autres températures ambiantes, les valeurs des tableaux doivent être multipliées par le facteur appro prié des tableaux 52K et 52L.</a:t>
            </a:r>
          </a:p>
          <a:p>
            <a:pPr>
              <a:defRPr sz="1600"/>
            </a:pPr>
            <a:r>
              <a:t>Toutefois, pour les câbles enterrés, la correction n'est pas nécessaire si la température du sol n'est supérieure à 25 °C que pendant quelques semaines par an.</a:t>
            </a:r>
          </a:p>
          <a:p>
            <a:pPr>
              <a:defRPr sz="1600"/>
            </a:pPr>
            <a:r>
              <a:t>Les facteurs de correction du tableau 52K ne tiennent pas compte de l'augmentation éventuelle de température due au rayonnement solaire.</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523.3 Résistivité thermique du sol</a:t>
            </a:r>
          </a:p>
        </p:txBody>
      </p:sp>
      <p:sp>
        <p:nvSpPr>
          <p:cNvPr id="3" name="Content Placeholder 2"/>
          <p:cNvSpPr>
            <a:spLocks noGrp="1"/>
          </p:cNvSpPr>
          <p:nvPr>
            <p:ph idx="1"/>
          </p:nvPr>
        </p:nvSpPr>
        <p:spPr/>
        <p:txBody>
          <a:bodyPr/>
          <a:lstStyle/>
          <a:p>
            <a:pPr>
              <a:defRPr sz="1600"/>
            </a:pPr>
            <a:r>
              <a:t>Les courants admissibles indiqués dans les tableaux du présent article pour les câbles enterrés correspondent à une résistivité thermique du sol de 1 K.</a:t>
            </a:r>
          </a:p>
          <a:p>
            <a:pPr>
              <a:defRPr sz="1600"/>
            </a:pPr>
            <a:r>
              <a:t>m/W.</a:t>
            </a:r>
          </a:p>
          <a:p>
            <a:pPr>
              <a:defRPr sz="1600"/>
            </a:pPr>
            <a:r>
              <a:t>Dans les emplacements où la résistivité thermique du sol est différente de 1 K.</a:t>
            </a:r>
          </a:p>
          <a:p>
            <a:pPr>
              <a:defRPr sz="1600"/>
            </a:pPr>
            <a:r>
              <a:t>m/W, les courants admissibles sont à multiplier par les facteurs de correction du tableau 52M à moins que la terre au voisinage immédiat du câble soit remplacée par une terre plus appropriée.</a:t>
            </a:r>
          </a:p>
          <a:p>
            <a:pPr>
              <a:defRPr sz="1600"/>
            </a:pPr>
            <a:r>
              <a:t>De tels cas peuvent se rencontrer dans des terrains très secs.</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523.4.1 Groupement de circuits ou de câbles dans l'air</a:t>
            </a:r>
          </a:p>
        </p:txBody>
      </p:sp>
      <p:sp>
        <p:nvSpPr>
          <p:cNvPr id="3" name="Content Placeholder 2"/>
          <p:cNvSpPr>
            <a:spLocks noGrp="1"/>
          </p:cNvSpPr>
          <p:nvPr>
            <p:ph idx="1"/>
          </p:nvPr>
        </p:nvSpPr>
        <p:spPr/>
        <p:txBody>
          <a:bodyPr/>
          <a:lstStyle/>
          <a:p>
            <a:pPr>
              <a:defRPr sz="1600"/>
            </a:pPr>
            <a:r>
              <a:t>Il y a groupement de circuits si la pose est jointive, c'est à dire si la distance libre séparant deux câbles est inférieure ou égale à deux fois le diamètre extérieur du plus gros conducteur ou câble.</a:t>
            </a:r>
          </a:p>
          <a:p>
            <a:pPr>
              <a:defRPr sz="1600"/>
            </a:pPr>
            <a:r>
              <a:t>En pratique la distance à considérer est la valeur moyenne de l'écartement des câbles le long de leur parcours.</a:t>
            </a:r>
          </a:p>
          <a:p>
            <a:pPr>
              <a:defRPr sz="1600"/>
            </a:pPr>
            <a:r>
              <a:t>Pour des groupements de circuits ou de câbles dans l'air, les facteurs de correction des tableaux 52N et 52O sont applicables aux valeurs de référence du tableau 52H.</a:t>
            </a:r>
          </a:p>
          <a:p>
            <a:pPr>
              <a:defRPr sz="1600"/>
            </a:pPr>
            <a:r>
              <a:t>Lorsqu’un circuit est constitué par plusieurs câbles unipolaires par phase, le facteur de correction est déterminé en considérant qu’il y a autant de circuits que de câbles par phase.</a:t>
            </a:r>
          </a:p>
          <a:p>
            <a:pPr>
              <a:defRPr sz="1600"/>
            </a:pPr>
            <a:r>
              <a:t>- 214 -   METHODES  MODES  DE REFERENCE  DE POSE  B, C,  1, 2, 3, 3A, 4, 4A, 5, 5A, 21, 22, 22A, 23, 23A, 24, 24A, 25, 31,31A, 32, 32A, 33, 33A,34, 34A, 41, 42, 43,71  H  Tableau 52N - Facteurs de correction pour groupement de plusieurs circuits ou de plusieurs câbles multiconducteurs  REF  DISPOSITION DE CIRCUITS  FACTEURS DE CORRECTION  OU DE CABLES  Nombre de circuits ou de câbles multiconducteurs  JOINTIFS  1  2  3  4  5  6  7  8  9  12  16  20  1  Enfermés  2  3  4  5  Simple couche sur les murs ou les planchers ou tablettes non perforées  Simple couche au plafond  Simple couche sur des tablettes perforées  Simple couche sur des échelles à câbles, corbeaux, treillis soudés etc.</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523.4.2 Groupements de conduits dans l'air ou noyés dans le béton</a:t>
            </a:r>
          </a:p>
        </p:txBody>
      </p:sp>
      <p:sp>
        <p:nvSpPr>
          <p:cNvPr id="3" name="Content Placeholder 2"/>
          <p:cNvSpPr>
            <a:spLocks noGrp="1"/>
          </p:cNvSpPr>
          <p:nvPr>
            <p:ph idx="1"/>
          </p:nvPr>
        </p:nvSpPr>
        <p:spPr/>
        <p:txBody>
          <a:bodyPr/>
          <a:lstStyle/>
          <a:p>
            <a:pPr>
              <a:defRPr sz="1600"/>
            </a:pPr>
            <a:r>
              <a:t>Lorsque des conduits ou des fourreaux sont groupés de façon jointive, les courants admissibles dans les conducteurs posés dans ces conduits ou fourreaux sont réduits en appliquant les facteurs de correction indiqués, suivant le cas, dans les tableaux 52P ou 52Q.</a:t>
            </a:r>
          </a:p>
          <a:p>
            <a:pPr>
              <a:defRPr sz="1600"/>
            </a:pPr>
            <a:r>
              <a:t>Tableau 52P - Facteurs de correction en fonction du nombre de conduits dans l'air et de leur disposition  Nombre de conduits disposés verticalement  1  2  3  4  5  6  Nombre de conduits disposés horizontalement  1  1  0,92  0,85  0,82  0,80  0,79  2  0,94  0,87  0,81  0,78  0,76  0,75  3  0,91  0,84  0,78  0,74  0,72  0,71  4  0,88  0,81  0,76  0,73  0,71  0,70  5  0,87  0,80  0,75  0,72  0,70  0,69  Tableau 52Q - Facteurs de correction en fonction du nombre de conduits noyés dans le béton et de leur disposition  Nombre de conduits disposés verticalement  1  2  3  4  5  6  Nombre de conduits disposés horizontalement  1  1  0,87  0,77  0,72  0,68  0,65  2  0,87  0,71  0,62  0,57  0,53  0,50  3  0,77  0,62  0,53  0,48  0,45  0,42  4  0,72  0,57  0,48  0,44  0,40  0,38  5  0,68  0,53  0,45  0,40  0,37  0,35  6  0,86  0,79  0,74  0,72  0,70  0,68  6  0,65  0,50  0,42  0,38  0,35  0,32  - 216 -.</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523.4.3 Groupement de câbles et de conduits enterrés</a:t>
            </a:r>
          </a:p>
        </p:txBody>
      </p:sp>
      <p:sp>
        <p:nvSpPr>
          <p:cNvPr id="3" name="Content Placeholder 2"/>
          <p:cNvSpPr>
            <a:spLocks noGrp="1"/>
          </p:cNvSpPr>
          <p:nvPr>
            <p:ph idx="1"/>
          </p:nvPr>
        </p:nvSpPr>
        <p:spPr/>
        <p:txBody>
          <a:bodyPr/>
          <a:lstStyle/>
          <a:p>
            <a:pPr>
              <a:defRPr sz="1600"/>
            </a:pPr>
            <a:r>
              <a:t>H  Lorsque des conduits ou des câbles sont posés dans le sol, les courants admissibles des conducteurs sont réduits en appliquant les facteurs de correction des tableaux 52R, 52S et 52T.</a:t>
            </a:r>
          </a:p>
          <a:p>
            <a:pPr>
              <a:defRPr sz="1600"/>
            </a:pPr>
            <a:r>
              <a:t>Tableau 52R - Facteurs de correction pour groupement de plusieurs câbles posés directement dans le sol.</a:t>
            </a:r>
          </a:p>
          <a:p>
            <a:pPr>
              <a:defRPr sz="1600"/>
            </a:pPr>
            <a:r>
              <a:t>Câbles monoconducteurs ou multiconducteurs disposés horizontalement ou verticalement  Distance entre câbles multiconducteurs ou groupements de 3 câbles monoconducteurs (a)  Nombre de câbles ou de circuits  2 3 4 5 6  Nulle (câbles jointifs)  0,76 0,64 0,57 0,52 0,49  Câbles multiconducteurs :  a  Un diamètre de câble  0,25 m  0,5 m  1,0 m  Méthode de référence  Modes de pose  0,79 0,67 0,61 0,56 0,53  a  0,84 0,74 0,69 0,65 0,60  0,88 0,79 0,75 0,71 0,69  0,92 0,85 0,82 0,80 0,78  D  62, 63  Câbles monoconducteurs : a  • • •  • • •  Tableau 52S - Facteurs de correction pour conduits enterrés disposés horizontalement ou verticalement à raison d'un câble ou d'un groupement de 3 câbles monoconducteurs par conduit  Nombre de conduits 2 3 4 5 6  Nulle (Conduits jointifs) 0,87 0,77 0,72 0,68 0,65  Câbles multiconducteurs :  Distance entre conduits (a)  0,25 m  0,5 m  1,0 m  0,93 0,87 0,84 0,81 0,79  a  0,95 0,91 0,89 0,87 0,86  0,97 0,95 0,94 0,93 0,93  Câbles monoconducteurs :  Méthode de référence  Mode de pose  D  61  • • •  • • •  a  Tableau 52T - Facteurs de correction dans le cas de plusieurs circuits ou câbles dans un même conduit enterré  Facteurs de correction  Nombre de circuits ou de câbles multiconducteurs 20 1  12  16  9  3  5  2  6  7  8  4  Méthode de référence  Mode de pose  1 0,71 0,58 0,5 0,45 0,41 0,38 0,35 0,33 0,29 0,25 0,22  D  61  Ce tableau est applicable à des groupements de câbles de sections différentes mais ayant la même température maximale admissible.</a:t>
            </a:r>
          </a:p>
          <a:p>
            <a:pPr>
              <a:defRPr sz="1600"/>
            </a:pPr>
            <a:r>
              <a:t>- 217 -.</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523.4.4 Charges intermittentes et variables</a:t>
            </a:r>
          </a:p>
        </p:txBody>
      </p:sp>
      <p:sp>
        <p:nvSpPr>
          <p:cNvPr id="3" name="Content Placeholder 2"/>
          <p:cNvSpPr>
            <a:spLocks noGrp="1"/>
          </p:cNvSpPr>
          <p:nvPr>
            <p:ph idx="1"/>
          </p:nvPr>
        </p:nvSpPr>
        <p:spPr/>
        <p:txBody>
          <a:bodyPr/>
          <a:lstStyle/>
          <a:p>
            <a:pPr>
              <a:defRPr sz="1600"/>
            </a:pPr>
            <a:r>
              <a:t>Les facteurs de correction pour groupement de câbles ont été calculés sur la base d'un fonctionnement continu avec un facteur de charge de 100 % pour tous les conducteurs actifs.</a:t>
            </a:r>
          </a:p>
          <a:p>
            <a:pPr>
              <a:defRPr sz="1600"/>
            </a:pPr>
            <a:r>
              <a:t>Lorsqu'il résulte des conditions de fonctionnement de l'installation que la charge pour tous les conducteurs actifs est inférieure à 100 %, le facteur de correction peut être supérieur.</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523.4.5 Conducteurs faiblement chargés</a:t>
            </a:r>
          </a:p>
        </p:txBody>
      </p:sp>
      <p:sp>
        <p:nvSpPr>
          <p:cNvPr id="3" name="Content Placeholder 2"/>
          <p:cNvSpPr>
            <a:spLocks noGrp="1"/>
          </p:cNvSpPr>
          <p:nvPr>
            <p:ph idx="1"/>
          </p:nvPr>
        </p:nvSpPr>
        <p:spPr/>
        <p:txBody>
          <a:bodyPr/>
          <a:lstStyle/>
          <a:p>
            <a:pPr>
              <a:defRPr sz="1600"/>
            </a:pPr>
            <a:r>
              <a:t>Pour l'application du tableau 52N, il n'y a pas lieu de tenir compte des circuits dont le courant d'emploi n'est pas supérieur à :  30 %  70 %  du courant admissible dans les conditions de pose pour les méthodes de référence B et D (voir aussi tableau 52T), du courant admissible dans les conditions de pose pour les méthodes de référence C, E et F  Il en est ainsi par exemple si des conducteurs sont prévus pour transporter un courant nettement inférieur au courant admissible, par exemple pour des raisons de chute de tension ou de protection contre les contacts indirects.</a:t>
            </a:r>
          </a:p>
          <a:p>
            <a:pPr>
              <a:defRPr sz="1600"/>
            </a:pPr>
            <a:r>
              <a:t>De même, il n'est pas tenu compte des conducteurs utilisés pour des circuits de commande, de signalisation ou analogues.</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523.5.1 Le nombre de conducteurs à considérer dans un circuit est celui des conducteurs</a:t>
            </a:r>
          </a:p>
        </p:txBody>
      </p:sp>
      <p:sp>
        <p:nvSpPr>
          <p:cNvPr id="3" name="Content Placeholder 2"/>
          <p:cNvSpPr>
            <a:spLocks noGrp="1"/>
          </p:cNvSpPr>
          <p:nvPr>
            <p:ph idx="1"/>
          </p:nvPr>
        </p:nvSpPr>
        <p:spPr/>
        <p:txBody>
          <a:bodyPr/>
          <a:lstStyle/>
          <a:p>
            <a:pPr>
              <a:defRPr sz="1600"/>
            </a:pPr>
            <a:r>
              <a:t>effectivement parcourus par le courant.</a:t>
            </a:r>
          </a:p>
          <a:p>
            <a:pPr>
              <a:defRPr sz="1600"/>
            </a:pPr>
            <a:r>
              <a:t>Lorsque dans un circuit polyphasé les courants sont supposés équilibrés, il n'y a pas lieu de tenir compte du conducteur neutre correspondant.</a:t>
            </a:r>
          </a:p>
          <a:p>
            <a:pPr>
              <a:defRPr sz="1600"/>
            </a:pPr>
            <a:r>
              <a:t>Les valeurs de courants admissibles indiquées pour trois conducteurs chargés sont également valables dans un circuit triphasé avec neutre équilibré.</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523.5.2 Lorsque le conducteur neutre transporte un courant sans réduction correspondante de la</a:t>
            </a:r>
          </a:p>
        </p:txBody>
      </p:sp>
      <p:sp>
        <p:nvSpPr>
          <p:cNvPr id="3" name="Content Placeholder 2"/>
          <p:cNvSpPr>
            <a:spLocks noGrp="1"/>
          </p:cNvSpPr>
          <p:nvPr>
            <p:ph idx="1"/>
          </p:nvPr>
        </p:nvSpPr>
        <p:spPr/>
        <p:txBody>
          <a:bodyPr/>
          <a:lstStyle/>
          <a:p>
            <a:pPr>
              <a:defRPr sz="1600"/>
            </a:pPr>
            <a:r>
              <a:t>charge des conducteurs de phase, le conducteur neutre doit être pris en compte pour la détermination du nombre de conducteurs chargés.</a:t>
            </a:r>
          </a:p>
          <a:p>
            <a:pPr>
              <a:defRPr sz="1600"/>
            </a:pPr>
            <a:r>
              <a:t>Ce cas est rencontré lors de la présence de courants harmoniques dans le conducteur neutre des circuits triphasés, notamment pour un taux d’harmoniques de rang 3 et multiple de 3 en courant, supérieur à 15 % dans les conducteurs de phase.</a:t>
            </a:r>
          </a:p>
          <a:p>
            <a:pPr>
              <a:defRPr sz="1600"/>
            </a:pPr>
            <a:r>
              <a:t>Les maté riels et phénomènes décrits dans le commentaire 330.</a:t>
            </a:r>
          </a:p>
          <a:p>
            <a:pPr>
              <a:defRPr sz="1600"/>
            </a:pPr>
            <a:r>
              <a:t>1.</a:t>
            </a:r>
          </a:p>
          <a:p>
            <a:pPr>
              <a:defRPr sz="1600"/>
            </a:pPr>
            <a:r>
              <a:t>1d) sont à l’origine des harmoniques dans le conducteur neutre des circuits triphasés.</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523.5.3 Les conducteurs utilisés uniquement comme conducteurs de protection ne sont pas pris en</a:t>
            </a:r>
          </a:p>
        </p:txBody>
      </p:sp>
      <p:sp>
        <p:nvSpPr>
          <p:cNvPr id="3" name="Content Placeholder 2"/>
          <p:cNvSpPr>
            <a:spLocks noGrp="1"/>
          </p:cNvSpPr>
          <p:nvPr>
            <p:ph idx="1"/>
          </p:nvPr>
        </p:nvSpPr>
        <p:spPr/>
        <p:txBody>
          <a:bodyPr/>
          <a:lstStyle/>
          <a:p>
            <a:pPr>
              <a:defRPr sz="1600"/>
            </a:pPr>
            <a:r>
              <a:t>compte.</a:t>
            </a:r>
          </a:p>
          <a:p>
            <a:pPr>
              <a:defRPr sz="1600"/>
            </a:pPr>
            <a:r>
              <a:t>Les conducteurs PEN sont considérés de la même manière que les conducteurs neutres.</a:t>
            </a:r>
          </a:p>
          <a:p>
            <a:pPr>
              <a:defRPr sz="1600"/>
            </a:pPr>
            <a:r>
              <a:t>- 218 -.</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523.6 Câbles en parallèle</a:t>
            </a:r>
          </a:p>
        </p:txBody>
      </p:sp>
      <p:sp>
        <p:nvSpPr>
          <p:cNvPr id="3" name="Content Placeholder 2"/>
          <p:cNvSpPr>
            <a:spLocks noGrp="1"/>
          </p:cNvSpPr>
          <p:nvPr>
            <p:ph idx="1"/>
          </p:nvPr>
        </p:nvSpPr>
        <p:spPr/>
        <p:txBody>
          <a:bodyPr/>
          <a:lstStyle/>
          <a:p>
            <a:pPr>
              <a:defRPr sz="1600"/>
            </a:pPr>
            <a:r>
              <a:t>Lorsque plusieurs câbles sont réunis en parallèle sur une même phase, ils doivent être de même nature, de même section, de longueur sensiblement égale et ne doivent comporter aucune dérivation sur leur parcours.</a:t>
            </a:r>
          </a:p>
          <a:p>
            <a:pPr>
              <a:defRPr sz="1600"/>
            </a:pPr>
            <a:r>
              <a:t>D'une manière générale, il est recommandé de mettre en œuvre le moins possible de câbles en parallèle.</a:t>
            </a:r>
          </a:p>
          <a:p>
            <a:pPr>
              <a:defRPr sz="1600"/>
            </a:pPr>
            <a:r>
              <a:t>Dans tous les cas, leur nombre ne doit pas dépasser quatre.</a:t>
            </a:r>
          </a:p>
          <a:p>
            <a:pPr>
              <a:defRPr sz="1600"/>
            </a:pPr>
            <a:r>
              <a:t>Au-delà, il y a lieu de préférer la mise en œuvre de canalisations préfabriquées.</a:t>
            </a:r>
          </a:p>
          <a:p>
            <a:pPr>
              <a:defRPr sz="1600"/>
            </a:pPr>
            <a:r>
              <a:t>En effet, la mise en parallèle de nombreux câbles entraîne une mauvaise répartition du courant pouvant conduire à des échauffements anormaux.</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523.7 Variations des conditions d'installation sur un parcours</a:t>
            </a:r>
          </a:p>
        </p:txBody>
      </p:sp>
      <p:sp>
        <p:nvSpPr>
          <p:cNvPr id="3" name="Content Placeholder 2"/>
          <p:cNvSpPr>
            <a:spLocks noGrp="1"/>
          </p:cNvSpPr>
          <p:nvPr>
            <p:ph idx="1"/>
          </p:nvPr>
        </p:nvSpPr>
        <p:spPr/>
        <p:txBody>
          <a:bodyPr/>
          <a:lstStyle/>
          <a:p>
            <a:pPr>
              <a:defRPr sz="1600"/>
            </a:pPr>
            <a:r>
              <a:t>Lorsque les conducteurs et câbles sont installés sur un parcours le long duquel les conditions de refroidissement varient, les courants admissibles doivent être déterminés pour la partie du parcours présentant les conditions les plus défavorables.</a:t>
            </a:r>
          </a:p>
          <a:p>
            <a:pPr>
              <a:defRPr sz="1600"/>
            </a:pPr>
            <a:r>
              <a:t>Lorsque, pour des raisons de protection mécanique, un câble est disposé dans un conduit ou une goulotte sur une longueur non supérieure à un mètre, aucune réduction de courant admissible n'est nécessaire à condition que le conduit ou la goulotte soit dans l'air ou monté sur une surface verticale.</a:t>
            </a:r>
          </a:p>
          <a:p>
            <a:pPr>
              <a:defRPr sz="1600"/>
            </a:pPr>
            <a:r>
              <a:t>- 219 -   524 Sections des conducteurs.</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524.1 Section des conducteurs de phase</a:t>
            </a:r>
          </a:p>
        </p:txBody>
      </p:sp>
      <p:sp>
        <p:nvSpPr>
          <p:cNvPr id="3" name="Content Placeholder 2"/>
          <p:cNvSpPr>
            <a:spLocks noGrp="1"/>
          </p:cNvSpPr>
          <p:nvPr>
            <p:ph idx="1"/>
          </p:nvPr>
        </p:nvSpPr>
        <p:spPr/>
        <p:txBody>
          <a:bodyPr/>
          <a:lstStyle/>
          <a:p>
            <a:pPr>
              <a:defRPr sz="1600"/>
            </a:pPr>
            <a:r>
              <a:t>La section des conducteurs de phase dans les circuits en courant alternatif et des conducteurs actifs dans les circuits en courant continu ne doit pas être inférieure à la valeur appropriée du tableau 52U.</a:t>
            </a:r>
          </a:p>
          <a:p>
            <a:pPr>
              <a:defRPr sz="1600"/>
            </a:pPr>
            <a:r>
              <a:t>Tableau 52U - Sections minimales des conducteurs de phase Nature des canalisationsUtilisation du circuitConducteurs  H  Installations  Câbles et conducteurs isolés  Puissance et éclairage Cuivre  Aluminium  1,5 2,5 (voir note 1)  Matériaux  Section (mm²)  Fixes  Signalisation et commande Conducteurs nus Puissance  Liaisons souples par des câbles ou conducteurs isolés  Signalisation et commande Pour un appareil déterminé Pour toute autre application Circuits à très basse tension pour des applications spéciales  Cuivre  0,5 (voir note 2)  Cuivre Aluminium Cuivre  10 16 4  Cuivre  suivant la norme correspondante 0,75 (voir note 3)  0,75  NOTES - 1 - Les connecteurs utilisés pour les connexions des conducteurs en aluminium doivent être essayés et approuvés pour cet usage spécifique.</a:t>
            </a:r>
          </a:p>
          <a:p>
            <a:pPr>
              <a:defRPr sz="1600"/>
            </a:pPr>
            <a:r>
              <a:t>2 - Une section minimale de 0,1 mm² est admise dans les circuits de signalisation et de commande destinés aux matériels électroniques, ainsi qu'aux circuits de communication.</a:t>
            </a:r>
          </a:p>
          <a:p>
            <a:pPr>
              <a:defRPr sz="1600"/>
            </a:pPr>
            <a:r>
              <a:t>3 - Une section minimale de 0,1 mm² est admise pour les câbles souples comportant au moins sept conducteurs dans les circuits de signalisation et de commande destinés aux matériels électroniques.</a:t>
            </a:r>
          </a:p>
          <a:p>
            <a:pPr>
              <a:defRPr sz="1600"/>
            </a:pPr>
            <a:r>
              <a:t>Les sections des conducteurs sont déterminées en tenant compte des considérations suivantes : -  le courant d'emploi au plus égal au courant tenant compte des informations de 311.</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524.2.1 Le conducteur neutre éventuel doit avoir la même section que les conducteurs de phase :</a:t>
            </a:r>
          </a:p>
        </p:txBody>
      </p:sp>
      <p:sp>
        <p:nvSpPr>
          <p:cNvPr id="3" name="Content Placeholder 2"/>
          <p:cNvSpPr>
            <a:spLocks noGrp="1"/>
          </p:cNvSpPr>
          <p:nvPr>
            <p:ph idx="1"/>
          </p:nvPr>
        </p:nvSpPr>
        <p:spPr/>
        <p:txBody>
          <a:bodyPr/>
          <a:lstStyle/>
          <a:p>
            <a:pPr>
              <a:defRPr sz="1600"/>
            </a:pPr>
            <a:r>
              <a:t>dans les circuits monophasés à deux conducteurs, quelle que soit la section des conducteurs, - dans les circuits polyphasés dont les conducteurs de phase ont une section au plus égale à - 16 mm² en cuivre ou 25 mm² en aluminium, dans les circuits triphasés susceptibles d'être parcourus par des courants harmoniques de rang 3 et multiple de 3 dont le taux d'harmoniques est compris entre 15 % et 33 %.</a:t>
            </a:r>
          </a:p>
          <a:p>
            <a:pPr>
              <a:defRPr sz="1600"/>
            </a:pPr>
            <a:r>
              <a:t>-  Voir aussi 523.</a:t>
            </a:r>
          </a:p>
          <a:p>
            <a:pPr>
              <a:defRPr sz="1600"/>
            </a:pPr>
            <a:r>
              <a:t>5.</a:t>
            </a:r>
          </a:p>
          <a:p>
            <a:pPr>
              <a:defRPr sz="1600"/>
            </a:pPr>
            <a:r>
              <a:t>2.</a:t>
            </a:r>
          </a:p>
          <a:p>
            <a:pPr>
              <a:defRPr sz="1600"/>
            </a:pPr>
            <a:r>
              <a:t>Ces taux d'harmoniques se rencontrent par exemple dans les circuits alimentant des luminaires à lampes à décharge dont les tubes fluorescents.</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524.2.2 Lorsque le taux d'harmoniques de rang 3 et multiple de 3 est supérieur à 33 % en courant, le</a:t>
            </a:r>
          </a:p>
        </p:txBody>
      </p:sp>
      <p:sp>
        <p:nvSpPr>
          <p:cNvPr id="3" name="Content Placeholder 2"/>
          <p:cNvSpPr>
            <a:spLocks noGrp="1"/>
          </p:cNvSpPr>
          <p:nvPr>
            <p:ph idx="1"/>
          </p:nvPr>
        </p:nvSpPr>
        <p:spPr/>
        <p:txBody>
          <a:bodyPr/>
          <a:lstStyle/>
          <a:p>
            <a:pPr>
              <a:defRPr sz="1600"/>
            </a:pPr>
            <a:r>
              <a:t>choix d'une section de neutre supérieure à celle du conducteur de phase peut être nécessaire.</a:t>
            </a:r>
          </a:p>
          <a:p>
            <a:pPr>
              <a:defRPr sz="1600"/>
            </a:pPr>
            <a:r>
              <a:t>Ces taux d'harmoniques se rencontrent par exemple dans les circuits dédiés à la bureautique et à l'informatique.</a:t>
            </a:r>
          </a:p>
          <a:p>
            <a:pPr>
              <a:defRPr sz="1600"/>
            </a:pPr>
            <a:r>
              <a:t>-220-   -  a) dans le cas d'utilisation de câbles multipolaires, la section des phases est égale à celle du conducteur neutre, le calcul de cette section étant fait pour le courant dans le neutre pris égal à 1,45 fois le courant d'emploi dans la phase.</a:t>
            </a:r>
          </a:p>
          <a:p>
            <a:pPr>
              <a:defRPr sz="1600"/>
            </a:pPr>
            <a:r>
              <a:t>b) dans le cas d'utilisation de câbles unipolaires, la section des phases peut être choisie inférieure à celle du neutre, le calcul étant fait : - pour la phase : pour son courant d'emploi ; - pour le neutre : pour le courant pris égal à 1,45 fois le courant d'emploi dans la phase.</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524.2.3 Dans les circuits polyphasés dont les conducteurs de phase ont une section supérieure à</a:t>
            </a:r>
          </a:p>
        </p:txBody>
      </p:sp>
      <p:sp>
        <p:nvSpPr>
          <p:cNvPr id="3" name="Content Placeholder 2"/>
          <p:cNvSpPr>
            <a:spLocks noGrp="1"/>
          </p:cNvSpPr>
          <p:nvPr>
            <p:ph idx="1"/>
          </p:nvPr>
        </p:nvSpPr>
        <p:spPr/>
        <p:txBody>
          <a:bodyPr/>
          <a:lstStyle/>
          <a:p>
            <a:pPr>
              <a:defRPr sz="1600"/>
            </a:pPr>
            <a:r>
              <a:t>16 mm² en cuivre ou 25 mm² en aluminium, le conducteur neutre peut avoir une section inférieure à celle des conducteurs de phase si les conditions suivantes sont simultanément remplies : - la charge transportée par le circuit en service normal est supposée équilibrée et le taux d’harmoniques de rang 3 et multiple de 3 ne dépasse pas 15 % dans le conducteur de phase ; En règle générale la section réduite du conducteur neutre n'est pas inférieure à la moitié de celle des conducteurs de phase.</a:t>
            </a:r>
          </a:p>
          <a:p>
            <a:pPr>
              <a:defRPr sz="1600"/>
            </a:pPr>
            <a:r>
              <a:t>- - la section du conducteur neutre est au moins égale à 16 mm² en cuivre ou 25 mm² en aluminium.</a:t>
            </a:r>
          </a:p>
          <a:p>
            <a:pPr>
              <a:defRPr sz="1600"/>
            </a:pPr>
            <a:r>
              <a:t>le conducteur neutre est protégé contre les surintensités suivant les règles du 431.</a:t>
            </a:r>
          </a:p>
          <a:p>
            <a:pPr>
              <a:defRPr sz="1600"/>
            </a:pPr>
            <a:r>
              <a:t>2 ;  H.</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524.2.4 Un conducteur neutre ne peut être commun à plusieurs circuits.</a:t>
            </a:r>
          </a:p>
        </p:txBody>
      </p:sp>
      <p:sp>
        <p:nvSpPr>
          <p:cNvPr id="3" name="Content Placeholder 2"/>
          <p:cNvSpPr>
            <a:spLocks noGrp="1"/>
          </p:cNvSpPr>
          <p:nvPr>
            <p:ph idx="1"/>
          </p:nvPr>
        </p:nvSpPr>
        <p:spPr/>
        <p:txBody>
          <a:bodyPr/>
          <a:lstStyle/>
          <a:p>
            <a:pPr>
              <a:defRPr sz="1600"/>
            </a:pPr>
            <a:r>
              <a:t>525 Chutes de tension La chute de tension entre l'origine d'une installation et tout point d'utilisation ne doit pas être supérieure aux valeurs du tableau 52V exprimées par rapport à la valeur de la tension nominale de l'installation.</a:t>
            </a:r>
          </a:p>
          <a:p>
            <a:pPr>
              <a:defRPr sz="1600"/>
            </a:pPr>
            <a:r>
              <a:t>Tableau 52V - Chutes de tension dans les installations EclairageAutres usages  Type A - Installations alimentées directement par un branchement à basse tension, à partir d'un réseau de distribution publique à basse tension  Type B - Installations alimentées par un poste de livraison ou par un poste de transformation à partir d'une installation à haute tension et installations de type A dont le point de livraison se situe dans le tableau général BT d’un poste de distribution publique.</a:t>
            </a:r>
          </a:p>
          <a:p>
            <a:pPr>
              <a:defRPr sz="1600"/>
            </a:pPr>
            <a:r>
              <a:t>3 %  6 %  5 %  8 %  Lorsque les canalisations principales de l'installation ont une longueur supérieure à 100 m, ces chutes de tension peuvent être augmentées de 0,005 % par mètre de canalisation au-delà de 100 m, sans toutefois que ce supplément soit supérieur à 0,5 %.</a:t>
            </a:r>
          </a:p>
          <a:p>
            <a:pPr>
              <a:defRPr sz="1600"/>
            </a:pPr>
            <a:r>
              <a:t>Les chutes de tension sont déterminées d'après les puissances absorbées par les appareils d'utilisation, en appliquant le cas échéant des facteurs de simultanéité, ou, à défaut, d'après les valeurs des courants d'emploi des circuits.</a:t>
            </a:r>
          </a:p>
          <a:p>
            <a:pPr>
              <a:defRPr sz="1600"/>
            </a:pPr>
            <a:r>
              <a:t>NOTES - 1 - Une chute de tension plus grande peut être acceptée :  - pour les moteurs, pendant les périodes de démarrage ; - pour les autres matériels ayant des appels de courant importants, pourvu qu'il soit assuré que correspondante.</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526.1 Les connexions entre conducteurs et entre conducteurs et autres matériels doivent assurer</a:t>
            </a:r>
          </a:p>
        </p:txBody>
      </p:sp>
      <p:sp>
        <p:nvSpPr>
          <p:cNvPr id="3" name="Content Placeholder 2"/>
          <p:cNvSpPr>
            <a:spLocks noGrp="1"/>
          </p:cNvSpPr>
          <p:nvPr>
            <p:ph idx="1"/>
          </p:nvPr>
        </p:nvSpPr>
        <p:spPr/>
        <p:txBody>
          <a:bodyPr/>
          <a:lstStyle/>
          <a:p>
            <a:pPr>
              <a:defRPr sz="1600"/>
            </a:pPr>
            <a:r>
              <a:t>une continuité électrique durable et présenter une tenue mécanique appropriée.</a:t>
            </a:r>
          </a:p>
          <a:p>
            <a:pPr>
              <a:defRPr sz="1600"/>
            </a:pPr>
            <a:r>
              <a:t>Le guide UTE C 15-520 donne des indications détaillées pour la réalisation des connexions.</a:t>
            </a:r>
          </a:p>
          <a:p>
            <a:pPr>
              <a:defRPr sz="1600"/>
            </a:pPr>
            <a:r>
              <a:t>Les connexions sont adaptées : - - Si nécessaire, il est fait usage d'accessoires conçus à cet effet.</a:t>
            </a:r>
          </a:p>
          <a:p>
            <a:pPr>
              <a:defRPr sz="1600"/>
            </a:pPr>
            <a:r>
              <a:t>Les connexions réalisées dans des ensembles d'appareillage sont établies selon les prescriptions de la norme les concernant (13).</a:t>
            </a:r>
          </a:p>
          <a:p>
            <a:pPr>
              <a:defRPr sz="1600"/>
            </a:pPr>
            <a:r>
              <a:t>d'une part aux intensités admises en régime permanent ; d'autre part aux sections des conducteurs.</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526.2 Le choix des moyens de connexion doit tenir compte,</a:t>
            </a:r>
          </a:p>
        </p:txBody>
      </p:sp>
      <p:sp>
        <p:nvSpPr>
          <p:cNvPr id="3" name="Content Placeholder 2"/>
          <p:cNvSpPr>
            <a:spLocks noGrp="1"/>
          </p:cNvSpPr>
          <p:nvPr>
            <p:ph idx="1"/>
          </p:nvPr>
        </p:nvSpPr>
        <p:spPr/>
        <p:txBody>
          <a:bodyPr/>
          <a:lstStyle/>
          <a:p>
            <a:pPr>
              <a:defRPr sz="1600"/>
            </a:pPr>
            <a:r>
              <a:t>- - - -  du matériau des conducteurs et de leur isolation ; du nombre et de la forme des âmes des conducteurs ; de la section des conducteurs ; du nombre de conducteurs à connecter ensemble.</a:t>
            </a:r>
          </a:p>
          <a:p>
            <a:pPr>
              <a:defRPr sz="1600"/>
            </a:pPr>
            <a:r>
              <a:t>(13) NF EN 60439-1 (C 63-421) ou NF C 61-910.</a:t>
            </a:r>
          </a:p>
          <a:p>
            <a:pPr>
              <a:defRPr sz="1600"/>
            </a:pPr>
            <a:r>
              <a:t>- 222 -    NOTE - L'utilisation de connexions soudées est à éviter dans les circuits de puissance.</a:t>
            </a:r>
          </a:p>
          <a:p>
            <a:pPr>
              <a:defRPr sz="1600"/>
            </a:pPr>
            <a:r>
              <a:t>Si elles sont utilisées, elles doivent être conçues en tenant compte du fluage et des contraintes mécaniques.</a:t>
            </a:r>
          </a:p>
          <a:p>
            <a:pPr>
              <a:defRPr sz="1600"/>
            </a:pPr>
            <a:r>
              <a:t>Les conducteurs ne doivent comporter aucune connexion ou dérivation dans les traversées des murs, cloisons, plafonds, planchers, toitures, ni dans les vides de construction.</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526.3 Les connexions doivent être accessibles pour vérification, essai et maintenance, sauf dans les</a:t>
            </a:r>
          </a:p>
        </p:txBody>
      </p:sp>
      <p:sp>
        <p:nvSpPr>
          <p:cNvPr id="3" name="Content Placeholder 2"/>
          <p:cNvSpPr>
            <a:spLocks noGrp="1"/>
          </p:cNvSpPr>
          <p:nvPr>
            <p:ph idx="1"/>
          </p:nvPr>
        </p:nvSpPr>
        <p:spPr/>
        <p:txBody>
          <a:bodyPr/>
          <a:lstStyle/>
          <a:p>
            <a:pPr>
              <a:defRPr sz="1600"/>
            </a:pPr>
            <a:r>
              <a:t>cas suivants : - - -  jonctions des câbles enterrés ; jonctions noyées dans un compound ou scellées ; connexions entre les jonctions froides et les éléments chauffants des systèmes de chauffage des plafonds et planchers, et des cordons chauffants.</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526.4 Si nécessaire, des précautions doivent être prises pour que la température atteinte par les</a:t>
            </a:r>
          </a:p>
        </p:txBody>
      </p:sp>
      <p:sp>
        <p:nvSpPr>
          <p:cNvPr id="3" name="Content Placeholder 2"/>
          <p:cNvSpPr>
            <a:spLocks noGrp="1"/>
          </p:cNvSpPr>
          <p:nvPr>
            <p:ph idx="1"/>
          </p:nvPr>
        </p:nvSpPr>
        <p:spPr/>
        <p:txBody>
          <a:bodyPr/>
          <a:lstStyle/>
          <a:p>
            <a:pPr>
              <a:defRPr sz="1600"/>
            </a:pPr>
            <a:r>
              <a:t>connexions en service normal n'affecte pas l'isolation des conducteurs qui leur sont connectés ou qui les supportent.</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526.5 Les connexions doivent présenter un degré de protection IP2X ou IPXXB par construction ou</a:t>
            </a:r>
          </a:p>
        </p:txBody>
      </p:sp>
      <p:sp>
        <p:nvSpPr>
          <p:cNvPr id="3" name="Content Placeholder 2"/>
          <p:cNvSpPr>
            <a:spLocks noGrp="1"/>
          </p:cNvSpPr>
          <p:nvPr>
            <p:ph idx="1"/>
          </p:nvPr>
        </p:nvSpPr>
        <p:spPr/>
        <p:txBody>
          <a:bodyPr/>
          <a:lstStyle/>
          <a:p>
            <a:pPr>
              <a:defRPr sz="1600"/>
            </a:pPr>
            <a:r>
              <a:t>par installation.</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526.6 Hormis le cas des lignes aériennes et celui de lignes de contact alimentant des appareils</a:t>
            </a:r>
          </a:p>
        </p:txBody>
      </p:sp>
      <p:sp>
        <p:nvSpPr>
          <p:cNvPr id="3" name="Content Placeholder 2"/>
          <p:cNvSpPr>
            <a:spLocks noGrp="1"/>
          </p:cNvSpPr>
          <p:nvPr>
            <p:ph idx="1"/>
          </p:nvPr>
        </p:nvSpPr>
        <p:spPr/>
        <p:txBody>
          <a:bodyPr/>
          <a:lstStyle/>
          <a:p>
            <a:pPr>
              <a:defRPr sz="1600"/>
            </a:pPr>
            <a:r>
              <a:t>mobiles, les connexions des conducteurs entre eux et avec les appareils ne doivent être soumises à aucun effort de traction ni de torsion.</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526.7 Les connexions doivent être en mesure de supporter les contraintes provoquées par les</a:t>
            </a:r>
          </a:p>
        </p:txBody>
      </p:sp>
      <p:sp>
        <p:nvSpPr>
          <p:cNvPr id="3" name="Content Placeholder 2"/>
          <p:cNvSpPr>
            <a:spLocks noGrp="1"/>
          </p:cNvSpPr>
          <p:nvPr>
            <p:ph idx="1"/>
          </p:nvPr>
        </p:nvSpPr>
        <p:spPr/>
        <p:txBody>
          <a:bodyPr/>
          <a:lstStyle/>
          <a:p>
            <a:pPr>
              <a:defRPr sz="1600"/>
            </a:pPr>
            <a:r>
              <a:t>courants admissibles et par les courants de court-circuit déterminés par les caractéristiques des dispositifs de protection.</a:t>
            </a:r>
          </a:p>
          <a:p>
            <a:pPr>
              <a:defRPr sz="1600"/>
            </a:pPr>
            <a:r>
              <a:t>Les connexions ne doivent pas subir en outre de modifications inadmissibles, du fait de leur échauffement, du vieillissement des isolants et des vibrations intervenant en service normal.</a:t>
            </a:r>
          </a:p>
          <a:p>
            <a:pPr>
              <a:defRPr sz="1600"/>
            </a:pPr>
            <a:r>
              <a:t>En particulier, il faut tenir compte de l'influence des températures atteintes sur la résistance mécanique des matériaux.</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526.8 Le repiquage des conducteurs - c'est-à-dire la connexion sur les bornes d'un appareil des</a:t>
            </a:r>
          </a:p>
        </p:txBody>
      </p:sp>
      <p:sp>
        <p:nvSpPr>
          <p:cNvPr id="3" name="Content Placeholder 2"/>
          <p:cNvSpPr>
            <a:spLocks noGrp="1"/>
          </p:cNvSpPr>
          <p:nvPr>
            <p:ph idx="1"/>
          </p:nvPr>
        </p:nvSpPr>
        <p:spPr/>
        <p:txBody>
          <a:bodyPr/>
          <a:lstStyle/>
          <a:p>
            <a:pPr>
              <a:defRPr sz="1600"/>
            </a:pPr>
            <a:r>
              <a:t>conducteurs servant à l'alimentation d'autres appareils - n'est admis que sur les bornes de socles de prises de courant, des luminaires de tout type (y compris les blocs autonomes d'éclairage de sécurité) et des chemins lumineux (559.</a:t>
            </a:r>
          </a:p>
          <a:p>
            <a:pPr>
              <a:defRPr sz="1600"/>
            </a:pPr>
            <a:r>
              <a:t>2.</a:t>
            </a:r>
          </a:p>
          <a:p>
            <a:pPr>
              <a:defRPr sz="1600"/>
            </a:pPr>
            <a:r>
              <a:t>5) et remplies : -  les bornes sont spécialement prévues à cet effet (par exemple certains socles de prises de courant) ou sont dimensionnées de façon à pouvoir recevoir la section totale des conducteurs connectés ; leur intensité nominale n'est pas inférieure au courant d'emploi du circuit en amont.</a:t>
            </a:r>
          </a:p>
          <a:p>
            <a:pPr>
              <a:defRPr sz="1600"/>
            </a:pPr>
            <a:r>
              <a:t>- Le repiquage n'est pas admis sur les bornes des appareils d'utilisation (autres que ceux cités ci- dessus), notamment sur les appareils de chauffage et de cuisson.</a:t>
            </a:r>
          </a:p>
          <a:p>
            <a:pPr>
              <a:defRPr sz="1600"/>
            </a:pPr>
            <a:r>
              <a:t>si les deux conditions suivantes sont simultanément  527 Choix et mise en œuvre pour limiter la propagation du feu.</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527.1 Précautions à l'intérieur d'un compartiment fermé</a:t>
            </a:r>
          </a:p>
        </p:txBody>
      </p:sp>
      <p:sp>
        <p:nvSpPr>
          <p:cNvPr id="3" name="Content Placeholder 2"/>
          <p:cNvSpPr>
            <a:spLocks noGrp="1"/>
          </p:cNvSpPr>
          <p:nvPr>
            <p:ph idx="1"/>
          </p:nvPr>
        </p:nvSpPr>
        <p:spPr/>
        <p:txBody>
          <a:bodyPr/>
          <a:lstStyle/>
          <a:p>
            <a:pPr>
              <a:defRPr sz="1600"/>
            </a:pPr>
            <a:r>
              <a:t>Les dispositions internationales prévues sont parfois différentes des réglementations nationales et ne conviennent pas.</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527.2 Barrières coupe-feu</a:t>
            </a:r>
          </a:p>
        </p:txBody>
      </p:sp>
      <p:sp>
        <p:nvSpPr>
          <p:cNvPr id="3" name="Content Placeholder 2"/>
          <p:cNvSpPr>
            <a:spLocks noGrp="1"/>
          </p:cNvSpPr>
          <p:nvPr>
            <p:ph idx="1"/>
          </p:nvPr>
        </p:nvSpPr>
        <p:spPr/>
        <p:txBody>
          <a:bodyPr/>
          <a:lstStyle/>
          <a:p>
            <a:pPr>
              <a:defRPr sz="1600"/>
            </a:pPr>
            <a:r>
              <a:t>H.</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527.2.1 Lorsqu'une canalisation traverse des éléments de construction tels que planchers, murs,</a:t>
            </a:r>
          </a:p>
        </p:txBody>
      </p:sp>
      <p:sp>
        <p:nvSpPr>
          <p:cNvPr id="3" name="Content Placeholder 2"/>
          <p:cNvSpPr>
            <a:spLocks noGrp="1"/>
          </p:cNvSpPr>
          <p:nvPr>
            <p:ph idx="1"/>
          </p:nvPr>
        </p:nvSpPr>
        <p:spPr/>
        <p:txBody>
          <a:bodyPr/>
          <a:lstStyle/>
          <a:p>
            <a:pPr>
              <a:defRPr sz="1600"/>
            </a:pPr>
            <a:r>
              <a:t>toitures, plafonds, parois,… les ouvertures demeurant après passage de la canalisation doivent être obturées suivant le degré de résistance au feu prescrit pour l'élément correspondant de la construction avant la traversée.</a:t>
            </a:r>
          </a:p>
          <a:p>
            <a:pPr>
              <a:defRPr sz="1600"/>
            </a:pPr>
            <a:r>
              <a:t>L'obturation des traversées peut être obtenue à l'aide de matériaux tels que plâtre, fibres minérales, sable, mortier de ciment.</a:t>
            </a:r>
          </a:p>
          <a:p>
            <a:pPr>
              <a:defRPr sz="1600"/>
            </a:pPr>
            <a:r>
              <a:t>- 223 -   Ces obturations sont réalisées de manière à permettre d'effectuer des modifications de l'installation sans endommager les canalisations existantes et de telle manière que les qualités d'étanchéité et de non propagation de l’incendie soient maintenues.</a:t>
            </a:r>
          </a:p>
          <a:p>
            <a:pPr>
              <a:defRPr sz="1600"/>
            </a:pPr>
            <a:r>
              <a:t>H.</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527.2.2 Les canalisations telles que conduits, profilés, goulottes, canalisations préfabriquées, qui</a:t>
            </a:r>
          </a:p>
        </p:txBody>
      </p:sp>
      <p:sp>
        <p:nvSpPr>
          <p:cNvPr id="3" name="Content Placeholder 2"/>
          <p:cNvSpPr>
            <a:spLocks noGrp="1"/>
          </p:cNvSpPr>
          <p:nvPr>
            <p:ph idx="1"/>
          </p:nvPr>
        </p:nvSpPr>
        <p:spPr/>
        <p:txBody>
          <a:bodyPr/>
          <a:lstStyle/>
          <a:p>
            <a:pPr>
              <a:defRPr sz="1600"/>
            </a:pPr>
            <a:r>
              <a:t>pénètrent dans des éléments de construction ayant une résistance au feu spécifiée doivent être obturées intérieurement suivant le degré de résistance au feu prescrit pour l'élément correspondant avant la pénétration et également obturées extérieurement comme prescrit en 527.</a:t>
            </a:r>
          </a:p>
          <a:p>
            <a:pPr>
              <a:defRPr sz="1600"/>
            </a:pPr>
            <a:r>
              <a:t>2.</a:t>
            </a:r>
          </a:p>
          <a:p>
            <a:pPr>
              <a:defRPr sz="1600"/>
            </a:pPr>
            <a:r>
              <a:t>1.</a:t>
            </a:r>
          </a:p>
          <a:p>
            <a:pPr>
              <a:defRPr sz="1600"/>
            </a:pPr>
            <a:r>
              <a:t>Toutefois, il n'y a pas lieu de prévoir d'obturation intérieure pour les conduits et goulottes satisfaisant à l'essai de non propagation de la flamme, dont la section intérieure est inférieure ou égale à 710 mm², et possédant les degrés de protection IP33.</a:t>
            </a:r>
          </a:p>
          <a:p>
            <a:pPr>
              <a:defRPr sz="1600"/>
            </a:pPr>
            <a:r>
              <a:t>Si ces conduits ou goulottes débouchent dans un compartiment séparé par l'élément de construction considéré, l'extrémité doit posséder les degrés de protection IP33.</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528.1 Voisinage avec d'autres canalisations électriques</a:t>
            </a:r>
          </a:p>
        </p:txBody>
      </p:sp>
      <p:sp>
        <p:nvSpPr>
          <p:cNvPr id="3" name="Content Placeholder 2"/>
          <p:cNvSpPr>
            <a:spLocks noGrp="1"/>
          </p:cNvSpPr>
          <p:nvPr>
            <p:ph idx="1"/>
          </p:nvPr>
        </p:nvSpPr>
        <p:spPr/>
        <p:txBody>
          <a:bodyPr/>
          <a:lstStyle/>
          <a:p>
            <a:pPr>
              <a:defRPr sz="1600"/>
            </a:pPr>
            <a:r>
              <a:t>H  Les canalisations électriques des domaines de tensions TBT et BT ne doivent pas emprunter les mêmes gaines ou caniveaux que des canalisations électriques de tension supérieure à la limite supérieure du domaine BT, à moins que des dispositions ne soient prises pour que les canalisations des domaines TBT et BT ne puissent être soumises à une tension supérieure à leur tension de tenue à fréquence industrielle (voir 4-41).</a:t>
            </a:r>
          </a:p>
          <a:p>
            <a:pPr>
              <a:defRPr sz="1600"/>
            </a:pPr>
            <a:r>
              <a:t>Des considérations spéciales de perturbations électriques et/ou électromagnétiques peuvent s'appliquer à des circuits de télécommunication, de transmission d'information et analogues (voir le guide UTE C 15-900).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528.2 Voisinage avec des canalisations non électriques</a:t>
            </a:r>
          </a:p>
        </p:txBody>
      </p:sp>
      <p:sp>
        <p:nvSpPr>
          <p:cNvPr id="3" name="Content Placeholder 2"/>
          <p:cNvSpPr>
            <a:spLocks noGrp="1"/>
          </p:cNvSpPr>
          <p:nvPr>
            <p:ph idx="1"/>
          </p:nvPr>
        </p:nvSpPr>
        <p:spPr/>
        <p:txBody>
          <a:bodyPr/>
          <a:lstStyle/>
          <a:p>
            <a:pPr>
              <a:defRPr sz="1600"/>
            </a:pPr>
            <a:r>
              <a:t>H.</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528.2.1 Au voisinage des canalisations de chauffage ou d'air chaud et des conduits de fumée, les</a:t>
            </a:r>
          </a:p>
        </p:txBody>
      </p:sp>
      <p:sp>
        <p:nvSpPr>
          <p:cNvPr id="3" name="Content Placeholder 2"/>
          <p:cNvSpPr>
            <a:spLocks noGrp="1"/>
          </p:cNvSpPr>
          <p:nvPr>
            <p:ph idx="1"/>
          </p:nvPr>
        </p:nvSpPr>
        <p:spPr/>
        <p:txBody>
          <a:bodyPr/>
          <a:lstStyle/>
          <a:p>
            <a:pPr>
              <a:defRPr sz="1600"/>
            </a:pPr>
            <a:r>
              <a:t>canalisations électriques ne doivent pas risquer de ce fait d'être portées à une température nuisible et par suite être tenues à une distance suffisante ou être séparées de ces canalisations par un écran calorifuge.</a:t>
            </a:r>
          </a:p>
          <a:p>
            <a:pPr>
              <a:defRPr sz="1600"/>
            </a:pPr>
            <a:r>
              <a:t>Les canalisations électriques ne doivent pas emprunter des gaines de fumée, de ventilation ou de désenfumage.</a:t>
            </a:r>
          </a:p>
          <a:p>
            <a:pPr>
              <a:defRPr sz="1600"/>
            </a:pPr>
            <a:r>
              <a:t>Les conduits déformables noyés dans des planchers comportant des éléments chauffants sont éloignés le plus possible de ces éléments.</a:t>
            </a:r>
          </a:p>
          <a:p>
            <a:pPr>
              <a:defRPr sz="1600"/>
            </a:pPr>
            <a:r>
              <a:t>En particulier aux croisements de conduits et d'éléments chauffants, les conduits sont fixes de manière à laisser une épaisseur de béton suffisante avec les éléments chauffants.</a:t>
            </a:r>
          </a:p>
          <a:p>
            <a:pPr>
              <a:defRPr sz="1600"/>
            </a:pPr>
            <a:r>
              <a:t>H.</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528.2.2 Les canalisations électriques ne doivent pas être placées parallèlement au-dessous des</a:t>
            </a:r>
          </a:p>
        </p:txBody>
      </p:sp>
      <p:sp>
        <p:nvSpPr>
          <p:cNvPr id="3" name="Content Placeholder 2"/>
          <p:cNvSpPr>
            <a:spLocks noGrp="1"/>
          </p:cNvSpPr>
          <p:nvPr>
            <p:ph idx="1"/>
          </p:nvPr>
        </p:nvSpPr>
        <p:spPr/>
        <p:txBody>
          <a:bodyPr/>
          <a:lstStyle/>
          <a:p>
            <a:pPr>
              <a:defRPr sz="1600"/>
            </a:pPr>
            <a:r>
              <a:t>canalisations pouvant donner lieu à des condensations (telles que canalisations d'eau, de vapeur ou de gaz, etc.</a:t>
            </a:r>
          </a:p>
          <a:p>
            <a:pPr>
              <a:defRPr sz="1600"/>
            </a:pPr>
            <a:r>
              <a:t>) à moins que des dispositions ne soient prises pour protéger les canalisations électriques des effets de ces condensations.</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528.2.3 Lorsque des canalisations électriques sont installées au voisinage de canalisations non</a:t>
            </a:r>
          </a:p>
        </p:txBody>
      </p:sp>
      <p:sp>
        <p:nvSpPr>
          <p:cNvPr id="3" name="Content Placeholder 2"/>
          <p:cNvSpPr>
            <a:spLocks noGrp="1"/>
          </p:cNvSpPr>
          <p:nvPr>
            <p:ph idx="1"/>
          </p:nvPr>
        </p:nvSpPr>
        <p:spPr/>
        <p:txBody>
          <a:bodyPr/>
          <a:lstStyle/>
          <a:p>
            <a:pPr>
              <a:defRPr sz="1600"/>
            </a:pPr>
            <a:r>
              <a:t>électriques, elles doivent être disposées de sorte que toute intervention prévisible sur une canalisation ne risque pas d'endommager les autres.</a:t>
            </a:r>
          </a:p>
          <a:p>
            <a:pPr>
              <a:defRPr sz="1600"/>
            </a:pPr>
            <a:r>
              <a:t>Ceci peut être réalisé par : - -  un espace approprié entre les canalisations ; la mise en place d'écrans mécaniques ou thermiques.</a:t>
            </a:r>
          </a:p>
          <a:p>
            <a:pPr>
              <a:defRPr sz="1600"/>
            </a:pPr>
            <a:r>
              <a:t>- 224 -   H.</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528.2.4 Lorsqu'une canalisation électrique est placée à proximité immédiate de canalisations non</a:t>
            </a:r>
          </a:p>
        </p:txBody>
      </p:sp>
      <p:sp>
        <p:nvSpPr>
          <p:cNvPr id="3" name="Content Placeholder 2"/>
          <p:cNvSpPr>
            <a:spLocks noGrp="1"/>
          </p:cNvSpPr>
          <p:nvPr>
            <p:ph idx="1"/>
          </p:nvPr>
        </p:nvSpPr>
        <p:spPr/>
        <p:txBody>
          <a:bodyPr/>
          <a:lstStyle/>
          <a:p>
            <a:pPr>
              <a:defRPr sz="1600"/>
            </a:pPr>
            <a:r>
              <a:t>électriques, elle doit être convenablement protégée contre les dangers pouvant résulter de la présence des autres canalisations.</a:t>
            </a:r>
          </a:p>
          <a:p>
            <a:pPr>
              <a:defRPr sz="1600"/>
            </a:pPr>
            <a:r>
              <a:t>Les dangers pouvant résulter de la présence d'autres canalisations concernent notamment : -  une élévation de la température pouvant résulter de la présence d'autres canalisations de vapeur, de chauffage ou plus généralement d'un fluide chaud ;  -  le danger d'inondation, en cas d'avarie à une conduite de liquide, toutes dispositions étant alors prises pour permettre aux liquides d'être évacués.</a:t>
            </a:r>
          </a:p>
          <a:p>
            <a:pPr>
              <a:defRPr sz="1600"/>
            </a:pPr>
            <a:r>
              <a:t>529 Règles particulières aux différents modes de pose  Des indications détaillées sur les conditions de mise en œuvre des différents modes de pose sont données dans le guide UTE C 15-520.</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529.1.1 Pose en montage apparent</a:t>
            </a:r>
          </a:p>
        </p:txBody>
      </p:sp>
      <p:sp>
        <p:nvSpPr>
          <p:cNvPr id="3" name="Content Placeholder 2"/>
          <p:cNvSpPr>
            <a:spLocks noGrp="1"/>
          </p:cNvSpPr>
          <p:nvPr>
            <p:ph idx="1"/>
          </p:nvPr>
        </p:nvSpPr>
        <p:spPr/>
        <p:txBody>
          <a:bodyPr/>
          <a:lstStyle/>
          <a:p>
            <a:pPr>
              <a:defRPr sz="1600"/>
            </a:pPr>
            <a:r>
              <a:t>Les conduits qui ne possèdent pas la qualité de non propagation de la flamme et qui sont caractérisés par la couleur jaune-orange, ne sont pas admis en montage apparent.</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529.1.2.1 Les conduits de degré de protection au moins égal à IK07 ne peuvent être posés avant</a:t>
            </a:r>
          </a:p>
        </p:txBody>
      </p:sp>
      <p:sp>
        <p:nvSpPr>
          <p:cNvPr id="3" name="Content Placeholder 2"/>
          <p:cNvSpPr>
            <a:spLocks noGrp="1"/>
          </p:cNvSpPr>
          <p:nvPr>
            <p:ph idx="1"/>
          </p:nvPr>
        </p:nvSpPr>
        <p:spPr/>
        <p:txBody>
          <a:bodyPr/>
          <a:lstStyle/>
          <a:p>
            <a:pPr>
              <a:defRPr sz="1600"/>
            </a:pPr>
            <a:r>
              <a:t>construction de la maçonnerie que s'ils sont à l'abri de toute contrainte mécanique importante pendant les travaux de construction.</a:t>
            </a:r>
          </a:p>
          <a:p>
            <a:pPr>
              <a:defRPr sz="1600"/>
            </a:pPr>
            <a:r>
              <a:t>Les conduits de degré de protection supérieur à IK07 sont posés soit avant construction de la maçonnerie, soit après construction de la maçonnerie.</a:t>
            </a:r>
          </a:p>
          <a:p>
            <a:pPr>
              <a:defRPr sz="1600"/>
            </a:pPr>
            <a:r>
              <a:t>Les conduits de degré de protection IK07 sont les conduits ICA 3321 et IRL 3321.</a:t>
            </a:r>
          </a:p>
          <a:p>
            <a:pPr>
              <a:defRPr sz="1600"/>
            </a:pPr>
            <a:r>
              <a:t>Les conduits de degré de protection supérieur à IK07 sont les conduits de classification supérieure à 3321.</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529.1.2.2 Les conduits qui ne possèdent pas la qualité de non propagation de la flamme et qui sont</a:t>
            </a:r>
          </a:p>
        </p:txBody>
      </p:sp>
      <p:sp>
        <p:nvSpPr>
          <p:cNvPr id="3" name="Content Placeholder 2"/>
          <p:cNvSpPr>
            <a:spLocks noGrp="1"/>
          </p:cNvSpPr>
          <p:nvPr>
            <p:ph idx="1"/>
          </p:nvPr>
        </p:nvSpPr>
        <p:spPr/>
        <p:txBody>
          <a:bodyPr/>
          <a:lstStyle/>
          <a:p>
            <a:pPr>
              <a:defRPr sz="1600"/>
            </a:pPr>
            <a:r>
              <a:t>caractérisés par la couleur jaune-orange doivent être complètement enrobés dans des matériaux incombustibles.</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529.2.1 Les moulures en bois ne sont autorisées qu'en rénovation dans les monuments historiques</a:t>
            </a:r>
          </a:p>
        </p:txBody>
      </p:sp>
      <p:sp>
        <p:nvSpPr>
          <p:cNvPr id="3" name="Content Placeholder 2"/>
          <p:cNvSpPr>
            <a:spLocks noGrp="1"/>
          </p:cNvSpPr>
          <p:nvPr>
            <p:ph idx="1"/>
          </p:nvPr>
        </p:nvSpPr>
        <p:spPr/>
        <p:txBody>
          <a:bodyPr/>
          <a:lstStyle/>
          <a:p>
            <a:pPr>
              <a:defRPr sz="1600"/>
            </a:pPr>
            <a:r>
              <a:t>dans des conditions d'influences externes AD1.</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529.2.2 Les rainures des moulures doivent avoir des dimensions telles que les conducteurs s'y logent</a:t>
            </a:r>
          </a:p>
        </p:txBody>
      </p:sp>
      <p:sp>
        <p:nvSpPr>
          <p:cNvPr id="3" name="Content Placeholder 2"/>
          <p:cNvSpPr>
            <a:spLocks noGrp="1"/>
          </p:cNvSpPr>
          <p:nvPr>
            <p:ph idx="1"/>
          </p:nvPr>
        </p:nvSpPr>
        <p:spPr/>
        <p:txBody>
          <a:bodyPr/>
          <a:lstStyle/>
          <a:p>
            <a:pPr>
              <a:defRPr sz="1600"/>
            </a:pPr>
            <a:r>
              <a:t>librement.</a:t>
            </a:r>
          </a:p>
          <a:p>
            <a:pPr>
              <a:defRPr sz="1600"/>
            </a:pPr>
            <a:r>
              <a:t>Dans les moulures en bois, on ne doit passer qu'un seul conducteur par rainure.</a:t>
            </a:r>
          </a:p>
          <a:p>
            <a:pPr>
              <a:defRPr sz="1600"/>
            </a:pPr>
            <a:r>
              <a:t>Il est toutefois admis de passer plusieurs conducteurs dans une même rainure sous réserve que ces conducteurs appartiennent à un seul et même circuit.</a:t>
            </a:r>
          </a:p>
          <a:p>
            <a:pPr>
              <a:defRPr sz="1600"/>
            </a:pPr>
            <a:r>
              <a:t>En l'absence de plinthes, la partie inférieure des moulures doit être à au moins 10 cm au-dessus du sol fini.</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529.2.3 Lorsqu'il est fait usage de plinthes rainurées et qui servent de support à des socles de prises</a:t>
            </a:r>
          </a:p>
        </p:txBody>
      </p:sp>
      <p:sp>
        <p:nvSpPr>
          <p:cNvPr id="3" name="Content Placeholder 2"/>
          <p:cNvSpPr>
            <a:spLocks noGrp="1"/>
          </p:cNvSpPr>
          <p:nvPr>
            <p:ph idx="1"/>
          </p:nvPr>
        </p:nvSpPr>
        <p:spPr/>
        <p:txBody>
          <a:bodyPr/>
          <a:lstStyle/>
          <a:p>
            <a:pPr>
              <a:defRPr sz="1600"/>
            </a:pPr>
            <a:r>
              <a:t>de courant pour plinthes, il est admis de passer dans une même rainure des conducteurs appartenant à deux circuits différents sous réserve que ces conducteurs ne soient pas de même polarité.</a:t>
            </a:r>
          </a:p>
          <a:p>
            <a:pPr>
              <a:defRPr sz="1600"/>
            </a:pPr>
            <a:r>
              <a:t>- 225 -  2002.</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529.3 Goulottes</a:t>
            </a:r>
          </a:p>
        </p:txBody>
      </p:sp>
      <p:sp>
        <p:nvSpPr>
          <p:cNvPr id="3" name="Content Placeholder 2"/>
          <p:cNvSpPr>
            <a:spLocks noGrp="1"/>
          </p:cNvSpPr>
          <p:nvPr>
            <p:ph idx="1"/>
          </p:nvPr>
        </p:nvSpPr>
        <p:spPr/>
        <p:txBody>
          <a:bodyPr/>
          <a:lstStyle/>
          <a:p>
            <a:pPr>
              <a:defRPr sz="1600"/>
            </a:pPr>
            <a:r>
              <a:t>Dans le cas de goulottes posées en plinthe, la classe de protection contre les chocs mécaniques doit correspondre au moins à un degré de protection mécanique IK07.</a:t>
            </a:r>
          </a:p>
          <a:p>
            <a:pPr>
              <a:defRPr sz="1600"/>
            </a:pPr>
            <a:r>
              <a:t>Le conducteur isolé situé le plus bas doit se trouver à 1,5 cm au moins au-dessus du sol fini.</a:t>
            </a:r>
          </a:p>
          <a:p>
            <a:pPr>
              <a:defRPr sz="1600"/>
            </a:pPr>
            <a:r>
              <a:t>Les conducteurs isolés ne sont admis que si le couvercle nécessite l'emploi d'un outil pour être retiré et que si la goulotte possède le degré de protection IP4X ou IPXXD.</a:t>
            </a:r>
          </a:p>
          <a:p>
            <a:pPr>
              <a:defRPr sz="1600"/>
            </a:pPr>
            <a:r>
              <a:t>Lorsque le couvercle est démontable sans l'aide d'un outil, les connexions ne sont admises que si elles présentent un degré de protection minimal IP2X ou IPXXB, les conducteurs étant en place.</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529.4 Vides de construction</a:t>
            </a:r>
          </a:p>
        </p:txBody>
      </p:sp>
      <p:sp>
        <p:nvSpPr>
          <p:cNvPr id="3" name="Content Placeholder 2"/>
          <p:cNvSpPr>
            <a:spLocks noGrp="1"/>
          </p:cNvSpPr>
          <p:nvPr>
            <p:ph idx="1"/>
          </p:nvPr>
        </p:nvSpPr>
        <p:spPr/>
        <p:txBody>
          <a:bodyPr/>
          <a:lstStyle/>
          <a:p>
            <a:pPr>
              <a:defRPr sz="1600"/>
            </a:pPr>
            <a:r>
              <a:t>Les gaines, galeries et caniveaux ne sont pas considérés comme des vides de construction.</a:t>
            </a:r>
          </a:p>
          <a:p>
            <a:pPr>
              <a:defRPr sz="1600"/>
            </a:pPr>
            <a:r>
              <a:t>Il en est de même des espaces au-dessus des faux plafonds suspendus démontables pour lesquels les conditions de pose sont celles du montage apparent, les canalisations étant fixées ou supportées indépendamment des panneaux démontables.</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529.4.1 Dans les vides de construction, les canalisations sont constituées de conducteurs isolés</a:t>
            </a:r>
          </a:p>
        </p:txBody>
      </p:sp>
      <p:sp>
        <p:nvSpPr>
          <p:cNvPr id="3" name="Content Placeholder 2"/>
          <p:cNvSpPr>
            <a:spLocks noGrp="1"/>
          </p:cNvSpPr>
          <p:nvPr>
            <p:ph idx="1"/>
          </p:nvPr>
        </p:nvSpPr>
        <p:spPr/>
        <p:txBody>
          <a:bodyPr/>
          <a:lstStyle/>
          <a:p>
            <a:pPr>
              <a:defRPr sz="1600"/>
            </a:pPr>
            <a:r>
              <a:t>sous conduit ou de câbles (multiconducteurs ou monoconducteurs), à condition que les conducteurs et câbles puissent être posés ou retirés sans intervention sur les éléments de construction du bâtiment.</a:t>
            </a:r>
          </a:p>
          <a:p>
            <a:pPr>
              <a:defRPr sz="1600"/>
            </a:pPr>
            <a:r>
              <a:t>Les conducteurs, câbles, conduits pouvant être posés directement dans les vides de construction doivent satisfaire aux essais de non propagation de la flamme.</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529.4.2 Conducteurs isolés posés sous conduit</a:t>
            </a:r>
          </a:p>
        </p:txBody>
      </p:sp>
      <p:sp>
        <p:nvSpPr>
          <p:cNvPr id="3" name="Content Placeholder 2"/>
          <p:cNvSpPr>
            <a:spLocks noGrp="1"/>
          </p:cNvSpPr>
          <p:nvPr>
            <p:ph idx="1"/>
          </p:nvPr>
        </p:nvSpPr>
        <p:spPr/>
        <p:txBody>
          <a:bodyPr/>
          <a:lstStyle/>
          <a:p>
            <a:pPr>
              <a:defRPr sz="1600"/>
            </a:pPr>
            <a:r>
              <a:t>Les dimensions des vides de construction doivent être telles que les conduits puissent y pénétrer librement.</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529.4.3 Câbles</a:t>
            </a:r>
          </a:p>
        </p:txBody>
      </p:sp>
      <p:sp>
        <p:nvSpPr>
          <p:cNvPr id="3" name="Content Placeholder 2"/>
          <p:cNvSpPr>
            <a:spLocks noGrp="1"/>
          </p:cNvSpPr>
          <p:nvPr>
            <p:ph idx="1"/>
          </p:nvPr>
        </p:nvSpPr>
        <p:spPr/>
        <p:txBody>
          <a:bodyPr/>
          <a:lstStyle/>
          <a:p>
            <a:pPr>
              <a:defRPr sz="1600"/>
            </a:pPr>
            <a:r>
              <a:t>Des câbles isolés (mono- ou multiconducteurs) peuvent être posés directement, c'est-à-dire sans conduit, dans un vide de construction, si la plus petite dimension transversale du vide est d'au moins 1,5 fois le diamètre extérieur du câble de la plus grande section.</a:t>
            </a:r>
          </a:p>
          <a:p>
            <a:pPr>
              <a:defRPr sz="1600"/>
            </a:pPr>
            <a:r>
              <a:t>En outre, la section d'encombrement des câbles, toutes protections comprises, ne doit pas être supérieure au quart de la section du vide utilisé.</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529.5.1 Seuls sont admis en pose enterrée des câbles dans les conditions suivantes :</a:t>
            </a:r>
          </a:p>
        </p:txBody>
      </p:sp>
      <p:sp>
        <p:nvSpPr>
          <p:cNvPr id="3" name="Content Placeholder 2"/>
          <p:cNvSpPr>
            <a:spLocks noGrp="1"/>
          </p:cNvSpPr>
          <p:nvPr>
            <p:ph idx="1"/>
          </p:nvPr>
        </p:nvSpPr>
        <p:spPr/>
        <p:txBody>
          <a:bodyPr/>
          <a:lstStyle/>
          <a:p>
            <a:pPr>
              <a:defRPr sz="1600"/>
            </a:pPr>
            <a:r>
              <a:t>a)  les câbles armés d'acier et comportant sous l'armure une gaine d'étanchéité peuvent être placés directement dans le sol.</a:t>
            </a:r>
          </a:p>
          <a:p>
            <a:pPr>
              <a:defRPr sz="1600"/>
            </a:pPr>
            <a:r>
              <a:t>Les câbles pouvant être posés directement dans le sol sont les câbles de tension nominale au moins égale à 1000 volts et comportant un revêtement métallique, tels que ceux des séries U- 1000 RGPFV, U-1000 RVFV, FR-N1X-DV, FR-N 1-X1X2Z4X2, FR-N 1-X 1G lZ4G1.</a:t>
            </a:r>
          </a:p>
          <a:p>
            <a:pPr>
              <a:defRPr sz="1600"/>
            </a:pPr>
            <a:r>
              <a:t>b)  les câbles sans armure mais comportant une gaine épaisse nécessitent une protection mécanique indépendante contre le choc des outils métalliques à main.</a:t>
            </a:r>
          </a:p>
          <a:p>
            <a:pPr>
              <a:defRPr sz="1600"/>
            </a:pPr>
            <a:r>
              <a:t>Les câbles qui nécessitent une protection contre le choc des outils métalliques à main sont les câbles de tension nominale au moins égale à 1000 volts et ne comportant pas de revêtement métallique, tels que ceux des séries U- 1000 R 12N, U- 1000 R2V, FR-N 1-X 1X2, FR-N 1-X 1G1.</a:t>
            </a:r>
          </a:p>
          <a:p>
            <a:pPr>
              <a:defRPr sz="1600"/>
            </a:pPr>
            <a:r>
              <a:t>Les autres câbles pouvant être utilisés dans les conditions d'influences externes AD5 (voir tableau 52D) doivent être placés dans des conduits ou fourreaux, tels que les conduits pour canalisations enterrées conformes à la norme en vigueur (14).</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529.5.2 Les câbles doivent être protégés contre les détériorations causées par le tassement des</a:t>
            </a:r>
          </a:p>
        </p:txBody>
      </p:sp>
      <p:sp>
        <p:nvSpPr>
          <p:cNvPr id="3" name="Content Placeholder 2"/>
          <p:cNvSpPr>
            <a:spLocks noGrp="1"/>
          </p:cNvSpPr>
          <p:nvPr>
            <p:ph idx="1"/>
          </p:nvPr>
        </p:nvSpPr>
        <p:spPr/>
        <p:txBody>
          <a:bodyPr/>
          <a:lstStyle/>
          <a:p>
            <a:pPr>
              <a:defRPr sz="1600"/>
            </a:pPr>
            <a:r>
              <a:t>terres, le contact des corps durs, le choc des outils à main en cas de fouilles, ainsi que contre les actions chimiques causées par les éléments du sol.</a:t>
            </a:r>
          </a:p>
          <a:p>
            <a:pPr>
              <a:defRPr sz="1600"/>
            </a:pPr>
            <a:r>
              <a:t>Pour parer aux effets du tassement des terres, les câbles doivent être enfouis en terrain normal, au moins à 0,50 m de la surface du sol.</a:t>
            </a:r>
          </a:p>
          <a:p>
            <a:pPr>
              <a:defRPr sz="1600"/>
            </a:pPr>
            <a:r>
              <a:t>Cette profondeur est portée à 0,85 m à la traversée des voies accessibles aux voitures et sous les trottoirs.</a:t>
            </a:r>
          </a:p>
          <a:p>
            <a:pPr>
              <a:defRPr sz="1600"/>
            </a:pPr>
            <a:r>
              <a:t>Ces profondeurs peuvent être diminuées en terrain rocheux.</a:t>
            </a:r>
          </a:p>
          <a:p>
            <a:pPr>
              <a:defRPr sz="1600"/>
            </a:pPr>
            <a:r>
              <a:t>Elles peuvent ne pas être respectées si des dispositions sont prises pour que les câbles ne supportent pas directement les effets du tassement des terres, par exemple à l'aide de fourreaux.</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529.5.3 Lorsqu'une canalisation enterrée croise une autre canalisation électrique enterrée, elles</a:t>
            </a:r>
          </a:p>
        </p:txBody>
      </p:sp>
      <p:sp>
        <p:nvSpPr>
          <p:cNvPr id="3" name="Content Placeholder 2"/>
          <p:cNvSpPr>
            <a:spLocks noGrp="1"/>
          </p:cNvSpPr>
          <p:nvPr>
            <p:ph idx="1"/>
          </p:nvPr>
        </p:nvSpPr>
        <p:spPr/>
        <p:txBody>
          <a:bodyPr/>
          <a:lstStyle/>
          <a:p>
            <a:pPr>
              <a:defRPr sz="1600"/>
            </a:pPr>
            <a:r>
              <a:t>doivent, en principe, se trouver à une distance minimale de 0,20 m.</a:t>
            </a:r>
          </a:p>
          <a:p>
            <a:pPr>
              <a:defRPr sz="1600"/>
            </a:pPr>
            <a:r>
              <a:t>Lorsqu'une canalisation électrique enterrée longe ou croise des conduites d'eau, d'hydrocarbure, de gaz, d'air comprimé ou de vapeur également enterrées, une distance minimale de 0,20 mètre doit, en principe, exister entre leurs points les plus rapprochés.</a:t>
            </a:r>
          </a:p>
          <a:p>
            <a:pPr>
              <a:defRPr sz="1600"/>
            </a:pPr>
            <a:r>
              <a:t>Cette distance peut être réduite à condition que les installations soient séparées par un dispositif de protection donnant une sécurité équivalente.</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529.5.4 Toute canalisation enterrée doit être signalée par un dispositif avertisseur non corrodable</a:t>
            </a:r>
          </a:p>
        </p:txBody>
      </p:sp>
      <p:sp>
        <p:nvSpPr>
          <p:cNvPr id="3" name="Content Placeholder 2"/>
          <p:cNvSpPr>
            <a:spLocks noGrp="1"/>
          </p:cNvSpPr>
          <p:nvPr>
            <p:ph idx="1"/>
          </p:nvPr>
        </p:nvSpPr>
        <p:spPr/>
        <p:txBody>
          <a:bodyPr/>
          <a:lstStyle/>
          <a:p>
            <a:pPr>
              <a:defRPr sz="1600"/>
            </a:pPr>
            <a:r>
              <a:t>placé au moins à 0,20 m au-dessus d'elle.</a:t>
            </a:r>
          </a:p>
          <a:p>
            <a:pPr>
              <a:defRPr sz="1600"/>
            </a:pPr>
            <a:r>
              <a:t>Il est recommandé que le dispositif avertisseur soit constitué par un grillage en plastique de couleur rouge.</a:t>
            </a:r>
          </a:p>
          <a:p>
            <a:pPr>
              <a:defRPr sz="1600"/>
            </a:pPr>
            <a:r>
              <a:t>Ce dispositif n'est pas nécessaire lorsque les câbles sont munis d'une protection mécanique indépendante ou sont placés dans des conduits de couleur rouge ou fourreaux.</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529.6 Canalisations préfabriquées</a:t>
            </a:r>
          </a:p>
        </p:txBody>
      </p:sp>
      <p:sp>
        <p:nvSpPr>
          <p:cNvPr id="3" name="Content Placeholder 2"/>
          <p:cNvSpPr>
            <a:spLocks noGrp="1"/>
          </p:cNvSpPr>
          <p:nvPr>
            <p:ph idx="1"/>
          </p:nvPr>
        </p:nvSpPr>
        <p:spPr/>
        <p:txBody>
          <a:bodyPr/>
          <a:lstStyle/>
          <a:p>
            <a:pPr>
              <a:defRPr sz="1600"/>
            </a:pPr>
            <a:r>
              <a:t>Les canalisations préfabriquées doivent être conformes à la NF EN 60439-2 (C 63-422).</a:t>
            </a:r>
          </a:p>
          <a:p>
            <a:pPr>
              <a:defRPr sz="1600"/>
            </a:pPr>
            <a:r>
              <a:t>Des indications sur le calcul des canalisations préfabriquées sont données dans le guide UTE C 15- 107.</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529.7.1 Les règles énoncées ci-après concernent les canalisations établies en conducteurs nus ou</a:t>
            </a:r>
          </a:p>
        </p:txBody>
      </p:sp>
      <p:sp>
        <p:nvSpPr>
          <p:cNvPr id="3" name="Content Placeholder 2"/>
          <p:cNvSpPr>
            <a:spLocks noGrp="1"/>
          </p:cNvSpPr>
          <p:nvPr>
            <p:ph idx="1"/>
          </p:nvPr>
        </p:nvSpPr>
        <p:spPr/>
        <p:txBody>
          <a:bodyPr/>
          <a:lstStyle/>
          <a:p>
            <a:pPr>
              <a:defRPr sz="1600"/>
            </a:pPr>
            <a:r>
              <a:t>munis d'un revêtement résistant aux intempéries ou en conducteurs assemblés en faisceaux et montées sur poteaux en bois, en béton armé, en fer ou en acier ou sur potelets métalliques.</a:t>
            </a:r>
          </a:p>
          <a:p>
            <a:pPr>
              <a:defRPr sz="1600"/>
            </a:pPr>
            <a:r>
              <a:t>Il est recommandé pour des raisons de sécurité de réaliser les lignes aériennes pour les installations électriques à basse tension, en conducteurs isolés assemblés en faisceaux conformes à la norme NF C 33-209.</a:t>
            </a:r>
          </a:p>
          <a:p>
            <a:pPr>
              <a:defRPr sz="1600"/>
            </a:pPr>
            <a:r>
              <a:t>Ces règles ne concernent pas les lignes de clôtures électriques.</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529.7.2 Les conducteurs nus doivent se trouver hors d'atteinte. Dans les traversées des cours, leur</a:t>
            </a:r>
          </a:p>
        </p:txBody>
      </p:sp>
      <p:sp>
        <p:nvSpPr>
          <p:cNvPr id="3" name="Content Placeholder 2"/>
          <p:cNvSpPr>
            <a:spLocks noGrp="1"/>
          </p:cNvSpPr>
          <p:nvPr>
            <p:ph idx="1"/>
          </p:nvPr>
        </p:nvSpPr>
        <p:spPr/>
        <p:txBody>
          <a:bodyPr/>
          <a:lstStyle/>
          <a:p>
            <a:pPr>
              <a:defRPr sz="1600"/>
            </a:pPr>
            <a:r>
              <a:t>point le plus bas doit se trouver à 6 m au moins au-dessus du sol ; cette hauteur peut être réduite à 4 m dans les cours inaccessibles aux véhicules et à 3 m le long des bâtiments et murs ou au-dessus des toits de terrasse.</a:t>
            </a:r>
          </a:p>
          <a:p>
            <a:pPr>
              <a:defRPr sz="1600"/>
            </a:pPr>
            <a:r>
              <a:t>Dans le voisinage des bâtiments, les conducteurs nus doivent se trouver au moins à une distance horizontale de 1 m des fenêtres, baies ou ouvertures ou à une distance verticale de 2 m au-dessus ou de 1 m au-dessous d'elles.</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529.7.3 Les conducteurs isolés assemblés en faisceau doivent être fixés par des accessoires dont</a:t>
            </a:r>
          </a:p>
        </p:txBody>
      </p:sp>
      <p:sp>
        <p:nvSpPr>
          <p:cNvPr id="3" name="Content Placeholder 2"/>
          <p:cNvSpPr>
            <a:spLocks noGrp="1"/>
          </p:cNvSpPr>
          <p:nvPr>
            <p:ph idx="1"/>
          </p:nvPr>
        </p:nvSpPr>
        <p:spPr/>
        <p:txBody>
          <a:bodyPr/>
          <a:lstStyle/>
          <a:p>
            <a:pPr>
              <a:defRPr sz="1600"/>
            </a:pPr>
            <a:r>
              <a:t>les parties en contact avec le revêtement isolant des conducteurs doivent être en matière isolante.</a:t>
            </a:r>
          </a:p>
          <a:p>
            <a:pPr>
              <a:defRPr sz="1600"/>
            </a:pPr>
            <a:r>
              <a:t>- 227 -   Ces conducteurs doivent se trouver à une hauteur au-dessus du sol d'au moins 4 m dans les traversées des cours et à 2 m dans les cours inaccessibles aux véhicules et le long des murs.</a:t>
            </a:r>
          </a:p>
          <a:p>
            <a:pPr>
              <a:defRPr sz="1600"/>
            </a:pPr>
            <a:r>
              <a:t>Dans le voisinage des bâtiments, ils doivent se trouver au moins à une distance de 0,50 m des fenêtres, baies ou ouvertures, à moins qu'ils ne soient munis d'une protection mécanique complémentaire.</a:t>
            </a:r>
          </a:p>
          <a:p>
            <a:pPr>
              <a:defRPr sz="1600"/>
            </a:pPr>
            <a:r>
              <a:t>______________  - 228 -   Partie 5-53 – Appareillage  (Protection, commande, sectionnement et surveillance)  530 Généralités.</a:t>
            </a:r>
          </a:p>
          <a:p>
            <a:pPr>
              <a:defRPr sz="1600"/>
            </a:pPr>
            <a:r>
              <a:t>230 531 Dispositifs de protection contre les courants de défaut.</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530.1 Domaine d’application</a:t>
            </a:r>
          </a:p>
        </p:txBody>
      </p:sp>
      <p:sp>
        <p:nvSpPr>
          <p:cNvPr id="3" name="Content Placeholder 2"/>
          <p:cNvSpPr>
            <a:spLocks noGrp="1"/>
          </p:cNvSpPr>
          <p:nvPr>
            <p:ph idx="1"/>
          </p:nvPr>
        </p:nvSpPr>
        <p:spPr/>
        <p:txBody>
          <a:bodyPr/>
          <a:lstStyle/>
          <a:p>
            <a:pPr>
              <a:defRPr sz="1600"/>
            </a:pPr>
            <a:r>
              <a:t>Les prescriptions de la présente partie complètent les règles communes   de la partie 5-51.</a:t>
            </a:r>
          </a:p>
          <a:p>
            <a:pPr>
              <a:defRPr sz="1600"/>
            </a:pPr>
            <a:r>
              <a:t>La partie 5-53 traite du choix et de la mise en œuvre de l’appareillage relatifs à la protection, à la commande, au sectionnement et à la surveillance.</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530.3.1 Les contacts mobiles de tous les pôles des appareils multipolaires doivent être couplés</a:t>
            </a:r>
          </a:p>
        </p:txBody>
      </p:sp>
      <p:sp>
        <p:nvSpPr>
          <p:cNvPr id="3" name="Content Placeholder 2"/>
          <p:cNvSpPr>
            <a:spLocks noGrp="1"/>
          </p:cNvSpPr>
          <p:nvPr>
            <p:ph idx="1"/>
          </p:nvPr>
        </p:nvSpPr>
        <p:spPr/>
        <p:txBody>
          <a:bodyPr/>
          <a:lstStyle/>
          <a:p>
            <a:pPr>
              <a:defRPr sz="1600"/>
            </a:pPr>
            <a:r>
              <a:t>mécaniquement de façon qu'ils s'ouvrent ou se ferment pratiquement ensemble ; toutefois, les contacts destinés au neutre peuvent se fermer avant et s'ouvrir après les autres contacts.</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530.3.2 Dans les circuits polyphasés, des dispositifs unipolaires ne doivent pas être installés dans</a:t>
            </a:r>
          </a:p>
        </p:txBody>
      </p:sp>
      <p:sp>
        <p:nvSpPr>
          <p:cNvPr id="3" name="Content Placeholder 2"/>
          <p:cNvSpPr>
            <a:spLocks noGrp="1"/>
          </p:cNvSpPr>
          <p:nvPr>
            <p:ph idx="1"/>
          </p:nvPr>
        </p:nvSpPr>
        <p:spPr/>
        <p:txBody>
          <a:bodyPr/>
          <a:lstStyle/>
          <a:p>
            <a:pPr>
              <a:defRPr sz="1600"/>
            </a:pPr>
            <a:r>
              <a:t>le conducteur neutre.</a:t>
            </a:r>
          </a:p>
          <a:p>
            <a:pPr>
              <a:defRPr sz="1600"/>
            </a:pPr>
            <a:r>
              <a:t>Dans les circuits monophasés, des dispositifs unipolaires ne doivent pas être installés dans le conducteur neutre, à moins qu'un dispositif à courant différentiel-résiduel satisfaisant aux règles de.</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530.3.3 Les dispositifs assurant plusieurs fonctions doivent satisfaire à toutes les prescriptions de</a:t>
            </a:r>
          </a:p>
        </p:txBody>
      </p:sp>
      <p:sp>
        <p:nvSpPr>
          <p:cNvPr id="3" name="Content Placeholder 2"/>
          <p:cNvSpPr>
            <a:spLocks noGrp="1"/>
          </p:cNvSpPr>
          <p:nvPr>
            <p:ph idx="1"/>
          </p:nvPr>
        </p:nvSpPr>
        <p:spPr/>
        <p:txBody>
          <a:bodyPr/>
          <a:lstStyle/>
          <a:p>
            <a:pPr>
              <a:defRPr sz="1600"/>
            </a:pPr>
            <a:r>
              <a:t>la présente partie correspondant à chacune de ces fonctions.</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530.4.1 Exception faite des appareillages qui sont spécialement établis pour être connectés à des</a:t>
            </a:r>
          </a:p>
        </p:txBody>
      </p:sp>
      <p:sp>
        <p:nvSpPr>
          <p:cNvPr id="3" name="Content Placeholder 2"/>
          <p:cNvSpPr>
            <a:spLocks noGrp="1"/>
          </p:cNvSpPr>
          <p:nvPr>
            <p:ph idx="1"/>
          </p:nvPr>
        </p:nvSpPr>
        <p:spPr/>
        <p:txBody>
          <a:bodyPr/>
          <a:lstStyle/>
          <a:p>
            <a:pPr>
              <a:defRPr sz="1600"/>
            </a:pPr>
            <a:r>
              <a:t>canalisations mobiles, les appareillages doivent être fixés de façon que les connexions des canalisations avec les appareillages ne soient soumises à aucun effort de traction ou de torsion, malgré les contraintes résultant de l'usage normal des appareillages.</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530.4.2 Les conducteurs isolés (par exemple H07 V-U ou R) doivent être disposés de telle manière</a:t>
            </a:r>
          </a:p>
        </p:txBody>
      </p:sp>
      <p:sp>
        <p:nvSpPr>
          <p:cNvPr id="3" name="Content Placeholder 2"/>
          <p:cNvSpPr>
            <a:spLocks noGrp="1"/>
          </p:cNvSpPr>
          <p:nvPr>
            <p:ph idx="1"/>
          </p:nvPr>
        </p:nvSpPr>
        <p:spPr/>
        <p:txBody>
          <a:bodyPr/>
          <a:lstStyle/>
          <a:p>
            <a:pPr>
              <a:defRPr sz="1600"/>
            </a:pPr>
            <a:r>
              <a:t>qu'ils ne se trouvent pas au contact de la paroi.</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530.4.3 Lorsque les appareillages sont encastrés dans une paroi, ils doivent être logés dans une</a:t>
            </a:r>
          </a:p>
        </p:txBody>
      </p:sp>
      <p:sp>
        <p:nvSpPr>
          <p:cNvPr id="3" name="Content Placeholder 2"/>
          <p:cNvSpPr>
            <a:spLocks noGrp="1"/>
          </p:cNvSpPr>
          <p:nvPr>
            <p:ph idx="1"/>
          </p:nvPr>
        </p:nvSpPr>
        <p:spPr/>
        <p:txBody>
          <a:bodyPr/>
          <a:lstStyle/>
          <a:p>
            <a:pPr>
              <a:defRPr sz="1600"/>
            </a:pPr>
            <a:r>
              <a:t>boîte d'encastrement, fixée dans la paroi et choisis suivant la nature de la paroi en tenant compte de la présence éventuelle de matériaux inflammables.</a:t>
            </a:r>
          </a:p>
          <a:p>
            <a:pPr>
              <a:defRPr sz="1600"/>
            </a:pPr>
            <a:r>
              <a:t>En France, la classification M0 à M4 est celle qui résulte de l'arrêté du 30 juin 1983 du Ministère de l'Intérieur portant classification des matériaux de construction et d'aménagement selon leur réaction au feu et définition des méthodes d'essai.</a:t>
            </a:r>
          </a:p>
          <a:p>
            <a:pPr>
              <a:defRPr sz="1600"/>
            </a:pPr>
            <a:r>
              <a:t>L'annexe de la partie 4-42 donne un classement conventionnel des matériaux de construction du point de vue de leur réaction au feu.</a:t>
            </a:r>
          </a:p>
          <a:p>
            <a:pPr>
              <a:defRPr sz="1600"/>
            </a:pPr>
            <a:r>
              <a:t>Toutefois, il est admis de ne pas prévoir de boîte d'encastrement si la partie arrière de l'appareillage se trouve dans un vide de construction, sous réserve que ce vide ne contienne pas de matières combustibles ni susceptibles de provoquer des poussières importantes.</a:t>
            </a:r>
          </a:p>
          <a:p>
            <a:pPr>
              <a:defRPr sz="1600"/>
            </a:pPr>
            <a:r>
              <a:t>L'usage d'une boîte d'encastrement est nécessaire lorsqu'il y a lieu de se prémunir contre toute accumulation de poussières sur les connexions, pouvant entraîner des échauffements excessifs, voire l'inflammation des poussières si elles sont combustibles.</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530.4.4 Lorsque les appareillages sont fixés sur ou dans des goulottes, des plinthes ou des</a:t>
            </a:r>
          </a:p>
        </p:txBody>
      </p:sp>
      <p:sp>
        <p:nvSpPr>
          <p:cNvPr id="3" name="Content Placeholder 2"/>
          <p:cNvSpPr>
            <a:spLocks noGrp="1"/>
          </p:cNvSpPr>
          <p:nvPr>
            <p:ph idx="1"/>
          </p:nvPr>
        </p:nvSpPr>
        <p:spPr/>
        <p:txBody>
          <a:bodyPr/>
          <a:lstStyle/>
          <a:p>
            <a:pPr>
              <a:defRPr sz="1600"/>
            </a:pPr>
            <a:r>
              <a:t>moulures, ils doivent être solidaires du socle de ces goulottes, plinthes ou moulures.</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530.4.5 L'appareillage ne doit pas, à l'usage, se séparer de son support et rendre accessibles les</a:t>
            </a:r>
          </a:p>
        </p:txBody>
      </p:sp>
      <p:sp>
        <p:nvSpPr>
          <p:cNvPr id="3" name="Content Placeholder 2"/>
          <p:cNvSpPr>
            <a:spLocks noGrp="1"/>
          </p:cNvSpPr>
          <p:nvPr>
            <p:ph idx="1"/>
          </p:nvPr>
        </p:nvSpPr>
        <p:spPr/>
        <p:txBody>
          <a:bodyPr/>
          <a:lstStyle/>
          <a:p>
            <a:pPr>
              <a:defRPr sz="1600"/>
            </a:pPr>
            <a:r>
              <a:t>bornes de connexion pour conducteurs et câbles d'alimentation.</a:t>
            </a:r>
          </a:p>
          <a:p>
            <a:pPr>
              <a:defRPr sz="1600"/>
            </a:pPr>
            <a:r>
              <a:t>L'appareillage à fixation par vis, pour utilisation dans des boîtes encastrées dans les parois, permet d'assurer cette prescription.</a:t>
            </a:r>
          </a:p>
          <a:p>
            <a:pPr>
              <a:defRPr sz="1600"/>
            </a:pPr>
            <a:r>
              <a:t>Compte tenu des contraintes d'utilisation et de la nature des parois recevant les boîtes encastrées dans lesquelles les socles de prises de courant sont installés, la fixation par griffes est vivement   partir du 1er déconseillée.</a:t>
            </a:r>
          </a:p>
          <a:p>
            <a:pPr>
              <a:defRPr sz="1600"/>
            </a:pPr>
            <a:r>
              <a:t>Elle ne sera plus autorisée à l’objet d’un permis de construire déposé après cette date.</a:t>
            </a:r>
          </a:p>
          <a:p>
            <a:pPr>
              <a:defRPr sz="1600"/>
            </a:pPr>
            <a:r>
              <a:t>juin 2004 pour les bâtiments faisant  531 Dispositifs de protection contre les courants de défaut.</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531.1.1 Sc héma TN (411.4)</a:t>
            </a:r>
          </a:p>
        </p:txBody>
      </p:sp>
      <p:sp>
        <p:nvSpPr>
          <p:cNvPr id="3" name="Content Placeholder 2"/>
          <p:cNvSpPr>
            <a:spLocks noGrp="1"/>
          </p:cNvSpPr>
          <p:nvPr>
            <p:ph idx="1"/>
          </p:nvPr>
        </p:nvSpPr>
        <p:spPr/>
        <p:txBody>
          <a:bodyPr/>
          <a:lstStyle/>
          <a:p>
            <a:pPr>
              <a:defRPr sz="1600"/>
            </a:pPr>
            <a:r>
              <a:t>C  Dans le schéma TN, les dispositifs de protection contre les surintensités doivent être choisis et mis en œuvre dans les conditions indiquées en 434.</a:t>
            </a:r>
          </a:p>
          <a:p>
            <a:pPr>
              <a:defRPr sz="1600"/>
            </a:pPr>
            <a:r>
              <a:t>2, 431 et 533.</a:t>
            </a:r>
          </a:p>
          <a:p>
            <a:pPr>
              <a:defRPr sz="1600"/>
            </a:pPr>
            <a:r>
              <a:t>3 pour la protection contre les courts- circuits et doivent satisfaire aux prescriptions de 413.</a:t>
            </a:r>
          </a:p>
          <a:p>
            <a:pPr>
              <a:defRPr sz="1600"/>
            </a:pPr>
            <a:r>
              <a:t>1.</a:t>
            </a:r>
          </a:p>
          <a:p>
            <a:pPr>
              <a:defRPr sz="1600"/>
            </a:pPr>
            <a:r>
              <a:t>3.</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531.1.2 Schéma TT (411.5)</a:t>
            </a:r>
          </a:p>
        </p:txBody>
      </p:sp>
      <p:sp>
        <p:nvSpPr>
          <p:cNvPr id="3" name="Content Placeholder 2"/>
          <p:cNvSpPr>
            <a:spLocks noGrp="1"/>
          </p:cNvSpPr>
          <p:nvPr>
            <p:ph idx="1"/>
          </p:nvPr>
        </p:nvSpPr>
        <p:spPr/>
        <p:txBody>
          <a:bodyPr/>
          <a:lstStyle/>
          <a:p>
            <a:pPr>
              <a:defRPr sz="1600"/>
            </a:pPr>
            <a:r>
              <a:t>L’emploi de dispositifs de protection à maximum de courant dans le schéma TT n’est pas admis pour la protection contre les chocs électriques.</a:t>
            </a:r>
          </a:p>
          <a:p>
            <a:pPr>
              <a:defRPr sz="1600"/>
            </a:pPr>
            <a:r>
              <a:t>L’emploi de dispositifs de protection à maximum de courant dans le schéma TT nécessite des valeurs de résistance des prises de terre des masses difficilement mesurables et sans garantie dans le temps (inférieures à 1 ohm).</a:t>
            </a:r>
          </a:p>
          <a:p>
            <a:pPr>
              <a:defRPr sz="1600"/>
            </a:pPr>
            <a:r>
              <a:t>C.</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531.1.3 Schéma IT (411.6)</a:t>
            </a:r>
          </a:p>
        </p:txBody>
      </p:sp>
      <p:sp>
        <p:nvSpPr>
          <p:cNvPr id="3" name="Content Placeholder 2"/>
          <p:cNvSpPr>
            <a:spLocks noGrp="1"/>
          </p:cNvSpPr>
          <p:nvPr>
            <p:ph idx="1"/>
          </p:nvPr>
        </p:nvSpPr>
        <p:spPr/>
        <p:txBody>
          <a:bodyPr/>
          <a:lstStyle/>
          <a:p>
            <a:pPr>
              <a:defRPr sz="1600"/>
            </a:pPr>
            <a:r>
              <a:t>Lorsque les masses sont interconnectées, les dispositifs de protection contre les surintensités assurant la protection au deuxième défaut doivent être choisis dans les conditions indiquées en 531.</a:t>
            </a:r>
          </a:p>
          <a:p>
            <a:pPr>
              <a:defRPr sz="1600"/>
            </a:pPr>
            <a:r>
              <a:t>1.</a:t>
            </a:r>
          </a:p>
          <a:p>
            <a:pPr>
              <a:defRPr sz="1600"/>
            </a:pPr>
            <a:r>
              <a:t>1, compte tenu des prescriptions de 413.</a:t>
            </a:r>
          </a:p>
          <a:p>
            <a:pPr>
              <a:defRPr sz="1600"/>
            </a:pPr>
            <a:r>
              <a:t>1.</a:t>
            </a:r>
          </a:p>
          <a:p>
            <a:pPr>
              <a:defRPr sz="1600"/>
            </a:pPr>
            <a:r>
              <a:t>5.</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 Dispositifs de protection à courant différentiel-résiduel (en abrégé DDR)</a:t>
            </a:r>
          </a:p>
        </p:txBody>
      </p:sp>
      <p:sp>
        <p:nvSpPr>
          <p:cNvPr id="3" name="Content Placeholder 2"/>
          <p:cNvSpPr>
            <a:spLocks noGrp="1"/>
          </p:cNvSpPr>
          <p:nvPr>
            <p:ph idx="1"/>
          </p:nvPr>
        </p:nvSpPr>
        <p:spPr/>
        <p:txBody>
          <a:bodyPr/>
          <a:lstStyle/>
          <a:p>
            <a:pPr>
              <a:defRPr sz="1600"/>
            </a:pPr>
            <a:r>
              <a:t>Pour l'application des règles énoncées   en 511.</a:t>
            </a:r>
          </a:p>
          <a:p>
            <a:pPr>
              <a:defRPr sz="1600"/>
            </a:pPr>
            <a:r>
              <a:t>1, les normes à cons idérer sont les suivantes :  - Dispositifs de protection à courant différentiel-résiduel (DDR) pour installations de tension  nominale au plus égale à 1 000 V règles (1) Interrupteurs automatiques à courant différentiel-résiduel pour usages domestiques et analogues (2).</a:t>
            </a:r>
          </a:p>
          <a:p>
            <a:pPr>
              <a:defRPr sz="1600"/>
            </a:pPr>
            <a:r>
              <a:t>-  ——————— (1) UTE C 60-130 (2) NF EN 61008-1 (C 61-150) et NF EN 61008-2-1 (C 61-151)  - 231 -   -  Interrupteurs automatiques de terre à dispositif différentiel à source auxiliaire  (3).</a:t>
            </a:r>
          </a:p>
          <a:p>
            <a:pPr>
              <a:defRPr sz="1600"/>
            </a:pPr>
            <a:r>
              <a:t>- Disjoncteurs différentiels pour tableaux de contrôle des installations de première catégorie -  Interrupteurs automatiques à courant différentiel-résiduel avec protection contre les surintensités incorporée pour installations domestiques et analogues (5).</a:t>
            </a:r>
          </a:p>
          <a:p>
            <a:pPr>
              <a:defRPr sz="1600"/>
            </a:pPr>
            <a:r>
              <a:t>- Disjoncteurs à protection incorporée par courant différentiel-résiduel - Dispositifs différentiels-résiduels (DDR) pour usages domestiques et analogues - Compatibilité.</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531.2.1.1 Les dispositifs de protection à courant différentiel-résiduel doivent assurer la coupure de</a:t>
            </a:r>
          </a:p>
        </p:txBody>
      </p:sp>
      <p:sp>
        <p:nvSpPr>
          <p:cNvPr id="3" name="Content Placeholder 2"/>
          <p:cNvSpPr>
            <a:spLocks noGrp="1"/>
          </p:cNvSpPr>
          <p:nvPr>
            <p:ph idx="1"/>
          </p:nvPr>
        </p:nvSpPr>
        <p:spPr/>
        <p:txBody>
          <a:bodyPr/>
          <a:lstStyle/>
          <a:p>
            <a:pPr>
              <a:defRPr sz="1600"/>
            </a:pPr>
            <a:r>
              <a:t>tous les conducteurs actifs du circuit.</a:t>
            </a:r>
          </a:p>
          <a:p>
            <a:pPr>
              <a:defRPr sz="1600"/>
            </a:pPr>
            <a:r>
              <a:t>Cette règle impose notamment que le conducteur neutre soit coupé, y compris dans le schéma TN-S.</a:t>
            </a:r>
          </a:p>
          <a:p>
            <a:pPr>
              <a:defRPr sz="1600"/>
            </a:pPr>
            <a:r>
              <a:t>Cette exigence est   conforme à la règle en 461.</a:t>
            </a:r>
          </a:p>
          <a:p>
            <a:pPr>
              <a:defRPr sz="1600"/>
            </a:pPr>
            <a:r>
              <a:t>3.</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531.2.1.2 Le conducteur de protection associé aux conducteurs actifs d’un circuit ne doit pas</a:t>
            </a:r>
          </a:p>
        </p:txBody>
      </p:sp>
      <p:sp>
        <p:nvSpPr>
          <p:cNvPr id="3" name="Content Placeholder 2"/>
          <p:cNvSpPr>
            <a:spLocks noGrp="1"/>
          </p:cNvSpPr>
          <p:nvPr>
            <p:ph idx="1"/>
          </p:nvPr>
        </p:nvSpPr>
        <p:spPr/>
        <p:txBody>
          <a:bodyPr/>
          <a:lstStyle/>
          <a:p>
            <a:pPr>
              <a:defRPr sz="1600"/>
            </a:pPr>
            <a:r>
              <a:t>passer à l'intérieur du circuit magnétique d'un dispositif de protection à courant différentiel-résiduel.</a:t>
            </a:r>
          </a:p>
          <a:p>
            <a:pPr>
              <a:defRPr sz="1600"/>
            </a:pPr>
            <a:r>
              <a:t>Lorsque le dispositif différentiel-résiduel utilise un capteur tore séparé du relais de mesure et de détection, il est parfois impossible d’éviter le passage du conducteur PE au travers du tore.</a:t>
            </a:r>
          </a:p>
          <a:p>
            <a:pPr>
              <a:defRPr sz="1600"/>
            </a:pPr>
            <a:r>
              <a:t>C’est le cas notamment des câbles multiconducteurs pour lesquels il n’y pas assez de place pour positionner le tore sur la partie non revêtue de la gaine de protection extérieure.</a:t>
            </a:r>
          </a:p>
          <a:p>
            <a:pPr>
              <a:defRPr sz="1600"/>
            </a:pPr>
            <a:r>
              <a:t>Le capteur peut alors être positionné sur la partie revêtue de la gaine de protection extérieure, enserrant tous les conducteurs actifs et le conducteur de protection, à condition que le conducteur de protection repasse en sens inverse à l’intérieur du capteur tore comme indiqué sur la figure 531A.</a:t>
            </a:r>
          </a:p>
          <a:p>
            <a:pPr>
              <a:defRPr sz="1600"/>
            </a:pPr>
            <a:r>
              <a:t>Conducteur PE  Conducteurs actifs  Tore de détection  Figure 531A – Cas du double passage du PE.</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531.2.1.3 Les dispositifs de protection à courant différentiel-résiduel doivent être choisis en tenant</a:t>
            </a:r>
          </a:p>
        </p:txBody>
      </p:sp>
      <p:sp>
        <p:nvSpPr>
          <p:cNvPr id="3" name="Content Placeholder 2"/>
          <p:cNvSpPr>
            <a:spLocks noGrp="1"/>
          </p:cNvSpPr>
          <p:nvPr>
            <p:ph idx="1"/>
          </p:nvPr>
        </p:nvSpPr>
        <p:spPr/>
        <p:txBody>
          <a:bodyPr/>
          <a:lstStyle/>
          <a:p>
            <a:pPr>
              <a:defRPr sz="1600"/>
            </a:pPr>
            <a:r>
              <a:t>compte de la division des circuits prescrite en terre, susceptible de circuler pendant le fonctionnement normal des appareils alimentés, ne puisse provoquer la coupure intempestive du dispositif.</a:t>
            </a:r>
          </a:p>
          <a:p>
            <a:pPr>
              <a:defRPr sz="1600"/>
            </a:pPr>
            <a:r>
              <a:t>314, de telle manière que tout    courant de fuite à la  NOTE – Les dispositifs de protection à courant différentiel-résiduel pouvant fonctionner pour toute valeur de courant différentiel-résiduel supérieur à 50 % du courant de fonctionnement assigné, il est recommandé de limiter la somme des courants de fuite présumés à un tiers de ce courant de fonctionnement assigné.</a:t>
            </a:r>
          </a:p>
          <a:p>
            <a:pPr>
              <a:defRPr sz="1600"/>
            </a:pPr>
            <a:r>
              <a:t>——————— (3) NF C 61-141 (4) NF C 62-411 (5) NF EN 61009-1 (C 61-440) et NF EN 61009-2-1 (C 61-441) (6) NF EN 60947-2 (C 63-120, annexe B) (7) NF EN 61543 (C 61-443)  - 232 -   Lorsque la somme des courants de fuite des appareils alimentés par la partie d'installation protégée par un DDR est susceptible d'être supérieure à la moitié du courant différentiel assigné (I∆n) pour ce dispositif, certains appareils d'utilisation peuvent être alimentés dans les conditions du schéma TN par l'intermédiaire d'un transformateur à deux enroulements.</a:t>
            </a:r>
          </a:p>
          <a:p>
            <a:pPr>
              <a:defRPr sz="1600"/>
            </a:pPr>
            <a:r>
              <a:t>Les masses des appareils d'utilisation sont alors reliées au point neutre ou milieu du secondaire du transformateur et cette liaison est reliée à une prise de terre.</a:t>
            </a:r>
          </a:p>
          <a:p>
            <a:pPr>
              <a:defRPr sz="1600"/>
            </a:pPr>
            <a:r>
              <a:t>La protection est assurée par les dispositifs de protection contre les surintensités des conducteurs actifs du circuit secondaire.</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531.2.1.4 Les dispositifs de protection à courant différentiel-résiduel doivent être choisis de façon à</a:t>
            </a:r>
          </a:p>
        </p:txBody>
      </p:sp>
      <p:sp>
        <p:nvSpPr>
          <p:cNvPr id="3" name="Content Placeholder 2"/>
          <p:cNvSpPr>
            <a:spLocks noGrp="1"/>
          </p:cNvSpPr>
          <p:nvPr>
            <p:ph idx="1"/>
          </p:nvPr>
        </p:nvSpPr>
        <p:spPr/>
        <p:txBody>
          <a:bodyPr/>
          <a:lstStyle/>
          <a:p>
            <a:pPr>
              <a:defRPr sz="1600"/>
            </a:pPr>
            <a:r>
              <a:t>limiter les risques de déclenchements indésirables dus aux perturbations électromagnétiques.</a:t>
            </a:r>
          </a:p>
          <a:p>
            <a:pPr>
              <a:defRPr sz="1600"/>
            </a:pPr>
            <a:r>
              <a:t>NOTE - Les DDR conformes à leurs normes répondent à la majorité des cas d’installation.</a:t>
            </a:r>
          </a:p>
          <a:p>
            <a:pPr>
              <a:defRPr sz="1600"/>
            </a:pPr>
            <a:r>
              <a:t>Dans des cas où les perturbations sont particulièrement importantes ou lorsque la continuité de service est particulièrement nécessaire, il est recommandé d’installer des DDR à immunité renforcée à définir, au cas par cas, entre l’utilisateur et le constructeur.</a:t>
            </a:r>
          </a:p>
          <a:p>
            <a:pPr>
              <a:defRPr sz="1600"/>
            </a:pPr>
            <a:r>
              <a:t>Ces DDR répondent aux normes de base et bénéficient en complément de hautes performances d’immunité aux perturbations électromagnétiques.</a:t>
            </a:r>
          </a:p>
          <a:p>
            <a:pPr>
              <a:defRPr sz="1600"/>
            </a:pPr>
            <a:r>
              <a:t>Exemples d’équipements perturbateurs : - Micro-informatique, ballasts électroniques, électronique de puissance, etc.</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531.2.1.5 Influence des composantes continues</a:t>
            </a:r>
          </a:p>
        </p:txBody>
      </p:sp>
      <p:sp>
        <p:nvSpPr>
          <p:cNvPr id="3" name="Content Placeholder 2"/>
          <p:cNvSpPr>
            <a:spLocks noGrp="1"/>
          </p:cNvSpPr>
          <p:nvPr>
            <p:ph idx="1"/>
          </p:nvPr>
        </p:nvSpPr>
        <p:spPr/>
        <p:txBody>
          <a:bodyPr/>
          <a:lstStyle/>
          <a:p>
            <a:pPr>
              <a:defRPr sz="1600"/>
            </a:pPr>
            <a:r>
              <a:t>Il existe différents types de DDR selon leur comportement en présence de composantes continues :  DDR de type AC : DDR pour lequel le déclenchement est assuré pour des courants différentiels alternatifs sinusoïdaux, qu’ils soient brusquement appliqués ou qu’ils augmentent lentement.</a:t>
            </a:r>
          </a:p>
          <a:p>
            <a:pPr>
              <a:defRPr sz="1600"/>
            </a:pPr>
            <a:r>
              <a:t>DDR de type A : DDR pour lequel le déclenchement est assuré pour des courants différentiels alternatifs sinusoïdaux et aussi pour des courants différentiels continus pulsés, qu’ils soient brusquement appliqués ou qu’ils augmentent lentement.</a:t>
            </a:r>
          </a:p>
          <a:p>
            <a:pPr>
              <a:defRPr sz="1600"/>
            </a:pPr>
            <a:r>
              <a:t>DDR de type B : DDR pour lequel le déclenchement est assuré pour des courants différentiels alternatifs sinusoïdaux, pour des courants différentiels continus pulsés, qu’ils soient brusquement appliqués ou qu’ils augmentent lentement, et aussi pour des courants différentiels continus lisses.</a:t>
            </a:r>
          </a:p>
          <a:p>
            <a:pPr>
              <a:defRPr sz="1600"/>
            </a:pPr>
            <a:r>
              <a:t>En général, les DDR de type AC peuvent être utilisés.</a:t>
            </a:r>
          </a:p>
          <a:p>
            <a:pPr>
              <a:defRPr sz="1600"/>
            </a:pPr>
            <a:r>
              <a:t>Par exemple, en amont de :  -  -  dispositifs commandés par triacs tels que variateurs de lumière ou de vitesse car les triacs ne génèrent pas de composante continue ;  parties de matériels ou matériels produisant et utilisant le courant continu réalisés suivant les règles applicables à la classe II tels que micro-informatique, TV , HIFI, Vidéo ;  - matériels produisant du courant continu alimentés par l'intermédiaire d'un transformateur de  séparation ou de sécurité tels que variateurs halogènes.</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531.2.1.6 Un même DDR, s’il est à haute sensibilité (I∆n ≤ 30mA), assure à la fois la protection</a:t>
            </a:r>
          </a:p>
        </p:txBody>
      </p:sp>
      <p:sp>
        <p:nvSpPr>
          <p:cNvPr id="3" name="Content Placeholder 2"/>
          <p:cNvSpPr>
            <a:spLocks noGrp="1"/>
          </p:cNvSpPr>
          <p:nvPr>
            <p:ph idx="1"/>
          </p:nvPr>
        </p:nvSpPr>
        <p:spPr/>
        <p:txBody>
          <a:bodyPr/>
          <a:lstStyle/>
          <a:p>
            <a:pPr>
              <a:defRPr sz="1600"/>
            </a:pPr>
            <a:r>
              <a:t>contre les risques de contact indirect et la protection complémentaire contre les risques de contact direct.</a:t>
            </a:r>
          </a:p>
          <a:p>
            <a:pPr>
              <a:defRPr sz="1600"/>
            </a:pPr>
            <a:r>
              <a:t>(voir 531.</a:t>
            </a:r>
          </a:p>
          <a:p>
            <a:pPr>
              <a:defRPr sz="1600"/>
            </a:pPr>
            <a:r>
              <a:t>2.</a:t>
            </a:r>
          </a:p>
          <a:p>
            <a:pPr>
              <a:defRPr sz="1600"/>
            </a:pPr>
            <a:r>
              <a:t>5).</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531.2.2 Choix des dispositifs suivant leur mode de fonctionnement</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531.2.2.1 Les dispositifs de protection à courant différentiel-résiduel peuvent être soit à</a:t>
            </a:r>
          </a:p>
        </p:txBody>
      </p:sp>
      <p:sp>
        <p:nvSpPr>
          <p:cNvPr id="3" name="Content Placeholder 2"/>
          <p:cNvSpPr>
            <a:spLocks noGrp="1"/>
          </p:cNvSpPr>
          <p:nvPr>
            <p:ph idx="1"/>
          </p:nvPr>
        </p:nvSpPr>
        <p:spPr/>
        <p:txBody>
          <a:bodyPr/>
          <a:lstStyle/>
          <a:p>
            <a:pPr>
              <a:defRPr sz="1600"/>
            </a:pPr>
            <a:r>
              <a:t>fonctionnement indépendant de la tension, soit à fonctionnement dépendant de la tension, compte tenu des prescriptions du 531.</a:t>
            </a:r>
          </a:p>
          <a:p>
            <a:pPr>
              <a:defRPr sz="1600"/>
            </a:pPr>
            <a:r>
              <a:t>2.</a:t>
            </a:r>
          </a:p>
          <a:p>
            <a:pPr>
              <a:defRPr sz="1600"/>
            </a:pPr>
            <a:r>
              <a:t>2.</a:t>
            </a:r>
          </a:p>
          <a:p>
            <a:pPr>
              <a:defRPr sz="1600"/>
            </a:pPr>
            <a:r>
              <a:t>2.</a:t>
            </a:r>
          </a:p>
          <a:p>
            <a:pPr>
              <a:defRPr sz="1600"/>
            </a:pPr>
            <a:r>
              <a:t>Pour les dispositifs à fonctionnement dépendant de la tension, cette tension peut être fournie, soit par le réseau d'alimentation, soit par une source auxiliaire.</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531.2.2.2 L’utilisation de dispositifs de protection à courant différentiel-résiduel à fonctionnement</a:t>
            </a:r>
          </a:p>
        </p:txBody>
      </p:sp>
      <p:sp>
        <p:nvSpPr>
          <p:cNvPr id="3" name="Content Placeholder 2"/>
          <p:cNvSpPr>
            <a:spLocks noGrp="1"/>
          </p:cNvSpPr>
          <p:nvPr>
            <p:ph idx="1"/>
          </p:nvPr>
        </p:nvSpPr>
        <p:spPr/>
        <p:txBody>
          <a:bodyPr/>
          <a:lstStyle/>
          <a:p>
            <a:pPr>
              <a:defRPr sz="1600"/>
            </a:pPr>
            <a:r>
              <a:t>dépendant de la tension ne s’ouvrant pas automatiquement en cas de défaillance de l’alimentation est permise seulement si les dispositifs sont mis en œuvre dans des installations exploitées et maintenues par des personnes averties (BA4) ou qualifiées (BA5).</a:t>
            </a:r>
          </a:p>
          <a:p>
            <a:pPr>
              <a:defRPr sz="1600"/>
            </a:pPr>
            <a:r>
              <a:t>En conséquence, ils ne doivent pas être utilisés dans des locaux d’habitation.</a:t>
            </a:r>
          </a:p>
          <a:p>
            <a:pPr>
              <a:defRPr sz="1600"/>
            </a:pPr>
            <a:r>
              <a:t>Toutefois, dans le cas où de tels locaux sont alimentés à partir d'un branchement à puissance surveillée, un appareil général de commande et de protection dépendant de la tension d’alimentation et ne s’ouvrant pas automatiquement en cas de défaillance de l’alimentation, peut être mis en œuvre sous réserve qu'en aval, l’ensemble de l’installation soit protégé par des DDR dont le fonctionnement est indépendant de la tension.</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531.2.3.1 Protection contre les contacts indirects</a:t>
            </a:r>
          </a:p>
        </p:txBody>
      </p:sp>
      <p:sp>
        <p:nvSpPr>
          <p:cNvPr id="3" name="Content Placeholder 2"/>
          <p:cNvSpPr>
            <a:spLocks noGrp="1"/>
          </p:cNvSpPr>
          <p:nvPr>
            <p:ph idx="1"/>
          </p:nvPr>
        </p:nvSpPr>
        <p:spPr/>
        <p:txBody>
          <a:bodyPr/>
          <a:lstStyle/>
          <a:p>
            <a:pPr>
              <a:defRPr sz="1600"/>
            </a:pPr>
            <a:r>
              <a:t>L’emploi de DDR permet d’assurer la protection contre les risques de contact indirect en conformité avec 411.</a:t>
            </a:r>
          </a:p>
          <a:p>
            <a:pPr>
              <a:defRPr sz="1600"/>
            </a:pPr>
            <a:r>
              <a:t>3.</a:t>
            </a:r>
          </a:p>
          <a:p>
            <a:pPr>
              <a:defRPr sz="1600"/>
            </a:pPr>
            <a:r>
              <a:t>Leur mise en œuvre dépend du schéma de liaison à la terre (voir 531.</a:t>
            </a:r>
          </a:p>
          <a:p>
            <a:pPr>
              <a:defRPr sz="1600"/>
            </a:pPr>
            <a:r>
              <a:t>2.</a:t>
            </a:r>
          </a:p>
          <a:p>
            <a:pPr>
              <a:defRPr sz="1600"/>
            </a:pPr>
            <a:r>
              <a:t>4.</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531.2.3.2 Protection complémentaire contre les risques de contact direct</a:t>
            </a:r>
          </a:p>
        </p:txBody>
      </p:sp>
      <p:sp>
        <p:nvSpPr>
          <p:cNvPr id="3" name="Content Placeholder 2"/>
          <p:cNvSpPr>
            <a:spLocks noGrp="1"/>
          </p:cNvSpPr>
          <p:nvPr>
            <p:ph idx="1"/>
          </p:nvPr>
        </p:nvSpPr>
        <p:spPr/>
        <p:txBody>
          <a:bodyPr/>
          <a:lstStyle/>
          <a:p>
            <a:pPr>
              <a:defRPr sz="1600"/>
            </a:pPr>
            <a:r>
              <a:t>L’emploi de DDR à haute sensibilité (I∆n ≤ 30mA), permet d’assurer la protection complémentaire contre les risques de contact direct en conformité   avec 415.</a:t>
            </a:r>
          </a:p>
          <a:p>
            <a:pPr>
              <a:defRPr sz="1600"/>
            </a:pPr>
            <a:r>
              <a:t>1.</a:t>
            </a:r>
          </a:p>
          <a:p>
            <a:pPr>
              <a:defRPr sz="1600"/>
            </a:pPr>
            <a:r>
              <a:t>Leur mise en œuvre ne dépend pas du schéma de liaison à la terre excepté les parties d’installation en schéma TN-C où l’emploi de DDR est incompatible.</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531.2.3.3 Protection contre les risques d’incendie</a:t>
            </a:r>
          </a:p>
        </p:txBody>
      </p:sp>
      <p:sp>
        <p:nvSpPr>
          <p:cNvPr id="3" name="Content Placeholder 2"/>
          <p:cNvSpPr>
            <a:spLocks noGrp="1"/>
          </p:cNvSpPr>
          <p:nvPr>
            <p:ph idx="1"/>
          </p:nvPr>
        </p:nvSpPr>
        <p:spPr/>
        <p:txBody>
          <a:bodyPr/>
          <a:lstStyle/>
          <a:p>
            <a:pPr>
              <a:defRPr sz="1600"/>
            </a:pPr>
            <a:r>
              <a:t>L’emploi de DDR à moyenne sensibilité (I ∆n ≤ 300mA) assure la protection contre les risques d’incendie générés par des courants de cheminement à la terre.</a:t>
            </a:r>
          </a:p>
          <a:p>
            <a:pPr>
              <a:defRPr sz="1600"/>
            </a:pPr>
            <a:r>
              <a:t>Cette mesure est notamment exigée les emplacements à risques d’explosion (BE3, voir   424.</a:t>
            </a:r>
          </a:p>
          <a:p>
            <a:pPr>
              <a:defRPr sz="1600"/>
            </a:pPr>
            <a:r>
              <a:t>10).</a:t>
            </a:r>
          </a:p>
          <a:p>
            <a:pPr>
              <a:defRPr sz="1600"/>
            </a:pPr>
            <a:r>
              <a:t>dans les locaux à risque d’incendie (BE2, voir 422.</a:t>
            </a:r>
          </a:p>
          <a:p>
            <a:pPr>
              <a:defRPr sz="1600"/>
            </a:pPr>
            <a:r>
              <a:t>1.</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 Mise en œuvre selon le schéma de liaison à la terre</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531.2.4.1 Schéma TN</a:t>
            </a:r>
          </a:p>
        </p:txBody>
      </p:sp>
      <p:sp>
        <p:nvSpPr>
          <p:cNvPr id="3" name="Content Placeholder 2"/>
          <p:cNvSpPr>
            <a:spLocks noGrp="1"/>
          </p:cNvSpPr>
          <p:nvPr>
            <p:ph idx="1"/>
          </p:nvPr>
        </p:nvSpPr>
        <p:spPr/>
        <p:txBody>
          <a:bodyPr/>
          <a:lstStyle/>
          <a:p>
            <a:pPr>
              <a:defRPr sz="1600"/>
            </a:pPr>
            <a:r>
              <a:t>Si, pour certains circuits terminaux, les temps de coupure maximaux être respectés par les dispositifs de protection contre les surintensités de ces circuits, ces derniers peuvent être protégés par un dispositif de protection à courant différentiel-résiduel.</a:t>
            </a:r>
          </a:p>
          <a:p>
            <a:pPr>
              <a:defRPr sz="1600"/>
            </a:pPr>
            <a:r>
              <a:t>Sauf contrainte particulière de sélectivité, plusieurs circuits peuvent être protégés par le même dispositif.</a:t>
            </a:r>
          </a:p>
          <a:p>
            <a:pPr>
              <a:defRPr sz="1600"/>
            </a:pPr>
            <a:r>
              <a:t>du tableau 41A, ne peuvent  - 234 -   C  Si certaines masses d'une installation sont reliées à une prise de terre locale électriquement distincte de celle du schéma TN, la partie d'installation correspondante doit être considérée comme une installation en schéma TT, et la protection en cas de défaut doit être assurée par des dispositifs à courant différentiel-résiduel, selon les règles s'appliquant au schéma TT.</a:t>
            </a:r>
          </a:p>
          <a:p>
            <a:pPr>
              <a:defRPr sz="1600"/>
            </a:pPr>
            <a:r>
              <a:t>La valeur de la résistance de la prise de terre locale et le plus grand courant différentiel-résiduel assigné des dispositifs installés   doivent satisfaire à la condition de 411.</a:t>
            </a:r>
          </a:p>
          <a:p>
            <a:pPr>
              <a:defRPr sz="1600"/>
            </a:pPr>
            <a:r>
              <a:t>5.</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531.2.4.2.1 Emplacement des DDR</a:t>
            </a:r>
          </a:p>
        </p:txBody>
      </p:sp>
      <p:sp>
        <p:nvSpPr>
          <p:cNvPr id="3" name="Content Placeholder 2"/>
          <p:cNvSpPr>
            <a:spLocks noGrp="1"/>
          </p:cNvSpPr>
          <p:nvPr>
            <p:ph idx="1"/>
          </p:nvPr>
        </p:nvSpPr>
        <p:spPr/>
        <p:txBody>
          <a:bodyPr/>
          <a:lstStyle/>
          <a:p>
            <a:pPr>
              <a:defRPr sz="1600"/>
            </a:pPr>
            <a:r>
              <a:t>Un dispositif de protection à courant différentiel-résiduel doit être placé à l'origine de l'installation, à moins que la partie d'installation comprise entre l'origine et le ou les dispositifs satisfassent à la mesure de protection par emploi de matériel de la   classe Il ou par isolation équivale nte (412).</a:t>
            </a:r>
          </a:p>
          <a:p>
            <a:pPr>
              <a:defRPr sz="1600"/>
            </a:pPr>
            <a:r>
              <a:t>NOTES - 1 - Lorsque l'installation comporte plusieurs origines, cette prescription s'applique à chaque origine.</a:t>
            </a:r>
          </a:p>
          <a:p>
            <a:pPr>
              <a:defRPr sz="1600"/>
            </a:pPr>
            <a:r>
              <a:t>2 - Lorsque l'installation comporte plusieurs dispositifs de protection à courant différentiel-résiduel, leur coordination peut être réalisée conformément à 535.</a:t>
            </a:r>
          </a:p>
          <a:p>
            <a:pPr>
              <a:defRPr sz="1600"/>
            </a:pPr>
            <a:r>
              <a:t>4.</a:t>
            </a:r>
          </a:p>
          <a:p>
            <a:pPr>
              <a:defRPr sz="1600"/>
            </a:pPr>
            <a:r>
              <a:t>Lorsqu’un seul DDR est placé à l’origine de l’installation, l’ensemble de l’installation est mis hors tension en cas de défaut.</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531.2.4.2.2 Choix des caractéristiques des DDR</a:t>
            </a:r>
          </a:p>
        </p:txBody>
      </p:sp>
      <p:sp>
        <p:nvSpPr>
          <p:cNvPr id="3" name="Content Placeholder 2"/>
          <p:cNvSpPr>
            <a:spLocks noGrp="1"/>
          </p:cNvSpPr>
          <p:nvPr>
            <p:ph idx="1"/>
          </p:nvPr>
        </p:nvSpPr>
        <p:spPr/>
        <p:txBody>
          <a:bodyPr/>
          <a:lstStyle/>
          <a:p>
            <a:pPr>
              <a:defRPr sz="1600"/>
            </a:pPr>
            <a:r>
              <a:t>La valeur du courant différentiel-résiduel assigné I∆n d'un DDR ne doit pas être supérieure à celle correspondant à la valeur maximale de la résistance de prise de terre des masses de la partie d'installation protégée par ce dispositif.</a:t>
            </a:r>
          </a:p>
          <a:p>
            <a:pPr>
              <a:defRPr sz="1600"/>
            </a:pPr>
            <a:r>
              <a:t>Le tableau 53B indique pour les différentes valeurs normales de courant différentiel assigné de fonctionnement des DDR, la valeur maximale de la résistance de prise de terre des masses.</a:t>
            </a:r>
          </a:p>
          <a:p>
            <a:pPr>
              <a:defRPr sz="1600"/>
            </a:pPr>
            <a:r>
              <a:t>En pratique, la valeur à prendre en considération pour la résistance de la prise de terre doit tenir compte des variations saisonnières possibles.</a:t>
            </a:r>
          </a:p>
          <a:p>
            <a:pPr>
              <a:defRPr sz="1600"/>
            </a:pPr>
            <a:r>
              <a:t>Lorsqu'il n'est pas possible en pratique de mesurer la résistance de la prise de terre des masses, il y a lieu de s'assurer que l'impédance de la boucle de défaut n'est pas supérieure à la valeur indiquée dans le tableau 53B.</a:t>
            </a:r>
          </a:p>
          <a:p>
            <a:pPr>
              <a:defRPr sz="1600"/>
            </a:pPr>
            <a:r>
              <a:t>Tableau 53B – Valeur maximale de la prise de terre en fonction du courant assigné du DDR  COURANT DIFFÉRENTIEL-RÉSIDUEL MAXIMAL ASSIGNÉ DU DDR (I∆∆∆∆n)  VALEUR MAXIMALE DE LA RÉSISTANCE DE LA PRISE DE TERRE DES MASSES (ohms)  Basse sensibilité  Moyenne sensibilité  Haute sensibilité  20 A 10 A 5 A 3 A  1 A 500 mA 300 mA 100 mA  ≤ 30 mA  2,5 5 10 17  50 100 167 500  &gt; 500  L'emploi des dispositifs à courant différentiel-résiduel du type «S» est considéré comme satisfaisant aux exigences du 411.</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531.2.4.3 Schéma IT</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531.2.4.3.1 Cas du premier défaut</a:t>
            </a:r>
          </a:p>
        </p:txBody>
      </p:sp>
      <p:sp>
        <p:nvSpPr>
          <p:cNvPr id="3" name="Content Placeholder 2"/>
          <p:cNvSpPr>
            <a:spLocks noGrp="1"/>
          </p:cNvSpPr>
          <p:nvPr>
            <p:ph idx="1"/>
          </p:nvPr>
        </p:nvSpPr>
        <p:spPr/>
        <p:txBody>
          <a:bodyPr/>
          <a:lstStyle/>
          <a:p>
            <a:pPr>
              <a:defRPr sz="1600"/>
            </a:pPr>
            <a:r>
              <a:t>Si des dispositifs différentiels à moyenne sensibilité sont mis en œuvre et si la coupure au premier défaut n’est pas acceptée, la valeur du courant différentiel-résiduel assigné I∆n du DDR doit être supérieure au double de la valeur du courant qui circule lors d’un premier défaut (If).</a:t>
            </a:r>
          </a:p>
          <a:p>
            <a:pPr>
              <a:defRPr sz="1600"/>
            </a:pPr>
            <a:r>
              <a:t>I  ∆n  &gt; 2×I  f  L’utilisation de DDR à haute sensibilité est requise pour des circuits terminaux (par exemple ceux alimentant les prises de courant de courant assigné inférieur ou égal à 32 A).</a:t>
            </a:r>
          </a:p>
          <a:p>
            <a:pPr>
              <a:defRPr sz="1600"/>
            </a:pPr>
            <a:r>
              <a:t>Ce DDR déclenche en général dès l’apparition d’un premier défaut situé en aval de ce dispositif.</a:t>
            </a:r>
          </a:p>
          <a:p>
            <a:pPr>
              <a:defRPr sz="1600"/>
            </a:pPr>
            <a:r>
              <a:t>- 236 -.</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531.2.4.3.2 Cas du deuxième défaut affectant des masses interconnectées</a:t>
            </a:r>
          </a:p>
        </p:txBody>
      </p:sp>
      <p:sp>
        <p:nvSpPr>
          <p:cNvPr id="3" name="Content Placeholder 2"/>
          <p:cNvSpPr>
            <a:spLocks noGrp="1"/>
          </p:cNvSpPr>
          <p:nvPr>
            <p:ph idx="1"/>
          </p:nvPr>
        </p:nvSpPr>
        <p:spPr/>
        <p:txBody>
          <a:bodyPr/>
          <a:lstStyle/>
          <a:p>
            <a:pPr>
              <a:defRPr sz="1600"/>
            </a:pPr>
            <a:r>
              <a:t>Lorsque des DDR sont utilisés dans les conditions de 411.</a:t>
            </a:r>
          </a:p>
          <a:p>
            <a:pPr>
              <a:defRPr sz="1600"/>
            </a:pPr>
            <a:r>
              <a:t>6.</a:t>
            </a:r>
          </a:p>
          <a:p>
            <a:pPr>
              <a:defRPr sz="1600"/>
            </a:pPr>
            <a:r>
              <a:t>4a), il doit circuit.</a:t>
            </a:r>
          </a:p>
          <a:p>
            <a:pPr>
              <a:defRPr sz="1600"/>
            </a:pPr>
            <a:r>
              <a:t>être prévu un DDR par  Les caractéristiques de fonctionnement de ce dispositif DR doivent être choisies conformément au tableau 41A.</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531.2.4.3.3 Cas du deuxième défaut affectant des masses non interconnectées</a:t>
            </a:r>
          </a:p>
        </p:txBody>
      </p:sp>
      <p:sp>
        <p:nvSpPr>
          <p:cNvPr id="3" name="Content Placeholder 2"/>
          <p:cNvSpPr>
            <a:spLocks noGrp="1"/>
          </p:cNvSpPr>
          <p:nvPr>
            <p:ph idx="1"/>
          </p:nvPr>
        </p:nvSpPr>
        <p:spPr/>
        <p:txBody>
          <a:bodyPr/>
          <a:lstStyle/>
          <a:p>
            <a:pPr>
              <a:defRPr sz="1600"/>
            </a:pPr>
            <a:r>
              <a:t>Lorsque, dans une installation, toutes les masses ne sont pas interconnectées, un DDR doit protéger chaque groupe de masses interconnectées.</a:t>
            </a:r>
          </a:p>
          <a:p>
            <a:pPr>
              <a:defRPr sz="1600"/>
            </a:pPr>
            <a:r>
              <a:t>Les conditions pour déterminer les caractéristiques du DDR sont celles du schéma TT définies en 411.</a:t>
            </a:r>
          </a:p>
          <a:p>
            <a:pPr>
              <a:defRPr sz="1600"/>
            </a:pPr>
            <a:r>
              <a:t>5.</a:t>
            </a:r>
          </a:p>
          <a:p>
            <a:pPr>
              <a:defRPr sz="1600"/>
            </a:pPr>
            <a:r>
              <a:t>≤  I  ∆n  50  R  A  En outre, la protection contre les risques de contacts indirects de chacun des circuits placés en aval de ce DDR doit être assurée conformément aux règles du 411.</a:t>
            </a:r>
          </a:p>
          <a:p>
            <a:pPr>
              <a:defRPr sz="1600"/>
            </a:pPr>
            <a:r>
              <a:t>6.</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531.2.4.3.4 Cas de la protection du conducteur neutre lors du deuxième défaut</a:t>
            </a:r>
          </a:p>
        </p:txBody>
      </p:sp>
      <p:sp>
        <p:nvSpPr>
          <p:cNvPr id="3" name="Content Placeholder 2"/>
          <p:cNvSpPr>
            <a:spLocks noGrp="1"/>
          </p:cNvSpPr>
          <p:nvPr>
            <p:ph idx="1"/>
          </p:nvPr>
        </p:nvSpPr>
        <p:spPr/>
        <p:txBody>
          <a:bodyPr/>
          <a:lstStyle/>
          <a:p>
            <a:pPr>
              <a:defRPr sz="1600"/>
            </a:pPr>
            <a:r>
              <a:t>Comme indiqué en 431.</a:t>
            </a:r>
          </a:p>
          <a:p>
            <a:pPr>
              <a:defRPr sz="1600"/>
            </a:pPr>
            <a:r>
              <a:t>2.</a:t>
            </a:r>
          </a:p>
          <a:p>
            <a:pPr>
              <a:defRPr sz="1600"/>
            </a:pPr>
            <a:r>
              <a:t>2, il est admis de protéger circuit concerné en respectant les conditions suivantes :    le conducteur neutre à l’aide d’un DDR par  -  -  le courant différentiel-résiduel assigné est au plus égal à 0,15 fois le courant admissible dans le conducteur neutre correspondant ;  ce dispositif doit couper tous les conducteurs actifs du circuit correspondant, y compris le conducteur neutre.</a:t>
            </a:r>
          </a:p>
          <a:p>
            <a:pPr>
              <a:defRPr sz="1600"/>
            </a:pPr>
            <a:r>
              <a:t>Un dispositif différentiel répondant aux conditions précédentes peut être commun à un ensemble de circuits terminaux si toutes les conditions suivantes sont respectées :  a) Chacun de ces circuits est protégé contre les contacts indirects par le dispositif de protection  contre les surintensités placé à son origine,   conformément aux règles énoncées en 411.</a:t>
            </a:r>
          </a:p>
          <a:p>
            <a:pPr>
              <a:defRPr sz="1600"/>
            </a:pPr>
            <a:r>
              <a:t>6.</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531.2.5.1 L'emploi de DDR de courant différentiel-résiduel assigné au plus égal à 30 mA est une</a:t>
            </a:r>
          </a:p>
        </p:txBody>
      </p:sp>
      <p:sp>
        <p:nvSpPr>
          <p:cNvPr id="3" name="Content Placeholder 2"/>
          <p:cNvSpPr>
            <a:spLocks noGrp="1"/>
          </p:cNvSpPr>
          <p:nvPr>
            <p:ph idx="1"/>
          </p:nvPr>
        </p:nvSpPr>
        <p:spPr/>
        <p:txBody>
          <a:bodyPr/>
          <a:lstStyle/>
          <a:p>
            <a:pPr>
              <a:defRPr sz="1600"/>
            </a:pPr>
            <a:r>
              <a:t>mesure de protection complémentaire contre les chocs électriques.</a:t>
            </a:r>
          </a:p>
          <a:p>
            <a:pPr>
              <a:defRPr sz="1600"/>
            </a:pPr>
            <a:r>
              <a:t>A ce titre, ils doivent protéger les circuits énumérés en 411.</a:t>
            </a:r>
          </a:p>
          <a:p>
            <a:pPr>
              <a:defRPr sz="1600"/>
            </a:pPr>
            <a:r>
              <a:t>3.</a:t>
            </a:r>
          </a:p>
          <a:p>
            <a:pPr>
              <a:defRPr sz="1600"/>
            </a:pPr>
            <a:r>
              <a:t>3.</a:t>
            </a:r>
          </a:p>
          <a:p>
            <a:pPr>
              <a:defRPr sz="1600"/>
            </a:pPr>
            <a:r>
              <a:t>Dans le cas de socles de prise de courant, les dispositifs différentiels peuvent être mis en œuvre soit à l’origine du circuit, soit au niveau du socle.</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531.2.5.2 En schéma TT, l'emploi de DDR à haute sensibilité est nécessaire pour assurer la</a:t>
            </a:r>
          </a:p>
        </p:txBody>
      </p:sp>
      <p:sp>
        <p:nvSpPr>
          <p:cNvPr id="3" name="Content Placeholder 2"/>
          <p:cNvSpPr>
            <a:spLocks noGrp="1"/>
          </p:cNvSpPr>
          <p:nvPr>
            <p:ph idx="1"/>
          </p:nvPr>
        </p:nvSpPr>
        <p:spPr/>
        <p:txBody>
          <a:bodyPr/>
          <a:lstStyle/>
          <a:p>
            <a:pPr>
              <a:defRPr sz="1600"/>
            </a:pPr>
            <a:r>
              <a:t>protection contre les contacts indirects lorsque la résistance de la prise de terre des masses a une valeur élevée, par exemple supérieure à 500 ohms.</a:t>
            </a:r>
          </a:p>
          <a:p>
            <a:pPr>
              <a:defRPr sz="1600"/>
            </a:pPr>
            <a:r>
              <a:t>- 237 -   Si lors des mesures, la valeur de la résistance de prise de terre, bien qu'élevée, est compatible avec l'emploi de DDR à moyenne sensibilité, il peut cependant être préférable de prévoir des dispositifs à haute sensibilité de façon à garantir la sécurité en cas d'augmentation de la résistance de la prise de terre dans le temps.</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531.2.5.3 L'emploi de DDR à haute sensibilité est imposé notamment lorsque les conditions</a:t>
            </a:r>
          </a:p>
        </p:txBody>
      </p:sp>
      <p:sp>
        <p:nvSpPr>
          <p:cNvPr id="3" name="Content Placeholder 2"/>
          <p:cNvSpPr>
            <a:spLocks noGrp="1"/>
          </p:cNvSpPr>
          <p:nvPr>
            <p:ph idx="1"/>
          </p:nvPr>
        </p:nvSpPr>
        <p:spPr/>
        <p:txBody>
          <a:bodyPr/>
          <a:lstStyle/>
          <a:p>
            <a:pPr>
              <a:defRPr sz="1600"/>
            </a:pPr>
            <a:r>
              <a:t>d'influences externes sont particulièrement sévères ou que les risques d'humidité peuvent nuire à la bonne isolation des matériels.</a:t>
            </a:r>
          </a:p>
          <a:p>
            <a:pPr>
              <a:defRPr sz="1600"/>
            </a:pPr>
            <a:r>
              <a:t>Ces cas sont précisés dans les parties 7 de la présente norme.</a:t>
            </a:r>
          </a:p>
          <a:p>
            <a:pPr>
              <a:defRPr sz="1600"/>
            </a:pPr>
            <a:r>
              <a:t>532 (disponible)  533 Dispositifs de protection contre les surintensités.</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533.1 Dispositions générales</a:t>
            </a:r>
          </a:p>
        </p:txBody>
      </p:sp>
      <p:sp>
        <p:nvSpPr>
          <p:cNvPr id="3" name="Content Placeholder 2"/>
          <p:cNvSpPr>
            <a:spLocks noGrp="1"/>
          </p:cNvSpPr>
          <p:nvPr>
            <p:ph idx="1"/>
          </p:nvPr>
        </p:nvSpPr>
        <p:spPr/>
        <p:txBody>
          <a:bodyPr/>
          <a:lstStyle/>
          <a:p>
            <a:pPr>
              <a:defRPr sz="1600"/>
            </a:pPr>
            <a:r>
              <a:t>Pour l'application des règles énoncées en 511.</a:t>
            </a:r>
          </a:p>
          <a:p>
            <a:pPr>
              <a:defRPr sz="1600"/>
            </a:pPr>
            <a:r>
              <a:t>1, les normes à considérer sont notamment les suivantes :  Coupe-circuit :  -  -  -  coupe-circuit à cartouches cylindriques  (8)   ;  coupe-circuit à fusibles pour courant alternatif de tension nominale égale à 500V - Règles supplémentaires pour coupe-circuit pour usages industriels   ;  (9)  coupe-circuit à fusibles pour courant alternatif de tension nominale égale à 500V - Coupe-circuit à couteaux et à cartouches  (10)   ;  Disjoncteurs :  -  -  disjoncteurs de protection contre analogues  (11)   ;  les surintensités pour  installations domestiques et  disjoncteurs différentiels pour tableaux de contrôle des installations de première catégorie  (12)   ;  - appareillage industriel de commande à basse tension - Disjoncteurs  (13).</a:t>
            </a:r>
          </a:p>
          <a:p>
            <a:pPr>
              <a:defRPr sz="1600"/>
            </a:pPr>
            <a:r>
              <a:t>C.</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533.1.1 Les fusibles dont les éléments de remplacement sont susceptibles d'être enlevés ou</a:t>
            </a:r>
          </a:p>
        </p:txBody>
      </p:sp>
      <p:sp>
        <p:nvSpPr>
          <p:cNvPr id="3" name="Content Placeholder 2"/>
          <p:cNvSpPr>
            <a:spLocks noGrp="1"/>
          </p:cNvSpPr>
          <p:nvPr>
            <p:ph idx="1"/>
          </p:nvPr>
        </p:nvSpPr>
        <p:spPr/>
        <p:txBody>
          <a:bodyPr/>
          <a:lstStyle/>
          <a:p>
            <a:pPr>
              <a:defRPr sz="1600"/>
            </a:pPr>
            <a:r>
              <a:t>remplacés par des personnes autres qu'averties (BA4) ou qualifiées (BA5) doivent être d'un modèle conforme aux prescriptions de sécurité de la norme en vigueur - Coupe-circuit à fusibles à basse tension.</a:t>
            </a:r>
          </a:p>
          <a:p>
            <a:pPr>
              <a:defRPr sz="1600"/>
            </a:pPr>
            <a:r>
              <a:t>Troisième partie : Règles supplémentaires pour les fusibles destinés à être utilisés par des personnes non qualifiées (8).</a:t>
            </a:r>
          </a:p>
          <a:p>
            <a:pPr>
              <a:defRPr sz="1600"/>
            </a:pPr>
            <a:r>
              <a:t>Les fusibles ou les ensembles comportant des éléments de remplacement susceptibles d'être enlevés ou remplacés seulement par des personnes averties (BA4) ou qualifiées (BA5) doivent être installés de telle manière qu'il soit assuré que les éléments de remplacement peuvent être retirés ou mis en place sans risque de contact fortuit avec les parties actives.</a:t>
            </a:r>
          </a:p>
          <a:p>
            <a:pPr>
              <a:defRPr sz="1600"/>
            </a:pPr>
            <a:r>
              <a:t>Les fusibles à cartouches cylindriques conformes à la norme en vigueur (8) peuvent être utilisés dans les installations TT et TN de tension nominale 230/400V, mais pas dans les installations IT de même tension nominale.</a:t>
            </a:r>
          </a:p>
          <a:p>
            <a:pPr>
              <a:defRPr sz="1600"/>
            </a:pPr>
            <a:r>
              <a:t>C.</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533.1.2 Les disjoncteurs dont la manœuvre peut être assurée par des personnes autres qu'averties</a:t>
            </a:r>
          </a:p>
        </p:txBody>
      </p:sp>
      <p:sp>
        <p:nvSpPr>
          <p:cNvPr id="3" name="Content Placeholder 2"/>
          <p:cNvSpPr>
            <a:spLocks noGrp="1"/>
          </p:cNvSpPr>
          <p:nvPr>
            <p:ph idx="1"/>
          </p:nvPr>
        </p:nvSpPr>
        <p:spPr/>
        <p:txBody>
          <a:bodyPr/>
          <a:lstStyle/>
          <a:p>
            <a:pPr>
              <a:defRPr sz="1600"/>
            </a:pPr>
            <a:r>
              <a:t>(BA4) ou qualifiées (BA5) doivent être conçus ou installés de manière qu'il ne soit pas possible de modifier le réglage de leurs relais de surintensité sans une action volontaire nécessitant l'usage d'une clé ou d'un outil.</a:t>
            </a:r>
          </a:p>
          <a:p>
            <a:pPr>
              <a:defRPr sz="1600"/>
            </a:pPr>
            <a:r>
              <a:t>——————— (8) NF C 61-203 (9) NF EN 60269-2 (C 63-210) (10) NF C 63-213 (11) NF EN 60898 (C 61-410).</a:t>
            </a:r>
          </a:p>
          <a:p>
            <a:pPr>
              <a:defRPr sz="1600"/>
            </a:pPr>
            <a:r>
              <a:t>Dans la suite de la présente norme, ces disjoncteurs sont appelés domestiques.</a:t>
            </a:r>
          </a:p>
          <a:p>
            <a:pPr>
              <a:defRPr sz="1600"/>
            </a:pPr>
            <a:r>
              <a:t>(12) NF C 62-411 (13) NF EN 60947-2 (C 63-120).</a:t>
            </a:r>
          </a:p>
          <a:p>
            <a:pPr>
              <a:defRPr sz="1600"/>
            </a:pPr>
            <a:r>
              <a:t>Dans la suite de la présente norme, ces disjoncteurs sont appelés industriels.</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533.2 Choix des dispositifs de protection contre les surcharges</a:t>
            </a:r>
          </a:p>
        </p:txBody>
      </p:sp>
      <p:sp>
        <p:nvSpPr>
          <p:cNvPr id="3" name="Content Placeholder 2"/>
          <p:cNvSpPr>
            <a:spLocks noGrp="1"/>
          </p:cNvSpPr>
          <p:nvPr>
            <p:ph idx="1"/>
          </p:nvPr>
        </p:nvSpPr>
        <p:spPr/>
        <p:txBody>
          <a:bodyPr/>
          <a:lstStyle/>
          <a:p>
            <a:pPr>
              <a:defRPr sz="1600"/>
            </a:pPr>
            <a:r>
              <a:t>Le courant assigné (ou de réglage) du dispositif de protection doit être choisi conformément à 433.</a:t>
            </a:r>
          </a:p>
          <a:p>
            <a:pPr>
              <a:defRPr sz="1600"/>
            </a:pPr>
            <a:r>
              <a:t>2.</a:t>
            </a:r>
          </a:p>
          <a:p>
            <a:pPr>
              <a:defRPr sz="1600"/>
            </a:pPr>
            <a:r>
              <a:t>Le dispositif de protection contre les surcharges doit être sensible à la valeur efficace du courant circulant dans le circuit protégé.</a:t>
            </a:r>
          </a:p>
          <a:p>
            <a:pPr>
              <a:defRPr sz="1600"/>
            </a:pPr>
            <a:r>
              <a:t>Les disjoncteurs équipés de bilame (notamment les disjoncteurs à usage domestique) et les fusibles sont naturellement sensibles à la valeur efficace du courant.</a:t>
            </a:r>
          </a:p>
          <a:p>
            <a:pPr>
              <a:defRPr sz="1600"/>
            </a:pPr>
            <a:r>
              <a:t>Les disjoncteurs à usage industriel peuvent être équipés de déclencheurs électroniques qui doivent comporter un algorithme de calcul permettant la prise en compte de la valeur efficace du courant.</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533.3 Choix des dispositifs de protection contre les courts-circuits</a:t>
            </a:r>
          </a:p>
        </p:txBody>
      </p:sp>
      <p:sp>
        <p:nvSpPr>
          <p:cNvPr id="3" name="Content Placeholder 2"/>
          <p:cNvSpPr>
            <a:spLocks noGrp="1"/>
          </p:cNvSpPr>
          <p:nvPr>
            <p:ph idx="1"/>
          </p:nvPr>
        </p:nvSpPr>
        <p:spPr/>
        <p:txBody>
          <a:bodyPr/>
          <a:lstStyle/>
          <a:p>
            <a:pPr>
              <a:defRPr sz="1600"/>
            </a:pPr>
            <a:r>
              <a:t>Le paragraphe 434.</a:t>
            </a:r>
          </a:p>
          <a:p>
            <a:pPr>
              <a:defRPr sz="1600"/>
            </a:pPr>
            <a:r>
              <a:t>5 définit une règle de pouvoir de coupure en 434.</a:t>
            </a:r>
          </a:p>
          <a:p>
            <a:pPr>
              <a:defRPr sz="1600"/>
            </a:pPr>
            <a:r>
              <a:t>5.</a:t>
            </a:r>
          </a:p>
          <a:p>
            <a:pPr>
              <a:defRPr sz="1600"/>
            </a:pPr>
            <a:r>
              <a:t>1 et une règle de temps de coupure en 434.</a:t>
            </a:r>
          </a:p>
          <a:p>
            <a:pPr>
              <a:defRPr sz="1600"/>
            </a:pPr>
            <a:r>
              <a:t>5.</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533.3.1 Pouvoir de coupure</a:t>
            </a:r>
          </a:p>
        </p:txBody>
      </p:sp>
      <p:sp>
        <p:nvSpPr>
          <p:cNvPr id="3" name="Content Placeholder 2"/>
          <p:cNvSpPr>
            <a:spLocks noGrp="1"/>
          </p:cNvSpPr>
          <p:nvPr>
            <p:ph idx="1"/>
          </p:nvPr>
        </p:nvSpPr>
        <p:spPr/>
        <p:txBody>
          <a:bodyPr/>
          <a:lstStyle/>
          <a:p>
            <a:pPr>
              <a:defRPr sz="1600"/>
            </a:pPr>
            <a:r>
              <a:t>Pour tous les dispositifs de protection contre les courts-circuits, le courant maximal présumé au point d’installation du dispositif de protection doit être inférieur au pouvoir de coupure de ce dispositif.</a:t>
            </a:r>
          </a:p>
          <a:p>
            <a:pPr>
              <a:defRPr sz="1600"/>
            </a:pPr>
            <a:r>
              <a:t>cu pour les Les normes relatives aux disjoncteurs spécifient un pouvoir de coupure (ultime I disjoncteurs industriels et assigné Icn pour les disjoncteurs domestiques) qui doit être au moins égal au courant maximal présumé de court-circuit à l’endroit où le disjoncteur est installé.</a:t>
            </a:r>
          </a:p>
          <a:p>
            <a:pPr>
              <a:defRPr sz="1600"/>
            </a:pPr>
            <a:r>
              <a:t>).</a:t>
            </a:r>
          </a:p>
          <a:p>
            <a:pPr>
              <a:defRPr sz="1600"/>
            </a:pPr>
            <a:r>
              <a:t>Les conditions de Ces normes prévoient en outre un pouvoir de coupure de service (I fonctionnement de l’installation peuvent justifier le choix du dispositif de protection d’après le pouvoir de coupure de service, par exemple lorsque le disjoncteur est placé à l’origine de l’installation.</a:t>
            </a:r>
          </a:p>
          <a:p>
            <a:pPr>
              <a:defRPr sz="1600"/>
            </a:pPr>
            <a:r>
              <a:t>cs  Lorsque l’installation est réalisée suivant le schéma IT, les dispositifs de protection doivent de plus pouvoir couper sur un pôle, sous la tension entre phases, le courant de double défaut.</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533.3.2 Temps de coupure</a:t>
            </a:r>
          </a:p>
        </p:txBody>
      </p:sp>
      <p:sp>
        <p:nvSpPr>
          <p:cNvPr id="3" name="Content Placeholder 2"/>
          <p:cNvSpPr>
            <a:spLocks noGrp="1"/>
          </p:cNvSpPr>
          <p:nvPr>
            <p:ph idx="1"/>
          </p:nvPr>
        </p:nvSpPr>
        <p:spPr/>
        <p:txBody>
          <a:bodyPr/>
          <a:lstStyle/>
          <a:p>
            <a:pPr>
              <a:defRPr sz="1600"/>
            </a:pPr>
            <a:r>
              <a:t>L’application de la règle de 434.</a:t>
            </a:r>
          </a:p>
          <a:p>
            <a:pPr>
              <a:defRPr sz="1600"/>
            </a:pPr>
            <a:r>
              <a:t>5.</a:t>
            </a:r>
          </a:p>
          <a:p>
            <a:pPr>
              <a:defRPr sz="1600"/>
            </a:pPr>
            <a:r>
              <a:t>2 pour les courts-circuits de durée au plus égale à 5 s doit tenir compte des conditions minimales et maximales de courts-circuits.</a:t>
            </a:r>
          </a:p>
          <a:p>
            <a:pPr>
              <a:defRPr sz="1600"/>
            </a:pPr>
            <a:r>
              <a:t>Il en résulte les conditions suivantes pour les fusibles et pour les disjoncteurs en tenant compte de leurs caractéristiques différentes.</a:t>
            </a:r>
          </a:p>
          <a:p>
            <a:pPr>
              <a:defRPr sz="1600"/>
            </a:pPr>
            <a:r>
              <a:t>a) cas des fusibles : le courant de court-circuit minimal I k ne doit pas être inférieur à Ii(figure  533A).</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 Dispositifs de protection contre les surtensions d'origine atmosphérique ou dues à des</a:t>
            </a:r>
          </a:p>
        </p:txBody>
      </p:sp>
      <p:sp>
        <p:nvSpPr>
          <p:cNvPr id="3" name="Content Placeholder 2"/>
          <p:cNvSpPr>
            <a:spLocks noGrp="1"/>
          </p:cNvSpPr>
          <p:nvPr>
            <p:ph idx="1"/>
          </p:nvPr>
        </p:nvSpPr>
        <p:spPr/>
        <p:txBody>
          <a:bodyPr/>
          <a:lstStyle/>
          <a:p>
            <a:pPr>
              <a:defRPr sz="1600"/>
            </a:pPr>
            <a:r>
              <a:t>manœuvres.</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534.1.1 Nature et rôle des dispositifs</a:t>
            </a:r>
          </a:p>
        </p:txBody>
      </p:sp>
      <p:sp>
        <p:nvSpPr>
          <p:cNvPr id="3" name="Content Placeholder 2"/>
          <p:cNvSpPr>
            <a:spLocks noGrp="1"/>
          </p:cNvSpPr>
          <p:nvPr>
            <p:ph idx="1"/>
          </p:nvPr>
        </p:nvSpPr>
        <p:spPr/>
        <p:txBody>
          <a:bodyPr/>
          <a:lstStyle/>
          <a:p>
            <a:pPr>
              <a:defRPr sz="1600"/>
            </a:pPr>
            <a:r>
              <a:t>Les dispositifs assurant la protection contre les surtensions transitoires sont les parafoudres, les transformateurs d'isolement spécialement conçus à cet effet, les filtres spéciaux ou une association de ces dispositifs.</a:t>
            </a:r>
          </a:p>
          <a:p>
            <a:pPr>
              <a:defRPr sz="1600"/>
            </a:pPr>
            <a:r>
              <a:t>Seuls, les parafoudres sont traités dans la suite de cet article.</a:t>
            </a:r>
          </a:p>
          <a:p>
            <a:pPr>
              <a:defRPr sz="1600"/>
            </a:pPr>
            <a:r>
              <a:t>Leur choix et leur mise en œuvre ne doivent pas perturber le fonctionnement de l'installation et des autres dispositifs de protection.</a:t>
            </a:r>
          </a:p>
          <a:p>
            <a:pPr>
              <a:defRPr sz="1600"/>
            </a:pPr>
            <a:r>
              <a:t>Ils ne doivent pas présenter de danger pour les personnes et les biens lors de leur fonctionnement, ainsi que lors de leur éventuelle destruction.</a:t>
            </a:r>
          </a:p>
          <a:p>
            <a:pPr>
              <a:defRPr sz="1600"/>
            </a:pPr>
            <a:r>
              <a:t>Pour l'application des règles énoncées en 511.</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534.1.2.1 Lorsque des parafoudres protègent</a:t>
            </a:r>
          </a:p>
        </p:txBody>
      </p:sp>
      <p:sp>
        <p:nvSpPr>
          <p:cNvPr id="3" name="Content Placeholder 2"/>
          <p:cNvSpPr>
            <a:spLocks noGrp="1"/>
          </p:cNvSpPr>
          <p:nvPr>
            <p:ph idx="1"/>
          </p:nvPr>
        </p:nvSpPr>
        <p:spPr/>
        <p:txBody>
          <a:bodyPr/>
          <a:lstStyle/>
          <a:p>
            <a:pPr>
              <a:defRPr sz="1600"/>
            </a:pPr>
            <a:r>
              <a:t>l'ensemble d'une installation, selon les règles de 443, ceux-ci doivent avoir un niveau de protection correspondant à la tension de tenue aux chocs des matériels à protéger et aux courants de décharge déterminés lors de l'évaluation du risque acceptable.</a:t>
            </a:r>
          </a:p>
          <a:p>
            <a:pPr>
              <a:defRPr sz="1600"/>
            </a:pPr>
            <a:r>
              <a:t>Ils sont alors disposés immédiatement en aval du dispositif assurant la fonction de sectionnement en tête de l'installation.</a:t>
            </a:r>
          </a:p>
          <a:p>
            <a:pPr>
              <a:defRPr sz="1600"/>
            </a:pPr>
            <a:r>
              <a:t>Les cas où il est recommandé de prévoir un parafoudre à l'origine d'une installation sont indiqués en 443.</a:t>
            </a:r>
          </a:p>
          <a:p>
            <a:pPr>
              <a:defRPr sz="1600"/>
            </a:pPr>
            <a:r>
              <a:t>2 de la partie 4-44.</a:t>
            </a:r>
          </a:p>
          <a:p>
            <a:pPr>
              <a:defRPr sz="1600"/>
            </a:pPr>
            <a:r>
              <a:t>La tension de tenue aux chocs des matériels   est indiquée dans le tableau 44B.</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534.1.2.2 Un parafoudre destiné à protéger un matériel d'utilisation particulièrement sensible est</a:t>
            </a:r>
          </a:p>
        </p:txBody>
      </p:sp>
      <p:sp>
        <p:nvSpPr>
          <p:cNvPr id="3" name="Content Placeholder 2"/>
          <p:cNvSpPr>
            <a:spLocks noGrp="1"/>
          </p:cNvSpPr>
          <p:nvPr>
            <p:ph idx="1"/>
          </p:nvPr>
        </p:nvSpPr>
        <p:spPr/>
        <p:txBody>
          <a:bodyPr/>
          <a:lstStyle/>
          <a:p>
            <a:pPr>
              <a:defRPr sz="1600"/>
            </a:pPr>
            <a:r>
              <a:t>installé à proximité de ce matériel, sur son circuit d'alimentation.</a:t>
            </a:r>
          </a:p>
          <a:p>
            <a:pPr>
              <a:defRPr sz="1600"/>
            </a:pPr>
            <a:r>
              <a:t>Il doit avoir un niveau de protection et un courant de décharge coordonnés, d'une part avec les autres dispositifs de protection, en particulier ceux installés en amont, et d'autre part, avec la tension de tenue aux chocs du matériel d'utilisation.</a:t>
            </a:r>
          </a:p>
          <a:p>
            <a:pPr>
              <a:defRPr sz="1600"/>
            </a:pPr>
            <a:r>
              <a:t>C  - 242 -   Un parafoudre destiné à protéger un matériel ou équipement particulièrement sensible aux surtensions peut être aussi placé à l'origine de l'installation si ces matériels sont situés près de cette origine ; dans ce cas,   il n'est pas nécessaire d'installer les parafoudres prévus en 534.</a:t>
            </a:r>
          </a:p>
          <a:p>
            <a:pPr>
              <a:defRPr sz="1600"/>
            </a:pPr>
            <a:r>
              <a:t>1.</a:t>
            </a:r>
          </a:p>
          <a:p>
            <a:pPr>
              <a:defRPr sz="1600"/>
            </a:pPr>
            <a:r>
              <a:t>2.</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534.1.3 Mise en œuvre des parafoudres</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534.1.3.1 Les parafoudres à l'origine de l'installation doivent être connectés au moins entre les</a:t>
            </a:r>
          </a:p>
        </p:txBody>
      </p:sp>
      <p:sp>
        <p:nvSpPr>
          <p:cNvPr id="3" name="Content Placeholder 2"/>
          <p:cNvSpPr>
            <a:spLocks noGrp="1"/>
          </p:cNvSpPr>
          <p:nvPr>
            <p:ph idx="1"/>
          </p:nvPr>
        </p:nvSpPr>
        <p:spPr/>
        <p:txBody>
          <a:bodyPr/>
          <a:lstStyle/>
          <a:p>
            <a:pPr>
              <a:defRPr sz="1600"/>
            </a:pPr>
            <a:r>
              <a:t>points suivants :  - Si le conducteur neutre est relié à la terre à l'origine de l'installation ou si le neutre n'est pas  distribué :  -  entre chaque conducteur de phase et soit la liaison équipotentielle principale soit le conducteur principal de protection, suivant le chemin le plus court.</a:t>
            </a:r>
          </a:p>
          <a:p>
            <a:pPr>
              <a:defRPr sz="1600"/>
            </a:pPr>
            <a:r>
              <a:t>- Si le conducteur neutre n'est pas relié à la terre à l'origine de l'installation :  -  -  entre chaque conducteur de phase et, soit la liaison équipotentielle principale, soit le conducteur principal de protection, et  entre le conducteur neutre et, soit la liaison équipotentielle principale, soit le conducteur principal de protection, suivant le chemin le plus court.</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534.1.3.2 Si un parafoudre est installé à l'origine de l'installation, en aval d'un dispositif différentiel-</a:t>
            </a:r>
          </a:p>
        </p:txBody>
      </p:sp>
      <p:sp>
        <p:nvSpPr>
          <p:cNvPr id="3" name="Content Placeholder 2"/>
          <p:cNvSpPr>
            <a:spLocks noGrp="1"/>
          </p:cNvSpPr>
          <p:nvPr>
            <p:ph idx="1"/>
          </p:nvPr>
        </p:nvSpPr>
        <p:spPr/>
        <p:txBody>
          <a:bodyPr/>
          <a:lstStyle/>
          <a:p>
            <a:pPr>
              <a:defRPr sz="1600"/>
            </a:pPr>
            <a:r>
              <a:t>résiduel, ce dernier doit être d'un type qui ne déclenche pas sous l'effet de courants de chocs de 5 kA (forme d'onde 8/20).</a:t>
            </a:r>
          </a:p>
          <a:p>
            <a:pPr>
              <a:defRPr sz="1600"/>
            </a:pPr>
            <a:r>
              <a:t>Un dispositif à courant différentiel-résiduel de type S ou retardé satisfaisant à l'essai à l'onde de courant 8/20, au niveau de 5 kA par déclaration du constructeur, répond à cette prescription.</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534.1.3.3 Les parafoudres ne doivent pas être installés dans des locaux où existent des risques</a:t>
            </a:r>
          </a:p>
        </p:txBody>
      </p:sp>
      <p:sp>
        <p:nvSpPr>
          <p:cNvPr id="3" name="Content Placeholder 2"/>
          <p:cNvSpPr>
            <a:spLocks noGrp="1"/>
          </p:cNvSpPr>
          <p:nvPr>
            <p:ph idx="1"/>
          </p:nvPr>
        </p:nvSpPr>
        <p:spPr/>
        <p:txBody>
          <a:bodyPr/>
          <a:lstStyle/>
          <a:p>
            <a:pPr>
              <a:defRPr sz="1600"/>
            </a:pPr>
            <a:r>
              <a:t>d'incendie ou d'explosion (locaux BE2 et BE3), sauf si des précautions particulières sont prises.</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534.1.3.4 Afin d'assurer une protection optimale contre les surtensions, les conducteurs de</a:t>
            </a:r>
          </a:p>
        </p:txBody>
      </p:sp>
      <p:sp>
        <p:nvSpPr>
          <p:cNvPr id="3" name="Content Placeholder 2"/>
          <p:cNvSpPr>
            <a:spLocks noGrp="1"/>
          </p:cNvSpPr>
          <p:nvPr>
            <p:ph idx="1"/>
          </p:nvPr>
        </p:nvSpPr>
        <p:spPr/>
        <p:txBody>
          <a:bodyPr/>
          <a:lstStyle/>
          <a:p>
            <a:pPr>
              <a:defRPr sz="1600"/>
            </a:pPr>
            <a:r>
              <a:t>connexion du parafoudre doivent être aussi courts que possible (n'excédant pas de préférence 0,5 m au total).</a:t>
            </a:r>
          </a:p>
          <a:p>
            <a:pPr>
              <a:defRPr sz="1600"/>
            </a:pPr>
            <a:r>
              <a:t>Voir schémas de mise en œuvre dans le guide 15-443 et schémas de principe de la figure 534A du présent article.</a:t>
            </a:r>
          </a:p>
          <a:p>
            <a:pPr>
              <a:defRPr sz="1600"/>
            </a:pPr>
            <a:r>
              <a:t>NOTES - 1 - L'accroissement de la longueur des conducteurs de connexion des parafoudres réduit l'efficacité de la protection contre les surtensions.</a:t>
            </a:r>
          </a:p>
          <a:p>
            <a:pPr>
              <a:defRPr sz="1600"/>
            </a:pPr>
            <a:r>
              <a:t>2 - Les conducteurs de connexion sont ceux reliant la phase au parafoudre et reliant le parafoudre à la liaison équipotentielle ou au conducteur de protection ou au PEN.</a:t>
            </a:r>
          </a:p>
          <a:p>
            <a:pPr>
              <a:defRPr sz="1600"/>
            </a:pPr>
            <a:r>
              <a:t>Les conducteurs de terre des parafoudres doivent avoir une section minimale de 4 mm  2 en Cuivre.</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534.1.4.1 Les parafoudres doivent être conformes à la norme (16).</a:t>
            </a:r>
          </a:p>
        </p:txBody>
      </p:sp>
      <p:sp>
        <p:nvSpPr>
          <p:cNvPr id="3" name="Content Placeholder 2"/>
          <p:cNvSpPr>
            <a:spLocks noGrp="1"/>
          </p:cNvSpPr>
          <p:nvPr>
            <p:ph idx="1"/>
          </p:nvPr>
        </p:nvSpPr>
        <p:spPr/>
        <p:txBody>
          <a:bodyPr/>
          <a:lstStyle/>
          <a:p>
            <a:pPr>
              <a:defRPr sz="1600"/>
            </a:pPr>
            <a:r>
              <a:t>C  C  C  ——————— (16) NF EN 61643-11 (C 61-7XX)  - 243 -   (voir note 2)  U0 (voir note 2)  C.</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534.1.4.2 Les parafoudres connectés entre conducteurs actifs et terre doivent être choisis en</a:t>
            </a:r>
          </a:p>
        </p:txBody>
      </p:sp>
      <p:sp>
        <p:nvSpPr>
          <p:cNvPr id="3" name="Content Placeholder 2"/>
          <p:cNvSpPr>
            <a:spLocks noGrp="1"/>
          </p:cNvSpPr>
          <p:nvPr>
            <p:ph idx="1"/>
          </p:nvPr>
        </p:nvSpPr>
        <p:spPr/>
        <p:txBody>
          <a:bodyPr/>
          <a:lstStyle/>
          <a:p>
            <a:pPr>
              <a:defRPr sz="1600"/>
            </a:pPr>
            <a:r>
              <a:t>fonction :  a) de la tension maximale de régime permanent Uc du parafoudre égale ou supérieure aux valeurs  indiquées dans le tableau ci-dessous :  Tableau 53C – Choix des tensions Uc et UT  Parafoudre connecté entre  Schéma de mise à la terre du réseau  conducteur de phase et conducteur neutre  chaque conducteur de phase et PE  TT  TN-C  TN-S  IT avec neutre distribué  Uc  UT  1,1 U0  1,45 U 0  Uc  NA  UT  NA  Uc  UT  Uc  UT  1,1 U 0  1,45 U 0  1,1 U 0  1,45 U 0  1,1 U0  3 U0  NA  NA  1,1 U 0  1,45 U0  3 U0  NA  IT sans neutre distribué  Uc  NA  UT  NA  Tension entre phases (voir note 2)  Tension entre phases (voir note 2)  conducteur neutre et PE  U0 (voir note 2)  NA  NA  NA  NA  U0 (voir note 2)  NA  NA  NA  chaque conducteur de phase et PEN  NA  NA  1,1 U 0  1,45 U 0  NA  NA  NA  NA  NA  NA  NA : non applicable NOTES - 1 - U0 est la tension simple du réseau à basse tension.</a:t>
            </a:r>
          </a:p>
          <a:p>
            <a:pPr>
              <a:defRPr sz="1600"/>
            </a:pPr>
            <a:r>
              <a:t>2 - Ces valeurs sont relatives aux conditions les plus défavorables de défaut, ainsi la tolérance de 10 % n'est pas prise en compte.</a:t>
            </a:r>
          </a:p>
          <a:p>
            <a:pPr>
              <a:defRPr sz="1600"/>
            </a:pPr>
            <a:r>
              <a:t>Ce tableau est issu de la norme NF EN 61643-11.</a:t>
            </a:r>
          </a:p>
          <a:p>
            <a:pPr>
              <a:defRPr sz="1600"/>
            </a:pPr>
            <a:r>
              <a:t>La tension maximale de régime permanent Uc est la valeur spécifiée admissible de la tension efficace à fréquence industrielle qui peut être appliquée de façon continue entre les bornes du parafoudre.</a:t>
            </a:r>
          </a:p>
          <a:p>
            <a:pPr>
              <a:defRPr sz="1600"/>
            </a:pPr>
            <a:r>
              <a:t>UT caractérise la surtension temporaire à fréquence industrielle due à des défauts sur le réseau BT.</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534.1.4.3 Le parafoudre installé à l'origine d'une installation 230/400 V doit avoir un niveau maximal</a:t>
            </a:r>
          </a:p>
        </p:txBody>
      </p:sp>
      <p:sp>
        <p:nvSpPr>
          <p:cNvPr id="3" name="Content Placeholder 2"/>
          <p:cNvSpPr>
            <a:spLocks noGrp="1"/>
          </p:cNvSpPr>
          <p:nvPr>
            <p:ph idx="1"/>
          </p:nvPr>
        </p:nvSpPr>
        <p:spPr/>
        <p:txBody>
          <a:bodyPr/>
          <a:lstStyle/>
          <a:p>
            <a:pPr>
              <a:defRPr sz="1600"/>
            </a:pPr>
            <a:r>
              <a:t>de protection Up de 2,5 kV au courant nominal de décharge.</a:t>
            </a:r>
          </a:p>
          <a:p>
            <a:pPr>
              <a:defRPr sz="1600"/>
            </a:pPr>
            <a:r>
              <a:t>Ce niveau de protection est compatible avec la tenue des futurs matériels d'utilisation de tension de tenue aux chocs normale.</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534.1.5.1 Des moyens doivent être mis en œuvre pour indiquer que le parafoudre n'assure plus sa</a:t>
            </a:r>
          </a:p>
        </p:txBody>
      </p:sp>
      <p:sp>
        <p:nvSpPr>
          <p:cNvPr id="3" name="Content Placeholder 2"/>
          <p:cNvSpPr>
            <a:spLocks noGrp="1"/>
          </p:cNvSpPr>
          <p:nvPr>
            <p:ph idx="1"/>
          </p:nvPr>
        </p:nvSpPr>
        <p:spPr/>
        <p:txBody>
          <a:bodyPr/>
          <a:lstStyle/>
          <a:p>
            <a:pPr>
              <a:defRPr sz="1600"/>
            </a:pPr>
            <a:r>
              <a:t>fonction de protection.</a:t>
            </a:r>
          </a:p>
          <a:p>
            <a:pPr>
              <a:defRPr sz="1600"/>
            </a:pPr>
            <a:r>
              <a:t>NOTE - Dans ces circonstances, certains circuits alimentant des matériels d'utilisation sensibles peuvent nécessiter d'être ouverts ou secourus.</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534.1.5.2 Les parafoudres doivent être disposés de manière, qu'en cas de défaillance, aucun risque</a:t>
            </a:r>
          </a:p>
        </p:txBody>
      </p:sp>
      <p:sp>
        <p:nvSpPr>
          <p:cNvPr id="3" name="Content Placeholder 2"/>
          <p:cNvSpPr>
            <a:spLocks noGrp="1"/>
          </p:cNvSpPr>
          <p:nvPr>
            <p:ph idx="1"/>
          </p:nvPr>
        </p:nvSpPr>
        <p:spPr/>
        <p:txBody>
          <a:bodyPr/>
          <a:lstStyle/>
          <a:p>
            <a:pPr>
              <a:defRPr sz="1600"/>
            </a:pPr>
            <a:r>
              <a:t>d'incendie ou d'explosion n'existe.</a:t>
            </a:r>
          </a:p>
          <a:p>
            <a:pPr>
              <a:defRPr sz="1600"/>
            </a:pPr>
            <a:r>
              <a:t>Lorsque nécessaire, le constructeur doit indiquer, dans sa documentation, les types de protection convenables du parafoudre contre ces risques.</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534.1.5.3 Des dispositifs de protection contre les courts-circuits, l’emballement thermique et contre</a:t>
            </a:r>
          </a:p>
        </p:txBody>
      </p:sp>
      <p:sp>
        <p:nvSpPr>
          <p:cNvPr id="3" name="Content Placeholder 2"/>
          <p:cNvSpPr>
            <a:spLocks noGrp="1"/>
          </p:cNvSpPr>
          <p:nvPr>
            <p:ph idx="1"/>
          </p:nvPr>
        </p:nvSpPr>
        <p:spPr/>
        <p:txBody>
          <a:bodyPr/>
          <a:lstStyle/>
          <a:p>
            <a:pPr>
              <a:defRPr sz="1600"/>
            </a:pPr>
            <a:r>
              <a:t>les courants de défauts à la terre doivent être prévus pour assurer la déconnexion du parafoudre.</a:t>
            </a:r>
          </a:p>
          <a:p>
            <a:pPr>
              <a:defRPr sz="1600"/>
            </a:pPr>
            <a:r>
              <a:t>Ces dispositifs doivent être coordonnés avec la protection amont éventuelle et avec le courant nominal de décharge du parafoudre.</a:t>
            </a:r>
          </a:p>
          <a:p>
            <a:pPr>
              <a:defRPr sz="1600"/>
            </a:pPr>
            <a:r>
              <a:t>Des dispositions doivent être prises pour éviter des risques d'indisponibilité de l'alimentation électrique en cas de défaillance des parafoudres placés à l'origine de l'installation.</a:t>
            </a:r>
          </a:p>
          <a:p>
            <a:pPr>
              <a:defRPr sz="1600"/>
            </a:pPr>
            <a:r>
              <a:t>Les dispositifs de protection sont incorporés ou mis en série avec les parafoudres.</a:t>
            </a:r>
          </a:p>
          <a:p>
            <a:pPr>
              <a:defRPr sz="1600"/>
            </a:pPr>
            <a:r>
              <a:t>Lorsqu’ils sont incorporés, ils sont appelés déconnecteurs.</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534.1.5.4 Une fois installés, les parafoudres et leurs dispositifs éventuels de protection ne doivent</a:t>
            </a:r>
          </a:p>
        </p:txBody>
      </p:sp>
      <p:sp>
        <p:nvSpPr>
          <p:cNvPr id="3" name="Content Placeholder 2"/>
          <p:cNvSpPr>
            <a:spLocks noGrp="1"/>
          </p:cNvSpPr>
          <p:nvPr>
            <p:ph idx="1"/>
          </p:nvPr>
        </p:nvSpPr>
        <p:spPr/>
        <p:txBody>
          <a:bodyPr/>
          <a:lstStyle/>
          <a:p>
            <a:pPr>
              <a:defRPr sz="1600"/>
            </a:pPr>
            <a:r>
              <a:t>pas créer, en fin de vie, une liaison entre neutre et terre.</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534.1.5.5 La protection contre les contacts indirects, conforme à la partie 4-41,</a:t>
            </a:r>
          </a:p>
        </p:txBody>
      </p:sp>
      <p:sp>
        <p:nvSpPr>
          <p:cNvPr id="3" name="Content Placeholder 2"/>
          <p:cNvSpPr>
            <a:spLocks noGrp="1"/>
          </p:cNvSpPr>
          <p:nvPr>
            <p:ph idx="1"/>
          </p:nvPr>
        </p:nvSpPr>
        <p:spPr/>
        <p:txBody>
          <a:bodyPr/>
          <a:lstStyle/>
          <a:p>
            <a:pPr>
              <a:defRPr sz="1600"/>
            </a:pPr>
            <a:r>
              <a:t>dans le bâtiment protégé, même en cas de défaillance des parafoudres :    doit rester assurée  -  -  en schéma TN, cette prescription est généralement satisfaite par des dispositifs de protection contre les surintensités en amont des parafoudres ;  en schéma TT et IT, cette prescription est généralement satisfaite par la mise en place du parafoudre en aval d’un DDR.</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534.1.6 Dispositifs de signalisation</a:t>
            </a:r>
          </a:p>
        </p:txBody>
      </p:sp>
      <p:sp>
        <p:nvSpPr>
          <p:cNvPr id="3" name="Content Placeholder 2"/>
          <p:cNvSpPr>
            <a:spLocks noGrp="1"/>
          </p:cNvSpPr>
          <p:nvPr>
            <p:ph idx="1"/>
          </p:nvPr>
        </p:nvSpPr>
        <p:spPr/>
        <p:txBody>
          <a:bodyPr/>
          <a:lstStyle/>
          <a:p>
            <a:pPr>
              <a:defRPr sz="1600"/>
            </a:pPr>
            <a:r>
              <a:t>Les dispositifs de protection définis en 534.</a:t>
            </a:r>
          </a:p>
          <a:p>
            <a:pPr>
              <a:defRPr sz="1600"/>
            </a:pPr>
            <a:r>
              <a:t>1.</a:t>
            </a:r>
          </a:p>
          <a:p>
            <a:pPr>
              <a:defRPr sz="1600"/>
            </a:pPr>
            <a:r>
              <a:t>5.</a:t>
            </a:r>
          </a:p>
          <a:p>
            <a:pPr>
              <a:defRPr sz="1600"/>
            </a:pPr>
            <a:r>
              <a:t>3 doivent être munis d'un dispositif de signalisation lumineux, mécanique ou sonore indiquant la déconnexion du parafoudre du reste de l'installation.</a:t>
            </a:r>
          </a:p>
          <a:p>
            <a:pPr>
              <a:defRPr sz="1600"/>
            </a:pPr>
            <a:r>
              <a:t>Le parafoudre devra, dans ce cas, être remplacé.</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534.2.1 Nature et rôle des limiteurs de surtension</a:t>
            </a:r>
          </a:p>
        </p:txBody>
      </p:sp>
      <p:sp>
        <p:nvSpPr>
          <p:cNvPr id="3" name="Content Placeholder 2"/>
          <p:cNvSpPr>
            <a:spLocks noGrp="1"/>
          </p:cNvSpPr>
          <p:nvPr>
            <p:ph idx="1"/>
          </p:nvPr>
        </p:nvSpPr>
        <p:spPr/>
        <p:txBody>
          <a:bodyPr/>
          <a:lstStyle/>
          <a:p>
            <a:pPr>
              <a:defRPr sz="1600"/>
            </a:pPr>
            <a:r>
              <a:t>Les dispositifs assurant la protection contre les surtensions à fréquence industrielle sont des limiteurs de surtension.</a:t>
            </a:r>
          </a:p>
          <a:p>
            <a:pPr>
              <a:defRPr sz="1600"/>
            </a:pPr>
            <a:r>
              <a:t>Ils sont destinés à limiter le niveau des surtensions à fréquence industrielle à un niveau compatible avec la tension de tenue à fréquence industrielle des matériels de l'installation et des matériels alimentés par cette installation.</a:t>
            </a:r>
          </a:p>
          <a:p>
            <a:pPr>
              <a:defRPr sz="1600"/>
            </a:pPr>
            <a:r>
              <a:t>Pour l'application des règles énoncées en 511.</a:t>
            </a:r>
          </a:p>
          <a:p>
            <a:pPr>
              <a:defRPr sz="1600"/>
            </a:pPr>
            <a:r>
              <a:t>1, la norme à considérer est la suivante   :  - Limiteurs de surtension, Règles (17).</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534.2.2 Choix des limiteurs de surtension</a:t>
            </a:r>
          </a:p>
        </p:txBody>
      </p:sp>
      <p:sp>
        <p:nvSpPr>
          <p:cNvPr id="3" name="Content Placeholder 2"/>
          <p:cNvSpPr>
            <a:spLocks noGrp="1"/>
          </p:cNvSpPr>
          <p:nvPr>
            <p:ph idx="1"/>
          </p:nvPr>
        </p:nvSpPr>
        <p:spPr/>
        <p:txBody>
          <a:bodyPr/>
          <a:lstStyle/>
          <a:p>
            <a:pPr>
              <a:defRPr sz="1600"/>
            </a:pPr>
            <a:r>
              <a:t>Le choix des limiteurs de surtension doit tenir compte des critères suivants :  -  -  tension nominale de l'installation ;  niveau d'isolement de l'installation ;  - mode de connexion du limiteur de surtension ;  -  courant de court-circuit présumé à l'origine de l'installation.</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534.2.3 Niveau de protection effectif assuré par un limiteur de surtension suivant son mode</a:t>
            </a:r>
          </a:p>
        </p:txBody>
      </p:sp>
      <p:sp>
        <p:nvSpPr>
          <p:cNvPr id="3" name="Content Placeholder 2"/>
          <p:cNvSpPr>
            <a:spLocks noGrp="1"/>
          </p:cNvSpPr>
          <p:nvPr>
            <p:ph idx="1"/>
          </p:nvPr>
        </p:nvSpPr>
        <p:spPr/>
        <p:txBody>
          <a:bodyPr/>
          <a:lstStyle/>
          <a:p>
            <a:pPr>
              <a:defRPr sz="1600"/>
            </a:pPr>
            <a:r>
              <a:t>de connexion  Lorsque le limiteur de surtension est connecté entre le neutre de l'installation à basse tension et la terre, le niveau de protection effectif assuré par le limiteur est égal à la somme de la tension nominale d'amorçage 100 % à fréquence industrielle du limiteur et de la tension entre phase et neutre de l'installation.</a:t>
            </a:r>
          </a:p>
          <a:p>
            <a:pPr>
              <a:defRPr sz="1600"/>
            </a:pPr>
            <a:r>
              <a:t>Lorsque le limiteur de surtension est connecté entre une phase de l'installation à basse tension et la terre, le niveau de protection assuré par le limiteur est égal à la somme de la tension nominale d'amorçage 100 % à fréquence industrielle du limiteur et de la tension entre phases de l'installation.</a:t>
            </a:r>
          </a:p>
          <a:p>
            <a:pPr>
              <a:defRPr sz="1600"/>
            </a:pPr>
            <a:r>
              <a:t>Le conducteur reliant la borne d'entrée du limiteur de surtension aux conducteurs actifs doit être isolé au même titre que ceux-ci.</a:t>
            </a:r>
          </a:p>
          <a:p>
            <a:pPr>
              <a:defRPr sz="1600"/>
            </a:pPr>
            <a:r>
              <a:t>La borne doit être protégée contre les contacts directs.</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534.2.4 Installation des limiteurs de surtension</a:t>
            </a:r>
          </a:p>
        </p:txBody>
      </p:sp>
      <p:sp>
        <p:nvSpPr>
          <p:cNvPr id="3" name="Content Placeholder 2"/>
          <p:cNvSpPr>
            <a:spLocks noGrp="1"/>
          </p:cNvSpPr>
          <p:nvPr>
            <p:ph idx="1"/>
          </p:nvPr>
        </p:nvSpPr>
        <p:spPr/>
        <p:txBody>
          <a:bodyPr/>
          <a:lstStyle/>
          <a:p>
            <a:pPr>
              <a:defRPr sz="1600"/>
            </a:pPr>
            <a:r>
              <a:t>Les conducteurs reliant le limiteur de surtension d'une part aux conducteurs actifs et, d'autre part, soit à la prise de terre des masses d'installation, soit à une prise de terre distincte, doivent pouvoir supporter l'ensemble des courants susceptibles de traverser le limiteur.</a:t>
            </a:r>
          </a:p>
          <a:p>
            <a:pPr>
              <a:defRPr sz="1600"/>
            </a:pPr>
            <a:r>
              <a:t>La section de ces conducteurs est déterminée conformément aux indications données pour la section des conducteurs de protection (voir 543.</a:t>
            </a:r>
          </a:p>
          <a:p>
            <a:pPr>
              <a:defRPr sz="1600"/>
            </a:pPr>
            <a:r>
              <a:t>1).</a:t>
            </a:r>
          </a:p>
          <a:p>
            <a:pPr>
              <a:defRPr sz="1600"/>
            </a:pPr>
            <a:r>
              <a:t>La borne d'entrée des limiteurs de surtensions doit être reliée au conducteur actif approprié de l'installation entre la borne de sortie du transformateur et tout dispositif de coupure.</a:t>
            </a:r>
          </a:p>
          <a:p>
            <a:pPr>
              <a:defRPr sz="1600"/>
            </a:pPr>
            <a:r>
              <a:t>Lorsqu'une installation est alimentée par plusieurs transformateurs fonctionnant en parallèle, un limiteur de surtension doit être prévu pour chaque transformateur.</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534.2.5 Liaisons à la terre</a:t>
            </a:r>
          </a:p>
        </p:txBody>
      </p:sp>
      <p:sp>
        <p:nvSpPr>
          <p:cNvPr id="3" name="Content Placeholder 2"/>
          <p:cNvSpPr>
            <a:spLocks noGrp="1"/>
          </p:cNvSpPr>
          <p:nvPr>
            <p:ph idx="1"/>
          </p:nvPr>
        </p:nvSpPr>
        <p:spPr/>
        <p:txBody>
          <a:bodyPr/>
          <a:lstStyle/>
          <a:p>
            <a:pPr>
              <a:defRPr sz="1600"/>
            </a:pPr>
            <a:r>
              <a:t>La borne de terre des limiteurs de surtension doit être reliée :  a) soit à la prise de terre des masses de l'installation ;  b) soit à une prise de terre distincte présentant une résistance RB satisfaisant la condition de  442.</a:t>
            </a:r>
          </a:p>
          <a:p>
            <a:pPr>
              <a:defRPr sz="1600"/>
            </a:pPr>
            <a:r>
              <a:t>2.</a:t>
            </a:r>
          </a:p>
          <a:p>
            <a:pPr>
              <a:defRPr sz="1600"/>
            </a:pPr>
            <a:r>
              <a:t>6.</a:t>
            </a:r>
          </a:p>
          <a:p>
            <a:pPr>
              <a:defRPr sz="1600"/>
            </a:pPr>
            <a:r>
              <a:t>1.</a:t>
            </a:r>
          </a:p>
          <a:p>
            <a:pPr>
              <a:defRPr sz="1600"/>
            </a:pPr>
            <a:r>
              <a:t>Les dispositions de ce sous-paragraphe sont destinées à éviter dangereuses.</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534.3 Dispositifs de protection contre les effets des baisses de tension</a:t>
            </a:r>
          </a:p>
        </p:txBody>
      </p:sp>
      <p:sp>
        <p:nvSpPr>
          <p:cNvPr id="3" name="Content Placeholder 2"/>
          <p:cNvSpPr>
            <a:spLocks noGrp="1"/>
          </p:cNvSpPr>
          <p:nvPr>
            <p:ph idx="1"/>
          </p:nvPr>
        </p:nvSpPr>
        <p:spPr/>
        <p:txBody>
          <a:bodyPr/>
          <a:lstStyle/>
          <a:p>
            <a:pPr>
              <a:defRPr sz="1600"/>
            </a:pPr>
            <a:r>
              <a:t>Les dispositifs de protection doivent permettre le démarrage des moteurs lorsque la tension n'est pas inférieure à 85 % de la tension nominale et intervenir sans défaillance lorsque la tension est inférieure à environ 80 % de la tension nominale à la fréquence nominale et avec temporisation si nécessaire.</a:t>
            </a:r>
          </a:p>
          <a:p>
            <a:pPr>
              <a:defRPr sz="1600"/>
            </a:pPr>
            <a:r>
              <a:t>Les dispositifs de protection contre les baisses de tension sont choisis parmi les suivants :  -  -  relais à baisse de tension agissant sur un interrupteur ou un disjoncteur ;  contacteurs comportant un contact d'auto-alimentation (dits «3 fils»).</a:t>
            </a:r>
          </a:p>
          <a:p>
            <a:pPr>
              <a:defRPr sz="1600"/>
            </a:pPr>
            <a:r>
              <a:t>le les baisses de Les dispositifs de protection contre fonctionnement de l'appareil qu'il protège admet sans inconvénient une interruption ou une baisse de tension de courte durée, 2 secondes par exemple.</a:t>
            </a:r>
          </a:p>
          <a:p>
            <a:pPr>
              <a:defRPr sz="1600"/>
            </a:pPr>
            <a:r>
              <a:t>tension peuvent être retardés si  S'il est fait usage de contacteurs, l'ouverture retardée et la refermeture ne doivent en aucun cas empêcher la coupure instantanée par des dispositifs de commande ou de protection.</a:t>
            </a:r>
          </a:p>
          <a:p>
            <a:pPr>
              <a:defRPr sz="1600"/>
            </a:pPr>
            <a:r>
              <a:t>535 Coordination entre les différents dispositifs de protection.</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535.1 Sélectivité entre dispositifs de protection contre les surintensités</a:t>
            </a:r>
          </a:p>
        </p:txBody>
      </p:sp>
      <p:sp>
        <p:nvSpPr>
          <p:cNvPr id="3" name="Content Placeholder 2"/>
          <p:cNvSpPr>
            <a:spLocks noGrp="1"/>
          </p:cNvSpPr>
          <p:nvPr>
            <p:ph idx="1"/>
          </p:nvPr>
        </p:nvSpPr>
        <p:spPr/>
        <p:txBody>
          <a:bodyPr/>
          <a:lstStyle/>
          <a:p>
            <a:pPr>
              <a:defRPr sz="1600"/>
            </a:pPr>
            <a:r>
              <a:t>La sélectivité entre dispositifs de protection contre les surintensités est la coordination entre les caractéristiques de fonctionnement de plusieurs dispositifs de protection à maximum de courant de   telle façon qu'à l'apparition de surintensités comprises dans des limites données, le dispositif prévu pour fonctionner entre ces limites fonctionne, tandis que (le ou les) autres ne fonctionne(nt) pas.</a:t>
            </a:r>
          </a:p>
          <a:p>
            <a:pPr>
              <a:defRPr sz="1600"/>
            </a:pPr>
            <a:r>
              <a:t>Différents types de sélectivités sont possibles :  - Sélectivité partielle : Sélectivité lors d’une surintensité dans laquelle, en présence de deux dispositifs de protection à maximum de courant placés en série, le dispositif de protection aval assure la protection jusqu’à un niveau donné de surintensité sans provoquer le fonctionnement de l’autre dispositif de protection ;  - Sélectivité totale : Sélectivité lors d’une surintensité dans laquelle, en présence de deux dispositifs de protection à maximum de courant placés en série, le dispositif de protection aval assure la protection sans provoquer le fonctionnement de l’autre appareil de protection.</a:t>
            </a:r>
          </a:p>
          <a:p>
            <a:pPr>
              <a:defRPr sz="1600"/>
            </a:pPr>
            <a:r>
              <a:t>Différents moyens sont utilisés pour réaliser les 2 types de sélectivités dans le cas où les dispositifs de protection sont des disjoncteurs :  - Sélectivité ampèremétrique : Elle repose sur un décalage en intensité des courbes de protection  temps/courant ;  - Sélectivité chronométrique : Elle repose sur un décalage temporel des courbes de protection  temps/courant ;  - Sélectivité énergétique : Elle repose sur la capacité de l’appareil de protection aval à limiter le  inférieure à celle nécessaire pour provoquer  traversant à une valeur  le  l’énergie déclenchement de l’appareil amont.</a:t>
            </a:r>
          </a:p>
          <a:p>
            <a:pPr>
              <a:defRPr sz="1600"/>
            </a:pPr>
            <a:r>
              <a:t>Figure 535A –Types de sélectivité  Lorsque plusieurs dispositifs de protection sont placés en série et lorsque la sécurité ou les nécessités de l'exploitation le justifient, leurs caractéristiques de fonctionnement doivent être choisies de façon à n'éliminer que la partie d'installation dans laquelle se trouve le défaut.</a:t>
            </a:r>
          </a:p>
          <a:p>
            <a:pPr>
              <a:defRPr sz="1600"/>
            </a:pPr>
            <a:r>
              <a:t>En pratique, la sélectivité entre deux fusibles du type gG peut être considérée comme assurée si le rapport de leurs courants assignés est au moins égal à 2,5.</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535.2 Protection d’accompagnement entre dispositifs de protection contre les surintensités</a:t>
            </a:r>
          </a:p>
        </p:txBody>
      </p:sp>
      <p:sp>
        <p:nvSpPr>
          <p:cNvPr id="3" name="Content Placeholder 2"/>
          <p:cNvSpPr>
            <a:spLocks noGrp="1"/>
          </p:cNvSpPr>
          <p:nvPr>
            <p:ph idx="1"/>
          </p:nvPr>
        </p:nvSpPr>
        <p:spPr/>
        <p:txBody>
          <a:bodyPr/>
          <a:lstStyle/>
          <a:p>
            <a:pPr>
              <a:defRPr sz="1600"/>
            </a:pPr>
            <a:r>
              <a:t>Une protection d'accompagnement de deux dispositifs de protection à maximum de courant est une protection contre les surintensités, dans laquelle le dispositif de protection, qui est généralement, mais pas nécessairement, situé côté source, effectue la protection contre les surintensités avec ou sans l'aide de l'autre dispositif de protection et empêche toute contrainte excessive sur celui-ci (voir 434.</a:t>
            </a:r>
          </a:p>
          <a:p>
            <a:pPr>
              <a:defRPr sz="1600"/>
            </a:pPr>
            <a:r>
              <a:t>5.</a:t>
            </a:r>
          </a:p>
          <a:p>
            <a:pPr>
              <a:defRPr sz="1600"/>
            </a:pPr>
            <a:r>
              <a:t>1).</a:t>
            </a:r>
          </a:p>
          <a:p>
            <a:pPr>
              <a:defRPr sz="1600"/>
            </a:pPr>
            <a:r>
              <a:t>Lorsque plusieurs dispositifs de protection sont placés en série, ils peuvent être coordonnés de façon qu’en cas de court-circuit en aval, le dispositif de protection amont agisse pour limiter l’énergie traversant les dispositifs situés en aval à une valeur inférieure à celle que peuvent suppo rter les dispositifs avals et les canalisations protégées par ces dispositifs en accord avec 434- 3.</a:t>
            </a:r>
          </a:p>
          <a:p>
            <a:pPr>
              <a:defRPr sz="1600"/>
            </a:pPr>
            <a:r>
              <a:t>Lorsque le dispositif de protection en aval est un disjoncteur et le dispositif de protection amont est un fusible ou un disjoncteur, cette technique permet au disjoncteur aval d’avoir un pouvoir de coupure ultime Icu renforcé.</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535.3 Association entre les dispositifs de protection à courant différentiel-résiduel et les</a:t>
            </a:r>
          </a:p>
        </p:txBody>
      </p:sp>
      <p:sp>
        <p:nvSpPr>
          <p:cNvPr id="3" name="Content Placeholder 2"/>
          <p:cNvSpPr>
            <a:spLocks noGrp="1"/>
          </p:cNvSpPr>
          <p:nvPr>
            <p:ph idx="1"/>
          </p:nvPr>
        </p:nvSpPr>
        <p:spPr/>
        <p:txBody>
          <a:bodyPr/>
          <a:lstStyle/>
          <a:p>
            <a:pPr>
              <a:defRPr sz="1600"/>
            </a:pPr>
            <a:r>
              <a:t>dispositifs de protection contre les surintensités  C.</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535.3.1 Lorsqu'un dispositif de protection à courant différentiel-résiduel est incorporé ou combiné</a:t>
            </a:r>
          </a:p>
        </p:txBody>
      </p:sp>
      <p:sp>
        <p:nvSpPr>
          <p:cNvPr id="3" name="Content Placeholder 2"/>
          <p:cNvSpPr>
            <a:spLocks noGrp="1"/>
          </p:cNvSpPr>
          <p:nvPr>
            <p:ph idx="1"/>
          </p:nvPr>
        </p:nvSpPr>
        <p:spPr/>
        <p:txBody>
          <a:bodyPr/>
          <a:lstStyle/>
          <a:p>
            <a:pPr>
              <a:defRPr sz="1600"/>
            </a:pPr>
            <a:r>
              <a:t>avec un dispositif de protection contre les surintensités, les caractéristiques de l'ensemble du dispositif (pouvoir de coupure, caractéristiques de fonctionnement en fonction du courant assigné) doivent satisfaire aux règles en 433 et 434 et en 533.</a:t>
            </a:r>
          </a:p>
          <a:p>
            <a:pPr>
              <a:defRPr sz="1600"/>
            </a:pPr>
            <a:r>
              <a:t>2 et 533.</a:t>
            </a:r>
          </a:p>
          <a:p>
            <a:pPr>
              <a:defRPr sz="1600"/>
            </a:pPr>
            <a:r>
              <a:t>3.</a:t>
            </a:r>
          </a:p>
          <a:p>
            <a:pPr>
              <a:defRPr sz="1600"/>
            </a:pPr>
            <a:r>
              <a:t>- 253 -   C.</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535.3.2 Lorsqu'un dispositif de protection à courant différentiel-résiduel n'est ni incorporé ni</a:t>
            </a:r>
          </a:p>
        </p:txBody>
      </p:sp>
      <p:sp>
        <p:nvSpPr>
          <p:cNvPr id="3" name="Content Placeholder 2"/>
          <p:cNvSpPr>
            <a:spLocks noGrp="1"/>
          </p:cNvSpPr>
          <p:nvPr>
            <p:ph idx="1"/>
          </p:nvPr>
        </p:nvSpPr>
        <p:spPr/>
        <p:txBody>
          <a:bodyPr/>
          <a:lstStyle/>
          <a:p>
            <a:pPr>
              <a:defRPr sz="1600"/>
            </a:pPr>
            <a:r>
              <a:t>combiné avec un dispositif de protection contre les surintensités (interrupteur différentiel) :  -  Le courant assigné d’un tel dispositif lorsqu’il est placé en amont de plusieurs circuits doit être : • soit supérieur ou égal à la somme des courants assignés des dispositifs de protection  placés en aval ou au courant d’emploi calculé par le concepteur ;  • soit supérieur ou égal au courant assigné du dispositif de protection situé directement en  amont.</a:t>
            </a:r>
          </a:p>
          <a:p>
            <a:pPr>
              <a:defRPr sz="1600"/>
            </a:pPr>
            <a:r>
              <a:t>Dans le cas particulier des installations des locaux d’habitation, voir tableau 771D.</a:t>
            </a:r>
          </a:p>
          <a:p>
            <a:pPr>
              <a:defRPr sz="1600"/>
            </a:pPr>
            <a:r>
              <a:t>-  Le dispositif doit pouvoir supporter sans dommage les contraintes thermiques et mécaniques qu'il est susceptible de subir en cas de court-circuit se produisant en aval de l’endroit où il est installé, même si, par suite d'un déséquilibre de courant ou du courant s'écoulant à la terre, le dispositif s'ouvre de lui-même.</a:t>
            </a:r>
          </a:p>
          <a:p>
            <a:pPr>
              <a:defRPr sz="1600"/>
            </a:pPr>
            <a:r>
              <a:t>Les DDR qui ne sont ni incorporés ni combinés avec un dispositif de protection contre les surintensités, mais qui possèdent un organe de coupure, sont dénommés «interrupteurs différentiels».</a:t>
            </a:r>
          </a:p>
          <a:p>
            <a:pPr>
              <a:defRPr sz="1600"/>
            </a:pPr>
            <a:r>
              <a:t>En pratique, leur pouvoir de coupure est le plus souvent inférieur au courant de court-circuit présumé au point d'installation.</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535.4 Sélectivité entre les dispositifs de protection à courant différentiel-résiduel</a:t>
            </a:r>
          </a:p>
        </p:txBody>
      </p:sp>
      <p:sp>
        <p:nvSpPr>
          <p:cNvPr id="3" name="Content Placeholder 2"/>
          <p:cNvSpPr>
            <a:spLocks noGrp="1"/>
          </p:cNvSpPr>
          <p:nvPr>
            <p:ph idx="1"/>
          </p:nvPr>
        </p:nvSpPr>
        <p:spPr/>
        <p:txBody>
          <a:bodyPr/>
          <a:lstStyle/>
          <a:p>
            <a:pPr>
              <a:defRPr sz="1600"/>
            </a:pPr>
            <a:r>
              <a:t>Les schémas des figures 535C à 535F montrent les dispositions possibles en indiquant les avantages et inconvénients correspondants.</a:t>
            </a:r>
          </a:p>
          <a:p>
            <a:pPr>
              <a:defRPr sz="1600"/>
            </a:pPr>
            <a:r>
              <a:t>C.</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535.4.1 Lorsque plusieurs DDR sont prévus dans une même installation et si la sélectivité est</a:t>
            </a:r>
          </a:p>
        </p:txBody>
      </p:sp>
      <p:sp>
        <p:nvSpPr>
          <p:cNvPr id="3" name="Content Placeholder 2"/>
          <p:cNvSpPr>
            <a:spLocks noGrp="1"/>
          </p:cNvSpPr>
          <p:nvPr>
            <p:ph idx="1"/>
          </p:nvPr>
        </p:nvSpPr>
        <p:spPr/>
        <p:txBody>
          <a:bodyPr/>
          <a:lstStyle/>
          <a:p>
            <a:pPr>
              <a:defRPr sz="1600"/>
            </a:pPr>
            <a:r>
              <a:t>requise, ils peuvent être disposés selon l'une des méthodes suivantes :  a) soit les appareils sont placés en tête de chaque partie d'installation en subdivisant cette  dernière en autant de parties qu'il convient (535.</a:t>
            </a:r>
          </a:p>
          <a:p>
            <a:pPr>
              <a:defRPr sz="1600"/>
            </a:pPr>
            <a:r>
              <a:t>4.</a:t>
            </a:r>
          </a:p>
          <a:p>
            <a:pPr>
              <a:defRPr sz="1600"/>
            </a:pPr>
            <a:r>
              <a:t>2),  NOTE - La sélectivité globale de l’installation peut subdivisant les DDR protégeant les circuits divisionnaires et terminaux afin de limiter les conséquences d’un défaut à un minimum d’applications.</a:t>
            </a:r>
          </a:p>
          <a:p>
            <a:pPr>
              <a:defRPr sz="1600"/>
            </a:pPr>
            <a:r>
              <a:t>être améliorée par une bonne mise en pratique du 314.</a:t>
            </a:r>
          </a:p>
          <a:p>
            <a:pPr>
              <a:defRPr sz="1600"/>
            </a:pPr>
            <a:r>
              <a:t>1, c’est à dire en  b) soit les appareils sont placés en cascade.</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535.4.2 Sélection des circuits</a:t>
            </a:r>
          </a:p>
        </p:txBody>
      </p:sp>
      <p:sp>
        <p:nvSpPr>
          <p:cNvPr id="3" name="Content Placeholder 2"/>
          <p:cNvSpPr>
            <a:spLocks noGrp="1"/>
          </p:cNvSpPr>
          <p:nvPr>
            <p:ph idx="1"/>
          </p:nvPr>
        </p:nvSpPr>
        <p:spPr/>
        <p:txBody>
          <a:bodyPr/>
          <a:lstStyle/>
          <a:p>
            <a:pPr>
              <a:defRPr sz="1600"/>
            </a:pPr>
            <a:r>
              <a:t>Dans ce cas, l'installation ne comporte à son origine aucun DDR mais tous les départs doivent être protégés (individuellement ou par groupes) par des DDR à moyenne ou à haute sensibilité suivant les risques considérés.</a:t>
            </a:r>
          </a:p>
          <a:p>
            <a:pPr>
              <a:defRPr sz="1600"/>
            </a:pPr>
            <a:r>
              <a:t>En cas de défaut, seul le dispositif protégeant le départ correspondant fonctionne.</a:t>
            </a:r>
          </a:p>
          <a:p>
            <a:pPr>
              <a:defRPr sz="1600"/>
            </a:pPr>
            <a:r>
              <a:t>Ce schéma n'est admis que si des moyens appropriés sont mis en œuvre pour se prémunir contre les défauts à la masse dans la partie d'installation comprise entre le disjoncteur général et les dispositifs différentiels.</a:t>
            </a:r>
          </a:p>
          <a:p>
            <a:pPr>
              <a:defRPr sz="1600"/>
            </a:pPr>
            <a:r>
              <a:t>Ces moyens appropriés peuvent résulter de l'emploi de matériels de la classe II ou de l'application de la mesure de protection «p ar isolation supplémentaire» contre les contacts indirects (voir   412).</a:t>
            </a:r>
          </a:p>
          <a:p>
            <a:pPr>
              <a:defRPr sz="1600"/>
            </a:pPr>
            <a:r>
              <a:t>- 254 -   Figure 535C – Dispositifs en tête de chaque partie de l'installation.</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535.4.3 Sélectivité entre dispositifs de protection à courant différentiel-résiduel</a:t>
            </a:r>
          </a:p>
        </p:txBody>
      </p:sp>
      <p:sp>
        <p:nvSpPr>
          <p:cNvPr id="3" name="Content Placeholder 2"/>
          <p:cNvSpPr>
            <a:spLocks noGrp="1"/>
          </p:cNvSpPr>
          <p:nvPr>
            <p:ph idx="1"/>
          </p:nvPr>
        </p:nvSpPr>
        <p:spPr/>
        <p:txBody>
          <a:bodyPr/>
          <a:lstStyle/>
          <a:p>
            <a:pPr>
              <a:defRPr sz="1600"/>
            </a:pPr>
            <a:r>
              <a:t>La sélectivité entre dispositifs de protection à courant différentiel-résiduel peut être totale ou partielle.</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535.4.3.1 Sélectivité totale</a:t>
            </a:r>
          </a:p>
        </p:txBody>
      </p:sp>
      <p:sp>
        <p:nvSpPr>
          <p:cNvPr id="3" name="Content Placeholder 2"/>
          <p:cNvSpPr>
            <a:spLocks noGrp="1"/>
          </p:cNvSpPr>
          <p:nvPr>
            <p:ph idx="1"/>
          </p:nvPr>
        </p:nvSpPr>
        <p:spPr/>
        <p:txBody>
          <a:bodyPr/>
          <a:lstStyle/>
          <a:p>
            <a:pPr>
              <a:defRPr sz="1600"/>
            </a:pPr>
            <a:r>
              <a:t>Une sélectivité totale entre dispositifs de protection à courant différentiel-résiduel disposés en série peut être prescrite pour des raisons de sécurité ou d'exploitation, de façon à maintenir l'alimentation des parties de l'installation non affectées par le défaut éventuel.</a:t>
            </a:r>
          </a:p>
          <a:p>
            <a:pPr>
              <a:defRPr sz="1600"/>
            </a:pPr>
            <a:r>
              <a:t>Cette sélectivité peut être obtenue par le choix et la mise en œuvre des dispositifs de protection à courant différentiel-résiduel qui, tout en assurant la protection requise aux différentes parties de l'installation, interrompent seulement l'alimentation des parties de l'installation en aval du dispositif installé en amont de l'emplacement du défaut et proche de celui-ci.</a:t>
            </a:r>
          </a:p>
          <a:p>
            <a:pPr>
              <a:defRPr sz="1600"/>
            </a:pPr>
            <a:r>
              <a:t>Pour assurer la sélectivité totale de deux dispositifs de protection à courant différentiel-résiduel en série, la caractéristique de non fonctionnement temps/courant du dispositif placé en amont doit se trouver au-dessus de la caractéristique de fonctionnement temps/courant du dispositif placé en aval.</a:t>
            </a:r>
          </a:p>
          <a:p>
            <a:pPr>
              <a:defRPr sz="1600"/>
            </a:pPr>
            <a:r>
              <a:t>Cela se traduit par :  a) le courant différentiel-résiduel de fonctionnement assigné du dispositif placé en amont doit être  supérieur à celui du dispositif placé en aval,  b) le temps de fonctionnement du dispositif placé en amont doit être supérieur à celui du dispositif  placé en aval pour toutes les valeurs de courant de défaut.</a:t>
            </a:r>
          </a:p>
          <a:p>
            <a:pPr>
              <a:defRPr sz="1600"/>
            </a:pPr>
            <a:r>
              <a:t>La sélectivité totale peut être réalisée en utilisant, par exemple, un dispositif retardé pour celui placé en amont, et dont le courant différentiel-résiduel assigné est au moins égal à 3 fois celui du dispositif placé en aval.</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535.4.3.2 Sélectivité partielle</a:t>
            </a:r>
          </a:p>
        </p:txBody>
      </p:sp>
      <p:sp>
        <p:nvSpPr>
          <p:cNvPr id="3" name="Content Placeholder 2"/>
          <p:cNvSpPr>
            <a:spLocks noGrp="1"/>
          </p:cNvSpPr>
          <p:nvPr>
            <p:ph idx="1"/>
          </p:nvPr>
        </p:nvSpPr>
        <p:spPr/>
        <p:txBody>
          <a:bodyPr/>
          <a:lstStyle/>
          <a:p>
            <a:pPr>
              <a:defRPr sz="1600"/>
            </a:pPr>
            <a:r>
              <a:t>Si l'une des conditions a et b en 535.</a:t>
            </a:r>
          </a:p>
          <a:p>
            <a:pPr>
              <a:defRPr sz="1600"/>
            </a:pPr>
            <a:r>
              <a:t>4.</a:t>
            </a:r>
          </a:p>
          <a:p>
            <a:pPr>
              <a:defRPr sz="1600"/>
            </a:pPr>
            <a:r>
              <a:t>3.</a:t>
            </a:r>
          </a:p>
          <a:p>
            <a:pPr>
              <a:defRPr sz="1600"/>
            </a:pPr>
            <a:r>
              <a:t>1 (sélectivité totale) n'est pas partielle.</a:t>
            </a:r>
          </a:p>
          <a:p>
            <a:pPr>
              <a:defRPr sz="1600"/>
            </a:pPr>
            <a:r>
              <a:t>satisfaite, la sélectivité est  Une sélectivité entre deux dispositifs non temporisés, l’un à moyenne sensibilité et l’autre à haute sensibilité (par exemple 500 mA ou 300 mA et 30 mA) est presque nulle, les courants de défaut suffisant à faire déclencher le dispositif en amont.</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536.1 Généralités</a:t>
            </a:r>
          </a:p>
        </p:txBody>
      </p:sp>
      <p:sp>
        <p:nvSpPr>
          <p:cNvPr id="3" name="Content Placeholder 2"/>
          <p:cNvSpPr>
            <a:spLocks noGrp="1"/>
          </p:cNvSpPr>
          <p:nvPr>
            <p:ph idx="1"/>
          </p:nvPr>
        </p:nvSpPr>
        <p:spPr/>
        <p:txBody>
          <a:bodyPr/>
          <a:lstStyle/>
          <a:p>
            <a:pPr>
              <a:defRPr sz="1600"/>
            </a:pPr>
            <a:r>
              <a:t>Tout dispositif de sectionnement ou de commande doit   satisfaire aux règles de la partie 4-46.</a:t>
            </a:r>
          </a:p>
          <a:p>
            <a:pPr>
              <a:defRPr sz="1600"/>
            </a:pPr>
            <a:r>
              <a:t>Pour l'application des règles énoncées en 511.</a:t>
            </a:r>
          </a:p>
          <a:p>
            <a:pPr>
              <a:defRPr sz="1600"/>
            </a:pPr>
            <a:r>
              <a:t>1, les normes à considérer sont tableau 53E.</a:t>
            </a:r>
          </a:p>
          <a:p>
            <a:pPr>
              <a:defRPr sz="1600"/>
            </a:pPr>
            <a:r>
              <a:t>indiquées dans le  L'attention est appelée sur le fait que pour certaines applications, telles que la commande des moteurs, les dispositifs de commande doivent pouvoir supporter les courants de démarrage.</a:t>
            </a:r>
          </a:p>
          <a:p>
            <a:pPr>
              <a:defRPr sz="1600"/>
            </a:pPr>
            <a:r>
              <a:t>Les dispositifs de protection ou de commande peuvent assurer la fonction de sectionnement sous réserve qu'ils répondent aux conditions énoncées en 536.</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 Dispositifs de sectionnement</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536.2.1 Les dispositifs de sectionnement doivent couper effectivement tous les conducteurs actifs</a:t>
            </a:r>
          </a:p>
        </p:txBody>
      </p:sp>
      <p:sp>
        <p:nvSpPr>
          <p:cNvPr id="3" name="Content Placeholder 2"/>
          <p:cNvSpPr>
            <a:spLocks noGrp="1"/>
          </p:cNvSpPr>
          <p:nvPr>
            <p:ph idx="1"/>
          </p:nvPr>
        </p:nvSpPr>
        <p:spPr/>
        <p:txBody>
          <a:bodyPr/>
          <a:lstStyle/>
          <a:p>
            <a:pPr>
              <a:defRPr sz="1600"/>
            </a:pPr>
            <a:r>
              <a:t>d'alimentation du circuit considéré en tenant compte des dispositions en 461.</a:t>
            </a:r>
          </a:p>
          <a:p>
            <a:pPr>
              <a:defRPr sz="1600"/>
            </a:pPr>
            <a:r>
              <a:t>2.</a:t>
            </a:r>
          </a:p>
          <a:p>
            <a:pPr>
              <a:defRPr sz="1600"/>
            </a:pPr>
            <a:r>
              <a:t>Les matériels utilisés pour 536.</a:t>
            </a:r>
          </a:p>
          <a:p>
            <a:pPr>
              <a:defRPr sz="1600"/>
            </a:pPr>
            <a:r>
              <a:t>2.</a:t>
            </a:r>
          </a:p>
          <a:p>
            <a:pPr>
              <a:defRPr sz="1600"/>
            </a:pPr>
            <a:r>
              <a:t>5.</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536.2.1.1 Les dispositifs de sectionnement doivent satisfaire aux deux conditions suivantes :</a:t>
            </a:r>
          </a:p>
        </p:txBody>
      </p:sp>
      <p:sp>
        <p:nvSpPr>
          <p:cNvPr id="3" name="Content Placeholder 2"/>
          <p:cNvSpPr>
            <a:spLocks noGrp="1"/>
          </p:cNvSpPr>
          <p:nvPr>
            <p:ph idx="1"/>
          </p:nvPr>
        </p:nvSpPr>
        <p:spPr/>
        <p:txBody>
          <a:bodyPr/>
          <a:lstStyle/>
          <a:p>
            <a:pPr>
              <a:defRPr sz="1600"/>
            </a:pPr>
            <a:r>
              <a:t>C  a) supporter à l'état neuf et dans des conditions propres et sèches, en position ouverte, entre les bornes de chaque pôle, une tension de choc dont la valeur est donnée dans le tableau 53E en fonction de la tension nominale de l'installation.</a:t>
            </a:r>
          </a:p>
          <a:p>
            <a:pPr>
              <a:defRPr sz="1600"/>
            </a:pPr>
            <a:r>
              <a:t>- 258 -   C  Tableau 53F – Tension de tenue aux chocs pour les dispositifs de sectionnement  Tension nominale de l'installation  Tension de tenue aux chocs pour les dispositifs de sectionnement  (V)  230/400  400/690  1 000  (kV)  5  8  10  Les tensions de tenue aux chocs du tableau 53F sont égales à 1,25 fois celles correspondant à la catégorie de surtensions des circuits de distribution et terminaux (catégorie ///),   telles qu'elles sont fixées dans le tableau 44 B de 443.</a:t>
            </a:r>
          </a:p>
          <a:p>
            <a:pPr>
              <a:defRPr sz="1600"/>
            </a:pPr>
            <a:r>
              <a:t>Les valeurs du tableau 53F sont valables aussi bien pour le courant alternatif que pour le courant continu.</a:t>
            </a:r>
          </a:p>
          <a:p>
            <a:pPr>
              <a:defRPr sz="1600"/>
            </a:pPr>
            <a:r>
              <a:t>En pratique, les essais de tenue aux chocs ne sont pas effectués si les distances minimales d'ouverture des contacts suivantes sont respectées :  -  pour les appareils à simple coupure : • 4 mm pour la tension nominale 230/400 V ; • 8 mm pour la tension nominale 400/690 V ; • 11 mm pour la tension nominale 1 000 V.</a:t>
            </a:r>
          </a:p>
          <a:p>
            <a:pPr>
              <a:defRPr sz="1600"/>
            </a:pPr>
            <a:r>
              <a:t>-  pour les appareils à double coupure, la somme des distances d'ouverture des contacts doit être au moins égale à 1,25 fois la valeur ci-dessus.</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536.2.1.2 La distance d'ouverture entre les contacts du dispositif doit être visible ou être clairement</a:t>
            </a:r>
          </a:p>
        </p:txBody>
      </p:sp>
      <p:sp>
        <p:nvSpPr>
          <p:cNvPr id="3" name="Content Placeholder 2"/>
          <p:cNvSpPr>
            <a:spLocks noGrp="1"/>
          </p:cNvSpPr>
          <p:nvPr>
            <p:ph idx="1"/>
          </p:nvPr>
        </p:nvSpPr>
        <p:spPr/>
        <p:txBody>
          <a:bodyPr/>
          <a:lstStyle/>
          <a:p>
            <a:pPr>
              <a:defRPr sz="1600"/>
            </a:pPr>
            <a:r>
              <a:t>et sûrement indiquée correspondant à la position « Arrêt » ou « Ouvert ».</a:t>
            </a:r>
          </a:p>
          <a:p>
            <a:pPr>
              <a:defRPr sz="1600"/>
            </a:pPr>
            <a:r>
              <a:t>Une telle indication doit apparaître seulement lorsque la distance entre les contacts d'ouverture a été atteinte sur chaque pôle du dispositif.</a:t>
            </a:r>
          </a:p>
          <a:p>
            <a:pPr>
              <a:defRPr sz="1600"/>
            </a:pPr>
            <a:r>
              <a:t>NOTE - Le marquage prescrit dans ce paragraphe peut être réalisé par l'utilisation des symboles graphiques « O » et « I » indiquant respectivement les positions «Ouvert» et «Fermé» lorsque l'utilisation de ces symboles est admise par la norme correspondante du matériel.</a:t>
            </a:r>
          </a:p>
          <a:p>
            <a:pPr>
              <a:defRPr sz="1600"/>
            </a:pPr>
            <a:r>
              <a:t>La visibilité ou l'indication claire et sûre de la position des contacts correspond à la prescription concernant la coupure pleinement apparente prescrite dans certains textes.</a:t>
            </a:r>
          </a:p>
          <a:p>
            <a:pPr>
              <a:defRPr sz="1600"/>
            </a:pPr>
            <a:r>
              <a:t>Les interrupteurs et disjoncteurs pour usage domestique conformes à leurs normes, sont admis comme aptes à la fonction sectionnement.</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536.2.1.3 Les dispositifs à semiconducteurs ne doivent pas être utilisés comme dispositifs de</a:t>
            </a:r>
          </a:p>
        </p:txBody>
      </p:sp>
      <p:sp>
        <p:nvSpPr>
          <p:cNvPr id="3" name="Content Placeholder 2"/>
          <p:cNvSpPr>
            <a:spLocks noGrp="1"/>
          </p:cNvSpPr>
          <p:nvPr>
            <p:ph idx="1"/>
          </p:nvPr>
        </p:nvSpPr>
        <p:spPr/>
        <p:txBody>
          <a:bodyPr/>
          <a:lstStyle/>
          <a:p>
            <a:pPr>
              <a:defRPr sz="1600"/>
            </a:pPr>
            <a:r>
              <a:t>sectionnement.</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536.2.2 Les dispositifs de sectionnement doivent être conçus ou installés de façon à empêcher</a:t>
            </a:r>
          </a:p>
        </p:txBody>
      </p:sp>
      <p:sp>
        <p:nvSpPr>
          <p:cNvPr id="3" name="Content Placeholder 2"/>
          <p:cNvSpPr>
            <a:spLocks noGrp="1"/>
          </p:cNvSpPr>
          <p:nvPr>
            <p:ph idx="1"/>
          </p:nvPr>
        </p:nvSpPr>
        <p:spPr/>
        <p:txBody>
          <a:bodyPr/>
          <a:lstStyle/>
          <a:p>
            <a:pPr>
              <a:defRPr sz="1600"/>
            </a:pPr>
            <a:r>
              <a:t>toute fermeture intempestive.</a:t>
            </a:r>
          </a:p>
          <a:p>
            <a:pPr>
              <a:defRPr sz="1600"/>
            </a:pPr>
            <a:r>
              <a:t>NOTE - Une telle fermeture pourrait être provoquée, par exemple, par des chocs ou des vibrations ou par des manœuvres intempestives.</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536.2.3 Des dispositions doivent être prises pour protéger les dispositifs de sectionnement contre</a:t>
            </a:r>
          </a:p>
        </p:txBody>
      </p:sp>
      <p:sp>
        <p:nvSpPr>
          <p:cNvPr id="3" name="Content Placeholder 2"/>
          <p:cNvSpPr>
            <a:spLocks noGrp="1"/>
          </p:cNvSpPr>
          <p:nvPr>
            <p:ph idx="1"/>
          </p:nvPr>
        </p:nvSpPr>
        <p:spPr/>
        <p:txBody>
          <a:bodyPr/>
          <a:lstStyle/>
          <a:p>
            <a:pPr>
              <a:defRPr sz="1600"/>
            </a:pPr>
            <a:r>
              <a:t>une ouverture en charge accidentelle ou non autorisée.</a:t>
            </a:r>
          </a:p>
          <a:p>
            <a:pPr>
              <a:defRPr sz="1600"/>
            </a:pPr>
            <a:r>
              <a:t>NOTE - Cela peut être obtenu en plaçant l'appareil dans un emplacement ou une enveloppe fermant à clé ou en le condamnant.</a:t>
            </a:r>
          </a:p>
          <a:p>
            <a:pPr>
              <a:defRPr sz="1600"/>
            </a:pPr>
            <a:r>
              <a:t>Une autre solution peut consister à asservir le dispositif hors charge avec un appareil de manœuvre en charge (ouverture ou fermeture).</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536.2.4 Les moyens de sectionnement doivent de préférence être assurés par un appareil de</a:t>
            </a:r>
          </a:p>
        </p:txBody>
      </p:sp>
      <p:sp>
        <p:nvSpPr>
          <p:cNvPr id="3" name="Content Placeholder 2"/>
          <p:cNvSpPr>
            <a:spLocks noGrp="1"/>
          </p:cNvSpPr>
          <p:nvPr>
            <p:ph idx="1"/>
          </p:nvPr>
        </p:nvSpPr>
        <p:spPr/>
        <p:txBody>
          <a:bodyPr/>
          <a:lstStyle/>
          <a:p>
            <a:pPr>
              <a:defRPr sz="1600"/>
            </a:pPr>
            <a:r>
              <a:t>coupure multipolaire coupant tous les pôles de l'alimentation correspondante.</a:t>
            </a:r>
          </a:p>
          <a:p>
            <a:pPr>
              <a:defRPr sz="1600"/>
            </a:pPr>
            <a:r>
              <a:t>NOTE - Le sectionnement d'un circuit peut être assuré par exemple au moyen de :  sectionneurs, interrupteurs-sectionneurs ;  - - disjoncteurs reconnus aptes au sectionnement par leur norme ; - prises de courant ; - éléments de remplacement de fusibles ; - barrettes ; - bornes spécialement conçues n'exigeant pas le déplacement d'un conducteur ; - ACP reconnus aptes au sectionnement par leur norme.</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536.2.5 Les dispositifs utilisés pour le sectionnement doivent être clairement identifiés, par exemple</a:t>
            </a:r>
          </a:p>
        </p:txBody>
      </p:sp>
      <p:sp>
        <p:nvSpPr>
          <p:cNvPr id="3" name="Content Placeholder 2"/>
          <p:cNvSpPr>
            <a:spLocks noGrp="1"/>
          </p:cNvSpPr>
          <p:nvPr>
            <p:ph idx="1"/>
          </p:nvPr>
        </p:nvSpPr>
        <p:spPr/>
        <p:txBody>
          <a:bodyPr/>
          <a:lstStyle/>
          <a:p>
            <a:pPr>
              <a:defRPr sz="1600"/>
            </a:pPr>
            <a:r>
              <a:t>par marquage, pour indiquer le circuit qu'ils sectionnent.</a:t>
            </a:r>
          </a:p>
          <a:p>
            <a:pPr>
              <a:defRPr sz="1600"/>
            </a:pPr>
            <a:r>
              <a:t>Les dispositifs de sectionnement unipolaires de chaque circuit sont séparés des dispositifs de sectionnement d'autres circuits par un espace suffisant pour éviter toute erreur.</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536.3 Dispositifs de coupure d'urgence</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536.3.1 Les dispositifs assurant la coupure d'urgence doivent pouvoir couper le courant de pleine</a:t>
            </a:r>
          </a:p>
        </p:txBody>
      </p:sp>
      <p:sp>
        <p:nvSpPr>
          <p:cNvPr id="3" name="Content Placeholder 2"/>
          <p:cNvSpPr>
            <a:spLocks noGrp="1"/>
          </p:cNvSpPr>
          <p:nvPr>
            <p:ph idx="1"/>
          </p:nvPr>
        </p:nvSpPr>
        <p:spPr/>
        <p:txBody>
          <a:bodyPr/>
          <a:lstStyle/>
          <a:p>
            <a:pPr>
              <a:defRPr sz="1600"/>
            </a:pPr>
            <a:r>
              <a:t>charge de la partie correspondante de l'installation, en tenant compte, éventuellement, des courants de moteurs calés.</a:t>
            </a:r>
          </a:p>
          <a:p>
            <a:pPr>
              <a:defRPr sz="1600"/>
            </a:pPr>
            <a:r>
              <a:t>Pour les courants de rotor calé, il convient de tenir compte des risques de non démarrage des moteurs.</a:t>
            </a:r>
          </a:p>
          <a:p>
            <a:pPr>
              <a:defRPr sz="1600"/>
            </a:pPr>
            <a:r>
              <a:t>En pratique, il y a lieu de tenir compte du courant de démarrage du moteur le plus puissant en plus des courants de pleine charge des autres moteurs.</a:t>
            </a:r>
          </a:p>
          <a:p>
            <a:pPr>
              <a:defRPr sz="1600"/>
            </a:pPr>
            <a:r>
              <a:t>C.</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536.3.2 Les moyens de coupure d'urgence peuvent être constitués :</a:t>
            </a:r>
          </a:p>
        </p:txBody>
      </p:sp>
      <p:sp>
        <p:nvSpPr>
          <p:cNvPr id="3" name="Content Placeholder 2"/>
          <p:cNvSpPr>
            <a:spLocks noGrp="1"/>
          </p:cNvSpPr>
          <p:nvPr>
            <p:ph idx="1"/>
          </p:nvPr>
        </p:nvSpPr>
        <p:spPr/>
        <p:txBody>
          <a:bodyPr/>
          <a:lstStyle/>
          <a:p>
            <a:pPr>
              <a:defRPr sz="1600"/>
            </a:pPr>
            <a:r>
              <a:t>- soit d'un dispositif de coupure capable de couper directement l'alimentation appropriée ;  - soit d'une combinaison d'appareils mis en œuvre par une seule action pour la coupure de  l'alimentation appropriée.</a:t>
            </a:r>
          </a:p>
          <a:p>
            <a:pPr>
              <a:defRPr sz="1600"/>
            </a:pPr>
            <a:r>
              <a:t>- 260 -   C  Les prises de courant d’un calibre assigné supérieur à 32 A ne doivent pas être utilisées pour assurer la coupure d'urgence.</a:t>
            </a:r>
          </a:p>
          <a:p>
            <a:pPr>
              <a:defRPr sz="1600"/>
            </a:pPr>
            <a:r>
              <a:t>NOTE - La coupure d'urgence peut, par exemple, être réalisée au moyen de :  - interrupteurs dans le circuit principal ;  - boutons-poussoirs et analogues dans les circuits de commande.</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536.3.3 Les dispositifs de coupure d'urgence doivent assurer la coupure du circuit principal. Ils</a:t>
            </a:r>
          </a:p>
        </p:txBody>
      </p:sp>
      <p:sp>
        <p:nvSpPr>
          <p:cNvPr id="3" name="Content Placeholder 2"/>
          <p:cNvSpPr>
            <a:spLocks noGrp="1"/>
          </p:cNvSpPr>
          <p:nvPr>
            <p:ph idx="1"/>
          </p:nvPr>
        </p:nvSpPr>
        <p:spPr/>
        <p:txBody>
          <a:bodyPr/>
          <a:lstStyle/>
          <a:p>
            <a:pPr>
              <a:defRPr sz="1600"/>
            </a:pPr>
            <a:r>
              <a:t>peuvent être :  -  -  soit à commande manuelle directe ;  soit à commande électrique, tels que disjoncteurs, contacteurs, ACP ; dans ce cas, ils s'ouvrent par manque de tension ou par émission de courant.</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536.3.4 Les moyens de commande (poignées, boutons-poussoirs, etc.) des dispositifs de coupure</a:t>
            </a:r>
          </a:p>
        </p:txBody>
      </p:sp>
      <p:sp>
        <p:nvSpPr>
          <p:cNvPr id="3" name="Content Placeholder 2"/>
          <p:cNvSpPr>
            <a:spLocks noGrp="1"/>
          </p:cNvSpPr>
          <p:nvPr>
            <p:ph idx="1"/>
          </p:nvPr>
        </p:nvSpPr>
        <p:spPr/>
        <p:txBody>
          <a:bodyPr/>
          <a:lstStyle/>
          <a:p>
            <a:pPr>
              <a:defRPr sz="1600"/>
            </a:pPr>
            <a:r>
              <a:t>d'urgence doivent être clairement identifiés.</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536.3.5 Les moyens de commande d'un dispositif de coupure d'urgence doivent pouvoir être</a:t>
            </a:r>
          </a:p>
        </p:txBody>
      </p:sp>
      <p:sp>
        <p:nvSpPr>
          <p:cNvPr id="3" name="Content Placeholder 2"/>
          <p:cNvSpPr>
            <a:spLocks noGrp="1"/>
          </p:cNvSpPr>
          <p:nvPr>
            <p:ph idx="1"/>
          </p:nvPr>
        </p:nvSpPr>
        <p:spPr/>
        <p:txBody>
          <a:bodyPr/>
          <a:lstStyle/>
          <a:p>
            <a:pPr>
              <a:defRPr sz="1600"/>
            </a:pPr>
            <a:r>
              <a:t>verrouillés ou être immobilisés dans la position de coupure, à moins que les moyens de commande pour la coupure d'urgence et pour la réalimentation ne soient tous les deux sous la surveillance de la même personne.</a:t>
            </a:r>
          </a:p>
          <a:p>
            <a:pPr>
              <a:defRPr sz="1600"/>
            </a:pPr>
            <a:r>
              <a:t>Après libération de l'organe de commande du dispositif de coupure d'urgence, la réalimentation de la partie correspondante de l'installation doit nécessiter une action intentionnelle.</a:t>
            </a:r>
          </a:p>
          <a:p>
            <a:pPr>
              <a:defRPr sz="1600"/>
            </a:pPr>
            <a:r>
              <a:t>Le fonctionnement du dispositif d'urgence est prioritaire sur toute autre fonction non relative à la sécurité et ne doit pas être inhibé par le fonctionnement normal de l'installation.</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536.3.6 Lorsqu'il est nécessaire d'agir sur plusieurs appareils de coupure, l'action sur un seul</a:t>
            </a:r>
          </a:p>
        </p:txBody>
      </p:sp>
      <p:sp>
        <p:nvSpPr>
          <p:cNvPr id="3" name="Content Placeholder 2"/>
          <p:cNvSpPr>
            <a:spLocks noGrp="1"/>
          </p:cNvSpPr>
          <p:nvPr>
            <p:ph idx="1"/>
          </p:nvPr>
        </p:nvSpPr>
        <p:spPr/>
        <p:txBody>
          <a:bodyPr/>
          <a:lstStyle/>
          <a:p>
            <a:pPr>
              <a:defRPr sz="1600"/>
            </a:pPr>
            <a:r>
              <a:t>organe de commande doit provoquer l'ouverture de tous ces appareils.</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536.4 Dispositifs de coupure pour entretien mécanique</a:t>
            </a:r>
          </a:p>
        </p:txBody>
      </p:sp>
      <p:sp>
        <p:nvSpPr>
          <p:cNvPr id="3" name="Content Placeholder 2"/>
          <p:cNvSpPr>
            <a:spLocks noGrp="1"/>
          </p:cNvSpPr>
          <p:nvPr>
            <p:ph idx="1"/>
          </p:nvPr>
        </p:nvSpPr>
        <p:spPr/>
        <p:txBody>
          <a:bodyPr/>
          <a:lstStyle/>
          <a:p>
            <a:pPr>
              <a:defRPr sz="1600"/>
            </a:pPr>
            <a:r>
              <a:t>Les dispositifs de coupure pour entretien mécanique doivent réaliser la fonction de sectionnement et la fonction de coupure d’urgence.</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536.5 Dispositifs de commande fonctionnelle</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536.5.1 Les dispositifs de commande fonctionnelle doivent être appropriés aux conditions les plus</a:t>
            </a:r>
          </a:p>
        </p:txBody>
      </p:sp>
      <p:sp>
        <p:nvSpPr>
          <p:cNvPr id="3" name="Content Placeholder 2"/>
          <p:cNvSpPr>
            <a:spLocks noGrp="1"/>
          </p:cNvSpPr>
          <p:nvPr>
            <p:ph idx="1"/>
          </p:nvPr>
        </p:nvSpPr>
        <p:spPr/>
        <p:txBody>
          <a:bodyPr/>
          <a:lstStyle/>
          <a:p>
            <a:pPr>
              <a:defRPr sz="1600"/>
            </a:pPr>
            <a:r>
              <a:t>sévères dans lesquelles ils peuvent être appelés à fonctionner.</a:t>
            </a:r>
          </a:p>
          <a:p>
            <a:pPr>
              <a:defRPr sz="1600"/>
            </a:pPr>
            <a:r>
              <a:t>NOTE - La commande fonctionnelle peut, par exemple, être réalisée au moyen de :  - - - - - - -  interrupteurs ; dispositifs de commande à semiconducteurs ; disjoncteurs ; contacteurs ; télérupteurs ; prises de courant de courant assigné au plus égal à 32 A ; appareils de connexion, de commande et de protection (ACP).</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536.5.2 Les dispositifs de commande fonctionnelle peuvent interrompre le courant sans ouvrir</a:t>
            </a:r>
          </a:p>
        </p:txBody>
      </p:sp>
      <p:sp>
        <p:nvSpPr>
          <p:cNvPr id="3" name="Content Placeholder 2"/>
          <p:cNvSpPr>
            <a:spLocks noGrp="1"/>
          </p:cNvSpPr>
          <p:nvPr>
            <p:ph idx="1"/>
          </p:nvPr>
        </p:nvSpPr>
        <p:spPr/>
        <p:txBody>
          <a:bodyPr/>
          <a:lstStyle/>
          <a:p>
            <a:pPr>
              <a:defRPr sz="1600"/>
            </a:pPr>
            <a:r>
              <a:t>nécessairement les pôles correspondants.</a:t>
            </a:r>
          </a:p>
          <a:p>
            <a:pPr>
              <a:defRPr sz="1600"/>
            </a:pPr>
            <a:r>
              <a:t>NOTE - Les dispositifs de commande à semiconducteur et certains auxiliaires de commande sont des exemples de les pôles dispositifs capables d'interrompre correspondants.</a:t>
            </a:r>
          </a:p>
          <a:p>
            <a:pPr>
              <a:defRPr sz="1600"/>
            </a:pPr>
            <a:r>
              <a:t>le circuit mais ne coupant pas nécessairement  le courant dans.</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536.5.3 Les sectionneurs, les fusibles et les barrettes ne doivent pas être utilisés pour la</a:t>
            </a:r>
          </a:p>
        </p:txBody>
      </p:sp>
      <p:sp>
        <p:nvSpPr>
          <p:cNvPr id="3" name="Content Placeholder 2"/>
          <p:cNvSpPr>
            <a:spLocks noGrp="1"/>
          </p:cNvSpPr>
          <p:nvPr>
            <p:ph idx="1"/>
          </p:nvPr>
        </p:nvSpPr>
        <p:spPr/>
        <p:txBody>
          <a:bodyPr/>
          <a:lstStyle/>
          <a:p>
            <a:pPr>
              <a:defRPr sz="1600"/>
            </a:pPr>
            <a:r>
              <a:t>commande fonctionnelle.</a:t>
            </a:r>
          </a:p>
          <a:p>
            <a:pPr>
              <a:defRPr sz="1600"/>
            </a:pPr>
            <a:r>
              <a:t>- 261 -   537 Dispositifs de surveillance.</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537.1 Contrôleurs permanents d'isolement (CPI)</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537.1.1 Conformément à la règle énoncée en 411.6.5, un contrôleur permanent d'isolement doit</a:t>
            </a:r>
          </a:p>
        </p:txBody>
      </p:sp>
      <p:sp>
        <p:nvSpPr>
          <p:cNvPr id="3" name="Content Placeholder 2"/>
          <p:cNvSpPr>
            <a:spLocks noGrp="1"/>
          </p:cNvSpPr>
          <p:nvPr>
            <p:ph idx="1"/>
          </p:nvPr>
        </p:nvSpPr>
        <p:spPr/>
        <p:txBody>
          <a:bodyPr/>
          <a:lstStyle/>
          <a:p>
            <a:pPr>
              <a:defRPr sz="1600"/>
            </a:pPr>
            <a:r>
              <a:t>être installé dans les installations en schéma IT.</a:t>
            </a:r>
          </a:p>
          <a:p>
            <a:pPr>
              <a:defRPr sz="1600"/>
            </a:pPr>
            <a:r>
              <a:t>Pour l'application des règles énoncées en 511.</a:t>
            </a:r>
          </a:p>
          <a:p>
            <a:pPr>
              <a:defRPr sz="1600"/>
            </a:pPr>
            <a:r>
              <a:t>1, la norme à considérer est la suivante   :  - Dispositifs de contrôle permanent de l'isolement  (18).</a:t>
            </a:r>
          </a:p>
          <a:p>
            <a:pPr>
              <a:defRPr sz="1600"/>
            </a:pPr>
            <a:r>
              <a:t>Il est rappelé que la protection contre les contacts indirects n’est assurée que si les protections en cas de double défaut ont été mises en œuvre.</a:t>
            </a:r>
          </a:p>
          <a:p>
            <a:pPr>
              <a:defRPr sz="1600"/>
            </a:pPr>
            <a:r>
              <a:t>Des dispositions sont prises pour la recherche et l’élimination du premier défaut dès que les conditions d’exploitation de l’installation le permettent.</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537.1.2 Installation des contrôleurs permanents d'isolement</a:t>
            </a:r>
          </a:p>
        </p:txBody>
      </p:sp>
      <p:sp>
        <p:nvSpPr>
          <p:cNvPr id="3" name="Content Placeholder 2"/>
          <p:cNvSpPr>
            <a:spLocks noGrp="1"/>
          </p:cNvSpPr>
          <p:nvPr>
            <p:ph idx="1"/>
          </p:nvPr>
        </p:nvSpPr>
        <p:spPr/>
        <p:txBody>
          <a:bodyPr/>
          <a:lstStyle/>
          <a:p>
            <a:pPr>
              <a:defRPr sz="1600"/>
            </a:pPr>
            <a:r>
              <a:t>Lorsque le conducteur neutre est distribué, la borne «réseau» du CPI est connectée au conducteur neutre le plus près possible de l'origine de l'installation dont il surveille l'isolement, sans interposition d'aucun appareillage de protection contre les surintensités.</a:t>
            </a:r>
          </a:p>
          <a:p>
            <a:pPr>
              <a:defRPr sz="1600"/>
            </a:pPr>
            <a:r>
              <a:t>Lorsque le conducteur neutre n'est pas distribué, la borne «réseau» du CPI peut être connectée :  - soit à un point neutre artificiel de trois impédances connectées aux conducteurs de phase à  proximité de l'origine de l'installation ;  - soit à un conducteur de phase.</a:t>
            </a:r>
          </a:p>
          <a:p>
            <a:pPr>
              <a:defRPr sz="1600"/>
            </a:pPr>
            <a:r>
              <a:t>Dans le cas où le CPI est connecté entre une phase et la terre, il doit posséder une tenue en tension entre sa borne «réseau» et sa borne «terre» au moins égale à la tension entre phase.</a:t>
            </a:r>
          </a:p>
          <a:p>
            <a:pPr>
              <a:defRPr sz="1600"/>
            </a:pPr>
            <a:r>
              <a:t>Cette tension apparaît au niveau de ces bornes en cas de premier défaut d’isolement sur une autre phase.</a:t>
            </a:r>
          </a:p>
          <a:p>
            <a:pPr>
              <a:defRPr sz="1600"/>
            </a:pPr>
            <a:r>
              <a:t>Pour les installations à courant continu, la borne «réseau» du CPI est connectée soit directement au compensateur s'il existe, soit à un des pôles de la source.</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537.1.3 Réglage des contrôleurs permanents d'isolement</a:t>
            </a:r>
          </a:p>
        </p:txBody>
      </p:sp>
      <p:sp>
        <p:nvSpPr>
          <p:cNvPr id="3" name="Content Placeholder 2"/>
          <p:cNvSpPr>
            <a:spLocks noGrp="1"/>
          </p:cNvSpPr>
          <p:nvPr>
            <p:ph idx="1"/>
          </p:nvPr>
        </p:nvSpPr>
        <p:spPr/>
        <p:txBody>
          <a:bodyPr/>
          <a:lstStyle/>
          <a:p>
            <a:pPr>
              <a:defRPr sz="1600"/>
            </a:pPr>
            <a:r>
              <a:t>Un contrôleur permanent d'isolement prévu conformément au 411.</a:t>
            </a:r>
          </a:p>
          <a:p>
            <a:pPr>
              <a:defRPr sz="1600"/>
            </a:pPr>
            <a:r>
              <a:t>6.</a:t>
            </a:r>
          </a:p>
          <a:p>
            <a:pPr>
              <a:defRPr sz="1600"/>
            </a:pPr>
            <a:r>
              <a:t>5 est un dispositif qui surveille de façon continue l'isolement d'une installation électrique.</a:t>
            </a:r>
          </a:p>
          <a:p>
            <a:pPr>
              <a:defRPr sz="1600"/>
            </a:pPr>
            <a:r>
              <a:t>Il est destiné à signaler toute réduction importante du niveau d'isolement de l'installation afin de permettre d'en trouver la cause avant qu'un deuxième défaut ne se produise, évitant ainsi la coupure de l'alimentation.</a:t>
            </a:r>
          </a:p>
          <a:p>
            <a:pPr>
              <a:defRPr sz="1600"/>
            </a:pPr>
            <a:r>
              <a:t>En conséquence, il est réglé à une valeur inférieure à celle correspondant à l’isolement naturel de l’installation lorsque celle-ci fonctionne normalement avec le maximum de charges connectées.</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537.1.4 Choix des contrôleurs permanents d'isolement</a:t>
            </a:r>
          </a:p>
        </p:txBody>
      </p:sp>
      <p:sp>
        <p:nvSpPr>
          <p:cNvPr id="3" name="Content Placeholder 2"/>
          <p:cNvSpPr>
            <a:spLocks noGrp="1"/>
          </p:cNvSpPr>
          <p:nvPr>
            <p:ph idx="1"/>
          </p:nvPr>
        </p:nvSpPr>
        <p:spPr/>
        <p:txBody>
          <a:bodyPr/>
          <a:lstStyle/>
          <a:p>
            <a:pPr>
              <a:defRPr sz="1600"/>
            </a:pPr>
            <a:r>
              <a:t>Les caractéristiques intervenant dans le choix du CPI sont :  a) La valeur du courant admissible dans les CPI :  Les CPI sont conçus de manière que le courant à travers l'appareil ne dépasse pas 30 mA, même en cas de défaut franc.</a:t>
            </a:r>
          </a:p>
          <a:p>
            <a:pPr>
              <a:defRPr sz="1600"/>
            </a:pPr>
            <a:r>
              <a:t>Pour certaines applications (bloc opératoire, par exemple), des valeurs plus faibles de courant peuvent être prescrites, il doit alors être fait usage de CPI spécialement prévus à cet effet.</a:t>
            </a:r>
          </a:p>
          <a:p>
            <a:pPr>
              <a:defRPr sz="1600"/>
            </a:pPr>
            <a:r>
              <a:t>b) La nature du courant de mesure :  En ce qui concerne la nature du courant, les CPI les plus couramment utilisés sont :  -  -  ceux qui appliquent une tension continue à l'installation ;  ceux qui appliquent une tension alternative à l'installation.</a:t>
            </a:r>
          </a:p>
          <a:p>
            <a:pPr>
              <a:defRPr sz="1600"/>
            </a:pPr>
            <a:r>
              <a:t>Les premiers fournissent une indication de la résistance d'isolement mais leurs indications risquent d'être perturbées par un défaut d'isolement se produisant à l'aval d'un élément redresseur de l'installation surveillée.</a:t>
            </a:r>
          </a:p>
          <a:p>
            <a:pPr>
              <a:defRPr sz="1600"/>
            </a:pPr>
            <a:r>
              <a:t>Ils sont suffisants pour les installations ne comportant pas ou peu d'éléments redresseurs alimentés sans l'intermédiaire de transformateurs.</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537.2 Contrôleurs permanents d’isolement pour la surveillance des matériels hors tension</a:t>
            </a:r>
          </a:p>
        </p:txBody>
      </p:sp>
      <p:sp>
        <p:nvSpPr>
          <p:cNvPr id="3" name="Content Placeholder 2"/>
          <p:cNvSpPr>
            <a:spLocks noGrp="1"/>
          </p:cNvSpPr>
          <p:nvPr>
            <p:ph idx="1"/>
          </p:nvPr>
        </p:nvSpPr>
        <p:spPr/>
        <p:txBody>
          <a:bodyPr/>
          <a:lstStyle/>
          <a:p>
            <a:pPr>
              <a:defRPr sz="1600"/>
            </a:pPr>
            <a:r>
              <a:t>Pour l'application des règles énoncées en 511.</a:t>
            </a:r>
          </a:p>
          <a:p>
            <a:pPr>
              <a:defRPr sz="1600"/>
            </a:pPr>
            <a:r>
              <a:t>1, la norme à considérer est la suivante   :  Dispositifs de contrôle permanent de l'isolement (19).</a:t>
            </a:r>
          </a:p>
          <a:p>
            <a:pPr>
              <a:defRPr sz="1600"/>
            </a:pPr>
            <a:r>
              <a:t>Dans les installations en schéma TT ou TN, lorsqu’un équipement de sécurité n’est sollicité qu’en cas de sinistre c’est-à-dire lorsque l’équipement de sécurité est normalement à l’état de veille, un contrôleur permanent d’isolement hors tension doit surveiller en permanence cet équipement pendant les périodes de non-fonctionnement.</a:t>
            </a:r>
          </a:p>
          <a:p>
            <a:pPr>
              <a:defRPr sz="1600"/>
            </a:pPr>
            <a:r>
              <a:t>La baisse de l’isolement sera signalée par un dispositif lumineux ou sonore avec possibilité de renvoi à distance de l’information.</a:t>
            </a:r>
          </a:p>
          <a:p>
            <a:pPr>
              <a:defRPr sz="1600"/>
            </a:pPr>
            <a:r>
              <a:t>Le contrôleur permanent d’isolement hors tension doit être connecté entre la terre et un conducteur actif de l’équipement à surveiller.</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537.3 Dispositif de localisation des défauts</a:t>
            </a:r>
          </a:p>
        </p:txBody>
      </p:sp>
      <p:sp>
        <p:nvSpPr>
          <p:cNvPr id="3" name="Content Placeholder 2"/>
          <p:cNvSpPr>
            <a:spLocks noGrp="1"/>
          </p:cNvSpPr>
          <p:nvPr>
            <p:ph idx="1"/>
          </p:nvPr>
        </p:nvSpPr>
        <p:spPr/>
        <p:txBody>
          <a:bodyPr/>
          <a:lstStyle/>
          <a:p>
            <a:pPr>
              <a:defRPr sz="1600"/>
            </a:pPr>
            <a:r>
              <a:t>Pour l'application des règles énoncées en 511.</a:t>
            </a:r>
          </a:p>
          <a:p>
            <a:pPr>
              <a:defRPr sz="1600"/>
            </a:pPr>
            <a:r>
              <a:t>1, la norme à considérer est la suivante   :  Dispositifs de contrôle permanent de l'isolement (20).</a:t>
            </a:r>
          </a:p>
          <a:p>
            <a:pPr>
              <a:defRPr sz="1600"/>
            </a:pPr>
            <a:r>
              <a:t>Dans les cas où le schéma IT a été choisi pour des raisons de continuité de service, il est fortement recommandé d’associer aux contrôleurs permanents d’isolement des appareils permettant la localisation sous tension des défauts d’isolement.</a:t>
            </a:r>
          </a:p>
          <a:p>
            <a:pPr>
              <a:defRPr sz="1600"/>
            </a:pPr>
            <a:r>
              <a:t>Leur fonction est de détecter le départ en défaut lorsque le contrôleur permanent d’isolement a détecté sa présence.</a:t>
            </a:r>
          </a:p>
          <a:p>
            <a:pPr>
              <a:defRPr sz="1600"/>
            </a:pPr>
            <a:r>
              <a:t>Le temps consacré à la recherche du départ en défaut est ainsi nettement réduit car il évite la coupure des circuits un à un lorsque l’installation n’alimente plus les circuits prioritaires.</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C – (informative) – Prises de terre..........................................................................284</a:t>
            </a:r>
          </a:p>
        </p:txBody>
      </p:sp>
      <p:sp>
        <p:nvSpPr>
          <p:cNvPr id="3" name="Content Placeholder 2"/>
          <p:cNvSpPr>
            <a:spLocks noGrp="1"/>
          </p:cNvSpPr>
          <p:nvPr>
            <p:ph idx="1"/>
          </p:nvPr>
        </p:nvSpPr>
        <p:spPr/>
        <p:txBody>
          <a:bodyPr/>
          <a:lstStyle/>
          <a:p>
            <a:pPr>
              <a:defRPr sz="1600"/>
            </a:pPr>
            <a:r>
              <a:t>- 267 -   541 Généralités  C.</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541.1 Domaine d’application et objet</a:t>
            </a:r>
          </a:p>
        </p:txBody>
      </p:sp>
      <p:sp>
        <p:nvSpPr>
          <p:cNvPr id="3" name="Content Placeholder 2"/>
          <p:cNvSpPr>
            <a:spLocks noGrp="1"/>
          </p:cNvSpPr>
          <p:nvPr>
            <p:ph idx="1"/>
          </p:nvPr>
        </p:nvSpPr>
        <p:spPr/>
        <p:txBody>
          <a:bodyPr/>
          <a:lstStyle/>
          <a:p>
            <a:pPr>
              <a:defRPr sz="1600"/>
            </a:pPr>
            <a:r>
              <a:t>La présente partie traite des dispositions de mise à la terre, des conducteurs de protection et des liaisons équipotentielles afin de satisfaire aux prescriptions de sécurité et aux prescriptions fonctionnelles de l’installation électrique.</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541.2 Définitions</a:t>
            </a:r>
          </a:p>
        </p:txBody>
      </p:sp>
      <p:sp>
        <p:nvSpPr>
          <p:cNvPr id="3" name="Content Placeholder 2"/>
          <p:cNvSpPr>
            <a:spLocks noGrp="1"/>
          </p:cNvSpPr>
          <p:nvPr>
            <p:ph idx="1"/>
          </p:nvPr>
        </p:nvSpPr>
        <p:spPr/>
        <p:txBody>
          <a:bodyPr/>
          <a:lstStyle/>
          <a:p>
            <a:pPr>
              <a:defRPr sz="1600"/>
            </a:pPr>
            <a:r>
              <a:t>Les définitions utilisées pour la mise à la terre, les conducteurs de protection et les conducteurs des liaisons équipotentielles sont illustrés en annexe B.</a:t>
            </a:r>
          </a:p>
          <a:p>
            <a:pPr>
              <a:defRPr sz="1600"/>
            </a:pPr>
            <a:r>
              <a:t>542 Installations de mise à la terre.</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542.1.1 Les dispositions de mise à la terre peuvent être utilisées à la fois ou séparément pour</a:t>
            </a:r>
          </a:p>
        </p:txBody>
      </p:sp>
      <p:sp>
        <p:nvSpPr>
          <p:cNvPr id="3" name="Content Placeholder 2"/>
          <p:cNvSpPr>
            <a:spLocks noGrp="1"/>
          </p:cNvSpPr>
          <p:nvPr>
            <p:ph idx="1"/>
          </p:nvPr>
        </p:nvSpPr>
        <p:spPr/>
        <p:txBody>
          <a:bodyPr/>
          <a:lstStyle/>
          <a:p>
            <a:pPr>
              <a:defRPr sz="1600"/>
            </a:pPr>
            <a:r>
              <a:t>des raisons de protection et des raisons fonctionnelles suivant les besoins de l'installation électrique.</a:t>
            </a:r>
          </a:p>
          <a:p>
            <a:pPr>
              <a:defRPr sz="1600"/>
            </a:pPr>
            <a:r>
              <a:t>Les prescriptions relatives à la protection doivent être prioritaires.</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542.1.2 Toutes les prises de terre d’un même bâtiment doivent être interconnectées (mise à la</a:t>
            </a:r>
          </a:p>
        </p:txBody>
      </p:sp>
      <p:sp>
        <p:nvSpPr>
          <p:cNvPr id="3" name="Content Placeholder 2"/>
          <p:cNvSpPr>
            <a:spLocks noGrp="1"/>
          </p:cNvSpPr>
          <p:nvPr>
            <p:ph idx="1"/>
          </p:nvPr>
        </p:nvSpPr>
        <p:spPr/>
        <p:txBody>
          <a:bodyPr/>
          <a:lstStyle/>
          <a:p>
            <a:pPr>
              <a:defRPr sz="1600"/>
            </a:pPr>
            <a:r>
              <a:t>terre des masses basse tension, terre fonctionnelle, terre de paratonnerre).</a:t>
            </a:r>
          </a:p>
          <a:p>
            <a:pPr>
              <a:defRPr sz="1600"/>
            </a:pPr>
            <a:r>
              <a:t>Dans le cas de plusieurs bâtiments d’une même installation, il est recommandé de réaliser l’interconnexion des prises de terre des différents bâtiments.</a:t>
            </a:r>
          </a:p>
          <a:p>
            <a:pPr>
              <a:defRPr sz="1600"/>
            </a:pPr>
            <a:r>
              <a:t>C.</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542.1.3 L’attention doit être portée sur les dispositions relatives aux prises de terre utilisées en</a:t>
            </a:r>
          </a:p>
        </p:txBody>
      </p:sp>
      <p:sp>
        <p:nvSpPr>
          <p:cNvPr id="3" name="Content Placeholder 2"/>
          <p:cNvSpPr>
            <a:spLocks noGrp="1"/>
          </p:cNvSpPr>
          <p:nvPr>
            <p:ph idx="1"/>
          </p:nvPr>
        </p:nvSpPr>
        <p:spPr/>
        <p:txBody>
          <a:bodyPr/>
          <a:lstStyle/>
          <a:p>
            <a:pPr>
              <a:defRPr sz="1600"/>
            </a:pPr>
            <a:r>
              <a:t>haute et en basse tension (voir 442).</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542.1.4 Le choix et la mise en œuvre des matériels assurant la mise à la terre doivent être tels</a:t>
            </a:r>
          </a:p>
        </p:txBody>
      </p:sp>
      <p:sp>
        <p:nvSpPr>
          <p:cNvPr id="3" name="Content Placeholder 2"/>
          <p:cNvSpPr>
            <a:spLocks noGrp="1"/>
          </p:cNvSpPr>
          <p:nvPr>
            <p:ph idx="1"/>
          </p:nvPr>
        </p:nvSpPr>
        <p:spPr/>
        <p:txBody>
          <a:bodyPr/>
          <a:lstStyle/>
          <a:p>
            <a:pPr>
              <a:defRPr sz="1600"/>
            </a:pPr>
            <a:r>
              <a:t>que :  -  -  -  la valeur de la résistance de mise à la terre soit conforme aux règles de protection et de fonctionnement de l'installation et supposée maintenue telle,  les courants de défaut à la terre et les courants de fuite puissent circuler sans danger, thermomécaniques et particulièrement du point de vue des contraintes électromécaniques,  thermiques,  la solidité ou la protection mécanique soit assurée en fonction des conditions estimées d'influences externes (voir 512).</a:t>
            </a:r>
          </a:p>
          <a:p>
            <a:pPr>
              <a:defRPr sz="1600"/>
            </a:pPr>
            <a:r>
              <a:t>et, si nécessaire, appropriés aux prescriptions fonctionnelles.</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542.2 Prises de terre</a:t>
            </a:r>
          </a:p>
        </p:txBody>
      </p:sp>
      <p:sp>
        <p:nvSpPr>
          <p:cNvPr id="3" name="Content Placeholder 2"/>
          <p:cNvSpPr>
            <a:spLocks noGrp="1"/>
          </p:cNvSpPr>
          <p:nvPr>
            <p:ph idx="1"/>
          </p:nvPr>
        </p:nvSpPr>
        <p:spPr/>
        <p:txBody>
          <a:bodyPr/>
          <a:lstStyle/>
          <a:p>
            <a:pPr>
              <a:defRPr sz="1600"/>
            </a:pPr>
            <a:r>
              <a:t>La valeur de la résistance de la prise de terre doit satisfaire aux conditions de protection et de fonctionnement de l'installation électrique.</a:t>
            </a:r>
          </a:p>
          <a:p>
            <a:pPr>
              <a:defRPr sz="1600"/>
            </a:pPr>
            <a:r>
              <a:t>Les valeurs maximales de résistance des prises de terre des masses sont indiquées, suivant les cas, en 411.</a:t>
            </a:r>
          </a:p>
          <a:p>
            <a:pPr>
              <a:defRPr sz="1600"/>
            </a:pPr>
            <a:r>
              <a:t>5.</a:t>
            </a:r>
          </a:p>
          <a:p>
            <a:pPr>
              <a:defRPr sz="1600"/>
            </a:pPr>
            <a:r>
              <a:t>3, 411.</a:t>
            </a:r>
          </a:p>
          <a:p>
            <a:pPr>
              <a:defRPr sz="1600"/>
            </a:pPr>
            <a:r>
              <a:t>6.</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4.1</a:t>
            </a:r>
          </a:p>
        </p:txBody>
      </p:sp>
      <p:sp>
        <p:nvSpPr>
          <p:cNvPr id="3" name="Content Placeholder 2"/>
          <p:cNvSpPr>
            <a:spLocks noGrp="1"/>
          </p:cNvSpPr>
          <p:nvPr>
            <p:ph idx="1"/>
          </p:nvPr>
        </p:nvSpPr>
        <p:spPr/>
        <p:txBody>
          <a:bodyPr/>
          <a:lstStyle/>
          <a:p>
            <a:pPr>
              <a:defRPr sz="1600"/>
            </a:pPr>
            <a:r>
              <a:t>NF C 15-100  /  442.</a:t>
            </a:r>
          </a:p>
          <a:p>
            <a:pPr>
              <a:defRPr sz="1600"/>
            </a:pPr>
            <a:r>
              <a:t>2.</a:t>
            </a:r>
          </a:p>
          <a:p>
            <a:pPr>
              <a:defRPr sz="1600"/>
            </a:pPr>
            <a:r>
              <a:t>4.</a:t>
            </a:r>
          </a:p>
          <a:p>
            <a:pPr>
              <a:defRPr sz="1600"/>
            </a:pPr>
            <a:r>
              <a:t>2  NF C 13-100  442.</a:t>
            </a:r>
          </a:p>
          <a:p>
            <a:pPr>
              <a:defRPr sz="1600"/>
            </a:pPr>
            <a:r>
              <a:t>2.</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4.1</a:t>
            </a:r>
          </a:p>
        </p:txBody>
      </p:sp>
      <p:sp>
        <p:nvSpPr>
          <p:cNvPr id="3" name="Content Placeholder 2"/>
          <p:cNvSpPr>
            <a:spLocks noGrp="1"/>
          </p:cNvSpPr>
          <p:nvPr>
            <p:ph idx="1"/>
          </p:nvPr>
        </p:nvSpPr>
        <p:spPr/>
        <p:txBody>
          <a:bodyPr/>
          <a:lstStyle/>
          <a:p>
            <a:pPr>
              <a:defRPr sz="1600"/>
            </a:pPr>
            <a:r>
              <a:t>/  /  /  NF C 15-100  411.</a:t>
            </a:r>
          </a:p>
          <a:p>
            <a:pPr>
              <a:defRPr sz="1600"/>
            </a:pPr>
            <a:r>
              <a:t>6.</a:t>
            </a:r>
          </a:p>
          <a:p>
            <a:pPr>
              <a:defRPr sz="1600"/>
            </a:pPr>
            <a:r>
              <a:t>2  NF C15-100  /  442.</a:t>
            </a:r>
          </a:p>
          <a:p>
            <a:pPr>
              <a:defRPr sz="1600"/>
            </a:pPr>
            <a:r>
              <a:t>2.</a:t>
            </a:r>
          </a:p>
          <a:p>
            <a:pPr>
              <a:defRPr sz="1600"/>
            </a:pPr>
            <a:r>
              <a:t>4.</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542.2.1 Les matériaux et les dimensions des prises de terre doivent être choisis de manière à</a:t>
            </a:r>
          </a:p>
        </p:txBody>
      </p:sp>
      <p:sp>
        <p:nvSpPr>
          <p:cNvPr id="3" name="Content Placeholder 2"/>
          <p:cNvSpPr>
            <a:spLocks noGrp="1"/>
          </p:cNvSpPr>
          <p:nvPr>
            <p:ph idx="1"/>
          </p:nvPr>
        </p:nvSpPr>
        <p:spPr/>
        <p:txBody>
          <a:bodyPr/>
          <a:lstStyle/>
          <a:p>
            <a:pPr>
              <a:defRPr sz="1600"/>
            </a:pPr>
            <a:r>
              <a:t>résister à la corrosion et présenter une tenue mécanique appropriée.</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542.2.2 L'efficacité d'une prise de terre dépend des conditions locales du sol. Une ou plusieurs</a:t>
            </a:r>
          </a:p>
        </p:txBody>
      </p:sp>
      <p:sp>
        <p:nvSpPr>
          <p:cNvPr id="3" name="Content Placeholder 2"/>
          <p:cNvSpPr>
            <a:spLocks noGrp="1"/>
          </p:cNvSpPr>
          <p:nvPr>
            <p:ph idx="1"/>
          </p:nvPr>
        </p:nvSpPr>
        <p:spPr/>
        <p:txBody>
          <a:bodyPr/>
          <a:lstStyle/>
          <a:p>
            <a:pPr>
              <a:defRPr sz="1600"/>
            </a:pPr>
            <a:r>
              <a:t>prises de terre appropriées aux conditions du terrain et à la valeur de la résistance prescrite doivent être choisies.</a:t>
            </a:r>
          </a:p>
          <a:p>
            <a:pPr>
              <a:defRPr sz="1600"/>
            </a:pPr>
            <a:r>
              <a:t>L’annexe C donne des moyens de calcul des résistances de prise de terre.</a:t>
            </a:r>
          </a:p>
          <a:p>
            <a:pPr>
              <a:defRPr sz="1600"/>
            </a:pPr>
            <a:r>
              <a:t>- 269 -.</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542.2.3.1 Boucle à fond de fouille</a:t>
            </a:r>
          </a:p>
        </p:txBody>
      </p:sp>
      <p:sp>
        <p:nvSpPr>
          <p:cNvPr id="3" name="Content Placeholder 2"/>
          <p:cNvSpPr>
            <a:spLocks noGrp="1"/>
          </p:cNvSpPr>
          <p:nvPr>
            <p:ph idx="1"/>
          </p:nvPr>
        </p:nvSpPr>
        <p:spPr/>
        <p:txBody>
          <a:bodyPr/>
          <a:lstStyle/>
          <a:p>
            <a:pPr>
              <a:defRPr sz="1600"/>
            </a:pPr>
            <a:r>
              <a:t>La réalisation de la prise de terre par une boucle à fond de fouille ou par une disposition équivalente telle que l’utilisation des prises de terre de fait constituées notamment par les poteaux métalliques des murs extérieurs des bâtiments à ossature métallique, est rendue obligatoire par l’arrêté du 04 août 1992 pour tout bâtiment destiné à abriter des lieux de travail (y compris les bâtiments d’habitation collectifs).</a:t>
            </a:r>
          </a:p>
          <a:p>
            <a:pPr>
              <a:defRPr sz="1600"/>
            </a:pPr>
            <a:r>
              <a:t>La boucle à fond de fouille peut être constituée par un conducteur en cuivre nu d'au moins 25 mm² de section, en bon contact avec le sol,  La réalisation d’une boucle à fond de fouille pendant la construction des bâtiments est la meilleure solution pour obtenir une bonne prise de terre.</a:t>
            </a:r>
          </a:p>
          <a:p>
            <a:pPr>
              <a:defRPr sz="1600"/>
            </a:pPr>
            <a:r>
              <a:t>En effet :  - elle ne nécessite aucun travail de terrassement supplémentaire ;  - elle est établie à une profondeur qui permet en général de s'affranchir des contraintes dues  aux conditions saisonnières ;  - elle assure un bon contact avec le sol ;  - elle réalise pratiquement l'utilisation maximale de la surface des bâtiments et donne la valeur  minimale de la résistance de la prise de terre pouvant être obtenue avec cette surface ;  - elle peut être utilisée, dès le début de la construction des bâtiments, comme prise de terre  pour les installations de chantier.</a:t>
            </a:r>
          </a:p>
          <a:p>
            <a:pPr>
              <a:defRPr sz="1600"/>
            </a:pPr>
            <a:r>
              <a:t>Il convient de relier à l'ensemble prise de terre-conducteurs de protection les éléments conducteurs de la construction, aussi bien les éléments métalliques que les armatures du béton armé, à l’exception de celles du béton précontraint.</a:t>
            </a:r>
          </a:p>
          <a:p>
            <a:pPr>
              <a:defRPr sz="1600"/>
            </a:pPr>
            <a:r>
              <a:t>Ces liaisons permettent d'une part, de diminuer la valeur de la résistance globale de mise à la terre des masses et, d'autre part, d'assurer l'équipotentialité de toutes les masses et de tous les éléments conducteurs simultanément accessibles.</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542.2.3.2 Autres méthodes de réalisation de prises de terre</a:t>
            </a:r>
          </a:p>
        </p:txBody>
      </p:sp>
      <p:sp>
        <p:nvSpPr>
          <p:cNvPr id="3" name="Content Placeholder 2"/>
          <p:cNvSpPr>
            <a:spLocks noGrp="1"/>
          </p:cNvSpPr>
          <p:nvPr>
            <p:ph idx="1"/>
          </p:nvPr>
        </p:nvSpPr>
        <p:spPr/>
        <p:txBody>
          <a:bodyPr/>
          <a:lstStyle/>
          <a:p>
            <a:pPr>
              <a:defRPr sz="1600"/>
            </a:pPr>
            <a:r>
              <a:t>Lorsque la boucle à fond de fouille n'est pas obligatoire, les méthodes de réalisation de prises de terre suivantes peuvent être utilisées :  -  feuillard ou câble noyé dans le béton de propreté ;  - plaques ;  - piquets ou tubes ;  -  rubans ou fils.</a:t>
            </a:r>
          </a:p>
          <a:p>
            <a:pPr>
              <a:defRPr sz="1600"/>
            </a:pPr>
            <a:r>
              <a:t>L’annexe C donne des indications pour les dimensions de ces éléments.</a:t>
            </a:r>
          </a:p>
          <a:p>
            <a:pPr>
              <a:defRPr sz="1600"/>
            </a:pPr>
            <a:r>
              <a:t>Les prises de terre ne doivent jamais être constituées par une pièce métallique simplement plongée dans l'eau.</a:t>
            </a:r>
          </a:p>
          <a:p>
            <a:pPr>
              <a:defRPr sz="1600"/>
            </a:pPr>
            <a:r>
              <a:t>Elles ne doivent pas être établies dans des pièces d'eau ou dans des rivières.</a:t>
            </a:r>
          </a:p>
          <a:p>
            <a:pPr>
              <a:defRPr sz="1600"/>
            </a:pPr>
            <a:r>
              <a:t>Cette interdiction ne se justifie pas tant par une médiocre conductivité de l'eau que par le risque d'assèchement et par le danger auquel pourraient se trouver exposées des personnes entrant en contact avec l'eau pendant que se produit un défaut.</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542.2.4 Le type et la profondeur d'enfouissement des prises de terre doivent être tels que</a:t>
            </a:r>
          </a:p>
        </p:txBody>
      </p:sp>
      <p:sp>
        <p:nvSpPr>
          <p:cNvPr id="3" name="Content Placeholder 2"/>
          <p:cNvSpPr>
            <a:spLocks noGrp="1"/>
          </p:cNvSpPr>
          <p:nvPr>
            <p:ph idx="1"/>
          </p:nvPr>
        </p:nvSpPr>
        <p:spPr/>
        <p:txBody>
          <a:bodyPr/>
          <a:lstStyle/>
          <a:p>
            <a:pPr>
              <a:defRPr sz="1600"/>
            </a:pPr>
            <a:r>
              <a:t>l'assèchement et le gel n'augmentent pas la résistance de la prise de terre au-dessus de la valeur prescrite dans la partie 4-41 et dans 442.</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542.2.5 L’attention doit se porter sur la corrosion électrolytique lors de l’utilisation de matériaux</a:t>
            </a:r>
          </a:p>
        </p:txBody>
      </p:sp>
      <p:sp>
        <p:nvSpPr>
          <p:cNvPr id="3" name="Content Placeholder 2"/>
          <p:cNvSpPr>
            <a:spLocks noGrp="1"/>
          </p:cNvSpPr>
          <p:nvPr>
            <p:ph idx="1"/>
          </p:nvPr>
        </p:nvSpPr>
        <p:spPr/>
        <p:txBody>
          <a:bodyPr/>
          <a:lstStyle/>
          <a:p>
            <a:pPr>
              <a:defRPr sz="1600"/>
            </a:pPr>
            <a:r>
              <a:t>différents dans une installation de mise à la terre.</a:t>
            </a:r>
          </a:p>
          <a:p>
            <a:pPr>
              <a:defRPr sz="1600"/>
            </a:pPr>
            <a:r>
              <a:t>- 270 -.</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542.2.6 Des canalisations métalliques de distribution de liquides ou de gaz ne doivent pas être</a:t>
            </a:r>
          </a:p>
        </p:txBody>
      </p:sp>
      <p:sp>
        <p:nvSpPr>
          <p:cNvPr id="3" name="Content Placeholder 2"/>
          <p:cNvSpPr>
            <a:spLocks noGrp="1"/>
          </p:cNvSpPr>
          <p:nvPr>
            <p:ph idx="1"/>
          </p:nvPr>
        </p:nvSpPr>
        <p:spPr/>
        <p:txBody>
          <a:bodyPr/>
          <a:lstStyle/>
          <a:p>
            <a:pPr>
              <a:defRPr sz="1600"/>
            </a:pPr>
            <a:r>
              <a:t>utilisées comme prises de terre.</a:t>
            </a:r>
          </a:p>
          <a:p>
            <a:pPr>
              <a:defRPr sz="1600"/>
            </a:pPr>
            <a:r>
              <a:t>C  NOTE - Cette prescription n’exclut pas la connexion de ces réseaux à la liaison équipotentielle principale conformément à la partie 4-41.</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542.3.1 Les conducteurs de terre doivent satisfaire aux prescriptions de 543.1 et, lorsqu’ils sont</a:t>
            </a:r>
          </a:p>
        </p:txBody>
      </p:sp>
      <p:sp>
        <p:nvSpPr>
          <p:cNvPr id="3" name="Content Placeholder 2"/>
          <p:cNvSpPr>
            <a:spLocks noGrp="1"/>
          </p:cNvSpPr>
          <p:nvPr>
            <p:ph idx="1"/>
          </p:nvPr>
        </p:nvSpPr>
        <p:spPr/>
        <p:txBody>
          <a:bodyPr/>
          <a:lstStyle/>
          <a:p>
            <a:pPr>
              <a:defRPr sz="1600"/>
            </a:pPr>
            <a:r>
              <a:t>enterrés, leur section doit être conforme aux valeurs du tableau 54B.</a:t>
            </a:r>
          </a:p>
          <a:p>
            <a:pPr>
              <a:defRPr sz="1600"/>
            </a:pPr>
            <a:r>
              <a:t>Tableau 54B – Sections minimales des conducteurs de terre enterrés  Nature des conducteurs  Sections minimales  Conducteurs isolés  Conducteurs nus  16 mm2 en cuivre 25 mm2 en cuivre 50 mm2 en acier galvanisé ou en inox.</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542.3.2 La liaison d'un conducteur de terre à une prise de terre doit être soigneusement réalisée</a:t>
            </a:r>
          </a:p>
        </p:txBody>
      </p:sp>
      <p:sp>
        <p:nvSpPr>
          <p:cNvPr id="3" name="Content Placeholder 2"/>
          <p:cNvSpPr>
            <a:spLocks noGrp="1"/>
          </p:cNvSpPr>
          <p:nvPr>
            <p:ph idx="1"/>
          </p:nvPr>
        </p:nvSpPr>
        <p:spPr/>
        <p:txBody>
          <a:bodyPr/>
          <a:lstStyle/>
          <a:p>
            <a:pPr>
              <a:defRPr sz="1600"/>
            </a:pPr>
            <a:r>
              <a:t>et électriquement satisfaisante.</a:t>
            </a:r>
          </a:p>
          <a:p>
            <a:pPr>
              <a:defRPr sz="1600"/>
            </a:pPr>
            <a:r>
              <a:t>Cette connexion doit être réalisée par soudure exothermique, par connecteurs à pression ou autres fixations.</a:t>
            </a:r>
          </a:p>
          <a:p>
            <a:pPr>
              <a:defRPr sz="1600"/>
            </a:pPr>
            <a:r>
              <a:t>Si une fixation est utilisée, elle ne doit pas endommager l'électrode de terre ou le conducteur de terre.</a:t>
            </a:r>
          </a:p>
          <a:p>
            <a:pPr>
              <a:defRPr sz="1600"/>
            </a:pPr>
            <a:r>
              <a:t>NOTE - Les dispositifs de connexion ou de fixation par soudure non exothermique n’apportent pas une tenue mécanique appropriée.</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542.4.1 Dans toute installation, une borne ou une barre principale de terre doit être prévue et les</a:t>
            </a:r>
          </a:p>
        </p:txBody>
      </p:sp>
      <p:sp>
        <p:nvSpPr>
          <p:cNvPr id="3" name="Content Placeholder 2"/>
          <p:cNvSpPr>
            <a:spLocks noGrp="1"/>
          </p:cNvSpPr>
          <p:nvPr>
            <p:ph idx="1"/>
          </p:nvPr>
        </p:nvSpPr>
        <p:spPr/>
        <p:txBody>
          <a:bodyPr/>
          <a:lstStyle/>
          <a:p>
            <a:pPr>
              <a:defRPr sz="1600"/>
            </a:pPr>
            <a:r>
              <a:t>conducteurs suivants doivent lui être reliés :  -  -  -  -  les conducteurs de terre ;  les conducteurs de protection ;  les conducteurs de liaison équipotentielle principale ;  les conducteurs de mise à la terre fonctionnelle, si nécessaire.</a:t>
            </a:r>
          </a:p>
          <a:p>
            <a:pPr>
              <a:defRPr sz="1600"/>
            </a:pPr>
            <a:r>
              <a:t>Un dispositif peut être prévu sur les conducteurs de terre en un endroit accessible, permettant de mesurer la résistance de la prise de terre correspondante (voir aussi   612.</a:t>
            </a:r>
          </a:p>
          <a:p>
            <a:pPr>
              <a:defRPr sz="1600"/>
            </a:pPr>
            <a:r>
              <a:t>6.</a:t>
            </a:r>
          </a:p>
          <a:p>
            <a:pPr>
              <a:defRPr sz="1600"/>
            </a:pPr>
            <a:r>
              <a:t>2).</a:t>
            </a:r>
          </a:p>
          <a:p>
            <a:pPr>
              <a:defRPr sz="1600"/>
            </a:pPr>
            <a:r>
              <a:t>C.</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542.4.2 Chaque conducteur connecté à la borne principale de terre doit pouvoir être déconnecté</a:t>
            </a:r>
          </a:p>
        </p:txBody>
      </p:sp>
      <p:sp>
        <p:nvSpPr>
          <p:cNvPr id="3" name="Content Placeholder 2"/>
          <p:cNvSpPr>
            <a:spLocks noGrp="1"/>
          </p:cNvSpPr>
          <p:nvPr>
            <p:ph idx="1"/>
          </p:nvPr>
        </p:nvSpPr>
        <p:spPr/>
        <p:txBody>
          <a:bodyPr/>
          <a:lstStyle/>
          <a:p>
            <a:pPr>
              <a:defRPr sz="1600"/>
            </a:pPr>
            <a:r>
              <a:t>individuellement et seulement à l'aide d'un outil.</a:t>
            </a:r>
          </a:p>
          <a:p>
            <a:pPr>
              <a:defRPr sz="1600"/>
            </a:pPr>
            <a:r>
              <a:t>543 Conducteurs de protection.</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543.1.1 La section des conducteurs de protection doit satisfaire aux conditions de la coupure</a:t>
            </a:r>
          </a:p>
        </p:txBody>
      </p:sp>
      <p:sp>
        <p:nvSpPr>
          <p:cNvPr id="3" name="Content Placeholder 2"/>
          <p:cNvSpPr>
            <a:spLocks noGrp="1"/>
          </p:cNvSpPr>
          <p:nvPr>
            <p:ph idx="1"/>
          </p:nvPr>
        </p:nvSpPr>
        <p:spPr/>
        <p:txBody>
          <a:bodyPr/>
          <a:lstStyle/>
          <a:p>
            <a:pPr>
              <a:defRPr sz="1600"/>
            </a:pPr>
            <a:r>
              <a:t>automatique de l’alimentation prescrites en 411.</a:t>
            </a:r>
          </a:p>
          <a:p>
            <a:pPr>
              <a:defRPr sz="1600"/>
            </a:pPr>
            <a:r>
              <a:t>3.</a:t>
            </a:r>
          </a:p>
          <a:p>
            <a:pPr>
              <a:defRPr sz="1600"/>
            </a:pPr>
            <a:r>
              <a:t>2 et être apte à supporter les courants présumés de défaut.</a:t>
            </a:r>
          </a:p>
          <a:p>
            <a:pPr>
              <a:defRPr sz="1600"/>
            </a:pPr>
            <a:r>
              <a:t>Elle est soit calculée conformément en 543.</a:t>
            </a:r>
          </a:p>
          <a:p>
            <a:pPr>
              <a:defRPr sz="1600"/>
            </a:pPr>
            <a:r>
              <a:t>1.</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543.1.2 La section des conducteurs de protection doit être au moins égale à celle déterminée</a:t>
            </a:r>
          </a:p>
        </p:txBody>
      </p:sp>
      <p:sp>
        <p:nvSpPr>
          <p:cNvPr id="3" name="Content Placeholder 2"/>
          <p:cNvSpPr>
            <a:spLocks noGrp="1"/>
          </p:cNvSpPr>
          <p:nvPr>
            <p:ph idx="1"/>
          </p:nvPr>
        </p:nvSpPr>
        <p:spPr/>
        <p:txBody>
          <a:bodyPr/>
          <a:lstStyle/>
          <a:p>
            <a:pPr>
              <a:defRPr sz="1600"/>
            </a:pPr>
            <a:r>
              <a:t>par la formule suivante (applicable seulement pour des temps de coupure non supérieurs à 5 s) :  =  S   t  2   I k  dans laquelle S est la section du conducteur de protection, en millimètres carrés.</a:t>
            </a:r>
          </a:p>
          <a:p>
            <a:pPr>
              <a:defRPr sz="1600"/>
            </a:pPr>
            <a:r>
              <a:t>I  t  k  est la valeur efficace du courant de défaut qui peut traverser le dispositif de protection pour un défaut d'impédance négligeable, en ampères.</a:t>
            </a:r>
          </a:p>
          <a:p>
            <a:pPr>
              <a:defRPr sz="1600"/>
            </a:pPr>
            <a:r>
              <a:t>est le temps de fonctionnement du dispositif de coupure, en secondes.</a:t>
            </a:r>
          </a:p>
          <a:p>
            <a:pPr>
              <a:defRPr sz="1600"/>
            </a:pPr>
            <a:r>
              <a:t>est le facteur dont la valeur dépend de la nature du métal du conducteur de protection, de son isolation et de ses températures initiale et finale (les valeurs de k sont données dans l’annexe A).</a:t>
            </a:r>
          </a:p>
          <a:p>
            <a:pPr>
              <a:defRPr sz="1600"/>
            </a:pPr>
            <a:r>
              <a:t>La formule ci-dessus est utilisée comme celle de l’article 434.</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543.1.3 Les conducteurs de protection qui ne font pas partie de la canalisation d'alimentation</a:t>
            </a:r>
          </a:p>
        </p:txBody>
      </p:sp>
      <p:sp>
        <p:nvSpPr>
          <p:cNvPr id="3" name="Content Placeholder 2"/>
          <p:cNvSpPr>
            <a:spLocks noGrp="1"/>
          </p:cNvSpPr>
          <p:nvPr>
            <p:ph idx="1"/>
          </p:nvPr>
        </p:nvSpPr>
        <p:spPr/>
        <p:txBody>
          <a:bodyPr/>
          <a:lstStyle/>
          <a:p>
            <a:pPr>
              <a:defRPr sz="1600"/>
            </a:pPr>
            <a:r>
              <a:t>doivent avoir une section d'au moins :  -  -  2,5 mm² Cu ou 35 mm² Alu si les conducteurs de protection comportent une protection mécanique ;  4 mm² Cu ou 35 mm² Alu si les conducteurs de protection ne comportent pas de protection mécanique.</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543.1.4 Lorsqu’un conducteur de protection est commun à plusieurs circuits, la section de ce</a:t>
            </a:r>
          </a:p>
        </p:txBody>
      </p:sp>
      <p:sp>
        <p:nvSpPr>
          <p:cNvPr id="3" name="Content Placeholder 2"/>
          <p:cNvSpPr>
            <a:spLocks noGrp="1"/>
          </p:cNvSpPr>
          <p:nvPr>
            <p:ph idx="1"/>
          </p:nvPr>
        </p:nvSpPr>
        <p:spPr/>
        <p:txBody>
          <a:bodyPr/>
          <a:lstStyle/>
          <a:p>
            <a:pPr>
              <a:defRPr sz="1600"/>
            </a:pPr>
            <a:r>
              <a:t>conducteur de protection doit être dimensionnée en fonction de la plus grande section des conducteurs de phase.</a:t>
            </a:r>
          </a:p>
          <a:p>
            <a:pPr>
              <a:defRPr sz="1600"/>
            </a:pPr>
            <a:r>
              <a:t>Cette règle n’est pas applicable au conducteur PEN dans le schéma TN-C, le conducteur neutre ne pouvant être commun à plusieurs circuits.</a:t>
            </a:r>
          </a:p>
          <a:p>
            <a:pPr>
              <a:defRPr sz="1600"/>
            </a:pPr>
            <a:r>
              <a:t>En schéma TN-S et IT, le conducteur de protection commun doit rester à proximité des conducteurs actifs des circuits concernés (voir 411.</a:t>
            </a:r>
          </a:p>
          <a:p>
            <a:pPr>
              <a:defRPr sz="1600"/>
            </a:pPr>
            <a:r>
              <a:t>4.</a:t>
            </a:r>
          </a:p>
          <a:p>
            <a:pPr>
              <a:defRPr sz="1600"/>
            </a:pPr>
            <a:r>
              <a:t>3 et 411.</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543.2.1 Peuvent être utilisés comme conducteurs de protection :</a:t>
            </a:r>
          </a:p>
        </p:txBody>
      </p:sp>
      <p:sp>
        <p:nvSpPr>
          <p:cNvPr id="3" name="Content Placeholder 2"/>
          <p:cNvSpPr>
            <a:spLocks noGrp="1"/>
          </p:cNvSpPr>
          <p:nvPr>
            <p:ph idx="1"/>
          </p:nvPr>
        </p:nvSpPr>
        <p:spPr/>
        <p:txBody>
          <a:bodyPr/>
          <a:lstStyle/>
          <a:p>
            <a:pPr>
              <a:defRPr sz="1600"/>
            </a:pPr>
            <a:r>
              <a:t>C  -  -  -  -  des conducteurs dans des câbles multiconducteurs ;  des conducteurs isolés ou nus passant dans une enveloppe commune avec les conducteurs actifs ;  des conducteurs séparés isolés ou nus ;  certains éléments conducteurs, selon les conditions énoncées en 543.</a:t>
            </a:r>
          </a:p>
          <a:p>
            <a:pPr>
              <a:defRPr sz="1600"/>
            </a:pPr>
            <a:r>
              <a:t>2.</a:t>
            </a:r>
          </a:p>
          <a:p>
            <a:pPr>
              <a:defRPr sz="1600"/>
            </a:pPr>
            <a:r>
              <a:t>2 a) et b).</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543.2.2 Lorsque l'installation comporte des enveloppes ou des châssis d'ensembles montés en</a:t>
            </a:r>
          </a:p>
        </p:txBody>
      </p:sp>
      <p:sp>
        <p:nvSpPr>
          <p:cNvPr id="3" name="Content Placeholder 2"/>
          <p:cNvSpPr>
            <a:spLocks noGrp="1"/>
          </p:cNvSpPr>
          <p:nvPr>
            <p:ph idx="1"/>
          </p:nvPr>
        </p:nvSpPr>
        <p:spPr/>
        <p:txBody>
          <a:bodyPr/>
          <a:lstStyle/>
          <a:p>
            <a:pPr>
              <a:defRPr sz="1600"/>
            </a:pPr>
            <a:r>
              <a:t>usine ou des canalisations préfabriquées à enveloppe métallique, ces enveloppes ou châssis peuvent être utilisées comme conducteurs de protection si elles satisfont simultanément aux trois conditions suivantes :  a)  leur continuité électrique doit être réalisée de façon à être protégée contre les détériorations mécaniques chimiques ou électrochimiques ;  b) elles sont conformes aux prescriptions de 543.</a:t>
            </a:r>
          </a:p>
          <a:p>
            <a:pPr>
              <a:defRPr sz="1600"/>
            </a:pPr>
            <a:r>
              <a:t>1 ;  c) elles doivent permettre le raccordement d'autres conducteurs de protection à tout endroit de  dérivation prédéterminée.</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543.2.3 L’utilisation des éléments métalliques suivants comme conducteurs de protection ou</a:t>
            </a:r>
          </a:p>
        </p:txBody>
      </p:sp>
      <p:sp>
        <p:nvSpPr>
          <p:cNvPr id="3" name="Content Placeholder 2"/>
          <p:cNvSpPr>
            <a:spLocks noGrp="1"/>
          </p:cNvSpPr>
          <p:nvPr>
            <p:ph idx="1"/>
          </p:nvPr>
        </p:nvSpPr>
        <p:spPr/>
        <p:txBody>
          <a:bodyPr/>
          <a:lstStyle/>
          <a:p>
            <a:pPr>
              <a:defRPr sz="1600"/>
            </a:pPr>
            <a:r>
              <a:t>d’équipotentialité n’est pas admise :  -  -  -  -  chemins de câbles et systèmes analogues ;  toutes canalisations métalliques (eau, gaz, liquides inflammables, chauffage, etc.</a:t>
            </a:r>
          </a:p>
          <a:p>
            <a:pPr>
              <a:defRPr sz="1600"/>
            </a:pPr>
            <a:r>
              <a:t>) ;  éléments conducteurs appartenant à la structure du bâtiment ;  câbles porteurs de câbles auto-portés.</a:t>
            </a:r>
          </a:p>
          <a:p>
            <a:pPr>
              <a:defRPr sz="1600"/>
            </a:pPr>
            <a:r>
              <a:t>- 273 -.</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543.3 Conservation de la continuité électrique des conducteurs de protection</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543.3.1 Les conducteurs de protection doivent être convenablement protégés contre les</a:t>
            </a:r>
          </a:p>
        </p:txBody>
      </p:sp>
      <p:sp>
        <p:nvSpPr>
          <p:cNvPr id="3" name="Content Placeholder 2"/>
          <p:cNvSpPr>
            <a:spLocks noGrp="1"/>
          </p:cNvSpPr>
          <p:nvPr>
            <p:ph idx="1"/>
          </p:nvPr>
        </p:nvSpPr>
        <p:spPr/>
        <p:txBody>
          <a:bodyPr/>
          <a:lstStyle/>
          <a:p>
            <a:pPr>
              <a:defRPr sz="1600"/>
            </a:pPr>
            <a:r>
              <a:t>détériorations mécaniques et chimiques et les efforts électrodynamiques.</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543.3.2 Les connexions doivent être accessibles pour vérification et essais, à l'exception:</a:t>
            </a:r>
          </a:p>
        </p:txBody>
      </p:sp>
      <p:sp>
        <p:nvSpPr>
          <p:cNvPr id="3" name="Content Placeholder 2"/>
          <p:cNvSpPr>
            <a:spLocks noGrp="1"/>
          </p:cNvSpPr>
          <p:nvPr>
            <p:ph idx="1"/>
          </p:nvPr>
        </p:nvSpPr>
        <p:spPr/>
        <p:txBody>
          <a:bodyPr/>
          <a:lstStyle/>
          <a:p>
            <a:pPr>
              <a:defRPr sz="1600"/>
            </a:pPr>
            <a:r>
              <a:t>-  -  -  des connexions avec matière de remplissage ;  des soudures ;  des connexions des canalisations préfabriquées dont l’enveloppe constitue un conducteur de protection.</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543.3.3 Aucun appareillage ne doit être inséré dans le conducteur de protection, mais des</a:t>
            </a:r>
          </a:p>
        </p:txBody>
      </p:sp>
      <p:sp>
        <p:nvSpPr>
          <p:cNvPr id="3" name="Content Placeholder 2"/>
          <p:cNvSpPr>
            <a:spLocks noGrp="1"/>
          </p:cNvSpPr>
          <p:nvPr>
            <p:ph idx="1"/>
          </p:nvPr>
        </p:nvSpPr>
        <p:spPr/>
        <p:txBody>
          <a:bodyPr/>
          <a:lstStyle/>
          <a:p>
            <a:pPr>
              <a:defRPr sz="1600"/>
            </a:pPr>
            <a:r>
              <a:t>connexions qui peuvent être démontées à l'aide d'un outil peuvent être utilisées pour des essais.</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543.3.4 Lorsqu'un dispositif de contrôle de continuité de terre est utilisé, les enroulements ne</a:t>
            </a:r>
          </a:p>
        </p:txBody>
      </p:sp>
      <p:sp>
        <p:nvSpPr>
          <p:cNvPr id="3" name="Content Placeholder 2"/>
          <p:cNvSpPr>
            <a:spLocks noGrp="1"/>
          </p:cNvSpPr>
          <p:nvPr>
            <p:ph idx="1"/>
          </p:nvPr>
        </p:nvSpPr>
        <p:spPr/>
        <p:txBody>
          <a:bodyPr/>
          <a:lstStyle/>
          <a:p>
            <a:pPr>
              <a:defRPr sz="1600"/>
            </a:pPr>
            <a:r>
              <a:t>doivent pas être insérés dans les conducteurs de protection.</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543.3.5 Les masses des matériels à relier aux conducteurs de protection ne doivent pas être</a:t>
            </a:r>
          </a:p>
        </p:txBody>
      </p:sp>
      <p:sp>
        <p:nvSpPr>
          <p:cNvPr id="3" name="Content Placeholder 2"/>
          <p:cNvSpPr>
            <a:spLocks noGrp="1"/>
          </p:cNvSpPr>
          <p:nvPr>
            <p:ph idx="1"/>
          </p:nvPr>
        </p:nvSpPr>
        <p:spPr/>
        <p:txBody>
          <a:bodyPr/>
          <a:lstStyle/>
          <a:p>
            <a:pPr>
              <a:defRPr sz="1600"/>
            </a:pPr>
            <a:r>
              <a:t>connectées en série dans un circuit de protection, à l'exception du cas visé au 543.</a:t>
            </a:r>
          </a:p>
          <a:p>
            <a:pPr>
              <a:defRPr sz="1600"/>
            </a:pPr>
            <a:r>
              <a:t>2.</a:t>
            </a:r>
          </a:p>
          <a:p>
            <a:pPr>
              <a:defRPr sz="1600"/>
            </a:pPr>
            <a:r>
              <a:t>2.</a:t>
            </a:r>
          </a:p>
          <a:p>
            <a:pPr>
              <a:defRPr sz="1600"/>
            </a:pPr>
            <a:r>
              <a:t>La connexion de chacun des conducteurs doit être indépendante.</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543.4 Conducteurs PEN</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543.4.1 Un conducteur PEN ne peut être utilisé que dans les installations fixes et, pour des</a:t>
            </a:r>
          </a:p>
        </p:txBody>
      </p:sp>
      <p:sp>
        <p:nvSpPr>
          <p:cNvPr id="3" name="Content Placeholder 2"/>
          <p:cNvSpPr>
            <a:spLocks noGrp="1"/>
          </p:cNvSpPr>
          <p:nvPr>
            <p:ph idx="1"/>
          </p:nvPr>
        </p:nvSpPr>
        <p:spPr/>
        <p:txBody>
          <a:bodyPr/>
          <a:lstStyle/>
          <a:p>
            <a:pPr>
              <a:defRPr sz="1600"/>
            </a:pPr>
            <a:r>
              <a:t>raisons mécaniques, doit avoir une section au moins égale à 10 mm2 en cuivre ou 16 mm2 en aluminium.</a:t>
            </a:r>
          </a:p>
          <a:p>
            <a:pPr>
              <a:defRPr sz="1600"/>
            </a:pPr>
            <a:r>
              <a:t>La section du conducteur PEN répond aux conditions imposées en 524 pour le conducteur neutre.</a:t>
            </a:r>
          </a:p>
          <a:p>
            <a:pPr>
              <a:defRPr sz="1600"/>
            </a:pPr>
            <a:r>
              <a:t>C.</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543.4.2 Le conducteur PEN doit être isolé.</a:t>
            </a:r>
          </a:p>
        </p:txBody>
      </p:sp>
      <p:sp>
        <p:nvSpPr>
          <p:cNvPr id="3" name="Content Placeholder 2"/>
          <p:cNvSpPr>
            <a:spLocks noGrp="1"/>
          </p:cNvSpPr>
          <p:nvPr>
            <p:ph idx="1"/>
          </p:nvPr>
        </p:nvSpPr>
        <p:spPr/>
        <p:txBody>
          <a:bodyPr/>
          <a:lstStyle/>
          <a:p>
            <a:pPr>
              <a:defRPr sz="1600"/>
            </a:pPr>
            <a:r>
              <a:t>Les enveloppes des canalisations métalliques ne doivent pas être utilisées comme conducteur PEN, à l’exception des canalisations préfabriquées conformes à la NF C 63-422.</a:t>
            </a:r>
          </a:p>
          <a:p>
            <a:pPr>
              <a:defRPr sz="1600"/>
            </a:pPr>
            <a:r>
              <a:t>Certains câbles comportant un conducteur non isolé (assemblé avec les conducteurs de phase ou conducteur concentrique disposé en méandres), qui ont été conçus pour des réseaux souterrains de distribution publique à basse tension avec neutre mis directement à la terre ainsi que les branchements dérivés sur ces réseaux, ne peuvent être utilisés que dans les branchements faisant l'objet de la NF C 14-100.</a:t>
            </a:r>
          </a:p>
          <a:p>
            <a:pPr>
              <a:defRPr sz="1600"/>
            </a:pPr>
            <a:r>
              <a:t>C.</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543.4.3 Si, à partir de n'importe quel point de l'installation, le conducteur neutre et le conducteur</a:t>
            </a:r>
          </a:p>
        </p:txBody>
      </p:sp>
      <p:sp>
        <p:nvSpPr>
          <p:cNvPr id="3" name="Content Placeholder 2"/>
          <p:cNvSpPr>
            <a:spLocks noGrp="1"/>
          </p:cNvSpPr>
          <p:nvPr>
            <p:ph idx="1"/>
          </p:nvPr>
        </p:nvSpPr>
        <p:spPr/>
        <p:txBody>
          <a:bodyPr/>
          <a:lstStyle/>
          <a:p>
            <a:pPr>
              <a:defRPr sz="1600"/>
            </a:pPr>
            <a:r>
              <a:t>de protection sont séparés, il n'est pas permis de les relier ensemble en aval de ce point.</a:t>
            </a:r>
          </a:p>
          <a:p>
            <a:pPr>
              <a:defRPr sz="1600"/>
            </a:pPr>
            <a:r>
              <a:t>Le conducteur PEN doit être relié à la borne ou à la barre prévue pour le conducteur de protection.</a:t>
            </a:r>
          </a:p>
          <a:p>
            <a:pPr>
              <a:defRPr sz="1600"/>
            </a:pPr>
            <a:r>
              <a:t>Cette prescription n'interdit pas la mise en place d'une barre commune aux PEN, PE et neutre.</a:t>
            </a:r>
          </a:p>
          <a:p>
            <a:pPr>
              <a:defRPr sz="1600"/>
            </a:pPr>
            <a:r>
              <a:t>- 274 -   Arrivée TNC  PEN  PE  N  PEN  TNS  TNC  Circuits de distribution  Figure 543A – Exemple de réalisation.</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543.4.4 Les éléments conducteurs ne doivent pas être utilisés comme conducteurs PEN.</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543.5 Conducteur de protection utilisé à des fins de mise à la terre fonctionnelle</a:t>
            </a:r>
          </a:p>
        </p:txBody>
      </p:sp>
      <p:sp>
        <p:nvSpPr>
          <p:cNvPr id="3" name="Content Placeholder 2"/>
          <p:cNvSpPr>
            <a:spLocks noGrp="1"/>
          </p:cNvSpPr>
          <p:nvPr>
            <p:ph idx="1"/>
          </p:nvPr>
        </p:nvSpPr>
        <p:spPr/>
        <p:txBody>
          <a:bodyPr/>
          <a:lstStyle/>
          <a:p>
            <a:pPr>
              <a:defRPr sz="1600"/>
            </a:pPr>
            <a:r>
              <a:t>Si un tel conducteur est utilisé, il doit satisfaire aux prescriptions relatives aux conducteurs de protection.</a:t>
            </a:r>
          </a:p>
          <a:p>
            <a:pPr>
              <a:defRPr sz="1600"/>
            </a:pPr>
            <a:r>
              <a:t>De plus, il doit aussi satisfaire à celles relatives à la mise à la terre et aux liaisons équipotentielles fonctionnelles (voir 545).</a:t>
            </a:r>
          </a:p>
          <a:p>
            <a:pPr>
              <a:defRPr sz="1600"/>
            </a:pPr>
            <a:r>
              <a:t>Un conducteur de retour en courant continu d’une alimentation de puissance de matériels de traitement de l’information peut être utilisé comme conducteur associé de protection et de mise à la terre fonctionnelle.</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543.6 Disposition des conducteurs de protection</a:t>
            </a:r>
          </a:p>
        </p:txBody>
      </p:sp>
      <p:sp>
        <p:nvSpPr>
          <p:cNvPr id="3" name="Content Placeholder 2"/>
          <p:cNvSpPr>
            <a:spLocks noGrp="1"/>
          </p:cNvSpPr>
          <p:nvPr>
            <p:ph idx="1"/>
          </p:nvPr>
        </p:nvSpPr>
        <p:spPr/>
        <p:txBody>
          <a:bodyPr/>
          <a:lstStyle/>
          <a:p>
            <a:pPr>
              <a:defRPr sz="1600"/>
            </a:pPr>
            <a:r>
              <a:t>Si des dispositifs de protection contre les surintensités sont utilisés pour la protection contre les contacts indirects, le conducteur de protection doit être incorporé dans la même canalisation que celle contenant les conducteurs actifs ou doit être situé à proximité immédiate.</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543.7 Conducteurs de protection renforcée pour des courants de fuite supérieurs à 10 mA</a:t>
            </a:r>
          </a:p>
        </p:txBody>
      </p:sp>
      <p:sp>
        <p:nvSpPr>
          <p:cNvPr id="3" name="Content Placeholder 2"/>
          <p:cNvSpPr>
            <a:spLocks noGrp="1"/>
          </p:cNvSpPr>
          <p:nvPr>
            <p:ph idx="1"/>
          </p:nvPr>
        </p:nvSpPr>
        <p:spPr/>
        <p:txBody>
          <a:bodyPr/>
          <a:lstStyle/>
          <a:p>
            <a:pPr>
              <a:defRPr sz="1600"/>
            </a:pPr>
            <a:r>
              <a:t>Pour des matériels d’utilisation avec des courants de fuite indiqués supérieurs à 10 mA destinés à être connectés de manière permanente, des conducteurs de protection doivent être conçus comme suit :  -  soit le conducteur de protection doit avoir une section d’au moins 10 mm2 en cuivre ou 16 mm2 en aluminium, pour l’ensemble de son parcours  NOTE - Le conducteur PEN conforme à 543.</a:t>
            </a:r>
          </a:p>
          <a:p>
            <a:pPr>
              <a:defRPr sz="1600"/>
            </a:pPr>
            <a:r>
              <a:t>4 satisfait   à cette prescription.</a:t>
            </a:r>
          </a:p>
          <a:p>
            <a:pPr>
              <a:defRPr sz="1600"/>
            </a:pPr>
            <a:r>
              <a:t>-  soit un second conducteur de protection de section au moins égale à celle requise pour la protection contre les contacts indirects doit être mis en œuvre jusqu’au point où le conducteur de protection ou le conducteur PEN présente une section d’au moins 10 mm2 en cuivre ou 16 mm2 en aluminium.</a:t>
            </a:r>
          </a:p>
          <a:p>
            <a:pPr>
              <a:defRPr sz="1600"/>
            </a:pPr>
            <a:r>
              <a:t>Ceci suppose que l’appareil possède soit une borne de capacité 10 mm2 Cu ou 16 mm2 Alu, soit une borne séparée pour un second conducteur de protection.</a:t>
            </a:r>
          </a:p>
          <a:p>
            <a:pPr>
              <a:defRPr sz="1600"/>
            </a:pPr>
            <a:r>
              <a:t>Si ces dispositions ne sont pas prévues, il est considéré que le courant de fuite est inférieur à 10 mA.</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544.1 Conducteurs d'équipotentialité principale</a:t>
            </a:r>
          </a:p>
        </p:txBody>
      </p:sp>
      <p:sp>
        <p:nvSpPr>
          <p:cNvPr id="3" name="Content Placeholder 2"/>
          <p:cNvSpPr>
            <a:spLocks noGrp="1"/>
          </p:cNvSpPr>
          <p:nvPr>
            <p:ph idx="1"/>
          </p:nvPr>
        </p:nvSpPr>
        <p:spPr/>
        <p:txBody>
          <a:bodyPr/>
          <a:lstStyle/>
          <a:p>
            <a:pPr>
              <a:defRPr sz="1600"/>
            </a:pPr>
            <a:r>
              <a:t>Les conducteurs d'équipotentialité principale doivent avoir une section non inférieure à la moitié de celle du conducteur de protection de la plus grande section de l'installation, avec un minimum de 6 mm².</a:t>
            </a:r>
          </a:p>
          <a:p>
            <a:pPr>
              <a:defRPr sz="1600"/>
            </a:pPr>
            <a:r>
              <a:t>Toutefois, leur section peut être limitée à 25 mm² s'ils sont en cuivre ou à la valeur équivalente s'ils sont en un autre métal.</a:t>
            </a:r>
          </a:p>
          <a:p>
            <a:pPr>
              <a:defRPr sz="1600"/>
            </a:pPr>
            <a:r>
              <a:t>En schéma TN ou IT, dans les bâtiments de grandes dimensions, soit du fait de leur hauteur, soit du fait de leur surface, il est recommandé, pour diminuer les tensions de contact, de compléter liaison équipotentielle principale supplémentaire (appelée parfois locale), à chaque niveau pour un bâtiment élevé, au niveau de chaque tableau divisionnaire important pour un bâtiment de grande surface.</a:t>
            </a:r>
          </a:p>
          <a:p>
            <a:pPr>
              <a:defRPr sz="1600"/>
            </a:pPr>
            <a:r>
              <a:t>liaison équipotentielle principale, par une  la.</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544.2.1 Un conducteur d'équipotentialité supplémentaire reliant deux masses doit avoir une</a:t>
            </a:r>
          </a:p>
        </p:txBody>
      </p:sp>
      <p:sp>
        <p:nvSpPr>
          <p:cNvPr id="3" name="Content Placeholder 2"/>
          <p:cNvSpPr>
            <a:spLocks noGrp="1"/>
          </p:cNvSpPr>
          <p:nvPr>
            <p:ph idx="1"/>
          </p:nvPr>
        </p:nvSpPr>
        <p:spPr/>
        <p:txBody>
          <a:bodyPr/>
          <a:lstStyle/>
          <a:p>
            <a:pPr>
              <a:defRPr sz="1600"/>
            </a:pPr>
            <a:r>
              <a:t>section non inférieure à la plus petite de celle des conducteurs de protection reliés à ces masses.</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544.2.2 Un conducteur d'équipotentialité supplémentaire reliant une masse à un élément</a:t>
            </a:r>
          </a:p>
        </p:txBody>
      </p:sp>
      <p:sp>
        <p:nvSpPr>
          <p:cNvPr id="3" name="Content Placeholder 2"/>
          <p:cNvSpPr>
            <a:spLocks noGrp="1"/>
          </p:cNvSpPr>
          <p:nvPr>
            <p:ph idx="1"/>
          </p:nvPr>
        </p:nvSpPr>
        <p:spPr/>
        <p:txBody>
          <a:bodyPr/>
          <a:lstStyle/>
          <a:p>
            <a:pPr>
              <a:defRPr sz="1600"/>
            </a:pPr>
            <a:r>
              <a:t>conducteur doit avoir une section non inférieure à la moitié de celle du conducteur de protection relié à cette masse.</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544.2.3 Ces conducteurs doivent satisfaire aux conditions de 543.1.3.</a:t>
            </a:r>
          </a:p>
        </p:txBody>
      </p:sp>
      <p:sp>
        <p:nvSpPr>
          <p:cNvPr id="3" name="Content Placeholder 2"/>
          <p:cNvSpPr>
            <a:spLocks noGrp="1"/>
          </p:cNvSpPr>
          <p:nvPr>
            <p:ph idx="1"/>
          </p:nvPr>
        </p:nvSpPr>
        <p:spPr/>
        <p:txBody>
          <a:bodyPr/>
          <a:lstStyle/>
          <a:p>
            <a:pPr>
              <a:defRPr sz="1600"/>
            </a:pPr>
            <a:r>
              <a:t>- Entre deux masses :  - Entre une masse et une structure :  Si SPE1 ≤ SPE2 SLS = SPE1  SLS  SPE  2  (*)  SPE 1  SPE 2  SPE  SLS  SLS  Structure métallique (Canalisations, charpentes etc.</a:t>
            </a:r>
          </a:p>
          <a:p>
            <a:pPr>
              <a:defRPr sz="1600"/>
            </a:pPr>
            <a:r>
              <a:t>)  (*) avec minimum de  2,5 mm² Cu si les conducteurs sont mécaniquement protégés, 4 mm² Cu si les conducteurs ne sont pas mécaniquement protégés.</a:t>
            </a:r>
          </a:p>
          <a:p>
            <a:pPr>
              <a:defRPr sz="1600"/>
            </a:pPr>
            <a:r>
              <a:t>Figure 544A – Sections des conducteurs d’équipotentialité supplémentaires  Les conducteurs non incorporés dans un câble sont mécaniquement protégés lorsqu'ils sont posés dans des conduits, des goulottes, des moulures ou protégés de façon analogue.</a:t>
            </a:r>
          </a:p>
          <a:p>
            <a:pPr>
              <a:defRPr sz="1600"/>
            </a:pPr>
            <a:r>
              <a:t>- 276 -   545 Dispositions de mise à la terre et liaisons équipotentielles fonctionnelles.</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545.1 Généralités</a:t>
            </a:r>
          </a:p>
        </p:txBody>
      </p:sp>
      <p:sp>
        <p:nvSpPr>
          <p:cNvPr id="3" name="Content Placeholder 2"/>
          <p:cNvSpPr>
            <a:spLocks noGrp="1"/>
          </p:cNvSpPr>
          <p:nvPr>
            <p:ph idx="1"/>
          </p:nvPr>
        </p:nvSpPr>
        <p:spPr/>
        <p:txBody>
          <a:bodyPr/>
          <a:lstStyle/>
          <a:p>
            <a:pPr>
              <a:defRPr sz="1600"/>
            </a:pPr>
            <a:r>
              <a:t>Le présent paragraphe traite des prescriptions relatives à la mise à la terre et aux liaisons équipotentielles fonctionnelles des matériels de traitement de l'information et analogues nécessitant des interconnexions pour la transmission de données.</a:t>
            </a:r>
          </a:p>
          <a:p>
            <a:pPr>
              <a:defRPr sz="1600"/>
            </a:pPr>
            <a:r>
              <a:t>NOTES - 1 - Exemples de matériels et d'installations pour lesquels ce paragraphe peut être applicable :  - matériels de communication et de transmission de données ou des matériels de traitement de l’information ou des installations utilisant la transmission des signaux avec retour à la terre dans l'installation intérieure ou extérieure d'un bâtiment ;  -  réseaux d'alimentation de puissance en courant continu desservant l'information à l'intérieur d'un bâtiment ;  les matériels de  traitement de  - matériels ou installations d'auto-commutateurs ;  -  -  -  -  réseaux locaux de transmission de données ;  systèmes d'alarme incendie et de détection d'intrusion ;  systèmes de gestion technique des bâtiments ;  systèmes d'usinage assistés par ordinateur.</a:t>
            </a:r>
          </a:p>
          <a:p>
            <a:pPr>
              <a:defRPr sz="1600"/>
            </a:pPr>
            <a:r>
              <a:t>2 - Dans ce paragraphe, le terme "fonctionnel" intéresse l'utilisation de la mise à la terre et de liaisons équipotentielles pour des raisons de transmission de signaux et de CEM.</a:t>
            </a:r>
          </a:p>
          <a:p>
            <a:pPr>
              <a:defRPr sz="1600"/>
            </a:pPr>
            <a:r>
              <a:t>3 - Ce paragraphe ne traite pas de l'influence possible de la foudre (voir la NF C 17-100).</a:t>
            </a:r>
          </a:p>
          <a:p>
            <a:pPr>
              <a:defRPr sz="1600"/>
            </a:pPr>
            <a:r>
              <a:t>L’article 443 traite de la protection contre les surtensions d'origine atmosphérique ou dues à des manoeuvres et de la protection contre les perturbations électromagnétiques dans les installations des bâtiments.</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545.2 Ceinturage d'équipotentialité</a:t>
            </a:r>
          </a:p>
        </p:txBody>
      </p:sp>
      <p:sp>
        <p:nvSpPr>
          <p:cNvPr id="3" name="Content Placeholder 2"/>
          <p:cNvSpPr>
            <a:spLocks noGrp="1"/>
          </p:cNvSpPr>
          <p:nvPr>
            <p:ph idx="1"/>
          </p:nvPr>
        </p:nvSpPr>
        <p:spPr/>
        <p:txBody>
          <a:bodyPr/>
          <a:lstStyle/>
          <a:p>
            <a:pPr>
              <a:defRPr sz="1600"/>
            </a:pPr>
            <a:r>
              <a:t>Si un ceinturage d’équipotentialité est prescrit pour des raisons fonctionnelles, il doit être raccordé, par le chemin pratique le plus court possible, à la borne principale de terre du bâtiment.</a:t>
            </a:r>
          </a:p>
          <a:p>
            <a:pPr>
              <a:defRPr sz="1600"/>
            </a:pPr>
            <a:r>
              <a:t>NOTES - 1 - Le ceinturage d’équipotentialité peut être nu ou isolé.</a:t>
            </a:r>
          </a:p>
          <a:p>
            <a:pPr>
              <a:defRPr sz="1600"/>
            </a:pPr>
            <a:r>
              <a:t>2 - Le ceinturage d’équipotentialité est mis en œuvre de préférence de manière à ce qu’il soit accessible sur tout son parcours, par exemple dans une goulotte.</a:t>
            </a:r>
          </a:p>
          <a:p>
            <a:pPr>
              <a:defRPr sz="1600"/>
            </a:pPr>
            <a:r>
              <a:t>Pour éviter la corrosion, il peut être nécessaire d’isoler les conducteurs nus au niveau des supports et lors du passage des cloisons.</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545.2.1 Section du ceinturage d’équipotentialité</a:t>
            </a:r>
          </a:p>
        </p:txBody>
      </p:sp>
      <p:sp>
        <p:nvSpPr>
          <p:cNvPr id="3" name="Content Placeholder 2"/>
          <p:cNvSpPr>
            <a:spLocks noGrp="1"/>
          </p:cNvSpPr>
          <p:nvPr>
            <p:ph idx="1"/>
          </p:nvPr>
        </p:nvSpPr>
        <p:spPr/>
        <p:txBody>
          <a:bodyPr/>
          <a:lstStyle/>
          <a:p>
            <a:pPr>
              <a:defRPr sz="1600"/>
            </a:pPr>
            <a:r>
              <a:t>La section du ceinturage d'équipotentialité doit être au moins égale à 25 mm2.</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545.2.2 Connexions au ceinturage d'équipotentialité</a:t>
            </a:r>
          </a:p>
        </p:txBody>
      </p:sp>
      <p:sp>
        <p:nvSpPr>
          <p:cNvPr id="3" name="Content Placeholder 2"/>
          <p:cNvSpPr>
            <a:spLocks noGrp="1"/>
          </p:cNvSpPr>
          <p:nvPr>
            <p:ph idx="1"/>
          </p:nvPr>
        </p:nvSpPr>
        <p:spPr/>
        <p:txBody>
          <a:bodyPr/>
          <a:lstStyle/>
          <a:p>
            <a:pPr>
              <a:defRPr sz="1600"/>
            </a:pPr>
            <a:r>
              <a:t>Les conducteurs suivants doivent être connectés au ceinturage d'équipotentialité :  -  -  -  -  -  -  -  les écrans conducteurs, les gaines et armures conductrices des câbles de communication ;  les enveloppes conductrices des matériels de communication ;  les conducteurs de mise à la terre des dispositifs de protection contre les surtensions ;  les conducteurs de mise à la terre des systèmes d'antennes de radiocommunication ;  le conducteur de mise à la terre de la polarité reliée à la terre d'une alimentation en courant continu pour un matériel de traitement de l'information ;  les conducteurs de mise à la terre fonctionnelle ;  les conducteurs de descente des paratonnerres.</a:t>
            </a:r>
          </a:p>
          <a:p>
            <a:pPr>
              <a:defRPr sz="1600"/>
            </a:pPr>
            <a:r>
              <a:t>- 277 -.</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545.3 Liaisons équipotentielles fonctionnelles</a:t>
            </a:r>
          </a:p>
        </p:txBody>
      </p:sp>
      <p:sp>
        <p:nvSpPr>
          <p:cNvPr id="3" name="Content Placeholder 2"/>
          <p:cNvSpPr>
            <a:spLocks noGrp="1"/>
          </p:cNvSpPr>
          <p:nvPr>
            <p:ph idx="1"/>
          </p:nvPr>
        </p:nvSpPr>
        <p:spPr/>
        <p:txBody>
          <a:bodyPr/>
          <a:lstStyle/>
          <a:p>
            <a:pPr>
              <a:defRPr sz="1600"/>
            </a:pPr>
            <a:r>
              <a:t>Si une liaison équipotentielle est réalisée pour des raisons fonctionnelles, elle inclut les écrans de câbles, les éléments métalliques des canalisations électriques, les canalisations métalliques de liquides et de gaz.</a:t>
            </a:r>
          </a:p>
          <a:p>
            <a:pPr>
              <a:defRPr sz="1600"/>
            </a:pPr>
            <a:r>
              <a:t>les éléments métalliques de  la construction,  L’intégration de parties métalliques et de l'armature des bâtiments dans la mise à la terre peut être avantageuse.</a:t>
            </a:r>
          </a:p>
          <a:p>
            <a:pPr>
              <a:defRPr sz="1600"/>
            </a:pPr>
            <a:r>
              <a:t>Les renforts métalliques doivent alors être soudés ensemble et connectés au ceinturage d’équipotentialité.</a:t>
            </a:r>
          </a:p>
          <a:p>
            <a:pPr>
              <a:defRPr sz="1600"/>
            </a:pPr>
            <a:r>
              <a:t>Si le soudage n'est pas permis, il est recommandé d’incorporer des tiges complémentaires en acier reliées aux tiges de renfort au moyen de fils métalliques.</a:t>
            </a:r>
          </a:p>
          <a:p>
            <a:pPr>
              <a:defRPr sz="1600"/>
            </a:pPr>
            <a:r>
              <a:t>Les prescriptions auxquelles doivent satisfaire les liaisons équipotentielles fonctionnelles (par exemple section, forme, position) dépendent de la gamme de fréquences utilisée par les matériels de l'information et analogues, des conditions présumées de l'environnement électromagnétique et des caractéristiques d'immunité/fréquence des matériels (voir le guide UTE C 15-900).</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545.4 Conducteurs de mise à la terre fonctionnelle</a:t>
            </a:r>
          </a:p>
        </p:txBody>
      </p:sp>
      <p:sp>
        <p:nvSpPr>
          <p:cNvPr id="3" name="Content Placeholder 2"/>
          <p:cNvSpPr>
            <a:spLocks noGrp="1"/>
          </p:cNvSpPr>
          <p:nvPr>
            <p:ph idx="1"/>
          </p:nvPr>
        </p:nvSpPr>
        <p:spPr/>
        <p:txBody>
          <a:bodyPr/>
          <a:lstStyle/>
          <a:p>
            <a:pPr>
              <a:defRPr sz="1600"/>
            </a:pPr>
            <a:r>
              <a:t>Une mise à la terre fonctionnelle peut être réalisée en utilisant le conducteur de protection du circuit d’alimentation des matériels de traitement de l’information ou en utilisant un conducteur séparé spécifique.</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545.4.1 Section</a:t>
            </a:r>
          </a:p>
        </p:txBody>
      </p:sp>
      <p:sp>
        <p:nvSpPr>
          <p:cNvPr id="3" name="Content Placeholder 2"/>
          <p:cNvSpPr>
            <a:spLocks noGrp="1"/>
          </p:cNvSpPr>
          <p:nvPr>
            <p:ph idx="1"/>
          </p:nvPr>
        </p:nvSpPr>
        <p:spPr/>
        <p:txBody>
          <a:bodyPr/>
          <a:lstStyle/>
          <a:p>
            <a:pPr>
              <a:defRPr sz="1600"/>
            </a:pPr>
            <a:r>
              <a:t>La section des conducteurs de mise à la terre fonctionnelle doit prendre en compte les éventuels courants de défaut pouvant s'écouler ; les données appropriées doivent être obtenues auprès du constructeur.</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545.4.2 Types de conducteurs de mise à la terre combinée de protection et fonctionnelle</a:t>
            </a:r>
          </a:p>
        </p:txBody>
      </p:sp>
      <p:sp>
        <p:nvSpPr>
          <p:cNvPr id="3" name="Content Placeholder 2"/>
          <p:cNvSpPr>
            <a:spLocks noGrp="1"/>
          </p:cNvSpPr>
          <p:nvPr>
            <p:ph idx="1"/>
          </p:nvPr>
        </p:nvSpPr>
        <p:spPr/>
        <p:txBody>
          <a:bodyPr/>
          <a:lstStyle/>
          <a:p>
            <a:pPr>
              <a:defRPr sz="1600"/>
            </a:pPr>
            <a:r>
              <a:t>Des exemples de types de conducteurs de mise à la terre combinée de protection et fonctionnelle sont donnés en 543.</a:t>
            </a:r>
          </a:p>
          <a:p>
            <a:pPr>
              <a:defRPr sz="1600"/>
            </a:pPr>
            <a:r>
              <a:t>2.</a:t>
            </a:r>
          </a:p>
          <a:p>
            <a:pPr>
              <a:defRPr sz="1600"/>
            </a:pPr>
            <a:r>
              <a:t>1.</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545.5 Transmission des signaux et interconnexions entre des prises terre séparées</a:t>
            </a:r>
          </a:p>
        </p:txBody>
      </p:sp>
      <p:sp>
        <p:nvSpPr>
          <p:cNvPr id="3" name="Content Placeholder 2"/>
          <p:cNvSpPr>
            <a:spLocks noGrp="1"/>
          </p:cNvSpPr>
          <p:nvPr>
            <p:ph idx="1"/>
          </p:nvPr>
        </p:nvSpPr>
        <p:spPr/>
        <p:txBody>
          <a:bodyPr/>
          <a:lstStyle/>
          <a:p>
            <a:pPr>
              <a:defRPr sz="1600"/>
            </a:pPr>
            <a:r>
              <a:t>Si une transmission de signaux est prévue entre des bâtiments avec des prises de terre séparées, il convient :  -  soit d'interconnecter les deux prises de terre par un conducteur d’accompagnement du câble de transmission des signaux, lequel doit avoir une section minimale de 16 mm2 en cuivre ou équivalent ;  -  soit de réaliser une liaison par câbles non métalliques à fibres optiques.</a:t>
            </a:r>
          </a:p>
          <a:p>
            <a:pPr>
              <a:defRPr sz="1600"/>
            </a:pPr>
            <a:r>
              <a:t>NOTE - Les défauts sur les réseaux de distribution à haute tension et la foudre peuvent créer des différences de potentiel excessives entre différents bâtiments ou zones et entraîner des conditions dangereuses pour les matériels.</a:t>
            </a:r>
          </a:p>
          <a:p>
            <a:pPr>
              <a:defRPr sz="1600"/>
            </a:pPr>
            <a:r>
              <a:t>- 278 -.</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A – (normative) – Méthode de calcul du facteur k en 543.1.2</a:t>
            </a:r>
          </a:p>
        </p:txBody>
      </p:sp>
      <p:sp>
        <p:nvSpPr>
          <p:cNvPr id="3" name="Content Placeholder 2"/>
          <p:cNvSpPr>
            <a:spLocks noGrp="1"/>
          </p:cNvSpPr>
          <p:nvPr>
            <p:ph idx="1"/>
          </p:nvPr>
        </p:nvSpPr>
        <p:spPr/>
        <p:txBody>
          <a:bodyPr/>
          <a:lstStyle/>
          <a:p>
            <a:pPr>
              <a:defRPr sz="1600"/>
            </a:pPr>
            <a:r>
              <a:t>C  Le facteur k est déterminé par la formule :  β +  c( ρ  20  20)  ln(1  +  θ − θ f β + θ  i  i  )  Q  =  k  où  Qc est la capacité volumétrique de chaleur du matériau du conducteur, en J°/C mm3 à 20 °C  β est l’inverse du coefficient de température de la résistivité à 0°C du conducteur, en °C  ρ20 est la résistivité du conducteur à 20 °C, en Ω.</a:t>
            </a:r>
          </a:p>
          <a:p>
            <a:pPr>
              <a:defRPr sz="1600"/>
            </a:pPr>
            <a:r>
              <a:t>mm  θi est la température initiale du conducteur, en °C  θf est la température finale du conducteur, en °C  Tableau A.</a:t>
            </a:r>
          </a:p>
          <a:p>
            <a:pPr>
              <a:defRPr sz="1600"/>
            </a:pPr>
            <a:r>
              <a:t>54A - Valeurs des paramètres pour divers matériaux  Matériau  β(°C)  Qc (J/°C mm3)  ρ20 (Ω.</a:t>
            </a:r>
          </a:p>
          <a:p>
            <a:pPr>
              <a:defRPr sz="1600"/>
            </a:pPr>
            <a:r>
              <a:t>mm)  20)  β + Qc( ρ  20  Cuivre  Aluminium  Acier  234,5  228  202  3,45X10-3 2,5X10-3 3,8X10-3  17,241X10-6 28,264X10-6 138X10-6  226  148  78  Les valeurs du facteur k figurant dans les tableaux A.</a:t>
            </a:r>
          </a:p>
          <a:p>
            <a:pPr>
              <a:defRPr sz="1600"/>
            </a:pPr>
            <a:r>
              <a:t>54B à A.</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B – (normative) – Exemple d'installation de mise à la terre</a:t>
            </a:r>
          </a:p>
        </p:txBody>
      </p:sp>
      <p:sp>
        <p:nvSpPr>
          <p:cNvPr id="3" name="Content Placeholder 2"/>
          <p:cNvSpPr>
            <a:spLocks noGrp="1"/>
          </p:cNvSpPr>
          <p:nvPr>
            <p:ph idx="1"/>
          </p:nvPr>
        </p:nvSpPr>
        <p:spPr/>
        <p:txBody>
          <a:bodyPr/>
          <a:lstStyle/>
          <a:p>
            <a:pPr>
              <a:defRPr sz="1600"/>
            </a:pPr>
            <a:r>
              <a:t>Figure B1 - Terminologie  M P C B F T1 T2  1 2 3 4 5 6 7 8 9  10 11  Masse.</a:t>
            </a:r>
          </a:p>
          <a:p>
            <a:pPr>
              <a:defRPr sz="1600"/>
            </a:pPr>
            <a:r>
              <a:t>(232.</a:t>
            </a:r>
          </a:p>
          <a:p>
            <a:pPr>
              <a:defRPr sz="1600"/>
            </a:pPr>
            <a:r>
              <a:t>8) Canalisation métallique d’eau, de gaz, de chauffage, etc.</a:t>
            </a:r>
          </a:p>
          <a:p>
            <a:pPr>
              <a:defRPr sz="1600"/>
            </a:pPr>
            <a:r>
              <a:t>Elément conducteur.</a:t>
            </a:r>
          </a:p>
          <a:p>
            <a:pPr>
              <a:defRPr sz="1600"/>
            </a:pPr>
            <a:r>
              <a:t>(232.</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C – (informative) – Prises de terre</a:t>
            </a:r>
          </a:p>
        </p:txBody>
      </p:sp>
      <p:sp>
        <p:nvSpPr>
          <p:cNvPr id="3" name="Content Placeholder 2"/>
          <p:cNvSpPr>
            <a:spLocks noGrp="1"/>
          </p:cNvSpPr>
          <p:nvPr>
            <p:ph idx="1"/>
          </p:nvPr>
        </p:nvSpPr>
        <p:spPr/>
        <p:txBody>
          <a:bodyPr/>
          <a:lstStyle/>
          <a:p>
            <a:pPr>
              <a:defRPr sz="1600"/>
            </a:pPr>
            <a:r>
              <a:t>1 – Généralités  La résistance d'une prise de terre dépend de ses dimensions, de sa forme et de la résistivité du terrain dans lequel elle est établie.</a:t>
            </a:r>
          </a:p>
          <a:p>
            <a:pPr>
              <a:defRPr sz="1600"/>
            </a:pPr>
            <a:r>
              <a:t>Cette résistivité est souvent variable d'un point de terrain à l'autre, et elle varie aussi en profondeur.</a:t>
            </a:r>
          </a:p>
          <a:p>
            <a:pPr>
              <a:defRPr sz="1600"/>
            </a:pPr>
            <a:r>
              <a:t>Il est rappelé que la résistivité d'un terrain s'exprime en Ω.</a:t>
            </a:r>
          </a:p>
          <a:p>
            <a:pPr>
              <a:defRPr sz="1600"/>
            </a:pPr>
            <a:r>
              <a:t>m : c'est numériquement la résistance en ohms d'un cylindre de terrain de 1 m² de section et 1 m de longueur.</a:t>
            </a:r>
          </a:p>
          <a:p>
            <a:pPr>
              <a:defRPr sz="1600"/>
            </a:pPr>
            <a:r>
              <a:t>L'aspect superficiel du sol et sa végétation peuvent donner des indications sur le caractère plus ou moins favorable d'un terrain à l'établissement des prises de terre.</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 Eléments constitutifs</a:t>
            </a:r>
          </a:p>
        </p:txBody>
      </p:sp>
      <p:sp>
        <p:nvSpPr>
          <p:cNvPr id="3" name="Content Placeholder 2"/>
          <p:cNvSpPr>
            <a:spLocks noGrp="1"/>
          </p:cNvSpPr>
          <p:nvPr>
            <p:ph idx="1"/>
          </p:nvPr>
        </p:nvSpPr>
        <p:spPr/>
        <p:txBody>
          <a:bodyPr/>
          <a:lstStyle/>
          <a:p>
            <a:pPr>
              <a:defRPr sz="1600"/>
            </a:pPr>
            <a:r>
              <a:t>Les prises de terre spécialement établies sont réalisées à l'aide d'éléments enterrés dans le sol et qui sont en acier convenablement galvanisé à chaud, en acier enrobé de cuivre parfaitement adhérent, ou en cuivre nu.</a:t>
            </a:r>
          </a:p>
          <a:p>
            <a:pPr>
              <a:defRPr sz="1600"/>
            </a:pPr>
            <a:r>
              <a:t>Des raccords entre des métaux de nature différente ne doivent pas se trouver en contact avec le sol.</a:t>
            </a:r>
          </a:p>
          <a:p>
            <a:pPr>
              <a:defRPr sz="1600"/>
            </a:pPr>
            <a:r>
              <a:t>Sauf étude particulière, les métaux légers ne sont pas admis.</a:t>
            </a:r>
          </a:p>
          <a:p>
            <a:pPr>
              <a:defRPr sz="1600"/>
            </a:pPr>
            <a:r>
              <a:t>Les épaisseurs et diamètres minimaux des éléments indiqués ci-après tiennent compte des risques habituels de détérioration mécanique et chimique.</a:t>
            </a:r>
          </a:p>
          <a:p>
            <a:pPr>
              <a:defRPr sz="1600"/>
            </a:pPr>
            <a:r>
              <a:t>Toutefois, ces dimensions peuvent être insuffisantes, notamment lorsque des risques de corrosion importants sont à craindre.</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 Établissement des prises de terre</a:t>
            </a:r>
          </a:p>
        </p:txBody>
      </p:sp>
      <p:sp>
        <p:nvSpPr>
          <p:cNvPr id="3" name="Content Placeholder 2"/>
          <p:cNvSpPr>
            <a:spLocks noGrp="1"/>
          </p:cNvSpPr>
          <p:nvPr>
            <p:ph idx="1"/>
          </p:nvPr>
        </p:nvSpPr>
        <p:spPr/>
        <p:txBody>
          <a:bodyPr/>
          <a:lstStyle/>
          <a:p>
            <a:pPr>
              <a:defRPr sz="1600"/>
            </a:pPr>
            <a:r>
              <a:t>a) Conducteurs enfouis horizontalement.</a:t>
            </a:r>
          </a:p>
          <a:p>
            <a:pPr>
              <a:defRPr sz="1600"/>
            </a:pPr>
            <a:r>
              <a:t>- Ces conducteurs peuvent être :  -  -  -  -  des conducteurs massifs ou câblés, en cuivre nu ou recouverts d'une gaine de plomb, d'au moins 25 mm² de section ;  des feuillards en cuivre d'au moins 25 mm² de section et 2 mm d'épaisseur ;  des feuillards en acier doux galvanisé d'au moins 100 mm² de section et 3 mm d'épaisseur noyés dans le béton de propreté des fondations du bâtiment ;  des câbles en acier galvanisé d'au moins 95 mm² de section d'épaisseur noyés dans le béton de propreté des fondations du bâtiment.</a:t>
            </a:r>
          </a:p>
          <a:p>
            <a:pPr>
              <a:defRPr sz="1600"/>
            </a:pPr>
            <a:r>
              <a:t>Les câbles en fils fins (tresses) sont déconseillés.</a:t>
            </a:r>
          </a:p>
          <a:p>
            <a:pPr>
              <a:defRPr sz="1600"/>
            </a:pPr>
            <a:r>
              <a:t>La résistance R (en ohms) d'une prise de horizontalement, peut être calculée approximativement par la formule.</a:t>
            </a:r>
          </a:p>
          <a:p>
            <a:pPr>
              <a:defRPr sz="1600"/>
            </a:pPr>
            <a:r>
              <a:t>terre réalisée par un conducteur enfoui  R =  2  L  dans laquelle ρ est la résistivité du terrain (en ohms.</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551.1 Généralités</a:t>
            </a:r>
          </a:p>
        </p:txBody>
      </p:sp>
      <p:sp>
        <p:nvSpPr>
          <p:cNvPr id="3" name="Content Placeholder 2"/>
          <p:cNvSpPr>
            <a:spLocks noGrp="1"/>
          </p:cNvSpPr>
          <p:nvPr>
            <p:ph idx="1"/>
          </p:nvPr>
        </p:nvSpPr>
        <p:spPr/>
        <p:txBody>
          <a:bodyPr/>
          <a:lstStyle/>
          <a:p>
            <a:pPr>
              <a:defRPr sz="1600"/>
            </a:pPr>
            <a:r>
              <a:t>L es générateurs d’énergie électrique peuvent être des machines tournantes ou des machines convertissant une énergie mécanique, chimique ou solaire en énergie électrique, avec une interface statique.</a:t>
            </a:r>
          </a:p>
          <a:p>
            <a:pPr>
              <a:defRPr sz="1600"/>
            </a:pPr>
            <a:r>
              <a:t>Leur mise en œuvre doit être conforme aux prescriptions réglementaires concernant le raccordement des installations comportant des moyens de production, qui prévoient, le cas échéant, l'accord préalable du service local de distribution.</a:t>
            </a:r>
          </a:p>
          <a:p>
            <a:pPr>
              <a:defRPr sz="1600"/>
            </a:pPr>
            <a:r>
              <a:t>La protection contre les court-circuits et la protection contre les contacts indirects doivent être assurées aussi bien l'installation est alimentée par une source quelconque (générateur ou réseau de distribution publique) que, le cas échéant, par les différentes sources en parallèle.</a:t>
            </a:r>
          </a:p>
          <a:p>
            <a:pPr>
              <a:defRPr sz="1600"/>
            </a:pPr>
            <a:r>
              <a:t>lorsque  NOTE – Des précautions peuvent être nécessaires pour limiter le courant circulant dans les liaisons entre les points neutres des sources, en particulier en ce qui concerne l'effet de l'harmonique 3.</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551.1.1 Prescriptions supplémentaires pour</a:t>
            </a:r>
          </a:p>
        </p:txBody>
      </p:sp>
      <p:sp>
        <p:nvSpPr>
          <p:cNvPr id="3" name="Content Placeholder 2"/>
          <p:cNvSpPr>
            <a:spLocks noGrp="1"/>
          </p:cNvSpPr>
          <p:nvPr>
            <p:ph idx="1"/>
          </p:nvPr>
        </p:nvSpPr>
        <p:spPr/>
        <p:txBody>
          <a:bodyPr/>
          <a:lstStyle/>
          <a:p>
            <a:pPr>
              <a:defRPr sz="1600"/>
            </a:pPr>
            <a:r>
              <a:t>les générateurs d’énergie électrique constituant une alimentation de remplacement du réseau de distribution publique (systèmes en attente)  Des dispositions satisfaisant être prises de façon que le générateur ne puisse en aucun cas fonctionner en parallèle avec le réseau de distribution publique.</a:t>
            </a:r>
          </a:p>
          <a:p>
            <a:pPr>
              <a:defRPr sz="1600"/>
            </a:pPr>
            <a:r>
              <a:t>Des dispositions appropriées peuvent être :    aux prescriptions de sectionnement de la partie 4-46 doivent  –  –  –  –  –  un verrouillage électrique et mécanique entre les mécanismes de fonctionnement ou les circuits de commande des dispositifs d'inversion ;  un système de blocage avec une seule clef de transfert ;  un commutateur à trois positions, à deux directions, sans chevauchement ;  un dispositif automatique de commutation avec un verrouillage approprié ;  tout autre moyen fournissant un degré équivalent de sécurité de fonctionnement.</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551.1.2 Prescriptions supplémentaires pour</a:t>
            </a:r>
          </a:p>
        </p:txBody>
      </p:sp>
      <p:sp>
        <p:nvSpPr>
          <p:cNvPr id="3" name="Content Placeholder 2"/>
          <p:cNvSpPr>
            <a:spLocks noGrp="1"/>
          </p:cNvSpPr>
          <p:nvPr>
            <p:ph idx="1"/>
          </p:nvPr>
        </p:nvSpPr>
        <p:spPr/>
        <p:txBody>
          <a:bodyPr/>
          <a:lstStyle/>
          <a:p>
            <a:pPr>
              <a:defRPr sz="1600"/>
            </a:pPr>
            <a:r>
              <a:t>pouvant fonctionner en parallèle avec le réseau de distribution publique  les générateurs d’énergie électrique  Lors du choix d'un générateur d’énergie électrique destiné à fonctionner en parallèle avec le réseau de distribution publique, toutes dispositions doivent être prises pour éviter des effets nuisibles sur le réseau de distribution publique ou sur d'autres installations du fait du facteur de puissance, des variations de tension, des distorsions harmoniques, des déséquilibres, des démarrages, des effets de tension ou de synchronisation.</a:t>
            </a:r>
          </a:p>
          <a:p>
            <a:pPr>
              <a:defRPr sz="1600"/>
            </a:pPr>
            <a:r>
              <a:t>Lorsqu'une synchronisation est nécessaire, il est préférable d'utiliser des systèmes automatiques de synchronisation prenant en compte la fréquence, la phase et la tension.</a:t>
            </a:r>
          </a:p>
          <a:p>
            <a:pPr>
              <a:defRPr sz="1600"/>
            </a:pPr>
            <a:r>
              <a:t>fluctuation de  Une protection, dite de découplage, doit être prévue pour déconnecter le générateur d’énergie électrique, en cas de disparition de l’alimentation du réseau de distribution publique, de variations de la tension ou de la fréquence supérieures à celles déclarées pour l'alimentation normale.</a:t>
            </a:r>
          </a:p>
          <a:p>
            <a:pPr>
              <a:defRPr sz="1600"/>
            </a:pPr>
            <a:r>
              <a:t>Le type de protection, sa sensibilité et le temps de réponse dépendent de la protection du réseau de distribution publique et doivent être agréés par le distributeur.</a:t>
            </a:r>
          </a:p>
          <a:p>
            <a:pPr>
              <a:defRPr sz="1600"/>
            </a:pPr>
            <a:r>
              <a:t>Son réglage est rendu inaccessible à l'utilisateur par des scellés ou toute autre disposition.</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551.2.1 Groupes électrogènes</a:t>
            </a:r>
          </a:p>
        </p:txBody>
      </p:sp>
      <p:sp>
        <p:nvSpPr>
          <p:cNvPr id="3" name="Content Placeholder 2"/>
          <p:cNvSpPr>
            <a:spLocks noGrp="1"/>
          </p:cNvSpPr>
          <p:nvPr>
            <p:ph idx="1"/>
          </p:nvPr>
        </p:nvSpPr>
        <p:spPr/>
        <p:txBody>
          <a:bodyPr/>
          <a:lstStyle/>
          <a:p>
            <a:pPr>
              <a:defRPr sz="1600"/>
            </a:pPr>
            <a:r>
              <a:t>Les locaux où sont installés les moteurs thermiques, quelle que soit la puissance de ces derniers, doivent être largement ventilés sur l'extérieur.</a:t>
            </a:r>
          </a:p>
          <a:p>
            <a:pPr>
              <a:defRPr sz="1600"/>
            </a:pPr>
            <a:r>
              <a:t>Toutes dispositions doivent être prises pour que les gaz de combustion soient évacués directement sur l'extérieur et ne puissent en aucun cas se répandre dans les autres locaux.</a:t>
            </a:r>
          </a:p>
          <a:p>
            <a:pPr>
              <a:defRPr sz="1600"/>
            </a:pPr>
            <a:r>
              <a:t>Les conduits d'évacuation des gaz de combustion doivent être réalisés en matériaux incombustibles, être étanches et présenter un degré coupe-feu égal au degré de stabilité au feu du bâtiment.</a:t>
            </a:r>
          </a:p>
          <a:p>
            <a:pPr>
              <a:defRPr sz="1600"/>
            </a:pPr>
            <a:r>
              <a:t>Des règlements de sécurité relatifs respectivement aux établissements recevant du public et aux immeubles de grande hauteur indiquent les conditions de mise en oeuvre dans le bâtiment et d’alimentation en combustible des groupes, ainsi que les conditions de stockage des combustibles liquides.</a:t>
            </a:r>
          </a:p>
          <a:p>
            <a:pPr>
              <a:defRPr sz="1600"/>
            </a:pPr>
            <a:r>
              <a:t>Des règlements fixent des limites des niveaux acoustiques.</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553.1 Redresseurs et convertisseurs</a:t>
            </a:r>
          </a:p>
        </p:txBody>
      </p:sp>
      <p:sp>
        <p:nvSpPr>
          <p:cNvPr id="3" name="Content Placeholder 2"/>
          <p:cNvSpPr>
            <a:spLocks noGrp="1"/>
          </p:cNvSpPr>
          <p:nvPr>
            <p:ph idx="1"/>
          </p:nvPr>
        </p:nvSpPr>
        <p:spPr/>
        <p:txBody>
          <a:bodyPr/>
          <a:lstStyle/>
          <a:p>
            <a:pPr>
              <a:defRPr sz="1600"/>
            </a:pPr>
            <a:r>
              <a:t>La conversion se fait avec ou sans isolement galvanique entre l'entrée et la sortie, suivant la technologie utilisée.</a:t>
            </a:r>
          </a:p>
          <a:p>
            <a:pPr>
              <a:defRPr sz="1600"/>
            </a:pPr>
            <a:r>
              <a:t>a) alimentation  Des indications relatives aux solutions techniques contre les harmoniques en courant et en tension sont données en 330.</a:t>
            </a:r>
          </a:p>
          <a:p>
            <a:pPr>
              <a:defRPr sz="1600"/>
            </a:pPr>
            <a:r>
              <a:t>1.</a:t>
            </a:r>
          </a:p>
          <a:p>
            <a:pPr>
              <a:defRPr sz="1600"/>
            </a:pPr>
            <a:r>
              <a:t>1.</a:t>
            </a:r>
          </a:p>
          <a:p>
            <a:pPr>
              <a:defRPr sz="1600"/>
            </a:pPr>
            <a:r>
              <a:t>b) circuits en aval  La protection des circuits situés en aval des redresseurs ou des onduleurs, concernant notamment les surintensités et éventuellement la sélectivité doit prendre en compte les caractéristiques de fonctionnement des redresseurs et convertisseurs indiquées par le constructeur.</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553.2.1 Généralités</a:t>
            </a:r>
          </a:p>
        </p:txBody>
      </p:sp>
      <p:sp>
        <p:nvSpPr>
          <p:cNvPr id="3" name="Content Placeholder 2"/>
          <p:cNvSpPr>
            <a:spLocks noGrp="1"/>
          </p:cNvSpPr>
          <p:nvPr>
            <p:ph idx="1"/>
          </p:nvPr>
        </p:nvSpPr>
        <p:spPr/>
        <p:txBody>
          <a:bodyPr/>
          <a:lstStyle/>
          <a:p>
            <a:pPr>
              <a:defRPr sz="1600"/>
            </a:pPr>
            <a:r>
              <a:t>Ces dispositifs n’assurent pas la fonction de sectionnement.</a:t>
            </a:r>
          </a:p>
          <a:p>
            <a:pPr>
              <a:defRPr sz="1600"/>
            </a:pPr>
            <a:r>
              <a:t>Il convient de se rapprocher du constructeur pour la détermination des conditions de protection et le calcul des chutes de tension.</a:t>
            </a:r>
          </a:p>
          <a:p>
            <a:pPr>
              <a:defRPr sz="1600"/>
            </a:pPr>
            <a:r>
              <a:t>Pour l'application des règles énoncées en 511.</a:t>
            </a:r>
          </a:p>
          <a:p>
            <a:pPr>
              <a:defRPr sz="1600"/>
            </a:pPr>
            <a:r>
              <a:t>1, les normes à considérer sont   les suivantes :  - Gradateurs et démarreurs à semi-conducteurs de moteur à courant alternatif - Gradateurs et contacteurs pour courant alternatif à semi-conducteurs pour des charges   ;  (9)  autres que des moteurs  (10)  ;  - Entraînements électriques de puissance à vitesse variable  (11)  ;  - Equipement électronique utilisé dans les installations de puissance  (12).</a:t>
            </a:r>
          </a:p>
          <a:p>
            <a:pPr>
              <a:defRPr sz="1600"/>
            </a:pPr>
            <a:r>
              <a:t>La mise en œuvre de ces produits est réalisée selon la norme suivante :  - Mise en œuvre et cohabitation des réseaux de puissance et de communication dans les  installations des locaux d'habitation, du tertiaire et analogues.</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553.2.2 Démarreurs à semi-conducteurs</a:t>
            </a:r>
          </a:p>
        </p:txBody>
      </p:sp>
      <p:sp>
        <p:nvSpPr>
          <p:cNvPr id="3" name="Content Placeholder 2"/>
          <p:cNvSpPr>
            <a:spLocks noGrp="1"/>
          </p:cNvSpPr>
          <p:nvPr>
            <p:ph idx="1"/>
          </p:nvPr>
        </p:nvSpPr>
        <p:spPr/>
        <p:txBody>
          <a:bodyPr/>
          <a:lstStyle/>
          <a:p>
            <a:pPr>
              <a:defRPr sz="1600"/>
            </a:pPr>
            <a:r>
              <a:t>Les démarreurs à semi-conducteurs offrent une solution moderne aux problèmes de démarrage des moteurs asynchrones à cage.</a:t>
            </a:r>
          </a:p>
          <a:p>
            <a:pPr>
              <a:defRPr sz="1600"/>
            </a:pPr>
            <a:r>
              <a:t>En contrôlant le démarrage et l'arrêt des moteurs, ils constituent une technologie complémentaire de la variation électronique de vitesse.</a:t>
            </a:r>
          </a:p>
          <a:p>
            <a:pPr>
              <a:defRPr sz="1600"/>
            </a:pPr>
            <a:r>
              <a:t>Ils réduisent les courants de démarrage.</a:t>
            </a:r>
          </a:p>
          <a:p>
            <a:pPr>
              <a:defRPr sz="1600"/>
            </a:pPr>
            <a:r>
              <a:t>Ils permettent d'améliorer la qualité des entraînements électriques pour des applications ne nécessitant pas de variation de vitesse.</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553.2.3 Variateurs de vitesse</a:t>
            </a:r>
          </a:p>
        </p:txBody>
      </p:sp>
      <p:sp>
        <p:nvSpPr>
          <p:cNvPr id="3" name="Content Placeholder 2"/>
          <p:cNvSpPr>
            <a:spLocks noGrp="1"/>
          </p:cNvSpPr>
          <p:nvPr>
            <p:ph idx="1"/>
          </p:nvPr>
        </p:nvSpPr>
        <p:spPr/>
        <p:txBody>
          <a:bodyPr/>
          <a:lstStyle/>
          <a:p>
            <a:pPr>
              <a:defRPr sz="1600"/>
            </a:pPr>
            <a:r>
              <a:t>Deux règles essentielles doivent être considérées :  la fonction vitesse variable doit être adaptée à une application ; le variateur a une influence sur son environnement et vice versa.</a:t>
            </a:r>
          </a:p>
          <a:p>
            <a:pPr>
              <a:defRPr sz="1600"/>
            </a:pPr>
            <a:r>
              <a:t>- - Pour constructeurs doivent toujours être prises en compte.</a:t>
            </a:r>
          </a:p>
          <a:p>
            <a:pPr>
              <a:defRPr sz="1600"/>
            </a:pPr>
            <a:r>
              <a:t>l'installation d'un groupe moto-variateur,  les recommandations d'installation des.</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553.3 Alimentations statiques sans interruption (ASI) de type statique</a:t>
            </a:r>
          </a:p>
        </p:txBody>
      </p:sp>
      <p:sp>
        <p:nvSpPr>
          <p:cNvPr id="3" name="Content Placeholder 2"/>
          <p:cNvSpPr>
            <a:spLocks noGrp="1"/>
          </p:cNvSpPr>
          <p:nvPr>
            <p:ph idx="1"/>
          </p:nvPr>
        </p:nvSpPr>
        <p:spPr/>
        <p:txBody>
          <a:bodyPr/>
          <a:lstStyle/>
          <a:p>
            <a:pPr>
              <a:defRPr sz="1600"/>
            </a:pPr>
            <a:r>
              <a:t>Une alimentation statique sans interruption (ASI) de type statique est un ensemble de convertisseurs, d’interrupteurs et de dispositifs d’accumulation d’énergie, par exemple des batteries, capable d’assurer la permanence d’alimentation de la charge, en cas de défaut de la source d’alimentation.</a:t>
            </a:r>
          </a:p>
          <a:p>
            <a:pPr>
              <a:defRPr sz="1600"/>
            </a:pPr>
            <a:r>
              <a:t>Le guide UTE C 15-402 traite des règles d’installation des alimentations statiques sans interruption.</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553.4 Systèmes de transfert statique</a:t>
            </a:r>
          </a:p>
        </p:txBody>
      </p:sp>
      <p:sp>
        <p:nvSpPr>
          <p:cNvPr id="3" name="Content Placeholder 2"/>
          <p:cNvSpPr>
            <a:spLocks noGrp="1"/>
          </p:cNvSpPr>
          <p:nvPr>
            <p:ph idx="1"/>
          </p:nvPr>
        </p:nvSpPr>
        <p:spPr/>
        <p:txBody>
          <a:bodyPr/>
          <a:lstStyle/>
          <a:p>
            <a:pPr>
              <a:defRPr sz="1600"/>
            </a:pPr>
            <a:r>
              <a:t>Ces équipements à base d’interrupteurs statiques assurent le transfert sans coupure d’une source principale vers une source secondaire, soit en mode automatique, éventuellement sous conditions (synchronisme, valeur de la tension), soit en mode manuel (maintenance).</a:t>
            </a:r>
          </a:p>
          <a:p>
            <a:pPr>
              <a:defRPr sz="1600"/>
            </a:pPr>
            <a:r>
              <a:t>Les interrupteurs statiques à base de thyristors ou à base de semiconducteurs de puissance assurent, lors du transfert, la coupure des conducteurs de phases et éventuellement, du conducteur de neutre selon le schéma des liaisons à la terre en amont et en aval de l’équipement, et la distribution ou non du neutre.</a:t>
            </a:r>
          </a:p>
          <a:p>
            <a:pPr>
              <a:defRPr sz="1600"/>
            </a:pPr>
            <a:r>
              <a:t>Voir aussi le guide UTE C 15-402.</a:t>
            </a:r>
          </a:p>
          <a:p>
            <a:pPr>
              <a:defRPr sz="1600"/>
            </a:pPr>
            <a:r>
              <a:t>554 Batteries d'accumulateurs.</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554.1 Batteries portatives ou mobiles</a:t>
            </a:r>
          </a:p>
        </p:txBody>
      </p:sp>
      <p:sp>
        <p:nvSpPr>
          <p:cNvPr id="3" name="Content Placeholder 2"/>
          <p:cNvSpPr>
            <a:spLocks noGrp="1"/>
          </p:cNvSpPr>
          <p:nvPr>
            <p:ph idx="1"/>
          </p:nvPr>
        </p:nvSpPr>
        <p:spPr/>
        <p:txBody>
          <a:bodyPr/>
          <a:lstStyle/>
          <a:p>
            <a:pPr>
              <a:defRPr sz="1600"/>
            </a:pPr>
            <a:r>
              <a:t>La charge des batteries portatives ou mobiles doit être effectuée dans un endroit où les suintements et projections d'électrolyte et ses vapeurs ne sont pas nuisibles, une ventilation suffisante doit être assurée et aucune flamme nue ne doit se trouver à proximité.</a:t>
            </a:r>
          </a:p>
          <a:p>
            <a:pPr>
              <a:defRPr sz="1600"/>
            </a:pPr>
            <a:r>
              <a:t>Les ateliers de charge d'accumulateurs, dont la puissance maximale de courant continu utilisable pour cette opération est supérieure à 10 kW, constituent des installations classées pour la protection de l'environnement soumises à déclaration sous la rubrique n°2925, et doivent de ce fait satisfaire aux dispositions de l'arrêté relatif à cette rubrique.</a:t>
            </a:r>
          </a:p>
          <a:p>
            <a:pPr>
              <a:defRPr sz="1600"/>
            </a:pPr>
            <a:r>
              <a:t>Il n'est pas exigé de dispositions particulières pour la ventilation des installations assurant la charge dite normale des véhicules électriques (arrêté du 29 mai 2000).</a:t>
            </a:r>
          </a:p>
          <a:p>
            <a:pPr>
              <a:defRPr sz="1600"/>
            </a:pPr>
            <a:r>
              <a:t>- 293 -.</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554.2 Batteries fixes</a:t>
            </a:r>
          </a:p>
        </p:txBody>
      </p:sp>
      <p:sp>
        <p:nvSpPr>
          <p:cNvPr id="3" name="Content Placeholder 2"/>
          <p:cNvSpPr>
            <a:spLocks noGrp="1"/>
          </p:cNvSpPr>
          <p:nvPr>
            <p:ph idx="1"/>
          </p:nvPr>
        </p:nvSpPr>
        <p:spPr/>
        <p:txBody>
          <a:bodyPr/>
          <a:lstStyle/>
          <a:p>
            <a:pPr>
              <a:defRPr sz="1600"/>
            </a:pPr>
            <a:r>
              <a:t>Pour l'application des règles en 511.</a:t>
            </a:r>
          </a:p>
          <a:p>
            <a:pPr>
              <a:defRPr sz="1600"/>
            </a:pPr>
            <a:r>
              <a:t>1 , la norme à considérer est la suivan te :  Batteries stationnaires d'accumulateurs au plomb type «Planté».</a:t>
            </a:r>
          </a:p>
          <a:p>
            <a:pPr>
              <a:defRPr sz="1600"/>
            </a:pPr>
            <a:r>
              <a:t>Règles  (13).</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554.2.1 Les batteries d'accumulateurs installés à poste fixe doivent se trouver dans un local</a:t>
            </a:r>
          </a:p>
        </p:txBody>
      </p:sp>
      <p:sp>
        <p:nvSpPr>
          <p:cNvPr id="3" name="Content Placeholder 2"/>
          <p:cNvSpPr>
            <a:spLocks noGrp="1"/>
          </p:cNvSpPr>
          <p:nvPr>
            <p:ph idx="1"/>
          </p:nvPr>
        </p:nvSpPr>
        <p:spPr/>
        <p:txBody>
          <a:bodyPr/>
          <a:lstStyle/>
          <a:p>
            <a:pPr>
              <a:defRPr sz="1600"/>
            </a:pPr>
            <a:r>
              <a:t>de service électrique dont l'accès n'est autorisé qu'au personnel chargé de leur entretien et de leur surveillance.</a:t>
            </a:r>
          </a:p>
          <a:p>
            <a:pPr>
              <a:defRPr sz="1600"/>
            </a:pPr>
            <a:r>
              <a:t>Toutefois, elles peuvent être placées dans un local qui n'est pas de service électrique :  -  -  si elles sont enfermées dans une armoire dont l'ouverture (à l'aide d'une clé par exemple), n'est possible que par le personnel chargé de leur entretien et de leur surveillance ou,  si le produit CU de la capacité en ampères-heures par la tension nominale en volts des batteries est inférieure ou égale à 1.</a:t>
            </a:r>
          </a:p>
          <a:p>
            <a:pPr>
              <a:defRPr sz="1600"/>
            </a:pPr>
            <a:r>
              <a:t>000.</a:t>
            </a:r>
          </a:p>
          <a:p>
            <a:pPr>
              <a:defRPr sz="1600"/>
            </a:pPr>
            <a:r>
              <a:t>Dans tous les cas, le local, et le cas échéant l'armoire, doivent être ventilés dans les conditions définies en 554.</a:t>
            </a:r>
          </a:p>
          <a:p>
            <a:pPr>
              <a:defRPr sz="1600"/>
            </a:pPr>
            <a:r>
              <a:t>2.</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554.2.2 Lorsque la tension nominale des batteries est supérieure à 150 volts, il doit être</a:t>
            </a:r>
          </a:p>
        </p:txBody>
      </p:sp>
      <p:sp>
        <p:nvSpPr>
          <p:cNvPr id="3" name="Content Placeholder 2"/>
          <p:cNvSpPr>
            <a:spLocks noGrp="1"/>
          </p:cNvSpPr>
          <p:nvPr>
            <p:ph idx="1"/>
          </p:nvPr>
        </p:nvSpPr>
        <p:spPr/>
        <p:txBody>
          <a:bodyPr/>
          <a:lstStyle/>
          <a:p>
            <a:pPr>
              <a:defRPr sz="1600"/>
            </a:pPr>
            <a:r>
              <a:t>prévu un plancher de service non glissant, isolé du sol et d’une largeur minimale de 1 m autour des batteries pour qu'il ne soit pas possible de toucher à la fois le sol ou un élément conducteur relié au sol et l'un des éléments de la batterie.</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554.2.3 Le local renfermant des batteries d'accumulateurs doit recevoir, par ventilation</a:t>
            </a:r>
          </a:p>
        </p:txBody>
      </p:sp>
      <p:sp>
        <p:nvSpPr>
          <p:cNvPr id="3" name="Content Placeholder 2"/>
          <p:cNvSpPr>
            <a:spLocks noGrp="1"/>
          </p:cNvSpPr>
          <p:nvPr>
            <p:ph idx="1"/>
          </p:nvPr>
        </p:nvSpPr>
        <p:spPr/>
        <p:txBody>
          <a:bodyPr/>
          <a:lstStyle/>
          <a:p>
            <a:pPr>
              <a:defRPr sz="1600"/>
            </a:pPr>
            <a:r>
              <a:t>mécanique, un apport d'air neuf au moins égal à 0,05 NI mètres cubes par heure, N étant le nombre d'éléments de la batterie et I l'intensité maximale du courant susceptible d'être débité dans la batterie par le dispositif de charge ; la détection d'un débit d'air insuffisant au niveau du ventilateur doit provoquer la coupure de l'alimentation du dispositif de charge.</a:t>
            </a:r>
          </a:p>
          <a:p>
            <a:pPr>
              <a:defRPr sz="1600"/>
            </a:pPr>
            <a:r>
              <a:t>Les dispositions précédentes ne sont pas exigées lorsqu'il est fait usage d'accumulateurs tels que soit évité tout dégagement gazeux explosible, compte tenu des caractéristiques du dispositif de charge.</a:t>
            </a:r>
          </a:p>
          <a:p>
            <a:pPr>
              <a:defRPr sz="1600"/>
            </a:pPr>
            <a:r>
              <a:t>Les prescriptions de ventilation des locaux renfermant des batteries d'accumulateurs dépendent notamment des dégagements gazeux dans les éléments d'accumulateurs.</a:t>
            </a:r>
          </a:p>
          <a:p>
            <a:pPr>
              <a:defRPr sz="1600"/>
            </a:pPr>
            <a:r>
              <a:t>Les éléments d'accumulateurs en charge sont le siège de phénomènes d'électrolyse régis par la loi de Faraday.</a:t>
            </a:r>
          </a:p>
          <a:p>
            <a:pPr>
              <a:defRPr sz="1600"/>
            </a:pPr>
            <a:r>
              <a:t>Les dégagements gazeux correspondants peuvent donner lieu à une recombinaison.</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 Lorsque le système de charge comporte à la fois des dispositifs de régulation et de</a:t>
            </a:r>
          </a:p>
        </p:txBody>
      </p:sp>
      <p:sp>
        <p:nvSpPr>
          <p:cNvPr id="3" name="Content Placeholder 2"/>
          <p:cNvSpPr>
            <a:spLocks noGrp="1"/>
          </p:cNvSpPr>
          <p:nvPr>
            <p:ph idx="1"/>
          </p:nvPr>
        </p:nvSpPr>
        <p:spPr/>
        <p:txBody>
          <a:bodyPr/>
          <a:lstStyle/>
          <a:p>
            <a:pPr>
              <a:defRPr sz="1600"/>
            </a:pPr>
            <a:r>
              <a:t>surveillance dont l'indépendance est vérifiée par conformité aux dispositions de la norme NF C 58-311, la valeur maximale Im du courant redressé de charge de la batterie.</a:t>
            </a:r>
          </a:p>
          <a:p>
            <a:pPr>
              <a:defRPr sz="1600"/>
            </a:pPr>
            <a:r>
              <a:t>1er cas : Les caractéristiques électriques et de fonctionnement de la batterie d'accumulateurs et du redresseur-chargeur associé sont définies au moment des essais de qualification de l'ensemble (exemple : système de secours alternatif intégrant dans un ensemble redresseur- chargeur, batterie, onduleur).</a:t>
            </a:r>
          </a:p>
          <a:p>
            <a:pPr>
              <a:defRPr sz="1600"/>
            </a:pPr>
            <a:r>
              <a:t>Un seuil de surveillance UdS, tel que le courant maximal redressé de charge Im, ne soit pas dépassé, doit être déterminé.</a:t>
            </a:r>
          </a:p>
          <a:p>
            <a:pPr>
              <a:defRPr sz="1600"/>
            </a:pPr>
            <a:r>
              <a:t>Le système de charge est alors équipé à la fois :  -  -  d'un dispositif de limitation du courant de charge, réglé à la valeur maximale IbL,  et d'un dispositif de surveillance de la tension aux bornes de la batterie, indépendant de la régulation de tension, provoquant la mise hors service du dispositif de charge lorsque la tension atteint celle correspondant à la fin de charge sous le courant maximal redressé de charge /bL.</a:t>
            </a:r>
          </a:p>
          <a:p>
            <a:pPr>
              <a:defRPr sz="1600"/>
            </a:pPr>
            <a:r>
              <a:t>La valeur I est alors prise égale à IbL telle que définie dans la norme d'essais NF C 58-311.</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 Lorsque le système de charge ne comporte pas les dispositifs de régulation et de</a:t>
            </a:r>
          </a:p>
        </p:txBody>
      </p:sp>
      <p:sp>
        <p:nvSpPr>
          <p:cNvPr id="3" name="Content Placeholder 2"/>
          <p:cNvSpPr>
            <a:spLocks noGrp="1"/>
          </p:cNvSpPr>
          <p:nvPr>
            <p:ph idx="1"/>
          </p:nvPr>
        </p:nvSpPr>
        <p:spPr/>
        <p:txBody>
          <a:bodyPr/>
          <a:lstStyle/>
          <a:p>
            <a:pPr>
              <a:defRPr sz="1600"/>
            </a:pPr>
            <a:r>
              <a:t>surveillance prévus en 1.</a:t>
            </a:r>
          </a:p>
          <a:p>
            <a:pPr>
              <a:defRPr sz="1600"/>
            </a:pPr>
            <a:r>
              <a:t>1, la valeur du courant redressé de charge correspondant au fonctionnement du dispositif de protection de l'alimentation du système de charge, quelles que soient les caractéristiques du dispositif de régulation éventuel, soit :  I = Ic  I2 In  In  Ic  I2  étant le courant nominal du dispositif de l'alimentation du système de charge,  étant le courant redressé de charge correspondant au courant In, ce courant étant généralement plus élevé que le courant nominal délivré par le redresseur en service normal,  étant le courant assurant effectivement le fonctionnement du dispositif de protection de l'alimentation du système de charge (voir 433.</a:t>
            </a:r>
          </a:p>
          <a:p>
            <a:pPr>
              <a:defRPr sz="1600"/>
            </a:pPr>
            <a:r>
              <a:t>2).</a:t>
            </a:r>
          </a:p>
          <a:p>
            <a:pPr>
              <a:defRPr sz="1600"/>
            </a:pPr>
            <a:r>
              <a:t>Le dispositif de protection de l'alimentation du système de charge à considérer est le dispositif de protection incorporé, s'il en existe un ou, à défaut, le dispositif protégeant contre les surcharges le circuit d'alimentation de ce système de charge.</a:t>
            </a:r>
          </a:p>
          <a:p>
            <a:pPr>
              <a:defRPr sz="1600"/>
            </a:pPr>
            <a:r>
              <a:t>- 295 -   La vérification des prescriptions en 1.</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 Les batteries dites étanches sont habituellement associées à un redresseur-chargeur</a:t>
            </a:r>
          </a:p>
        </p:txBody>
      </p:sp>
      <p:sp>
        <p:nvSpPr>
          <p:cNvPr id="3" name="Content Placeholder 2"/>
          <p:cNvSpPr>
            <a:spLocks noGrp="1"/>
          </p:cNvSpPr>
          <p:nvPr>
            <p:ph idx="1"/>
          </p:nvPr>
        </p:nvSpPr>
        <p:spPr/>
        <p:txBody>
          <a:bodyPr/>
          <a:lstStyle/>
          <a:p>
            <a:pPr>
              <a:defRPr sz="1600"/>
            </a:pPr>
            <a:r>
              <a:t>spécifique, l'ensemble répondant aux prescriptions de la deuxième partie de la norme NF C 58-311.</a:t>
            </a:r>
          </a:p>
          <a:p>
            <a:pPr>
              <a:defRPr sz="1600"/>
            </a:pPr>
            <a:r>
              <a:t>Dans ces conditions, le volume d'air à renouveler est de 0,0025 N IbL, IbL étant défini dans la norme NF C 58-311.</a:t>
            </a:r>
          </a:p>
          <a:p>
            <a:pPr>
              <a:defRPr sz="1600"/>
            </a:pPr>
            <a:r>
              <a:t>Cette valeur est déclarée par le constructeur du système de charge.</a:t>
            </a:r>
          </a:p>
          <a:p>
            <a:pPr>
              <a:defRPr sz="1600"/>
            </a:pPr>
            <a:r>
              <a:t>Lorsque de telles batteries sont installées dans un local d'usage général, les dispositions applicables aux locaux à pollution définies dans le Décret 84-1093 du 7 décembre 1984 (décret fixant les règles relatives à l'aération et à l'assainissement des locaux de travail) sont considérées comme satisfaisant à cette exigence.</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2.2 - Si par contre, le redresseur-chargeur n'a pas les caractéristiques de fonctionnement</a:t>
            </a:r>
          </a:p>
        </p:txBody>
      </p:sp>
      <p:sp>
        <p:nvSpPr>
          <p:cNvPr id="3" name="Content Placeholder 2"/>
          <p:cNvSpPr>
            <a:spLocks noGrp="1"/>
          </p:cNvSpPr>
          <p:nvPr>
            <p:ph idx="1"/>
          </p:nvPr>
        </p:nvSpPr>
        <p:spPr/>
        <p:txBody>
          <a:bodyPr/>
          <a:lstStyle/>
          <a:p>
            <a:pPr>
              <a:defRPr sz="1600"/>
            </a:pPr>
            <a:r>
              <a:t>spécifiques à la batterie étanche à laquelle il est connecté et que, par suite, ils ne constituent pas une association répondant aux prescriptions de la deuxième partie de la norme NF C 58-311, le volume d'air à renouveler doit être calculé suivant les dispositions applicables aux batteries ouvertes.</a:t>
            </a:r>
          </a:p>
          <a:p>
            <a:pPr>
              <a:defRPr sz="1600"/>
            </a:pPr>
            <a:r>
              <a:t>les ensembles La vérification des prescriptions pour redresseurs-chargeurs batteries étanches est effectuée selon les modalités de la norme NF C 58-311.</a:t>
            </a:r>
          </a:p>
          <a:p>
            <a:pPr>
              <a:defRPr sz="1600"/>
            </a:pPr>
            <a:r>
              <a:t>les batteries étanches et pour  Lorsque l'armoire contenant la batterie comporte des orifices de ventilation en position haute et basse, la circulation naturelle de l'air est considérée comme suffisante.</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554.2.4 Les batteries de démarrage des groupes moteurs thermiques-générateurs, ainsi que</a:t>
            </a:r>
          </a:p>
        </p:txBody>
      </p:sp>
      <p:sp>
        <p:nvSpPr>
          <p:cNvPr id="3" name="Content Placeholder 2"/>
          <p:cNvSpPr>
            <a:spLocks noGrp="1"/>
          </p:cNvSpPr>
          <p:nvPr>
            <p:ph idx="1"/>
          </p:nvPr>
        </p:nvSpPr>
        <p:spPr/>
        <p:txBody>
          <a:bodyPr/>
          <a:lstStyle/>
          <a:p>
            <a:pPr>
              <a:defRPr sz="1600"/>
            </a:pPr>
            <a:r>
              <a:t>leurs dispositifs de charge, peuvent être installés dans le même local que le groupe, à condition que le local soit ventilé en permanence dans les conditions prescrites en 554.</a:t>
            </a:r>
          </a:p>
          <a:p>
            <a:pPr>
              <a:defRPr sz="1600"/>
            </a:pPr>
            <a:r>
              <a:t>2.</a:t>
            </a:r>
          </a:p>
          <a:p>
            <a:pPr>
              <a:defRPr sz="1600"/>
            </a:pPr>
            <a:r>
              <a:t>3.</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554.2.5 Les connexions de batteries peuvent être réalisées en conducteurs nus, mais les</a:t>
            </a:r>
          </a:p>
        </p:txBody>
      </p:sp>
      <p:sp>
        <p:nvSpPr>
          <p:cNvPr id="3" name="Content Placeholder 2"/>
          <p:cNvSpPr>
            <a:spLocks noGrp="1"/>
          </p:cNvSpPr>
          <p:nvPr>
            <p:ph idx="1"/>
          </p:nvPr>
        </p:nvSpPr>
        <p:spPr/>
        <p:txBody>
          <a:bodyPr/>
          <a:lstStyle/>
          <a:p>
            <a:pPr>
              <a:defRPr sz="1600"/>
            </a:pPr>
            <a:r>
              <a:t>éléments doivent être disposés de façon que deux pièces conductrices nues présentant entre elles une différence de potentiel excédant 150 volts ne puissent être touchées simultanément par inadvertance.</a:t>
            </a:r>
          </a:p>
          <a:p>
            <a:pPr>
              <a:defRPr sz="1600"/>
            </a:pPr>
            <a:r>
              <a:t>En application des règles de la partie 4-46, un disp ositif doit permettre de s éparer tous les pôles de la batterie de l'installation.</a:t>
            </a:r>
          </a:p>
          <a:p>
            <a:pPr>
              <a:defRPr sz="1600"/>
            </a:pPr>
            <a:r>
              <a:t>555 Matériels d'installation  Le présent article ne concerne que les matériels d'installation autres que ceux qui font l'objet de la partie 5-53 (Appareillage).</a:t>
            </a:r>
          </a:p>
          <a:p>
            <a:pPr>
              <a:defRPr sz="1600"/>
            </a:pPr>
            <a:r>
              <a:t>Les dispositions en 531.</a:t>
            </a:r>
          </a:p>
          <a:p>
            <a:pPr>
              <a:defRPr sz="1600"/>
            </a:pPr>
            <a:r>
              <a:t>1 et 531.</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555.1.1 Un nombre approprié de socles de prises de courant doit être installé afin de</a:t>
            </a:r>
          </a:p>
        </p:txBody>
      </p:sp>
      <p:sp>
        <p:nvSpPr>
          <p:cNvPr id="3" name="Content Placeholder 2"/>
          <p:cNvSpPr>
            <a:spLocks noGrp="1"/>
          </p:cNvSpPr>
          <p:nvPr>
            <p:ph idx="1"/>
          </p:nvPr>
        </p:nvSpPr>
        <p:spPr/>
        <p:txBody>
          <a:bodyPr/>
          <a:lstStyle/>
          <a:p>
            <a:pPr>
              <a:defRPr sz="1600"/>
            </a:pPr>
            <a:r>
              <a:t>répondre aux besoins des utilisateurs en toute sécurité, et de limiter l'emploi de socles multiprises.</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555.1.2 Les socles de prise de courant doivent comporter autant d'organes de contact</a:t>
            </a:r>
          </a:p>
        </p:txBody>
      </p:sp>
      <p:sp>
        <p:nvSpPr>
          <p:cNvPr id="3" name="Content Placeholder 2"/>
          <p:cNvSpPr>
            <a:spLocks noGrp="1"/>
          </p:cNvSpPr>
          <p:nvPr>
            <p:ph idx="1"/>
          </p:nvPr>
        </p:nvSpPr>
        <p:spPr/>
        <p:txBody>
          <a:bodyPr/>
          <a:lstStyle/>
          <a:p>
            <a:pPr>
              <a:defRPr sz="1600"/>
            </a:pPr>
            <a:r>
              <a:t>électriquement distincts et mécaniquement solidaires que les canalisations présentent de conducteurs.</a:t>
            </a:r>
          </a:p>
          <a:p>
            <a:pPr>
              <a:defRPr sz="1600"/>
            </a:pPr>
            <a:r>
              <a:t>- 296 -   Pour l'application des règles énoncées en 511.</a:t>
            </a:r>
          </a:p>
          <a:p>
            <a:pPr>
              <a:defRPr sz="1600"/>
            </a:pPr>
            <a:r>
              <a:t>1, les normes à considérer sont   les suivantes :  a) matériel pour installations domestiques et analogues :  - Prises de courant et prolongateurs de courant nominal 20 A et 32 A.</a:t>
            </a:r>
          </a:p>
          <a:p>
            <a:pPr>
              <a:defRPr sz="1600"/>
            </a:pPr>
            <a:r>
              <a:t>Règles  (14)   ;  - Prises de courant et prolongateurs 16 A 250V - Socles de prises de courant 16 A 250V pour plinthes ou chambranles rainurés en   ;  (15)  bois  (16)   ;  - Prises de courant et prolongateurs de courant nominal 20 A et 32 A.</a:t>
            </a:r>
          </a:p>
          <a:p>
            <a:pPr>
              <a:defRPr sz="1600"/>
            </a:pPr>
            <a:r>
              <a:t>Caractéristiques  (17)   ;  b) appareillage industriel à basse tension :  - Prises de courant, prolongateurs et connecteurs.</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555.1.3 Lorsque les canalisations comportent un conducteur de protection, il doit être fait</a:t>
            </a:r>
          </a:p>
        </p:txBody>
      </p:sp>
      <p:sp>
        <p:nvSpPr>
          <p:cNvPr id="3" name="Content Placeholder 2"/>
          <p:cNvSpPr>
            <a:spLocks noGrp="1"/>
          </p:cNvSpPr>
          <p:nvPr>
            <p:ph idx="1"/>
          </p:nvPr>
        </p:nvSpPr>
        <p:spPr/>
        <p:txBody>
          <a:bodyPr/>
          <a:lstStyle/>
          <a:p>
            <a:pPr>
              <a:defRPr sz="1600"/>
            </a:pPr>
            <a:r>
              <a:t>usage de prises de courant uniques pour les conducteurs actifs et le conducteur de protection.</a:t>
            </a:r>
          </a:p>
          <a:p>
            <a:pPr>
              <a:defRPr sz="1600"/>
            </a:pPr>
            <a:r>
              <a:t>Les prises de courant comportent un contact de mise à la terre ne devant pas entrer en contact avec les organes principaux ; ce contact doit assurer la liaison avant l'établissement des contacts principaux et rompre cette liaison après leur séparation.</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555.1.4 Lorsqu'il est fait usage de tensions ou de courants de natures différentes, il est</a:t>
            </a:r>
          </a:p>
        </p:txBody>
      </p:sp>
      <p:sp>
        <p:nvSpPr>
          <p:cNvPr id="3" name="Content Placeholder 2"/>
          <p:cNvSpPr>
            <a:spLocks noGrp="1"/>
          </p:cNvSpPr>
          <p:nvPr>
            <p:ph idx="1"/>
          </p:nvPr>
        </p:nvSpPr>
        <p:spPr/>
        <p:txBody>
          <a:bodyPr/>
          <a:lstStyle/>
          <a:p>
            <a:pPr>
              <a:defRPr sz="1600"/>
            </a:pPr>
            <a:r>
              <a:t>nécessaire d'utiliser des appareils de modèles distincts et non interchangeables.</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555.1.5 Lorsqu'il est nécessaire d'empêcher la permutation des pôles ou des phases, des</a:t>
            </a:r>
          </a:p>
        </p:txBody>
      </p:sp>
      <p:sp>
        <p:nvSpPr>
          <p:cNvPr id="3" name="Content Placeholder 2"/>
          <p:cNvSpPr>
            <a:spLocks noGrp="1"/>
          </p:cNvSpPr>
          <p:nvPr>
            <p:ph idx="1"/>
          </p:nvPr>
        </p:nvSpPr>
        <p:spPr/>
        <p:txBody>
          <a:bodyPr/>
          <a:lstStyle/>
          <a:p>
            <a:pPr>
              <a:defRPr sz="1600"/>
            </a:pPr>
            <a:r>
              <a:t>appareils dits « irréversibles » doivent être utilisés.</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555.1.6 Les socles de prise de courant doivent être disposés de façon que les parties actives</a:t>
            </a:r>
          </a:p>
        </p:txBody>
      </p:sp>
      <p:sp>
        <p:nvSpPr>
          <p:cNvPr id="3" name="Content Placeholder 2"/>
          <p:cNvSpPr>
            <a:spLocks noGrp="1"/>
          </p:cNvSpPr>
          <p:nvPr>
            <p:ph idx="1"/>
          </p:nvPr>
        </p:nvSpPr>
        <p:spPr/>
        <p:txBody>
          <a:bodyPr/>
          <a:lstStyle/>
          <a:p>
            <a:pPr>
              <a:defRPr sz="1600"/>
            </a:pPr>
            <a:r>
              <a:t>dangereuses ne soient pas accessibles au toucher, aussi bien lorsque leurs éléments sont assemblés que lorsqu'ils sont séparés.</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555.1.7 Les socles de prise de courant 16 A - 250 V doivent être d'un type à obturation.</a:t>
            </a:r>
          </a:p>
        </p:txBody>
      </p:sp>
      <p:sp>
        <p:nvSpPr>
          <p:cNvPr id="3" name="Content Placeholder 2"/>
          <p:cNvSpPr>
            <a:spLocks noGrp="1"/>
          </p:cNvSpPr>
          <p:nvPr>
            <p:ph idx="1"/>
          </p:nvPr>
        </p:nvSpPr>
        <p:spPr/>
        <p:txBody>
          <a:bodyPr/>
          <a:lstStyle/>
          <a:p>
            <a:pPr>
              <a:defRPr sz="1600"/>
            </a:pPr>
            <a:r>
              <a:t>Dans les conditions BA2, les socles de prise de courant sans obturation sont interdits.</a:t>
            </a:r>
          </a:p>
          <a:p>
            <a:pPr>
              <a:defRPr sz="1600"/>
            </a:pPr>
            <a:r>
              <a:t>Le type à obturation est constitué d'un système intégré au socle de prise de courant et destiné à empêcher l'introduction d'un objet dans une seule alvéole, en assurant ainsi la protection des enfants.</a:t>
            </a:r>
          </a:p>
          <a:p>
            <a:pPr>
              <a:defRPr sz="1600"/>
            </a:pPr>
            <a:r>
              <a:t>Ce type est défini dans la norme en vigueur  (20).</a:t>
            </a:r>
          </a:p>
          <a:p>
            <a:pPr>
              <a:defRPr sz="1600"/>
            </a:pPr>
            <a:r>
              <a:t>Les prises industrielles ne sont pas concernées par cette mesure.</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555.1.8 Les socles de prise de courant fixés sur les parois des locaux doivent être disposés</a:t>
            </a:r>
          </a:p>
        </p:txBody>
      </p:sp>
      <p:sp>
        <p:nvSpPr>
          <p:cNvPr id="3" name="Content Placeholder 2"/>
          <p:cNvSpPr>
            <a:spLocks noGrp="1"/>
          </p:cNvSpPr>
          <p:nvPr>
            <p:ph idx="1"/>
          </p:nvPr>
        </p:nvSpPr>
        <p:spPr/>
        <p:txBody>
          <a:bodyPr/>
          <a:lstStyle/>
          <a:p>
            <a:pPr>
              <a:defRPr sz="1600"/>
            </a:pPr>
            <a:r>
              <a:t>de telle manière que l'axe de leurs alvéoles se trouve à une hauteur d'au moins 50 mm au- dessus du sol fini pour un courant assigné inférieur ou égal à 20 A.</a:t>
            </a:r>
          </a:p>
          <a:p>
            <a:pPr>
              <a:defRPr sz="1600"/>
            </a:pPr>
            <a:r>
              <a:t>Cette hauteur est portée à 120 mm pour les socles de prise de courant de courant assigné supérieur à 20 A.</a:t>
            </a:r>
          </a:p>
          <a:p>
            <a:pPr>
              <a:defRPr sz="1600"/>
            </a:pPr>
            <a:r>
              <a:t>Ces hauteurs minimales de 50 et de 120 mm sont applicables quel que soit le mode de pose et quelle que soit la classe d'influence externe AD.</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555.1.9 Les socles de prise de courant installés dans les sols doivent posséder les degrés de</a:t>
            </a:r>
          </a:p>
        </p:txBody>
      </p:sp>
      <p:sp>
        <p:nvSpPr>
          <p:cNvPr id="3" name="Content Placeholder 2"/>
          <p:cNvSpPr>
            <a:spLocks noGrp="1"/>
          </p:cNvSpPr>
          <p:nvPr>
            <p:ph idx="1"/>
          </p:nvPr>
        </p:nvSpPr>
        <p:spPr/>
        <p:txBody>
          <a:bodyPr/>
          <a:lstStyle/>
          <a:p>
            <a:pPr>
              <a:defRPr sz="1600"/>
            </a:pPr>
            <a:r>
              <a:t>protection IP24 et IK08.</a:t>
            </a:r>
          </a:p>
          <a:p>
            <a:pPr>
              <a:defRPr sz="1600"/>
            </a:pPr>
            <a:r>
              <a:t>——————— (14) NF C 61-300 (15) NF C 61-303 (16) NF C 61-305 (17) NF C 61-316 (18) NF EN 60309-1 (C 63-300) (19) NF EN 60309-2 (C 63-310) (20) NF C 61-303  - 297 -.</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555.2 Appareils à courants porteurs</a:t>
            </a:r>
          </a:p>
        </p:txBody>
      </p:sp>
      <p:sp>
        <p:nvSpPr>
          <p:cNvPr id="3" name="Content Placeholder 2"/>
          <p:cNvSpPr>
            <a:spLocks noGrp="1"/>
          </p:cNvSpPr>
          <p:nvPr>
            <p:ph idx="1"/>
          </p:nvPr>
        </p:nvSpPr>
        <p:spPr/>
        <p:txBody>
          <a:bodyPr/>
          <a:lstStyle/>
          <a:p>
            <a:pPr>
              <a:defRPr sz="1600"/>
            </a:pPr>
            <a:r>
              <a:t>La norme NF C 90-201-1 concernant la transmission de signaux électriques basse tension s’applique pour le choix et la mise en œuvre de ces appareils.</a:t>
            </a:r>
          </a:p>
          <a:p>
            <a:pPr>
              <a:defRPr sz="1600"/>
            </a:pPr>
            <a:r>
              <a:t>Dans les locaux d’habitation ou analogues, seuls les appareils à injection en mode différentiel sont autorisés.</a:t>
            </a:r>
          </a:p>
          <a:p>
            <a:pPr>
              <a:defRPr sz="1600"/>
            </a:pPr>
            <a:r>
              <a:t>les autres cas,  Dans fortement recommandés.</a:t>
            </a:r>
          </a:p>
          <a:p>
            <a:pPr>
              <a:defRPr sz="1600"/>
            </a:pPr>
            <a:r>
              <a:t>Toutefois, dans des cas particuliers, des appareils à injection en mode commun peuvent être installés comme indiqué dans la norme NF C 90-201-1.</a:t>
            </a:r>
          </a:p>
          <a:p>
            <a:pPr>
              <a:defRPr sz="1600"/>
            </a:pPr>
            <a:r>
              <a:t>injection en mode différentiel sont  les appareils à  Le constructeur doit fournir les caractéristiques suivantes à 50 Hz pour les filtres :  - - -  résistance, réactance, tenue aux courts-circuits.</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556.1 Généralités</a:t>
            </a:r>
          </a:p>
        </p:txBody>
      </p:sp>
      <p:sp>
        <p:nvSpPr>
          <p:cNvPr id="3" name="Content Placeholder 2"/>
          <p:cNvSpPr>
            <a:spLocks noGrp="1"/>
          </p:cNvSpPr>
          <p:nvPr>
            <p:ph idx="1"/>
          </p:nvPr>
        </p:nvSpPr>
        <p:spPr/>
        <p:txBody>
          <a:bodyPr/>
          <a:lstStyle/>
          <a:p>
            <a:pPr>
              <a:defRPr sz="1600"/>
            </a:pPr>
            <a:r>
              <a:t>La nature de la mesure du courant (fondamental ou valeur efficace) doit être indiquée.</a:t>
            </a:r>
          </a:p>
          <a:p>
            <a:pPr>
              <a:defRPr sz="1600"/>
            </a:pPr>
            <a:r>
              <a:t>Les appareils de mesure de type électronique doivent prendre en compte la valeur efficace réelle des courants et tensions en considérant les courants harmoniques au moins jusqu'au rang 15.</a:t>
            </a:r>
          </a:p>
          <a:p>
            <a:pPr>
              <a:defRPr sz="1600"/>
            </a:pPr>
            <a:r>
              <a:t>Pour l'application des règles énoncées en 511.</a:t>
            </a:r>
          </a:p>
          <a:p>
            <a:pPr>
              <a:defRPr sz="1600"/>
            </a:pPr>
            <a:r>
              <a:t>1, les normes à considérer sont   les suivantes :  - Règles de sécurité pour les appareils électriques de mesure et de mesure électrique  indicateurs et enregistreurs et leurs accessoires  (21)   ;  - Appareils mesureurs électriques  leurs accessoires - Deuxième partie : Prescriptions particulières pour les ampèremètres et les voltmètres  indicateurs analogiques à action directe et   (22)  ;  - Transformateurs de tension monophasés.</a:t>
            </a:r>
          </a:p>
          <a:p>
            <a:pPr>
              <a:defRPr sz="1600"/>
            </a:pPr>
            <a:r>
              <a:t>Caractéristiques  (23)   ;  - Transformateurs de courant.</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556.2 Transformateurs de tension</a:t>
            </a:r>
          </a:p>
        </p:txBody>
      </p:sp>
      <p:sp>
        <p:nvSpPr>
          <p:cNvPr id="3" name="Content Placeholder 2"/>
          <p:cNvSpPr>
            <a:spLocks noGrp="1"/>
          </p:cNvSpPr>
          <p:nvPr>
            <p:ph idx="1"/>
          </p:nvPr>
        </p:nvSpPr>
        <p:spPr/>
        <p:txBody>
          <a:bodyPr/>
          <a:lstStyle/>
          <a:p>
            <a:pPr>
              <a:defRPr sz="1600"/>
            </a:pPr>
            <a:r>
              <a:t>Le primaire des transformateurs de tension peut être muni d'une protection amont dont le pouvoir de coupure est adapté au courant de court- circuit de l'installation d'alimentation.</a:t>
            </a:r>
          </a:p>
          <a:p>
            <a:pPr>
              <a:defRPr sz="1600"/>
            </a:pPr>
            <a:r>
              <a:t>Le secondaire des transformateurs de tension doit être protégé contre les courts-circuits aval par des coupe-circuit, sauf cas particuliers.</a:t>
            </a:r>
          </a:p>
          <a:p>
            <a:pPr>
              <a:defRPr sz="1600"/>
            </a:pPr>
            <a:r>
              <a:t>Suivant les conditions d'exploitation, il peut être nécessaire de prévoir un dispositif de sectionnement sur le primaire.</a:t>
            </a:r>
          </a:p>
          <a:p>
            <a:pPr>
              <a:defRPr sz="1600"/>
            </a:pPr>
            <a:r>
              <a:t>Si les conditions d'exploitation le permettent, ce dispositif peut être commun à d'autres récepteurs.</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556.3 Transformateurs de courant</a:t>
            </a:r>
          </a:p>
        </p:txBody>
      </p:sp>
      <p:sp>
        <p:nvSpPr>
          <p:cNvPr id="3" name="Content Placeholder 2"/>
          <p:cNvSpPr>
            <a:spLocks noGrp="1"/>
          </p:cNvSpPr>
          <p:nvPr>
            <p:ph idx="1"/>
          </p:nvPr>
        </p:nvSpPr>
        <p:spPr/>
        <p:txBody>
          <a:bodyPr/>
          <a:lstStyle/>
          <a:p>
            <a:pPr>
              <a:defRPr sz="1600"/>
            </a:pPr>
            <a:r>
              <a:t>Les valeurs limites thermiques du courant de courte durée d'un transformateur sont choisies en fonction de la valeur maximale du courant de court-circuit présumé à l'endroit où le transformateur est installé et de son éventuel caractère limiteur.</a:t>
            </a:r>
          </a:p>
          <a:p>
            <a:pPr>
              <a:defRPr sz="1600"/>
            </a:pPr>
            <a:r>
              <a:t>Les transformateurs de courant destinés aux mesures (circuit de mesure et circuit de comptage) sont choisis de telle sorte que les appareils de mesure qu'ils alimentent ne soient pas endommagés lorsque le courant primaire atteint la valeur du courant de court-circuit au point de l'installation.</a:t>
            </a:r>
          </a:p>
          <a:p>
            <a:pPr>
              <a:defRPr sz="1600"/>
            </a:pPr>
            <a:r>
              <a:t>Les transformateurs de courant destinés à la protection (circuit de relais de protection) sont choisis de telle sorte que leur facteur limite de précision soit suffisamment élevé pour que les erreurs de courant en cas de court-circuit ne soient pas trop grandes.</a:t>
            </a:r>
          </a:p>
          <a:p>
            <a:pPr>
              <a:defRPr sz="1600"/>
            </a:pPr>
            <a:r>
              <a:t>Leur puissance de précision est choisie au moins pour la charge la plus élevée à prévoir.</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556.4 Transformateurs combinés (tension-courant)</a:t>
            </a:r>
          </a:p>
        </p:txBody>
      </p:sp>
      <p:sp>
        <p:nvSpPr>
          <p:cNvPr id="3" name="Content Placeholder 2"/>
          <p:cNvSpPr>
            <a:spLocks noGrp="1"/>
          </p:cNvSpPr>
          <p:nvPr>
            <p:ph idx="1"/>
          </p:nvPr>
        </p:nvSpPr>
        <p:spPr/>
        <p:txBody>
          <a:bodyPr/>
          <a:lstStyle/>
          <a:p>
            <a:pPr>
              <a:defRPr sz="1600"/>
            </a:pPr>
            <a:r>
              <a:t>Les transformateurs de tension et de courant peuvent être combinés en un même appareil.</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556.5 Surveillance de la tension et du courant</a:t>
            </a:r>
          </a:p>
        </p:txBody>
      </p:sp>
      <p:sp>
        <p:nvSpPr>
          <p:cNvPr id="3" name="Content Placeholder 2"/>
          <p:cNvSpPr>
            <a:spLocks noGrp="1"/>
          </p:cNvSpPr>
          <p:nvPr>
            <p:ph idx="1"/>
          </p:nvPr>
        </p:nvSpPr>
        <p:spPr/>
        <p:txBody>
          <a:bodyPr/>
          <a:lstStyle/>
          <a:p>
            <a:pPr>
              <a:defRPr sz="1600"/>
            </a:pPr>
            <a:r>
              <a:t>a) Taux de distorsion harmonique  La mesure du taux de distorsion harmonique en courant (THDi) ou en tension (THDu) est faite au moins jusqu'au rang 15.</a:t>
            </a:r>
          </a:p>
          <a:p>
            <a:pPr>
              <a:defRPr sz="1600"/>
            </a:pPr>
            <a:r>
              <a:t>L'appareil de mesure peut avoir un seuil d'alarme permettant le contrôle du niveau de THDi ou de THDu.</a:t>
            </a:r>
          </a:p>
          <a:p>
            <a:pPr>
              <a:defRPr sz="1600"/>
            </a:pPr>
            <a:r>
              <a:t>NOTES - 1 - Les ind ications données dans le tableau de 330.</a:t>
            </a:r>
          </a:p>
          <a:p>
            <a:pPr>
              <a:defRPr sz="1600"/>
            </a:pPr>
            <a:r>
              <a:t>1.</a:t>
            </a:r>
          </a:p>
          <a:p>
            <a:pPr>
              <a:defRPr sz="1600"/>
            </a:pPr>
            <a:r>
              <a:t>1 peuvent 2 - Pour des installations critiques (alimentation par groupe, charges non linéaires importantes, etc.</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557.1 Les règles du présent article sont applicables aux condensateurs statiques de</a:t>
            </a:r>
          </a:p>
        </p:txBody>
      </p:sp>
      <p:sp>
        <p:nvSpPr>
          <p:cNvPr id="3" name="Content Placeholder 2"/>
          <p:cNvSpPr>
            <a:spLocks noGrp="1"/>
          </p:cNvSpPr>
          <p:nvPr>
            <p:ph idx="1"/>
          </p:nvPr>
        </p:nvSpPr>
        <p:spPr/>
        <p:txBody>
          <a:bodyPr/>
          <a:lstStyle/>
          <a:p>
            <a:pPr>
              <a:defRPr sz="1600"/>
            </a:pPr>
            <a:r>
              <a:t>puissance autres que ceux faisant partie d'un équipement ou appareil répondant à une norme spécifique ou utilisés dans des conditions ou systèmes spéciaux.</a:t>
            </a:r>
          </a:p>
          <a:p>
            <a:pPr>
              <a:defRPr sz="1600"/>
            </a:pPr>
            <a:r>
              <a:t>Les cas spéciaux visés dans la règle sont, par exemple :  - - - -  la réalisation de certains filtres antiharmoniques ; les installations de génération de chaleur par induction ; l'association avec certaines machines tournantes asynchrones ; les condensateurs-série utilisés dans des installations à courant alternatif.</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 Points à considérer pour le choix des condensateurs</a:t>
            </a:r>
          </a:p>
        </p:txBody>
      </p:sp>
      <p:sp>
        <p:nvSpPr>
          <p:cNvPr id="3" name="Content Placeholder 2"/>
          <p:cNvSpPr>
            <a:spLocks noGrp="1"/>
          </p:cNvSpPr>
          <p:nvPr>
            <p:ph idx="1"/>
          </p:nvPr>
        </p:nvSpPr>
        <p:spPr/>
        <p:txBody>
          <a:bodyPr/>
          <a:lstStyle/>
          <a:p>
            <a:pPr>
              <a:defRPr sz="1600"/>
            </a:pPr>
            <a:r>
              <a:t>Ils doivent être choisis et installés suivant les instructions du constructeur d'une part et de conditions générales techniques d'autre part.</a:t>
            </a:r>
          </a:p>
          <a:p>
            <a:pPr>
              <a:defRPr sz="1600"/>
            </a:pPr>
            <a:r>
              <a:t>Les points les plus importants à considérer sont les suivants :.</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557.2.1 Distorsion harmonique</a:t>
            </a:r>
          </a:p>
        </p:txBody>
      </p:sp>
      <p:sp>
        <p:nvSpPr>
          <p:cNvPr id="3" name="Content Placeholder 2"/>
          <p:cNvSpPr>
            <a:spLocks noGrp="1"/>
          </p:cNvSpPr>
          <p:nvPr>
            <p:ph idx="1"/>
          </p:nvPr>
        </p:nvSpPr>
        <p:spPr/>
        <p:txBody>
          <a:bodyPr/>
          <a:lstStyle/>
          <a:p>
            <a:pPr>
              <a:defRPr sz="1600"/>
            </a:pPr>
            <a:r>
              <a:t>Les distorsions harmoniques peuvent entraîner des effets préjudiciables pour condensateurs.</a:t>
            </a:r>
          </a:p>
          <a:p>
            <a:pPr>
              <a:defRPr sz="1600"/>
            </a:pPr>
            <a:r>
              <a:t>les  L’utilisation d’inductances anti-harmoniques en série avec chaque gradin de condensateurs permet d’éviter les problèmes de résonance et de protéger les condensateurs.</a:t>
            </a:r>
          </a:p>
          <a:p>
            <a:pPr>
              <a:defRPr sz="1600"/>
            </a:pPr>
            <a:r>
              <a:t>Si des distorsions harmoniques sont constatées, il convient de prévoir des dispositions de compensation.</a:t>
            </a:r>
          </a:p>
          <a:p>
            <a:pPr>
              <a:defRPr sz="1600"/>
            </a:pPr>
            <a:r>
              <a:t>L’usage est d’utiliser des inductances anti-harmoniques dès que la puissance des charges générant des harmoniques dépasse 20 % de la puissance du transformateur d’alimentation.</a:t>
            </a:r>
          </a:p>
          <a:p>
            <a:pPr>
              <a:defRPr sz="1600"/>
            </a:pPr>
            <a:r>
              <a:t>Si cette puissance dépasse 50 %, il convient d’utiliser des filtres anti- harmoniques.</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557.2.2 Tension assignée</a:t>
            </a:r>
          </a:p>
        </p:txBody>
      </p:sp>
      <p:sp>
        <p:nvSpPr>
          <p:cNvPr id="3" name="Content Placeholder 2"/>
          <p:cNvSpPr>
            <a:spLocks noGrp="1"/>
          </p:cNvSpPr>
          <p:nvPr>
            <p:ph idx="1"/>
          </p:nvPr>
        </p:nvSpPr>
        <p:spPr/>
        <p:txBody>
          <a:bodyPr/>
          <a:lstStyle/>
          <a:p>
            <a:pPr>
              <a:defRPr sz="1600"/>
            </a:pPr>
            <a:r>
              <a:t>La valeur de la tension assignée des condensateurs diffère parfois de celle de la tension nominale du réseau.</a:t>
            </a:r>
          </a:p>
          <a:p>
            <a:pPr>
              <a:defRPr sz="1600"/>
            </a:pPr>
            <a:r>
              <a:t>La tension assignée des condensateurs est au moins égale à la tension maximale de fonctionnement de l'installation, compte tenu de l'influence des condensateurs, des éléments inductifs qui peuvent leur être associés en série et de la présence éventuelle de courants harmoniques.</a:t>
            </a:r>
          </a:p>
          <a:p>
            <a:pPr>
              <a:defRPr sz="1600"/>
            </a:pPr>
            <a:r>
              <a:t>Les variations de charge de l'installation sont également à prendre en compte (mise hors tension totale ou partielle des condensateurs à faible charge).</a:t>
            </a:r>
          </a:p>
          <a:p>
            <a:pPr>
              <a:defRPr sz="1600"/>
            </a:pPr>
            <a:r>
              <a:t>Cependant, il convient d'éviter les marges de sécurité excessives dans le choix de la tension assignée, car elles peuvent entraîner une diminution de la puissance réactive de la batterie de condensateurs.</a:t>
            </a:r>
          </a:p>
          <a:p>
            <a:pPr>
              <a:defRPr sz="1600"/>
            </a:pPr>
            <a:r>
              <a:t>——————— (25) NF EN 60831-1 (C 54-108), NF EN 60831-2 (C 54-109) (26) NF EN 60931-1 (C 54-118), NF EN 60931-2, (C 54-119)  - 300 -.</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557.2.3 Altitude - Les condensateurs sont conçus pour fonctionner jusqu'à 2 000 mètres. Au-</a:t>
            </a:r>
          </a:p>
        </p:txBody>
      </p:sp>
      <p:sp>
        <p:nvSpPr>
          <p:cNvPr id="3" name="Content Placeholder 2"/>
          <p:cNvSpPr>
            <a:spLocks noGrp="1"/>
          </p:cNvSpPr>
          <p:nvPr>
            <p:ph idx="1"/>
          </p:nvPr>
        </p:nvSpPr>
        <p:spPr/>
        <p:txBody>
          <a:bodyPr/>
          <a:lstStyle/>
          <a:p>
            <a:pPr>
              <a:defRPr sz="1600"/>
            </a:pPr>
            <a:r>
              <a:t>delà, le choix est à faire en accord avec le constructeur.</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557.2.4 Température de service - Les condensateurs sont très sensibles aux températures</a:t>
            </a:r>
          </a:p>
        </p:txBody>
      </p:sp>
      <p:sp>
        <p:nvSpPr>
          <p:cNvPr id="3" name="Content Placeholder 2"/>
          <p:cNvSpPr>
            <a:spLocks noGrp="1"/>
          </p:cNvSpPr>
          <p:nvPr>
            <p:ph idx="1"/>
          </p:nvPr>
        </p:nvSpPr>
        <p:spPr/>
        <p:txBody>
          <a:bodyPr/>
          <a:lstStyle/>
          <a:p>
            <a:pPr>
              <a:defRPr sz="1600"/>
            </a:pPr>
            <a:r>
              <a:t>trop élevées ; ils doivent donc être choisis et installés de telle façon que la température de l’air ambiant ne dépasse pas les valeurs limites de la catégorie de température.</a:t>
            </a:r>
          </a:p>
          <a:p>
            <a:pPr>
              <a:defRPr sz="1600"/>
            </a:pPr>
            <a:r>
              <a:t>Une température trop élevée a une grande influence sur la durée de vie des condensateurs.</a:t>
            </a:r>
          </a:p>
          <a:p>
            <a:pPr>
              <a:defRPr sz="1600"/>
            </a:pPr>
            <a:r>
              <a:t>Il convient donc de les installer de manière à permettre une bonne évacuation par rayonnement et par convection de la chaleur produite par les pertes et de les protéger contre les rayonnements (solaires ou autres).</a:t>
            </a:r>
          </a:p>
          <a:p>
            <a:pPr>
              <a:defRPr sz="1600"/>
            </a:pPr>
            <a:r>
              <a:t>L'utilisation de condensateurs prévus pour une tension assignée plus élevée est parfois nécessaire pour tenir compte des effets néfastes des températures trop élevées.</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557.2.5 Surtensions - Le choix et l'installation des condensateurs doivent tenir compte des</a:t>
            </a:r>
          </a:p>
        </p:txBody>
      </p:sp>
      <p:sp>
        <p:nvSpPr>
          <p:cNvPr id="3" name="Content Placeholder 2"/>
          <p:cNvSpPr>
            <a:spLocks noGrp="1"/>
          </p:cNvSpPr>
          <p:nvPr>
            <p:ph idx="1"/>
          </p:nvPr>
        </p:nvSpPr>
        <p:spPr/>
        <p:txBody>
          <a:bodyPr/>
          <a:lstStyle/>
          <a:p>
            <a:pPr>
              <a:defRPr sz="1600"/>
            </a:pPr>
            <a:r>
              <a:t>surtensions susceptibles d'être rencontrées au lieu de l'installation.</a:t>
            </a:r>
          </a:p>
          <a:p>
            <a:pPr>
              <a:defRPr sz="1600"/>
            </a:pPr>
            <a:r>
              <a:t>Les condensateurs peuvent fonctionner pendant de longues périodes sous des tensions ne dépassant pas 1,10 Un, à l'exclusion des surtensions transitoires.</a:t>
            </a:r>
          </a:p>
          <a:p>
            <a:pPr>
              <a:defRPr sz="1600"/>
            </a:pPr>
            <a:r>
              <a:t>il  transitoires,  les surtensions  Parmi faut noter particulièrement celles résultant des réamorçages des appareils de commutation au moment de leur ouverture.</a:t>
            </a:r>
          </a:p>
          <a:p>
            <a:pPr>
              <a:defRPr sz="1600"/>
            </a:pPr>
            <a:r>
              <a:t>Il convient de choisir des appareillages (interrupteurs, disjoncteurs, contacteurs) aptes à manœuvrer les condensateurs.</a:t>
            </a:r>
          </a:p>
          <a:p>
            <a:pPr>
              <a:defRPr sz="1600"/>
            </a:pPr>
            <a:r>
              <a:t>Dans le cas de batteries de condensateurs de grande dimension, les parafoudres éventuels de protection contre les surtensions transitoires sont choisis pour tenir compte du courant de décharge des condensateurs.</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557.2.6 Surintensités</a:t>
            </a:r>
          </a:p>
        </p:txBody>
      </p:sp>
      <p:sp>
        <p:nvSpPr>
          <p:cNvPr id="3" name="Content Placeholder 2"/>
          <p:cNvSpPr>
            <a:spLocks noGrp="1"/>
          </p:cNvSpPr>
          <p:nvPr>
            <p:ph idx="1"/>
          </p:nvPr>
        </p:nvSpPr>
        <p:spPr/>
        <p:txBody>
          <a:bodyPr/>
          <a:lstStyle/>
          <a:p>
            <a:pPr>
              <a:defRPr sz="1600"/>
            </a:pPr>
            <a:r>
              <a:t>Les condensateurs sont prévus normalement pour pouvoir fonctionner de manière permanente sous un courant permanent égal à 1,3 fois le courant engendré par la tension sinusoïdale assignée sous la fréquence assignée, transitoires exclues.</a:t>
            </a:r>
          </a:p>
          <a:p>
            <a:pPr>
              <a:defRPr sz="1600"/>
            </a:pPr>
            <a:r>
              <a:t>Ils doivent être protégés pour toute surintensité de valeur supérieure.</a:t>
            </a:r>
          </a:p>
          <a:p>
            <a:pPr>
              <a:defRPr sz="1600"/>
            </a:pPr>
            <a:r>
              <a:t>Les courants de surcharge supérieurs aux valeurs admissibles peuvent être provoqués par une tension excessive à la fréquence fondamentale, par des harmoniques, ou par les deux à la fois.</a:t>
            </a:r>
          </a:p>
          <a:p>
            <a:pPr>
              <a:defRPr sz="1600"/>
            </a:pPr>
            <a:r>
              <a:t>Les sources principales d'harmoniques sont les redresseurs, l’électronique de puissance, les circuits magnétiques à noyaux saturés.</a:t>
            </a:r>
          </a:p>
          <a:p>
            <a:pPr>
              <a:defRPr sz="1600"/>
            </a:pPr>
            <a:r>
              <a:t>Pour protéger les condensateurs contre les surintensités dues aux harmoniques, il peut être nécessaire d’ajouter des inductances anti-harmoniques en série avec les condensateurs.</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557.2.7 Appareillage de commande et de protection</a:t>
            </a:r>
          </a:p>
        </p:txBody>
      </p:sp>
      <p:sp>
        <p:nvSpPr>
          <p:cNvPr id="3" name="Content Placeholder 2"/>
          <p:cNvSpPr>
            <a:spLocks noGrp="1"/>
          </p:cNvSpPr>
          <p:nvPr>
            <p:ph idx="1"/>
          </p:nvPr>
        </p:nvSpPr>
        <p:spPr/>
        <p:txBody>
          <a:bodyPr/>
          <a:lstStyle/>
          <a:p>
            <a:pPr>
              <a:defRPr sz="1600"/>
            </a:pPr>
            <a:r>
              <a:t>Sauf cas particulier (par exemple filtrage des harmoniques) l’appareillage de commande et de protection des condensateurs doit supporter en permanence, au maximum 1,5 fois le courant assigné, afin de tenir compte des harmoniques et des tolérances sur les capacités.</a:t>
            </a:r>
          </a:p>
          <a:p>
            <a:pPr>
              <a:defRPr sz="1600"/>
            </a:pPr>
            <a:r>
              <a:t>Du fait des phénomènes transitoires au moment de la mise sous tension, il doit supporter les efforts électrodynamiques et thermiques dus aux surintensités qui apparaissent à ce moment.</a:t>
            </a:r>
          </a:p>
          <a:p>
            <a:pPr>
              <a:defRPr sz="1600"/>
            </a:pPr>
            <a:r>
              <a:t>Lorsque plusieurs batteries ou gradins sont connectées en parallèle, il est nécessaire de limiter les condensateurs ou en mettant sous tension les condensateurs par l’intermédiaire d’une résistance.</a:t>
            </a:r>
          </a:p>
          <a:p>
            <a:pPr>
              <a:defRPr sz="1600"/>
            </a:pPr>
            <a:r>
              <a:t>transitoires en utilisant des  inductances en série avec  les surintensités.</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557.2.8 Règles de sécurité</a:t>
            </a:r>
          </a:p>
        </p:txBody>
      </p:sp>
      <p:sp>
        <p:nvSpPr>
          <p:cNvPr id="3" name="Content Placeholder 2"/>
          <p:cNvSpPr>
            <a:spLocks noGrp="1"/>
          </p:cNvSpPr>
          <p:nvPr>
            <p:ph idx="1"/>
          </p:nvPr>
        </p:nvSpPr>
        <p:spPr/>
        <p:txBody>
          <a:bodyPr/>
          <a:lstStyle/>
          <a:p>
            <a:pPr>
              <a:defRPr sz="1600"/>
            </a:pPr>
            <a:r>
              <a:t>Chaque condensateur doit être équipé d’un dispositif permettant déconnexion.</a:t>
            </a:r>
          </a:p>
          <a:p>
            <a:pPr>
              <a:defRPr sz="1600"/>
            </a:pPr>
            <a:r>
              <a:t>la décharge après  - 301 -   558 Ensembles d'appareillage.</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558.1 Généralités</a:t>
            </a:r>
          </a:p>
        </p:txBody>
      </p:sp>
      <p:sp>
        <p:nvSpPr>
          <p:cNvPr id="3" name="Content Placeholder 2"/>
          <p:cNvSpPr>
            <a:spLocks noGrp="1"/>
          </p:cNvSpPr>
          <p:nvPr>
            <p:ph idx="1"/>
          </p:nvPr>
        </p:nvSpPr>
        <p:spPr/>
        <p:txBody>
          <a:bodyPr/>
          <a:lstStyle/>
          <a:p>
            <a:pPr>
              <a:defRPr sz="1600"/>
            </a:pPr>
            <a:r>
              <a:t>Un dispositif de sectionnement et de coupure en charge doit être prévu à l’intérieur ou à proximité de tout ensemble d’appareillage.</a:t>
            </a:r>
          </a:p>
          <a:p>
            <a:pPr>
              <a:defRPr sz="1600"/>
            </a:pPr>
            <a:r>
              <a:t>Les ensembles d'appareillage peuvent être :  a) soit fabriqués en usine selon un type donné, conformes à une norme spécifique, - Ensembles d'appareillage à basse tension - Première partie : Règles pour les ensembles (27)  de série et les ensembles dérivés de série (28)  - Démarreurs de moteurs à basse tension.</a:t>
            </a:r>
          </a:p>
          <a:p>
            <a:pPr>
              <a:defRPr sz="1600"/>
            </a:pPr>
            <a:r>
              <a:t>;  Les ensembles sont installés conformément aux instructions données par le constructeur.</a:t>
            </a:r>
          </a:p>
          <a:p>
            <a:pPr>
              <a:defRPr sz="1600"/>
            </a:pPr>
            <a:r>
              <a:t>Les conditions dans lesquelles ils sont insérés dans une installation sont déterminées par les caractéristiques au point d'installation.</a:t>
            </a:r>
          </a:p>
          <a:p>
            <a:pPr>
              <a:defRPr sz="1600"/>
            </a:pPr>
            <a:r>
              <a:t>Les caractéristiques des ensembles d'appareillage sont déterminées par accord entre les parties intéressées.</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7.6.5.1 et à 7.6.5.2 de la NF EN 60439-1 ou conforme à leur propre norme.</a:t>
            </a:r>
          </a:p>
        </p:txBody>
      </p:sp>
      <p:sp>
        <p:nvSpPr>
          <p:cNvPr id="3" name="Content Placeholder 2"/>
          <p:cNvSpPr>
            <a:spLocks noGrp="1"/>
          </p:cNvSpPr>
          <p:nvPr>
            <p:ph idx="1"/>
          </p:nvPr>
        </p:nvSpPr>
        <p:spPr/>
        <p:txBody>
          <a:bodyPr/>
          <a:lstStyle/>
          <a:p>
            <a:pPr>
              <a:defRPr sz="1600"/>
            </a:pPr>
            <a:r>
              <a:t>Les règles de 558.</a:t>
            </a:r>
          </a:p>
          <a:p>
            <a:pPr>
              <a:defRPr sz="1600"/>
            </a:pPr>
            <a:r>
              <a:t>2 à 558.</a:t>
            </a:r>
          </a:p>
          <a:p>
            <a:pPr>
              <a:defRPr sz="1600"/>
            </a:pPr>
            <a:r>
              <a:t>6 sont applicables aux ensembles d'appareillage autres que ceux conformes à une norme spécifique et dont la tension assignée est au plus égale à la limite supérieure du domaine Il.</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558.2 Matériaux</a:t>
            </a:r>
          </a:p>
        </p:txBody>
      </p:sp>
      <p:sp>
        <p:nvSpPr>
          <p:cNvPr id="3" name="Content Placeholder 2"/>
          <p:cNvSpPr>
            <a:spLocks noGrp="1"/>
          </p:cNvSpPr>
          <p:nvPr>
            <p:ph idx="1"/>
          </p:nvPr>
        </p:nvSpPr>
        <p:spPr/>
        <p:txBody>
          <a:bodyPr/>
          <a:lstStyle/>
          <a:p>
            <a:pPr>
              <a:defRPr sz="1600"/>
            </a:pPr>
            <a:r>
              <a:t>Les matériaux utilisés doivent pouvoir supporter les contraintes mécaniques, l'humidité et la chaleur rencontrées en service.</a:t>
            </a:r>
          </a:p>
          <a:p>
            <a:pPr>
              <a:defRPr sz="1600"/>
            </a:pPr>
            <a:r>
              <a:t>Dans la mesure où les matériaux des éléments de construction ne sont pas susceptibles de supporter les contraintes prévues, il faut prévoir un traitement convenable (par exemple peinture ou protection galvanique de la surface).</a:t>
            </a:r>
          </a:p>
          <a:p>
            <a:pPr>
              <a:defRPr sz="1600"/>
            </a:pPr>
            <a:r>
              <a:t>L'usage du bois naturel non traité n'est admis que dans les conditions d'influences externes AD1.</a:t>
            </a:r>
          </a:p>
          <a:p>
            <a:pPr>
              <a:defRPr sz="1600"/>
            </a:pPr>
            <a:r>
              <a:t>Il ne doit pas être fait usage de matériaux M4 ou non classés.</a:t>
            </a:r>
          </a:p>
          <a:p>
            <a:pPr>
              <a:defRPr sz="1600"/>
            </a:pPr>
            <a:r>
              <a:t>Lorsque des degrés de protection supérieurs à IP44 sont nécessaires, la protection ne peut être que présumée, compte tenu des caractéristiques des enveloppes utilisées et des conditions de montage, en raison des difficultés de vérification sur chantier.</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558.3.1 Généralités</a:t>
            </a:r>
          </a:p>
        </p:txBody>
      </p:sp>
      <p:sp>
        <p:nvSpPr>
          <p:cNvPr id="3" name="Content Placeholder 2"/>
          <p:cNvSpPr>
            <a:spLocks noGrp="1"/>
          </p:cNvSpPr>
          <p:nvPr>
            <p:ph idx="1"/>
          </p:nvPr>
        </p:nvSpPr>
        <p:spPr/>
        <p:txBody>
          <a:bodyPr/>
          <a:lstStyle/>
          <a:p>
            <a:pPr>
              <a:defRPr sz="1600"/>
            </a:pPr>
            <a:r>
              <a:t>Les ensembles d'appareillage non fabriqués en usine doivent être conçus et réalisés de façon à pouvoir être utilisés dans les conditions définies dans les parties 4 et 5, notamment : - 41 - 43 - 543.</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558.3.2.1 Disposition de protection contre les contacts directs (411.2)</a:t>
            </a:r>
          </a:p>
        </p:txBody>
      </p:sp>
      <p:sp>
        <p:nvSpPr>
          <p:cNvPr id="3" name="Content Placeholder 2"/>
          <p:cNvSpPr>
            <a:spLocks noGrp="1"/>
          </p:cNvSpPr>
          <p:nvPr>
            <p:ph idx="1"/>
          </p:nvPr>
        </p:nvSpPr>
        <p:spPr/>
        <p:txBody>
          <a:bodyPr/>
          <a:lstStyle/>
          <a:p>
            <a:pPr>
              <a:defRPr sz="1600"/>
            </a:pPr>
            <a:r>
              <a:t>Les panneaux amovibles destinés à empêcher le contact direct avec les parties actives ne doivent pouvoir être enlevés qu'à l'aide d'un outil ou d'une clé.</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558.3.2.2.1 Mise à la terre des masses</a:t>
            </a:r>
          </a:p>
        </p:txBody>
      </p:sp>
      <p:sp>
        <p:nvSpPr>
          <p:cNvPr id="3" name="Content Placeholder 2"/>
          <p:cNvSpPr>
            <a:spLocks noGrp="1"/>
          </p:cNvSpPr>
          <p:nvPr>
            <p:ph idx="1"/>
          </p:nvPr>
        </p:nvSpPr>
        <p:spPr/>
        <p:txBody>
          <a:bodyPr/>
          <a:lstStyle/>
          <a:p>
            <a:pPr>
              <a:defRPr sz="1600"/>
            </a:pPr>
            <a:r>
              <a:t>Toutes les masses doivent être reliées directement entre elles soit par des assemblages appropriés, soit au moyen de conducteurs d’équipotentialité.</a:t>
            </a:r>
          </a:p>
          <a:p>
            <a:pPr>
              <a:defRPr sz="1600"/>
            </a:pPr>
            <a:r>
              <a:t>Ces liaisons doivent assurer une bonne conductibilité et doivent pouvoir supporter le courant maximal de défaut, compte tenu des caractéristiques des appareils de protection et de coupure.</a:t>
            </a:r>
          </a:p>
          <a:p>
            <a:pPr>
              <a:defRPr sz="1600"/>
            </a:pPr>
            <a:r>
              <a:t>La liaison électrique entre toutes les masses doit être exécutée de telle façon que le démontage d'une ou de plusieurs de ces parties, pour des raisons de service ou d'entretien, ne porte pas atteinte à la continuité électrique du circuit de protection.</a:t>
            </a:r>
          </a:p>
          <a:p>
            <a:pPr>
              <a:defRPr sz="1600"/>
            </a:pPr>
            <a:r>
              <a:t>Pour raccorder le conducteur de protection extérieur, une borne assurant un contact efficace et durable doit être prévue; cette borne doit être convenablement repérée, soit par la double coloration vert et jaune, soit par le symbole 417.</a:t>
            </a:r>
          </a:p>
          <a:p>
            <a:pPr>
              <a:defRPr sz="1600"/>
            </a:pPr>
            <a:r>
              <a:t>5019.</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558.3.2.2.2 Mesure de protection par isolation double ou renforcée par installation. (Voir</a:t>
            </a:r>
          </a:p>
        </p:txBody>
      </p:sp>
      <p:sp>
        <p:nvSpPr>
          <p:cNvPr id="3" name="Content Placeholder 2"/>
          <p:cNvSpPr>
            <a:spLocks noGrp="1"/>
          </p:cNvSpPr>
          <p:nvPr>
            <p:ph idx="1"/>
          </p:nvPr>
        </p:nvSpPr>
        <p:spPr/>
        <p:txBody>
          <a:bodyPr/>
          <a:lstStyle/>
          <a:p>
            <a:pPr>
              <a:defRPr sz="1600"/>
            </a:pPr>
            <a:r>
              <a:t>aussi 412).</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558.3.2.2.2.1 enveloppe conçue pour réaliser un ensemble de niveau d’isolation double</a:t>
            </a:r>
          </a:p>
        </p:txBody>
      </p:sp>
      <p:sp>
        <p:nvSpPr>
          <p:cNvPr id="3" name="Content Placeholder 2"/>
          <p:cNvSpPr>
            <a:spLocks noGrp="1"/>
          </p:cNvSpPr>
          <p:nvPr>
            <p:ph idx="1"/>
          </p:nvPr>
        </p:nvSpPr>
        <p:spPr/>
        <p:txBody>
          <a:bodyPr/>
          <a:lstStyle/>
          <a:p>
            <a:pPr>
              <a:defRPr sz="1600"/>
            </a:pPr>
            <a:r>
              <a:t>ou renforcée de classe II : Lorsqu'une enveloppe (coffret ou armoire) fournie sans appareillage est déclarée par le constructeur apte à réaliser le niveau d’isolation double ou renforcée de la classe II, la mise en place d'appareillages à l'intérieur de cette enveloppe et la mise en œuvre (fixation, raccordement des conducteurs, etc.</a:t>
            </a:r>
          </a:p>
          <a:p>
            <a:pPr>
              <a:defRPr sz="1600"/>
            </a:pPr>
            <a:r>
              <a:t>) doivent être effectuées selon les instructions du constructeur de façon à ne pas nuire à la double isolation initiale conformément aux règles de construction (voir 412).</a:t>
            </a:r>
          </a:p>
          <a:p>
            <a:pPr>
              <a:defRPr sz="1600"/>
            </a:pPr>
            <a:r>
              <a:t>Dans le cas d’une enveloppe isolante :  - -  Les matériels de classe I situés dans l’enveloppe ne sont pas reliés à la terre.</a:t>
            </a:r>
          </a:p>
          <a:p>
            <a:pPr>
              <a:defRPr sz="1600"/>
            </a:pPr>
            <a:r>
              <a:t>Les matériels situés sur l’enveloppe doivent être de classe II ou III.</a:t>
            </a:r>
          </a:p>
          <a:p>
            <a:pPr>
              <a:defRPr sz="1600"/>
            </a:pPr>
            <a:r>
              <a:t>Dans le cas d’une enveloppe métallique :  - -  - -  L'enveloppe métallique ne doit pas être reliée à la terre.</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558.3.2.2.2.2 autres enveloppes</a:t>
            </a:r>
          </a:p>
        </p:txBody>
      </p:sp>
      <p:sp>
        <p:nvSpPr>
          <p:cNvPr id="3" name="Content Placeholder 2"/>
          <p:cNvSpPr>
            <a:spLocks noGrp="1"/>
          </p:cNvSpPr>
          <p:nvPr>
            <p:ph idx="1"/>
          </p:nvPr>
        </p:nvSpPr>
        <p:spPr/>
        <p:txBody>
          <a:bodyPr/>
          <a:lstStyle/>
          <a:p>
            <a:pPr>
              <a:defRPr sz="1600"/>
            </a:pPr>
            <a:r>
              <a:t>a) Règles générales  Lorsqu'un constructeur fournit des accessoires permettant de réaliser un sous-ensemble de niveau d’isolation double ou renforcée à l'intérieur d'une enveloppe classe I, la mise en œuvre (accessoires, platines, fixation, raccordement des conducteurs, etc.</a:t>
            </a:r>
          </a:p>
          <a:p>
            <a:pPr>
              <a:defRPr sz="1600"/>
            </a:pPr>
            <a:r>
              <a:t>) doit être effectuée selon les instructions du constructeur de ces matériels de façon à ne pas nuire à la protection assurée conformément aux règles de construction (voir   412).</a:t>
            </a:r>
          </a:p>
          <a:p>
            <a:pPr>
              <a:defRPr sz="1600"/>
            </a:pPr>
            <a:r>
              <a:t>Par ailleurs, il convient de respecter les règles suivantes :  - Dans le sous-ensemble, les matériels qui ne sont pas de classe II ou III doivent être isolation  l'enveloppe par une  séparés des parties métalliques accessibles de supplémentaire et non reliés à la terre.</a:t>
            </a:r>
          </a:p>
          <a:p>
            <a:pPr>
              <a:defRPr sz="1600"/>
            </a:pPr>
            <a:r>
              <a:t>- Les matériels situés sur l’enveloppe peuvent être de classe I, II ou III.</a:t>
            </a:r>
          </a:p>
          <a:p>
            <a:pPr>
              <a:defRPr sz="1600"/>
            </a:pPr>
            <a:r>
              <a:t>- L'enveloppe de l'armoire métallique doit être reliée à la terre.</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558.4.1 Les appareillages doivent être mis en œuvre conformément aux instructions fournies</a:t>
            </a:r>
          </a:p>
        </p:txBody>
      </p:sp>
      <p:sp>
        <p:nvSpPr>
          <p:cNvPr id="3" name="Content Placeholder 2"/>
          <p:cNvSpPr>
            <a:spLocks noGrp="1"/>
          </p:cNvSpPr>
          <p:nvPr>
            <p:ph idx="1"/>
          </p:nvPr>
        </p:nvSpPr>
        <p:spPr/>
        <p:txBody>
          <a:bodyPr/>
          <a:lstStyle/>
          <a:p>
            <a:pPr>
              <a:defRPr sz="1600"/>
            </a:pPr>
            <a:r>
              <a:t>par le constructeur des appareillages (conditions d'emploi, distances à observer pour les arcs de coupure, etc.</a:t>
            </a:r>
          </a:p>
          <a:p>
            <a:pPr>
              <a:defRPr sz="1600"/>
            </a:pPr>
            <a:r>
              <a:t>).</a:t>
            </a:r>
          </a:p>
          <a:p>
            <a:pPr>
              <a:defRPr sz="1600"/>
            </a:pPr>
            <a:r>
              <a:t>En outre, les dispositions des articles 512, 513 et 515 doivent être respectées.</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558.4.2 Les conducteurs et câbles installés dans les ensembles doivent satisfaire aux règles</a:t>
            </a:r>
          </a:p>
        </p:txBody>
      </p:sp>
      <p:sp>
        <p:nvSpPr>
          <p:cNvPr id="3" name="Content Placeholder 2"/>
          <p:cNvSpPr>
            <a:spLocks noGrp="1"/>
          </p:cNvSpPr>
          <p:nvPr>
            <p:ph idx="1"/>
          </p:nvPr>
        </p:nvSpPr>
        <p:spPr/>
        <p:txBody>
          <a:bodyPr/>
          <a:lstStyle/>
          <a:p>
            <a:pPr>
              <a:defRPr sz="1600"/>
            </a:pPr>
            <a:r>
              <a:t>de la partie 5-52.</a:t>
            </a:r>
          </a:p>
          <a:p>
            <a:pPr>
              <a:defRPr sz="1600"/>
            </a:pPr>
            <a:r>
              <a:t>En particulier, les connexions doivent satisfaire aux règles de l'article 526 et les conducteurs et câbles doivent être protégés contre les influences externes comme spécifié en 522.</a:t>
            </a:r>
          </a:p>
          <a:p>
            <a:pPr>
              <a:defRPr sz="1600"/>
            </a:pPr>
            <a:r>
              <a:t>Les conducteurs d'alimentation des appareils et des instruments de mesure fixés dans les couvercles ou portes doivent être posés de telle manière que les mouvements du couvercle ou de la porte ne puissent pas donner lieu à une détérioration de ces conducteurs.</a:t>
            </a:r>
          </a:p>
          <a:p>
            <a:pPr>
              <a:defRPr sz="1600"/>
            </a:pPr>
            <a:r>
              <a:t>Les conducteurs isolés et les câbles disposés dans des ensembles sont considérés comme posés dans des goulottes (mode de pose 31 ou 32 suivant le tableau 52C).</a:t>
            </a:r>
          </a:p>
          <a:p>
            <a:pPr>
              <a:defRPr sz="1600"/>
            </a:pPr>
            <a:r>
              <a:t>Les conducteurs et câbles sont protégés contre les surintensités conformément aux règles de la partie 4-43 Les conducteurs isolés et câbles sont disposés de façon à exclure que leur isolant puisse être blessé par des arêtes vives, le mouvement d'un couvercle, des vibrations, etc.</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558.4.3 Les distances minimales suivantes doivent être respectées :</a:t>
            </a:r>
          </a:p>
        </p:txBody>
      </p:sp>
      <p:sp>
        <p:nvSpPr>
          <p:cNvPr id="3" name="Content Placeholder 2"/>
          <p:cNvSpPr>
            <a:spLocks noGrp="1"/>
          </p:cNvSpPr>
          <p:nvPr>
            <p:ph idx="1"/>
          </p:nvPr>
        </p:nvSpPr>
        <p:spPr/>
        <p:txBody>
          <a:bodyPr/>
          <a:lstStyle/>
          <a:p>
            <a:pPr>
              <a:defRPr sz="1600"/>
            </a:pPr>
            <a:r>
              <a:t>entre parties actives nues de polarités différentes : 10 mm ; - (masses, enveloppes entre parties actives nues et autres parties conductrices - extérieures) : 20 mm, cette distance étant portée à 100 mm lorsque les enveloppes extérieures considérées comportent des ouvertures dont la plus petite dimension est comprise entre 12 et 50 mm.</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558.5.1 Tout ensemble doit être pourvu d'une plaque de firme indiquant son constructeur.</a:t>
            </a:r>
          </a:p>
        </p:txBody>
      </p:sp>
      <p:sp>
        <p:nvSpPr>
          <p:cNvPr id="3" name="Content Placeholder 2"/>
          <p:cNvSpPr>
            <a:spLocks noGrp="1"/>
          </p:cNvSpPr>
          <p:nvPr>
            <p:ph idx="1"/>
          </p:nvPr>
        </p:nvSpPr>
        <p:spPr/>
        <p:txBody>
          <a:bodyPr/>
          <a:lstStyle/>
          <a:p>
            <a:pPr>
              <a:defRPr sz="1600"/>
            </a:pPr>
            <a:r>
              <a:t>Les plaques des appareils incorporés ne doivent pas être enlevées.</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558.5.2 Dans les ensembles, l'appartenance des matériels (tels dispositifs de protection,</a:t>
            </a:r>
          </a:p>
        </p:txBody>
      </p:sp>
      <p:sp>
        <p:nvSpPr>
          <p:cNvPr id="3" name="Content Placeholder 2"/>
          <p:cNvSpPr>
            <a:spLocks noGrp="1"/>
          </p:cNvSpPr>
          <p:nvPr>
            <p:ph idx="1"/>
          </p:nvPr>
        </p:nvSpPr>
        <p:spPr/>
        <p:txBody>
          <a:bodyPr/>
          <a:lstStyle/>
          <a:p>
            <a:pPr>
              <a:defRPr sz="1600"/>
            </a:pPr>
            <a:r>
              <a:t>appareillage, barrettes à bornes, etc.</a:t>
            </a:r>
          </a:p>
          <a:p>
            <a:pPr>
              <a:defRPr sz="1600"/>
            </a:pPr>
            <a:r>
              <a:t>) au circuit correspondant, doit ressortir sans ambiguïté.</a:t>
            </a:r>
          </a:p>
          <a:p>
            <a:pPr>
              <a:defRPr sz="1600"/>
            </a:pPr>
            <a:r>
              <a:t>Les désignations des matériels doivent être lisibles, réalisées de manière durable et placées de manière à éviter tout risque de confusion.</a:t>
            </a:r>
          </a:p>
          <a:p>
            <a:pPr>
              <a:defRPr sz="1600"/>
            </a:pPr>
            <a:r>
              <a:t>Les étiquettes et plaques signalétiques doivent être fixées de manière efficace et durable et correspondre aux désignations dans les documents d'accompagnement (tels que schémas, liste de pièces détachées, liste des canalisations) qui doivent être joints.</a:t>
            </a:r>
          </a:p>
          <a:p>
            <a:pPr>
              <a:defRPr sz="1600"/>
            </a:pPr>
            <a:r>
              <a:t>559 Matériels d'utilisation.</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559.1 Connexion des appareils aux installations</a:t>
            </a:r>
          </a:p>
        </p:txBody>
      </p:sp>
      <p:sp>
        <p:nvSpPr>
          <p:cNvPr id="3" name="Content Placeholder 2"/>
          <p:cNvSpPr>
            <a:spLocks noGrp="1"/>
          </p:cNvSpPr>
          <p:nvPr>
            <p:ph idx="1"/>
          </p:nvPr>
        </p:nvSpPr>
        <p:spPr/>
        <p:txBody>
          <a:bodyPr/>
          <a:lstStyle/>
          <a:p>
            <a:pPr>
              <a:defRPr sz="1600"/>
            </a:pPr>
            <a:r>
              <a:t>Les appareils peuvent être connectés aux installations, soit directement à une canalisation fixe (voir 559.</a:t>
            </a:r>
          </a:p>
          <a:p>
            <a:pPr>
              <a:defRPr sz="1600"/>
            </a:pPr>
            <a:r>
              <a:t>1), soit par   l'intermédiaire d'une canalisation mobile (voir 559.</a:t>
            </a:r>
          </a:p>
          <a:p>
            <a:pPr>
              <a:defRPr sz="1600"/>
            </a:pPr>
            <a:r>
              <a:t>1.</a:t>
            </a:r>
          </a:p>
          <a:p>
            <a:pPr>
              <a:defRPr sz="1600"/>
            </a:pPr>
            <a:r>
              <a:t>2).</a:t>
            </a:r>
          </a:p>
          <a:p>
            <a:pPr>
              <a:defRPr sz="1600"/>
            </a:pPr>
            <a:r>
              <a:t>Les appareils alimentés par l'intermédiaire d'une canalisation mobile comprennent les appareils portatifs, mobiles et semi-fixes ainsi que ceux pour lesquels ce mode de connexion est reconnu par les normes les concernant.</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559.1.1 Connexion directe des appareils à une canalisation fixe</a:t>
            </a:r>
          </a:p>
        </p:txBody>
      </p:sp>
      <p:sp>
        <p:nvSpPr>
          <p:cNvPr id="3" name="Content Placeholder 2"/>
          <p:cNvSpPr>
            <a:spLocks noGrp="1"/>
          </p:cNvSpPr>
          <p:nvPr>
            <p:ph idx="1"/>
          </p:nvPr>
        </p:nvSpPr>
        <p:spPr/>
        <p:txBody>
          <a:bodyPr/>
          <a:lstStyle/>
          <a:p>
            <a:pPr>
              <a:defRPr sz="1600"/>
            </a:pPr>
            <a:r>
              <a:t>Les canalisations doivent être protégées contre les dégradations auxquelles elles sont exposées.</a:t>
            </a:r>
          </a:p>
          <a:p>
            <a:pPr>
              <a:defRPr sz="1600"/>
            </a:pPr>
            <a:r>
              <a:t>De plus, les connexions des conducteurs avec les appareils ne doivent pas être soumises à des efforts de traction et de torsion.</a:t>
            </a:r>
          </a:p>
          <a:p>
            <a:pPr>
              <a:defRPr sz="1600"/>
            </a:pPr>
            <a:r>
              <a:t>A leur entrée dans les appareils, les canalisations doivent être protégées comme il est prévu en 521.</a:t>
            </a:r>
          </a:p>
          <a:p>
            <a:pPr>
              <a:defRPr sz="1600"/>
            </a:pPr>
            <a:r>
              <a:t>7.</a:t>
            </a:r>
          </a:p>
          <a:p>
            <a:pPr>
              <a:defRPr sz="1600"/>
            </a:pPr>
            <a:r>
              <a:t>Les connexions des conducteurs avec les appareils doivent être effectuées conformément aux règles énoncées en 526.</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559.1.2.1 Les canalisations mobiles doivent comporter le nombre nécessaire de conducteurs</a:t>
            </a:r>
          </a:p>
        </p:txBody>
      </p:sp>
      <p:sp>
        <p:nvSpPr>
          <p:cNvPr id="3" name="Content Placeholder 2"/>
          <p:cNvSpPr>
            <a:spLocks noGrp="1"/>
          </p:cNvSpPr>
          <p:nvPr>
            <p:ph idx="1"/>
          </p:nvPr>
        </p:nvSpPr>
        <p:spPr/>
        <p:txBody>
          <a:bodyPr/>
          <a:lstStyle/>
          <a:p>
            <a:pPr>
              <a:defRPr sz="1600"/>
            </a:pPr>
            <a:r>
              <a:t>électriquement distincts et mécaniquement solidaires, y compris le conducteur de protection si ce conducteur est nécessaire.</a:t>
            </a:r>
          </a:p>
          <a:p>
            <a:pPr>
              <a:defRPr sz="1600"/>
            </a:pPr>
            <a:r>
              <a:t>L'emploi de conducteurs en métal électriquement résistant n'est admis que s'il est autorisé par la norme relative au matériel correspondant.</a:t>
            </a:r>
          </a:p>
          <a:p>
            <a:pPr>
              <a:defRPr sz="1600"/>
            </a:pPr>
            <a:r>
              <a:t>La section des conducteurs est choisie en fonction du courant nominal de l'appareil, d'après les indications des tableaux 52E et   52F.</a:t>
            </a:r>
          </a:p>
          <a:p>
            <a:pPr>
              <a:defRPr sz="1600"/>
            </a:pPr>
            <a:r>
              <a:t>Cette section doit être d'au moins 0,75 mm appareils autorisent des sections plus faibles.</a:t>
            </a:r>
          </a:p>
          <a:p>
            <a:pPr>
              <a:defRPr sz="1600"/>
            </a:pPr>
            <a:r>
              <a:t>Le choix des câbles souples s'effectue suivant les indications en 522.</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559.1.2.2 Les canalisations mobiles doivent satisfaire aux règles applicables de la partie</a:t>
            </a:r>
          </a:p>
        </p:txBody>
      </p:sp>
      <p:sp>
        <p:nvSpPr>
          <p:cNvPr id="3" name="Content Placeholder 2"/>
          <p:cNvSpPr>
            <a:spLocks noGrp="1"/>
          </p:cNvSpPr>
          <p:nvPr>
            <p:ph idx="1"/>
          </p:nvPr>
        </p:nvSpPr>
        <p:spPr/>
        <p:txBody>
          <a:bodyPr/>
          <a:lstStyle/>
          <a:p>
            <a:pPr>
              <a:defRPr sz="1600"/>
            </a:pPr>
            <a:r>
              <a:t>5-52.</a:t>
            </a:r>
          </a:p>
          <a:p>
            <a:pPr>
              <a:defRPr sz="1600"/>
            </a:pPr>
            <a:r>
              <a:t>- 308 -.</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559.1.2.3 Lorsque la canalisation mobile comporte un conducteur de protection, celui-ci doit</a:t>
            </a:r>
          </a:p>
        </p:txBody>
      </p:sp>
      <p:sp>
        <p:nvSpPr>
          <p:cNvPr id="3" name="Content Placeholder 2"/>
          <p:cNvSpPr>
            <a:spLocks noGrp="1"/>
          </p:cNvSpPr>
          <p:nvPr>
            <p:ph idx="1"/>
          </p:nvPr>
        </p:nvSpPr>
        <p:spPr/>
        <p:txBody>
          <a:bodyPr/>
          <a:lstStyle/>
          <a:p>
            <a:pPr>
              <a:defRPr sz="1600"/>
            </a:pPr>
            <a:r>
              <a:t>être repéré par la double coloration vert-et-jaune.</a:t>
            </a:r>
          </a:p>
          <a:p>
            <a:pPr>
              <a:defRPr sz="1600"/>
            </a:pPr>
            <a:r>
              <a:t>Lorsque la canalisation mobile ne comporte pas de conducteur de protection, le conducteur repéré par la double coloration vert-et-jaune, s’il existe, ne doit pas être utilisé.</a:t>
            </a:r>
          </a:p>
          <a:p>
            <a:pPr>
              <a:defRPr sz="1600"/>
            </a:pPr>
            <a:r>
              <a:t>Lorsque la canalisation mobile comporte un conducteur neutre, celui-ci doit être repéré par la couleur bleu clair.</a:t>
            </a:r>
          </a:p>
          <a:p>
            <a:pPr>
              <a:defRPr sz="1600"/>
            </a:pPr>
            <a:r>
              <a:t>Dans les autres cas, le conducteur repéré par la couleur bleu clair peut être utilisé pour un autre usage, sauf comme conducteur de protection.</a:t>
            </a:r>
          </a:p>
          <a:p>
            <a:pPr>
              <a:defRPr sz="1600"/>
            </a:pPr>
            <a:r>
              <a:t>Voir aussi 514.</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559.1.2.4 Les connexions des canalisations mobiles doivent être effectuées à</a:t>
            </a:r>
          </a:p>
        </p:txBody>
      </p:sp>
      <p:sp>
        <p:nvSpPr>
          <p:cNvPr id="3" name="Content Placeholder 2"/>
          <p:cNvSpPr>
            <a:spLocks noGrp="1"/>
          </p:cNvSpPr>
          <p:nvPr>
            <p:ph idx="1"/>
          </p:nvPr>
        </p:nvSpPr>
        <p:spPr/>
        <p:txBody>
          <a:bodyPr/>
          <a:lstStyle/>
          <a:p>
            <a:pPr>
              <a:defRPr sz="1600"/>
            </a:pPr>
            <a:r>
              <a:t>d’appareillages appropriés.</a:t>
            </a:r>
          </a:p>
          <a:p>
            <a:pPr>
              <a:defRPr sz="1600"/>
            </a:pPr>
            <a:r>
              <a:t>Les connexions des canalisations mobiles aux canalisations fixes s ‘effectuent : -    celles-ci pouvant constituer en même    courant (555),  l’aide  soit par l’intermédiaire de prises de temps le dispositif de commande, soit par des boîtes de connexion.</a:t>
            </a:r>
          </a:p>
          <a:p>
            <a:pPr>
              <a:defRPr sz="1600"/>
            </a:pPr>
            <a:r>
              <a:t>-  Les connexions des canalisations mobiles aux appareils s‘effectuent :  - -  soit au moyen de câbles souples reliés à demeure aux appareils, soit au moyen d’un connecteur, celui-ci devant être disposé de telle manière que les parties actives de la prise mobile et du socle ne soient pas accessibles au toucher lorsqu'elles sont sous tension.</a:t>
            </a:r>
          </a:p>
          <a:p>
            <a:pPr>
              <a:defRPr sz="1600"/>
            </a:pPr>
            <a:r>
              <a:t>Un connecteur est un ensemble destiné à relier électriquement à volonté un câble souple et un appareil d’utilisation.</a:t>
            </a:r>
          </a:p>
          <a:p>
            <a:pPr>
              <a:defRPr sz="1600"/>
            </a:pPr>
            <a:r>
              <a:t>ll se compose de deux parties : -  une prise mobile faisant corps avec le câble souple d’alimentation ou destinée à lui être reliée.</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559.2.1 Généralités</a:t>
            </a:r>
          </a:p>
        </p:txBody>
      </p:sp>
      <p:sp>
        <p:nvSpPr>
          <p:cNvPr id="3" name="Content Placeholder 2"/>
          <p:cNvSpPr>
            <a:spLocks noGrp="1"/>
          </p:cNvSpPr>
          <p:nvPr>
            <p:ph idx="1"/>
          </p:nvPr>
        </p:nvSpPr>
        <p:spPr/>
        <p:txBody>
          <a:bodyPr/>
          <a:lstStyle/>
          <a:p>
            <a:pPr>
              <a:defRPr sz="1600"/>
            </a:pPr>
            <a:r>
              <a:t>Le présent paragraphe est applicable au choix et à la mise en œuvre des luminaires dans l’installation fixe.</a:t>
            </a:r>
          </a:p>
          <a:p>
            <a:pPr>
              <a:defRPr sz="1600"/>
            </a:pPr>
            <a:r>
              <a:t>Pour l'application des règles énoncées en 511.</a:t>
            </a:r>
          </a:p>
          <a:p>
            <a:pPr>
              <a:defRPr sz="1600"/>
            </a:pPr>
            <a:r>
              <a:t>1, les normes à considérer sont - Série des normes luminaires  (29).</a:t>
            </a:r>
          </a:p>
          <a:p>
            <a:pPr>
              <a:defRPr sz="1600"/>
            </a:pPr>
            <a:r>
              <a:t>les suivantes :  Le présent paragraphe ne traite pas : -  - - -  des installations d'éclairage public (NF C 17-200) et des installations d'illumination (NF C 17-202) ; des installations d'éclairage TBTS (UTE C 15-559) ; des éclairages des produits mobiliers (C 15-801) ; des lampes à décharge fonctionnant à une tension de sortie à vide assignée supérieure à 1kV mais ne dépassant pas 10 kV (lampes à cathode froide) (NF C 15-150-1 et NF C 15- 150-2).</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559.2.2 Prescriptions générales pour l’installation</a:t>
            </a:r>
          </a:p>
        </p:txBody>
      </p:sp>
      <p:sp>
        <p:nvSpPr>
          <p:cNvPr id="3" name="Content Placeholder 2"/>
          <p:cNvSpPr>
            <a:spLocks noGrp="1"/>
          </p:cNvSpPr>
          <p:nvPr>
            <p:ph idx="1"/>
          </p:nvPr>
        </p:nvSpPr>
        <p:spPr/>
        <p:txBody>
          <a:bodyPr/>
          <a:lstStyle/>
          <a:p>
            <a:pPr>
              <a:defRPr sz="1600"/>
            </a:pPr>
            <a:r>
              <a:t>Les luminaires doivent être mis en œuvre conformément aux instructions du constructeur.</a:t>
            </a:r>
          </a:p>
          <a:p>
            <a:pPr>
              <a:defRPr sz="1600"/>
            </a:pPr>
            <a:r>
              <a:t>Les luminaires sans transformateur/convertisseur, équipés de lampes TBT (Très Basse Tension) alimentées en série, doivent être considérés comme des appareils à basse tension et non comme des appareils TBT.</a:t>
            </a:r>
          </a:p>
          <a:p>
            <a:pPr>
              <a:defRPr sz="1600"/>
            </a:pPr>
            <a:r>
              <a:t>Ils sont donc de la classe I ou II, mais pas de la classe III.</a:t>
            </a:r>
          </a:p>
          <a:p>
            <a:pPr>
              <a:defRPr sz="1600"/>
            </a:pPr>
            <a:r>
              <a:t>——————— (29) Série des normes NF EN 60598 (C 71-000 et la suite)  - 309 -   Les douilles dotées d’interrupteurs à tirette ne sont admises que si le fonctionnement de l’interrupteur est assuré au moyen, soit d’un cordon isolant, soit d’une chaînette métallique reliée au mécanisme par l’intermédiaire d’une partie isolante ; cette chaînette ne doit pas pouvoir entrer en contact avec les parties actives de la douille.</a:t>
            </a:r>
          </a:p>
          <a:p>
            <a:pPr>
              <a:defRPr sz="1600"/>
            </a:pPr>
            <a:r>
              <a:t>L’installation de luminaires dans les coffrages, boites à rideaux et dispositions analogues ne doit pas nuire aux conditions de fonctionnement des luminaires.</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559.2.3.1 La mise en œuvre des luminaires doit prendre en compte leurs effets thermiques</a:t>
            </a:r>
          </a:p>
        </p:txBody>
      </p:sp>
      <p:sp>
        <p:nvSpPr>
          <p:cNvPr id="3" name="Content Placeholder 2"/>
          <p:cNvSpPr>
            <a:spLocks noGrp="1"/>
          </p:cNvSpPr>
          <p:nvPr>
            <p:ph idx="1"/>
          </p:nvPr>
        </p:nvSpPr>
        <p:spPr/>
        <p:txBody>
          <a:bodyPr/>
          <a:lstStyle/>
          <a:p>
            <a:pPr>
              <a:defRPr sz="1600"/>
            </a:pPr>
            <a:r>
              <a:t>sur l’environnement.</a:t>
            </a:r>
          </a:p>
          <a:p>
            <a:pPr>
              <a:defRPr sz="1600"/>
            </a:pPr>
            <a:r>
              <a:t>Les paramètres suivants doivent être considérés :  - - -  la puissance maximale admise dissipée par les lampes ; la tenue au feu des matériaux à proximité ; la distance minimale entre les luminaires et les matériaux combustibles, y compris le chemin du faisceau lumineux des spots.</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559.2.3.2 Les luminaires doivent être installés en respectant les indications fournies par les</a:t>
            </a:r>
          </a:p>
        </p:txBody>
      </p:sp>
      <p:sp>
        <p:nvSpPr>
          <p:cNvPr id="3" name="Content Placeholder 2"/>
          <p:cNvSpPr>
            <a:spLocks noGrp="1"/>
          </p:cNvSpPr>
          <p:nvPr>
            <p:ph idx="1"/>
          </p:nvPr>
        </p:nvSpPr>
        <p:spPr/>
        <p:txBody>
          <a:bodyPr/>
          <a:lstStyle/>
          <a:p>
            <a:pPr>
              <a:defRPr sz="1600"/>
            </a:pPr>
            <a:r>
              <a:t>symboles selon la norme NF C 71-000  Emploi de câble d'alimentation, d'inter- connexion ou de câblage externe résistant à la chaleur.</a:t>
            </a:r>
          </a:p>
          <a:p>
            <a:pPr>
              <a:defRPr sz="1600"/>
            </a:pPr>
            <a:r>
              <a:t>t.</a:t>
            </a:r>
          </a:p>
          <a:p>
            <a:pPr>
              <a:defRPr sz="1600"/>
            </a:pPr>
            <a:r>
              <a:t>°C  (Le nombre d'âmes du câble est facultatif)  Luminaires conçus pour lampes à calotte argentée.</a:t>
            </a:r>
          </a:p>
          <a:p>
            <a:pPr>
              <a:defRPr sz="1600"/>
            </a:pPr>
            <a:r>
              <a:t>Température assignée maximale ambiante.</a:t>
            </a:r>
          </a:p>
          <a:p>
            <a:pPr>
              <a:defRPr sz="1600"/>
            </a:pPr>
            <a:r>
              <a:t>ta.</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559.2.4.1 Les moyens de fixation des luminaires suspendus (accessoires, boîtes de</a:t>
            </a:r>
          </a:p>
        </p:txBody>
      </p:sp>
      <p:sp>
        <p:nvSpPr>
          <p:cNvPr id="3" name="Content Placeholder 2"/>
          <p:cNvSpPr>
            <a:spLocks noGrp="1"/>
          </p:cNvSpPr>
          <p:nvPr>
            <p:ph idx="1"/>
          </p:nvPr>
        </p:nvSpPr>
        <p:spPr/>
        <p:txBody>
          <a:bodyPr/>
          <a:lstStyle/>
          <a:p>
            <a:pPr>
              <a:defRPr sz="1600"/>
            </a:pPr>
            <a:r>
              <a:t>raccordement, coupleurs pour luminaires, etc.</a:t>
            </a:r>
          </a:p>
          <a:p>
            <a:pPr>
              <a:defRPr sz="1600"/>
            </a:pPr>
            <a:r>
              <a:t>) doivent être capables de supporter une masse d’au moins 25 kg.</a:t>
            </a:r>
          </a:p>
          <a:p>
            <a:pPr>
              <a:defRPr sz="1600"/>
            </a:pPr>
            <a:r>
              <a:t>Si la masse du luminaire est supérieure à 25 kg, des dispositions particulières doivent être prises.</a:t>
            </a:r>
          </a:p>
          <a:p>
            <a:pPr>
              <a:defRPr sz="1600"/>
            </a:pPr>
            <a:r>
              <a:t>Dans les conditions d’influences externes AD1 ou AD2, il  est admis d’utiliser les conducteurs d’alimentation pour supporter l’appareil d’éclairage à condition que la masse de l’appareil suspendu n’excède pas 5 kg.</a:t>
            </a:r>
          </a:p>
          <a:p>
            <a:pPr>
              <a:defRPr sz="1600"/>
            </a:pPr>
            <a:r>
              <a:t>Le câble ou cordon entre les moyens de fixation et le luminaire doit être installé de telle façon que soit évitée toute contrainte de tension et de torsion excessive dans les conducteurs.</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559.2.4.2 Le câblage traversant ne peut être réalisé que dans des luminaires prévus à cet</a:t>
            </a:r>
          </a:p>
        </p:txBody>
      </p:sp>
      <p:sp>
        <p:nvSpPr>
          <p:cNvPr id="3" name="Content Placeholder 2"/>
          <p:cNvSpPr>
            <a:spLocks noGrp="1"/>
          </p:cNvSpPr>
          <p:nvPr>
            <p:ph idx="1"/>
          </p:nvPr>
        </p:nvSpPr>
        <p:spPr/>
        <p:txBody>
          <a:bodyPr/>
          <a:lstStyle/>
          <a:p>
            <a:pPr>
              <a:defRPr sz="1600"/>
            </a:pPr>
            <a:r>
              <a:t>effet et en conformité avec les instructions du constructeur.</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559.2.4.3 Les câbles de raccordement doivent être choisis conformément au marquage relatif</a:t>
            </a:r>
          </a:p>
        </p:txBody>
      </p:sp>
      <p:sp>
        <p:nvSpPr>
          <p:cNvPr id="3" name="Content Placeholder 2"/>
          <p:cNvSpPr>
            <a:spLocks noGrp="1"/>
          </p:cNvSpPr>
          <p:nvPr>
            <p:ph idx="1"/>
          </p:nvPr>
        </p:nvSpPr>
        <p:spPr/>
        <p:txBody>
          <a:bodyPr/>
          <a:lstStyle/>
          <a:p>
            <a:pPr>
              <a:defRPr sz="1600"/>
            </a:pPr>
            <a:r>
              <a:t>à la température du luminaire, comme suit :  -  -  pour les luminaires conformes à la NF C 71-000, sans marquage de température, des câbles résistant à la chaleur ne sont pas prescrits ; pour les luminaires conformes à la NF C71-000, avec marquage de température, des câbles appropriés à la température indiquée doivent être utilisés.</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559.2.5 Appareillage auxiliaire indépendant du luminaire</a:t>
            </a:r>
          </a:p>
        </p:txBody>
      </p:sp>
      <p:sp>
        <p:nvSpPr>
          <p:cNvPr id="3" name="Content Placeholder 2"/>
          <p:cNvSpPr>
            <a:spLocks noGrp="1"/>
          </p:cNvSpPr>
          <p:nvPr>
            <p:ph idx="1"/>
          </p:nvPr>
        </p:nvSpPr>
        <p:spPr/>
        <p:txBody>
          <a:bodyPr/>
          <a:lstStyle/>
          <a:p>
            <a:pPr>
              <a:defRPr sz="1600"/>
            </a:pPr>
            <a:r>
              <a:t>Seul un appareillage auxiliaire indépendant prévu par le constructeur peut être utilisé.</a:t>
            </a:r>
          </a:p>
          <a:p>
            <a:pPr>
              <a:defRPr sz="1600"/>
            </a:pPr>
            <a:r>
              <a:t>Lorsque l’appareillage d’alimentation indépendant comporte un amorceur et est situé à l’extérieur du luminaire, une attention particulière doit être portée au type des conducteurs reliant l’amorceur à la (ou aux) douille(s)de la lampe.</a:t>
            </a:r>
          </a:p>
          <a:p>
            <a:pPr>
              <a:defRPr sz="1600"/>
            </a:pPr>
            <a:r>
              <a:t>C’est par ces conducteurs que chemine l’impulsion de tension.</a:t>
            </a:r>
          </a:p>
          <a:p>
            <a:pPr>
              <a:defRPr sz="1600"/>
            </a:pPr>
            <a:r>
              <a:t>Le constructeur doit indiquer les caractéristiques des conducteurs à utiliser.</a:t>
            </a:r>
          </a:p>
          <a:p>
            <a:pPr>
              <a:defRPr sz="1600"/>
            </a:pPr>
            <a:r>
              <a:t>- 311 -.</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559.2.6 Condensateurs</a:t>
            </a:r>
          </a:p>
        </p:txBody>
      </p:sp>
      <p:sp>
        <p:nvSpPr>
          <p:cNvPr id="3" name="Content Placeholder 2"/>
          <p:cNvSpPr>
            <a:spLocks noGrp="1"/>
          </p:cNvSpPr>
          <p:nvPr>
            <p:ph idx="1"/>
          </p:nvPr>
        </p:nvSpPr>
        <p:spPr/>
        <p:txBody>
          <a:bodyPr/>
          <a:lstStyle/>
          <a:p>
            <a:pPr>
              <a:defRPr sz="1600"/>
            </a:pPr>
            <a:r>
              <a:t>Dans le cas où des condensateurs d’une valeur totale supérieure à 0.</a:t>
            </a:r>
          </a:p>
          <a:p>
            <a:pPr>
              <a:defRPr sz="1600"/>
            </a:pPr>
            <a:r>
              <a:t>5µF sont utilisés, en dehors de ceux inclus dans le luminaire par le constructeur, une résistance de décharge doit être prévue.</a:t>
            </a:r>
          </a:p>
          <a:p>
            <a:pPr>
              <a:defRPr sz="1600"/>
            </a:pPr>
            <a:r>
              <a:t>NOTE - Les condensateurs utilisés dans le domaine de l’éclairage doivent être conformes à la NF C 71-242  (30).</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559.2.7 Protection contre les chocs électriques sur les stands de luminaires</a:t>
            </a:r>
          </a:p>
        </p:txBody>
      </p:sp>
      <p:sp>
        <p:nvSpPr>
          <p:cNvPr id="3" name="Content Placeholder 2"/>
          <p:cNvSpPr>
            <a:spLocks noGrp="1"/>
          </p:cNvSpPr>
          <p:nvPr>
            <p:ph idx="1"/>
          </p:nvPr>
        </p:nvSpPr>
        <p:spPr/>
        <p:txBody>
          <a:bodyPr/>
          <a:lstStyle/>
          <a:p>
            <a:pPr>
              <a:defRPr sz="1600"/>
            </a:pPr>
            <a:r>
              <a:t>On entend par stands de luminaires les stands des magasins de vente ou des parties de ceux-ci, utilisés pour la présentation des luminaires.</a:t>
            </a:r>
          </a:p>
          <a:p>
            <a:pPr>
              <a:defRPr sz="1600"/>
            </a:pPr>
            <a:r>
              <a:t>La protection contre les chocs électriques doit être assurée :  - -  soit par une alimentation TBTS ; soit par coupure automatique de l’alimentation par DDR 30 mA.</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559.2.8 Effet stroboscopique</a:t>
            </a:r>
          </a:p>
        </p:txBody>
      </p:sp>
      <p:sp>
        <p:nvSpPr>
          <p:cNvPr id="3" name="Content Placeholder 2"/>
          <p:cNvSpPr>
            <a:spLocks noGrp="1"/>
          </p:cNvSpPr>
          <p:nvPr>
            <p:ph idx="1"/>
          </p:nvPr>
        </p:nvSpPr>
        <p:spPr/>
        <p:txBody>
          <a:bodyPr/>
          <a:lstStyle/>
          <a:p>
            <a:pPr>
              <a:defRPr sz="1600"/>
            </a:pPr>
            <a:r>
              <a:t>Pour l’éclairage des locaux comportant des machines avec des parties en mouvement, on doit tenir compte des effets stroboscopiques pouvant entraîner des ambiguïtés sur une impression d’effet stationnaire des parties en mouvement.</a:t>
            </a:r>
          </a:p>
          <a:p>
            <a:pPr>
              <a:defRPr sz="1600"/>
            </a:pPr>
            <a:r>
              <a:t>Ces effets peuvent être évités par le choix de luminaire équipé d’un appareillage adapté.</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559.2.9.1 Mise en œuvre</a:t>
            </a:r>
          </a:p>
        </p:txBody>
      </p:sp>
      <p:sp>
        <p:nvSpPr>
          <p:cNvPr id="3" name="Content Placeholder 2"/>
          <p:cNvSpPr>
            <a:spLocks noGrp="1"/>
          </p:cNvSpPr>
          <p:nvPr>
            <p:ph idx="1"/>
          </p:nvPr>
        </p:nvSpPr>
        <p:spPr/>
        <p:txBody>
          <a:bodyPr/>
          <a:lstStyle/>
          <a:p>
            <a:pPr>
              <a:defRPr sz="1600"/>
            </a:pPr>
            <a:r>
              <a:t>Les matériels, y compris les appareillages, doivent être disposés de façon à faciliter leur manœuvre, leur visite, leur entretien, l’accès à leurs connexions et leur remplacement.</a:t>
            </a:r>
          </a:p>
          <a:p>
            <a:pPr>
              <a:defRPr sz="1600"/>
            </a:pPr>
            <a:r>
              <a:t>Seuls sont admis les appareils équipés de bornes de raccordement au réseau fixes ainsi que ceux munis de connecteurs avec dispositif anti-arrachement.</a:t>
            </a:r>
          </a:p>
          <a:p>
            <a:pPr>
              <a:defRPr sz="1600"/>
            </a:pPr>
            <a:r>
              <a:t>Lorsque les appareils d’éclairage nécessitent une dépose pour le changement de la, ou des lampes, ils doivent être équipés de dispositifs d’arrêt de traction tels que les conducteurs soient protégés contre les efforts de traction ou de torsion.</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559.2.9.2 Fixation des luminaires</a:t>
            </a:r>
          </a:p>
        </p:txBody>
      </p:sp>
      <p:sp>
        <p:nvSpPr>
          <p:cNvPr id="3" name="Content Placeholder 2"/>
          <p:cNvSpPr>
            <a:spLocks noGrp="1"/>
          </p:cNvSpPr>
          <p:nvPr>
            <p:ph idx="1"/>
          </p:nvPr>
        </p:nvSpPr>
        <p:spPr/>
        <p:txBody>
          <a:bodyPr/>
          <a:lstStyle/>
          <a:p>
            <a:pPr>
              <a:defRPr sz="1600"/>
            </a:pPr>
            <a:r>
              <a:t>Le poids des luminaires et de leur appareillage éventuel doit être compatible avec la résistance mécanique du plafond ou du plafond suspendu sur lequel ils sont installés.</a:t>
            </a:r>
          </a:p>
          <a:p>
            <a:pPr>
              <a:defRPr sz="1600"/>
            </a:pPr>
            <a:r>
              <a:t>Dans ces conditions, plafond et plafond suspendu peuvent être considérés comme des éléments stables de la construction et, en conséquence, les luminaires peuvent être fixés sur ceux-ci.</a:t>
            </a:r>
          </a:p>
          <a:p>
            <a:pPr>
              <a:defRPr sz="1600"/>
            </a:pPr>
            <a:r>
              <a:t>Il est communément admis que pour des luminaires et leurs appareillages éventuels d’une masse inférieure à 200 g, plafond et plafond suspendu sont considérés d’office comme des éléments stables de la construction.</a:t>
            </a:r>
          </a:p>
          <a:p>
            <a:pPr>
              <a:defRPr sz="1600"/>
            </a:pPr>
            <a:r>
              <a:t>En ce qui concerne l’appareillage indépendant éventuel du luminaire, dans le cas de plafond suspendu non démontable l’appareillage doit être accessible pour la maintenance.</a:t>
            </a:r>
          </a:p>
          <a:p>
            <a:pPr>
              <a:defRPr sz="1600"/>
            </a:pPr>
            <a:r>
              <a:t>Son introduction au travers de l’orifice destiné au montage du luminaire n’est pas autorisée, sauf s’il s’agit d’un appareillage alimentant un seul appareil d’éclairage.</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559.2.9.3 Effets thermiques</a:t>
            </a:r>
          </a:p>
        </p:txBody>
      </p:sp>
      <p:sp>
        <p:nvSpPr>
          <p:cNvPr id="3" name="Content Placeholder 2"/>
          <p:cNvSpPr>
            <a:spLocks noGrp="1"/>
          </p:cNvSpPr>
          <p:nvPr>
            <p:ph idx="1"/>
          </p:nvPr>
        </p:nvSpPr>
        <p:spPr/>
        <p:txBody>
          <a:bodyPr/>
          <a:lstStyle/>
          <a:p>
            <a:pPr>
              <a:defRPr sz="1600"/>
            </a:pPr>
            <a:r>
              <a:t>Pour ne pas remettre en cause les essais thermiques réalisés par le constructeur, il convient que l’espace recevant la partie arrière du luminaire soit convenablement ventilé et n’apporte pas d’échauffement externe.</a:t>
            </a:r>
          </a:p>
          <a:p>
            <a:pPr>
              <a:defRPr sz="1600"/>
            </a:pPr>
            <a:r>
              <a:t>En cas d’incertitude l’emploi de luminaires pouvant être recouverts d’un matériau isolant thermique portant le symbole  doit être envisagé.</a:t>
            </a:r>
          </a:p>
          <a:p>
            <a:pPr>
              <a:defRPr sz="1600"/>
            </a:pPr>
            <a:r>
              <a:t>F  ——————— (30) Condensateurs destinés à être utilisés dans les circuits de lampes tubulaires à fluorescence et autres lampes  à décharge - Prescriptions générales de sécurité.</a:t>
            </a:r>
          </a:p>
          <a:p>
            <a:pPr>
              <a:defRPr sz="1600"/>
            </a:pPr>
            <a:r>
              <a:t>- 312 -.</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559.2.9.4 Luminaires Très Basse Tension</a:t>
            </a:r>
          </a:p>
        </p:txBody>
      </p:sp>
      <p:sp>
        <p:nvSpPr>
          <p:cNvPr id="3" name="Content Placeholder 2"/>
          <p:cNvSpPr>
            <a:spLocks noGrp="1"/>
          </p:cNvSpPr>
          <p:nvPr>
            <p:ph idx="1"/>
          </p:nvPr>
        </p:nvSpPr>
        <p:spPr/>
        <p:txBody>
          <a:bodyPr/>
          <a:lstStyle/>
          <a:p>
            <a:pPr>
              <a:defRPr sz="1600"/>
            </a:pPr>
            <a:r>
              <a:t>Les prescriptions du guide UTE C 15.</a:t>
            </a:r>
          </a:p>
          <a:p>
            <a:pPr>
              <a:defRPr sz="1600"/>
            </a:pPr>
            <a:r>
              <a:t>559 s’appliquent.</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559.2.10 Chemins lumineux</a:t>
            </a:r>
          </a:p>
        </p:txBody>
      </p:sp>
      <p:sp>
        <p:nvSpPr>
          <p:cNvPr id="3" name="Content Placeholder 2"/>
          <p:cNvSpPr>
            <a:spLocks noGrp="1"/>
          </p:cNvSpPr>
          <p:nvPr>
            <p:ph idx="1"/>
          </p:nvPr>
        </p:nvSpPr>
        <p:spPr/>
        <p:txBody>
          <a:bodyPr/>
          <a:lstStyle/>
          <a:p>
            <a:pPr>
              <a:defRPr sz="1600"/>
            </a:pPr>
            <a:r>
              <a:t>Les conducteurs d’alimentation des appareils d’éclairage disposés dans des chemins lumineux sont installés dans les mêmes conditions que la pose dans les goulottes.</a:t>
            </a:r>
          </a:p>
          <a:p>
            <a:pPr>
              <a:defRPr sz="1600"/>
            </a:pPr>
            <a:r>
              <a:t>Toutefois, pour les chemins lumineux situés à plus de 3 m au-dessus du sol des locaux, les conducteurs sont admis si le couvercle possède le degré de protection minimal IP2X ou IPXXB.</a:t>
            </a:r>
          </a:p>
          <a:p>
            <a:pPr>
              <a:defRPr sz="1600"/>
            </a:pPr>
            <a:r>
              <a:t>En ce qui concerne les connexions, le repiquage des conducteurs d’alimentation est admis dans les conditions précisées à l’article (526.</a:t>
            </a:r>
          </a:p>
          <a:p>
            <a:pPr>
              <a:defRPr sz="1600"/>
            </a:pPr>
            <a:r>
              <a:t>8 ).</a:t>
            </a:r>
          </a:p>
          <a:p>
            <a:pPr>
              <a:defRPr sz="1600"/>
            </a:pPr>
            <a:r>
              <a:t>Les connexions doivent, soit présenter par construction un degré de protection minimal IP2X ou IPXXB, soit être placées dans une boîte de connexion ayant le degré de protection IP2X ou IPXXB.</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559.3 Appareils électrodomestiques</a:t>
            </a:r>
          </a:p>
        </p:txBody>
      </p:sp>
      <p:sp>
        <p:nvSpPr>
          <p:cNvPr id="3" name="Content Placeholder 2"/>
          <p:cNvSpPr>
            <a:spLocks noGrp="1"/>
          </p:cNvSpPr>
          <p:nvPr>
            <p:ph idx="1"/>
          </p:nvPr>
        </p:nvSpPr>
        <p:spPr/>
        <p:txBody>
          <a:bodyPr/>
          <a:lstStyle/>
          <a:p>
            <a:pPr>
              <a:defRPr sz="1600"/>
            </a:pPr>
            <a:r>
              <a:t>Les appareils comportant des électrodes nues ou résistances non isolées, immergées dans l'eau (par exemple chauffe-eau, humidificateurs à vapeur, etc.</a:t>
            </a:r>
          </a:p>
          <a:p>
            <a:pPr>
              <a:defRPr sz="1600"/>
            </a:pPr>
            <a:r>
              <a:t>) sont admis dans les conditions suivantes :  - -  leurs cuves sont en matériau non conducteur ; leurs alimentations doivent être protégées par des dispositifs différentiels de courant différentiel-résiduel assigné au plus égal à 30 mA.</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559.4 Appareils électroniques pour usages domestiques et analogues</a:t>
            </a:r>
          </a:p>
        </p:txBody>
      </p:sp>
      <p:sp>
        <p:nvSpPr>
          <p:cNvPr id="3" name="Content Placeholder 2"/>
          <p:cNvSpPr>
            <a:spLocks noGrp="1"/>
          </p:cNvSpPr>
          <p:nvPr>
            <p:ph idx="1"/>
          </p:nvPr>
        </p:nvSpPr>
        <p:spPr/>
        <p:txBody>
          <a:bodyPr/>
          <a:lstStyle/>
          <a:p>
            <a:pPr>
              <a:defRPr sz="1600"/>
            </a:pPr>
            <a:r>
              <a:t>Les antennes réceptrices doivent être installées conformément à la norme en vigueur  (31).</a:t>
            </a:r>
          </a:p>
          <a:p>
            <a:pPr>
              <a:defRPr sz="1600"/>
            </a:pPr>
            <a:r>
              <a:t>Pour l'application des prescriptions énoncées en   511.</a:t>
            </a:r>
          </a:p>
          <a:p>
            <a:pPr>
              <a:defRPr sz="1600"/>
            </a:pPr>
            <a:r>
              <a:t>1, la norme à considérer est   la suivante:  - Appareils audio, vidéo et appareils électroniques analogues - Exigences de sécurité  (32).</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559.5 Appareils de chauffage industriels</a:t>
            </a:r>
          </a:p>
        </p:txBody>
      </p:sp>
      <p:sp>
        <p:nvSpPr>
          <p:cNvPr id="3" name="Content Placeholder 2"/>
          <p:cNvSpPr>
            <a:spLocks noGrp="1"/>
          </p:cNvSpPr>
          <p:nvPr>
            <p:ph idx="1"/>
          </p:nvPr>
        </p:nvSpPr>
        <p:spPr/>
        <p:txBody>
          <a:bodyPr/>
          <a:lstStyle/>
          <a:p>
            <a:pPr>
              <a:defRPr sz="1600"/>
            </a:pPr>
            <a:r>
              <a:t>Pour l'application des prescriptions énoncées en 511.</a:t>
            </a:r>
          </a:p>
          <a:p>
            <a:pPr>
              <a:defRPr sz="1600"/>
            </a:pPr>
            <a:r>
              <a:t>1, les normes suivantes :    à considérer sont les  - Chauffage électrique industriel : Fours à résistances.</a:t>
            </a:r>
          </a:p>
          <a:p>
            <a:pPr>
              <a:defRPr sz="1600"/>
            </a:pPr>
            <a:r>
              <a:t>Règles - Emetteurs de rayonnement infrarouge - Caractéristiques  ; - Sécurité dans les installations électrothermiques  (35)  (34).</a:t>
            </a:r>
          </a:p>
          <a:p>
            <a:pPr>
              <a:defRPr sz="1600"/>
            </a:pPr>
            <a:r>
              <a:t>(33)   ;  Les appareils de chauffage industriels ayant un faible isolement sont généralement alimentés par l'intermédiaire de transformateurs à deux enroulements ou par des groupes moteur- générateur à enroulements séparés lorsque les courants de fuite de ces appareils peuvent gêner le fonctionnement des installations qui les alimentent.</a:t>
            </a:r>
          </a:p>
          <a:p>
            <a:pPr>
              <a:defRPr sz="1600"/>
            </a:pPr>
            <a:r>
              <a:t>——————— (31) UTE C 90-122 (32) NF EN 60065 (C 92-130) (33) C 79-600 (34) NF EN 60240-1 (C 79-651) (35) NF EN 60519 (C79-63X).</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559.5.1 Appareils de cuisson et fours</a:t>
            </a:r>
          </a:p>
        </p:txBody>
      </p:sp>
      <p:sp>
        <p:nvSpPr>
          <p:cNvPr id="3" name="Content Placeholder 2"/>
          <p:cNvSpPr>
            <a:spLocks noGrp="1"/>
          </p:cNvSpPr>
          <p:nvPr>
            <p:ph idx="1"/>
          </p:nvPr>
        </p:nvSpPr>
        <p:spPr/>
        <p:txBody>
          <a:bodyPr/>
          <a:lstStyle/>
          <a:p>
            <a:pPr>
              <a:defRPr sz="1600"/>
            </a:pPr>
            <a:r>
              <a:t>Les parties accessibles des fours qui peuvent être portées à une température dangereuse, doivent être entourées d'un dispositif de garde ou signalées à l'attention du personnel par une inscription visible.</a:t>
            </a:r>
          </a:p>
          <a:p>
            <a:pPr>
              <a:defRPr sz="1600"/>
            </a:pPr>
            <a:r>
              <a:t>Lorsque les fours présentent des courants de fuite importants - tels que les fours à résistances - ils doivent être alimentés suivant le schéma TN.</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559.5.2.1 Les appareils de chauffage ou de réchauffage de liquides combustibles ou</a:t>
            </a:r>
          </a:p>
        </p:txBody>
      </p:sp>
      <p:sp>
        <p:nvSpPr>
          <p:cNvPr id="3" name="Content Placeholder 2"/>
          <p:cNvSpPr>
            <a:spLocks noGrp="1"/>
          </p:cNvSpPr>
          <p:nvPr>
            <p:ph idx="1"/>
          </p:nvPr>
        </p:nvSpPr>
        <p:spPr/>
        <p:txBody>
          <a:bodyPr/>
          <a:lstStyle/>
          <a:p>
            <a:pPr>
              <a:defRPr sz="1600"/>
            </a:pPr>
            <a:r>
              <a:t>inflammables doivent, ou bien être munis d'un limiteur de température interrompant ou réduisant le chauffage avant qu'une température dangereuse ne soit atteinte ou bien être construits de façon à ne pas constituer une cause de danger pour les personnes ou de dommage pour les objets avoisinants en cas d'échauffement exagéré.</a:t>
            </a:r>
          </a:p>
          <a:p>
            <a:pPr>
              <a:defRPr sz="1600"/>
            </a:pPr>
            <a:r>
              <a:t>Les dispositions de ce sous-paragraphe ne concernent pas les appareils dont l'usage implique la présence d'un opérateur surveillant leur fonctionnement.</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559.5.2.2 Les appareils comportant des électrodes nues ou résistances non isolées,</a:t>
            </a:r>
          </a:p>
        </p:txBody>
      </p:sp>
      <p:sp>
        <p:nvSpPr>
          <p:cNvPr id="3" name="Content Placeholder 2"/>
          <p:cNvSpPr>
            <a:spLocks noGrp="1"/>
          </p:cNvSpPr>
          <p:nvPr>
            <p:ph idx="1"/>
          </p:nvPr>
        </p:nvSpPr>
        <p:spPr/>
        <p:txBody>
          <a:bodyPr/>
          <a:lstStyle/>
          <a:p>
            <a:pPr>
              <a:defRPr sz="1600"/>
            </a:pPr>
            <a:r>
              <a:t>immergées dans l'eau (par exemple, humidificateurs à vapeur, appareils de nettoyage de vêtement, etc.</a:t>
            </a:r>
          </a:p>
          <a:p>
            <a:pPr>
              <a:defRPr sz="1600"/>
            </a:pPr>
            <a:r>
              <a:t>) sont admis dans les installations en schéma TN.</a:t>
            </a:r>
          </a:p>
          <a:p>
            <a:pPr>
              <a:defRPr sz="1600"/>
            </a:pPr>
            <a:r>
              <a:t>Ils peuvent être admis en schéma TT ou IT sous l'une des conditions suivantes :  a) soit, leurs cuves sont en matériau non conducteur et leurs alimentations doivent être protégées par des dispositifs différentiels de courant différentiel-résiduel assigné au plus égal à 30 mA ;  b) soit,  l'alimentation de  tels appareils doit être effectuée par  l'intermédiaire de  transformateur à deux enroulements, un transformateur n'alimentant qu'un seul appareil.</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559.5.2.3 Cordons chauffants</a:t>
            </a:r>
          </a:p>
        </p:txBody>
      </p:sp>
      <p:sp>
        <p:nvSpPr>
          <p:cNvPr id="3" name="Content Placeholder 2"/>
          <p:cNvSpPr>
            <a:spLocks noGrp="1"/>
          </p:cNvSpPr>
          <p:nvPr>
            <p:ph idx="1"/>
          </p:nvPr>
        </p:nvSpPr>
        <p:spPr/>
        <p:txBody>
          <a:bodyPr/>
          <a:lstStyle/>
          <a:p>
            <a:pPr>
              <a:defRPr sz="1600"/>
            </a:pPr>
            <a:r>
              <a:t>Les cordons chauffants disposés autour de tuyaux de fluide doivent être protégés par des dispositifs à courant différentiel de courant différentiel-résiduel assigné au plus égal à 30 mA.</a:t>
            </a:r>
          </a:p>
          <a:p>
            <a:pPr>
              <a:defRPr sz="1600"/>
            </a:pPr>
            <a:r>
              <a:t>Lorsque les tuyaux sont en matériau conducteur, ils doivent être mis à la terre par le conducteur de protection du câble d’alimentation.</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559.6 Moteurs</a:t>
            </a:r>
          </a:p>
        </p:txBody>
      </p:sp>
      <p:sp>
        <p:nvSpPr>
          <p:cNvPr id="3" name="Content Placeholder 2"/>
          <p:cNvSpPr>
            <a:spLocks noGrp="1"/>
          </p:cNvSpPr>
          <p:nvPr>
            <p:ph idx="1"/>
          </p:nvPr>
        </p:nvSpPr>
        <p:spPr/>
        <p:txBody>
          <a:bodyPr/>
          <a:lstStyle/>
          <a:p>
            <a:pPr>
              <a:defRPr sz="1600"/>
            </a:pPr>
            <a:r>
              <a:t>La puissance assignée d'un moteur est la puissance mécanique disponible sur l'arbre, il en résulte que la puissance d'alimentation d'un moteur est toujours supérieure à sa puissance assignée.</a:t>
            </a:r>
          </a:p>
          <a:p>
            <a:pPr>
              <a:defRPr sz="1600"/>
            </a:pPr>
            <a:r>
              <a:t>Pour le calcul de la section des conducteurs d’alimentation des ascenseurs, il convient de se reporter à 772.</a:t>
            </a:r>
          </a:p>
          <a:p>
            <a:pPr>
              <a:defRPr sz="1600"/>
            </a:pPr>
            <a:r>
              <a:t>3.</a:t>
            </a:r>
          </a:p>
          <a:p>
            <a:pPr>
              <a:defRPr sz="1600"/>
            </a:pPr>
            <a:r>
              <a:t>2.</a:t>
            </a:r>
          </a:p>
          <a:p>
            <a:pPr>
              <a:defRPr sz="1600"/>
            </a:pPr>
            <a:r>
              <a:t>3c).</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559.6.1 Limitation des troubles dus au démarrage des moteurs</a:t>
            </a:r>
          </a:p>
        </p:txBody>
      </p:sp>
      <p:sp>
        <p:nvSpPr>
          <p:cNvPr id="3" name="Content Placeholder 2"/>
          <p:cNvSpPr>
            <a:spLocks noGrp="1"/>
          </p:cNvSpPr>
          <p:nvPr>
            <p:ph idx="1"/>
          </p:nvPr>
        </p:nvSpPr>
        <p:spPr/>
        <p:txBody>
          <a:bodyPr/>
          <a:lstStyle/>
          <a:p>
            <a:pPr>
              <a:defRPr sz="1600"/>
            </a:pPr>
            <a:r>
              <a:t>Le courant absorbé par tout moteur lors de son démarrage doit rester limité à une valeur qui ne soit pas préjudiciable à troubles inacceptables au fonctionnement des autres appareils reliés à la même source.</a:t>
            </a:r>
          </a:p>
          <a:p>
            <a:pPr>
              <a:defRPr sz="1600"/>
            </a:pPr>
            <a:r>
              <a:t>l'alimente et n'apporte pas de  l'installation qui  - 314 -   Dans le cas des moteurs alimentés directement par un réseau de distribution publique, leurs démarrages n'entraînent en général pas de perturbations excessives si l'intensité de démarrage n'est pas supérieure aux valeurs du tableau 55A.</a:t>
            </a:r>
          </a:p>
          <a:p>
            <a:pPr>
              <a:defRPr sz="1600"/>
            </a:pPr>
            <a:r>
              <a:t>Tableau 55A – Intensités maximales de démarrage des moteurs  LOCAUX  INTENSITÉ MAXIMALE DE DÉMARRAGE  Réseau aérien  Réseau souterrain  Moteur raccordé  en monophasé  Moteur raccordé  en triphasé  d’habitation (branchement à puissance limitée)  autres (branchement à puissance surveillée)  d’habitation (branchement à puissance limitée)  autres (branchement à puissance surveillée)  45 A  100 A  60 A  125 A  45 A  200 A  60 A  250 A  Au-delà de ces intensités, l'alimentation des moteurs est subordonnée à l'accord préalable du distributeur d'énergie afin que des dispositions soient prises pour que leur utilisation reste compatible avec la conservation des installations de distribution et la desserte sans troubles graves des usagers.</a:t>
            </a:r>
          </a:p>
          <a:p>
            <a:pPr>
              <a:defRPr sz="1600"/>
            </a:pPr>
            <a:r>
              <a:t>Pour la conservation de l'installation, il convient que soit évité tout échauffement notable des canalisations, tout en s'assurant que les dispositifs de protection n'interviennent pas pendant le démarrage.</a:t>
            </a:r>
          </a:p>
          <a:p>
            <a:pPr>
              <a:defRPr sz="1600"/>
            </a:pPr>
            <a:r>
              <a:t>Les troubles apportés au fonctionnement des autres appareils reliés à la même source sont dus à la chute de tension provoquée par l'appel de courant qui, au démarrage, peut être un multiple important du courant absorbé par le moteur à pleine charge.</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561.1 Une installation de sécurité devant fonctionner en cas d'incendie, les matériels qui la</a:t>
            </a:r>
          </a:p>
        </p:txBody>
      </p:sp>
      <p:sp>
        <p:nvSpPr>
          <p:cNvPr id="3" name="Content Placeholder 2"/>
          <p:cNvSpPr>
            <a:spLocks noGrp="1"/>
          </p:cNvSpPr>
          <p:nvPr>
            <p:ph idx="1"/>
          </p:nvPr>
        </p:nvSpPr>
        <p:spPr/>
        <p:txBody>
          <a:bodyPr/>
          <a:lstStyle/>
          <a:p>
            <a:pPr>
              <a:defRPr sz="1600"/>
            </a:pPr>
            <a:r>
              <a:t>constituent doivent présenter, par construction ou par installation, une résistance au feu de durée appropriée.</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561.2 Les dispositions de protection contre les contacts indirects n'impliquant pas la coupure</a:t>
            </a:r>
          </a:p>
        </p:txBody>
      </p:sp>
      <p:sp>
        <p:nvSpPr>
          <p:cNvPr id="3" name="Content Placeholder 2"/>
          <p:cNvSpPr>
            <a:spLocks noGrp="1"/>
          </p:cNvSpPr>
          <p:nvPr>
            <p:ph idx="1"/>
          </p:nvPr>
        </p:nvSpPr>
        <p:spPr/>
        <p:txBody>
          <a:bodyPr/>
          <a:lstStyle/>
          <a:p>
            <a:pPr>
              <a:defRPr sz="1600"/>
            </a:pPr>
            <a:r>
              <a:t>automatique au premier défaut sont choisies de préférence.</a:t>
            </a:r>
          </a:p>
          <a:p>
            <a:pPr>
              <a:defRPr sz="1600"/>
            </a:pPr>
            <a:r>
              <a:t>Dans le schéma IT, un contrôleur permanent d'isolement doit donner un signal sonore et visuel lors d'un premier défaut.</a:t>
            </a:r>
          </a:p>
          <a:p>
            <a:pPr>
              <a:defRPr sz="1600"/>
            </a:pPr>
            <a:r>
              <a:t>La disposition habituelle est l'alimentation en schéma IT (411.</a:t>
            </a:r>
          </a:p>
          <a:p>
            <a:pPr>
              <a:defRPr sz="1600"/>
            </a:pPr>
            <a:r>
              <a:t>6).</a:t>
            </a:r>
          </a:p>
          <a:p>
            <a:pPr>
              <a:defRPr sz="1600"/>
            </a:pPr>
            <a:r>
              <a:t>Ceci n'exclut pas l'utilisation des schémas TN ou TT lorsque les textes réglementaires l'admettent.</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561.3 Les matériels des installations de sécurité, y compris les canalisations, doivent être</a:t>
            </a:r>
          </a:p>
        </p:txBody>
      </p:sp>
      <p:sp>
        <p:nvSpPr>
          <p:cNvPr id="3" name="Content Placeholder 2"/>
          <p:cNvSpPr>
            <a:spLocks noGrp="1"/>
          </p:cNvSpPr>
          <p:nvPr>
            <p:ph idx="1"/>
          </p:nvPr>
        </p:nvSpPr>
        <p:spPr/>
        <p:txBody>
          <a:bodyPr/>
          <a:lstStyle/>
          <a:p>
            <a:pPr>
              <a:defRPr sz="1600"/>
            </a:pPr>
            <a:r>
              <a:t>disposés de façon à faciliter leur manœuvre, leur visite, leur entretien et l'accès à leurs connexions.</a:t>
            </a:r>
          </a:p>
          <a:p>
            <a:pPr>
              <a:defRPr sz="1600"/>
            </a:pPr>
            <a:r>
              <a:t>562 Sources de sécurité.</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562.1 Les groupes électrogènes doivent être conformes à la NF E 37-312.</a:t>
            </a:r>
          </a:p>
        </p:txBody>
      </p:sp>
      <p:sp>
        <p:nvSpPr>
          <p:cNvPr id="3" name="Content Placeholder 2"/>
          <p:cNvSpPr>
            <a:spLocks noGrp="1"/>
          </p:cNvSpPr>
          <p:nvPr>
            <p:ph idx="1"/>
          </p:nvPr>
        </p:nvSpPr>
        <p:spPr/>
        <p:txBody>
          <a:bodyPr/>
          <a:lstStyle/>
          <a:p>
            <a:pPr>
              <a:defRPr sz="1600"/>
            </a:pPr>
            <a:r>
              <a:t>Les batteries d’accumulateurs centralisées de sécurité et les matériels qui les accompagnent dans les systèmes d’alimentation doivent être conformes à la NF EN 50171.</a:t>
            </a:r>
          </a:p>
          <a:p>
            <a:pPr>
              <a:defRPr sz="1600"/>
            </a:pPr>
            <a:r>
              <a:t>C.</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562.2 Les sources de sécurité doivent être installées à poste fixe et de telle manière qu'elles</a:t>
            </a:r>
          </a:p>
        </p:txBody>
      </p:sp>
      <p:sp>
        <p:nvSpPr>
          <p:cNvPr id="3" name="Content Placeholder 2"/>
          <p:cNvSpPr>
            <a:spLocks noGrp="1"/>
          </p:cNvSpPr>
          <p:nvPr>
            <p:ph idx="1"/>
          </p:nvPr>
        </p:nvSpPr>
        <p:spPr/>
        <p:txBody>
          <a:bodyPr/>
          <a:lstStyle/>
          <a:p>
            <a:pPr>
              <a:defRPr sz="1600"/>
            </a:pPr>
            <a:r>
              <a:t>ne puissent pas être affectées par la défaillance de la source normale-remplacement.</a:t>
            </a:r>
          </a:p>
          <a:p>
            <a:pPr>
              <a:defRPr sz="1600"/>
            </a:pPr>
            <a:r>
              <a:t>Des informations complémentaires sont données dans la partie 5-55 :  -  -  -.</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553.3 : Alimentations statiques sans interruption ;</a:t>
            </a:r>
          </a:p>
        </p:txBody>
      </p:sp>
      <p:sp>
        <p:nvSpPr>
          <p:cNvPr id="3" name="Content Placeholder 2"/>
          <p:cNvSpPr>
            <a:spLocks noGrp="1"/>
          </p:cNvSpPr>
          <p:nvPr>
            <p:ph idx="1"/>
          </p:nvPr>
        </p:nvSpPr>
        <p:spPr/>
        <p:txBody>
          <a:bodyPr/>
          <a:lstStyle/>
          <a:p>
            <a:pPr>
              <a:defRPr sz="1600"/>
            </a:pPr>
            <a:r>
              <a:t>554 : Batteries d'accumulateurs.</a:t>
            </a:r>
          </a:p>
          <a:p>
            <a:pPr>
              <a:defRPr sz="1600"/>
            </a:pPr>
            <a:r>
              <a:t>- 319 -  2002   C.</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562.3 Les sources de sécurité doivent être installées dans un emplacement approprié et être</a:t>
            </a:r>
          </a:p>
        </p:txBody>
      </p:sp>
      <p:sp>
        <p:nvSpPr>
          <p:cNvPr id="3" name="Content Placeholder 2"/>
          <p:cNvSpPr>
            <a:spLocks noGrp="1"/>
          </p:cNvSpPr>
          <p:nvPr>
            <p:ph idx="1"/>
          </p:nvPr>
        </p:nvSpPr>
        <p:spPr/>
        <p:txBody>
          <a:bodyPr/>
          <a:lstStyle/>
          <a:p>
            <a:pPr>
              <a:defRPr sz="1600"/>
            </a:pPr>
            <a:r>
              <a:t>accessibles seulement aux personnes chargées de l'entretien et de la surveillance des matériels.</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562.4 L'emplacement des sources de sécurité doit être convenablement ventilé de façon que</a:t>
            </a:r>
          </a:p>
        </p:txBody>
      </p:sp>
      <p:sp>
        <p:nvSpPr>
          <p:cNvPr id="3" name="Content Placeholder 2"/>
          <p:cNvSpPr>
            <a:spLocks noGrp="1"/>
          </p:cNvSpPr>
          <p:nvPr>
            <p:ph idx="1"/>
          </p:nvPr>
        </p:nvSpPr>
        <p:spPr/>
        <p:txBody>
          <a:bodyPr/>
          <a:lstStyle/>
          <a:p>
            <a:pPr>
              <a:defRPr sz="1600"/>
            </a:pPr>
            <a:r>
              <a:t>les gaz et les fumées qu'elles produisent ne puissent se propager dans des locaux accessibles aux personnes.</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562.5 Des branchements séparés, indépendants et alimentés par un réseau de distribution</a:t>
            </a:r>
          </a:p>
        </p:txBody>
      </p:sp>
      <p:sp>
        <p:nvSpPr>
          <p:cNvPr id="3" name="Content Placeholder 2"/>
          <p:cNvSpPr>
            <a:spLocks noGrp="1"/>
          </p:cNvSpPr>
          <p:nvPr>
            <p:ph idx="1"/>
          </p:nvPr>
        </p:nvSpPr>
        <p:spPr/>
        <p:txBody>
          <a:bodyPr/>
          <a:lstStyle/>
          <a:p>
            <a:pPr>
              <a:defRPr sz="1600"/>
            </a:pPr>
            <a:r>
              <a:t>publique ne sont pas admis.</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562.7 Une source de sécurité peut être utilisée pour des installations autres que les</a:t>
            </a:r>
          </a:p>
        </p:txBody>
      </p:sp>
      <p:sp>
        <p:nvSpPr>
          <p:cNvPr id="3" name="Content Placeholder 2"/>
          <p:cNvSpPr>
            <a:spLocks noGrp="1"/>
          </p:cNvSpPr>
          <p:nvPr>
            <p:ph idx="1"/>
          </p:nvPr>
        </p:nvSpPr>
        <p:spPr/>
        <p:txBody>
          <a:bodyPr/>
          <a:lstStyle/>
          <a:p>
            <a:pPr>
              <a:defRPr sz="1600"/>
            </a:pPr>
            <a:r>
              <a:t>installations de sécurité dans la mesure où sa disponibilité pour ces dernières n’est pas compromise.</a:t>
            </a:r>
          </a:p>
          <a:p>
            <a:pPr>
              <a:defRPr sz="1600"/>
            </a:pPr>
            <a:r>
              <a:t>En complément aux prescriptions de 562.</a:t>
            </a:r>
          </a:p>
          <a:p>
            <a:pPr>
              <a:defRPr sz="1600"/>
            </a:pPr>
            <a:r>
              <a:t>2, un défaut apparaissant dans un circuit non destiné à l’alimentation des installations de sécurité ne doit pas entraîner l’ouverture d’un quelconque circuit alimentant des installations de sécurité.</a:t>
            </a:r>
          </a:p>
          <a:p>
            <a:pPr>
              <a:defRPr sz="1600"/>
            </a:pPr>
            <a:r>
              <a:t>Cela exige la sélectivité entre les dispositifs de protection et cela peut nécessiter le délestage automatique des circuits alimentant des installations autres que de sécurité.</a:t>
            </a:r>
          </a:p>
          <a:p>
            <a:pPr>
              <a:defRPr sz="1600"/>
            </a:pPr>
            <a:r>
              <a:t>Un bâtiment ou un établissement peut comporter un ou plusieurs groupes électrogènes de remplacement pour alimenter, pour des raisons autres que de sécurité, selon la décision du maître d’ouvrage ou du chef d’établissement , tout ou partie des installations électriques de ce bâtiment ou de cet établissement.</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562.7 Les paragraphes 562.1 à 562.7 ne s'appliquent pas aux blocs autonomes.</a:t>
            </a:r>
          </a:p>
        </p:txBody>
      </p:sp>
      <p:sp>
        <p:nvSpPr>
          <p:cNvPr id="3" name="Content Placeholder 2"/>
          <p:cNvSpPr>
            <a:spLocks noGrp="1"/>
          </p:cNvSpPr>
          <p:nvPr>
            <p:ph idx="1"/>
          </p:nvPr>
        </p:nvSpPr>
        <p:spPr/>
        <p:txBody>
          <a:bodyPr/>
          <a:lstStyle/>
          <a:p>
            <a:pPr>
              <a:defRPr sz="1600"/>
            </a:pPr>
            <a:r>
              <a:t>563 Circuits.</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563.1 Les câbles des installations de sécurité doivent être différents des câbles des</a:t>
            </a:r>
          </a:p>
        </p:txBody>
      </p:sp>
      <p:sp>
        <p:nvSpPr>
          <p:cNvPr id="3" name="Content Placeholder 2"/>
          <p:cNvSpPr>
            <a:spLocks noGrp="1"/>
          </p:cNvSpPr>
          <p:nvPr>
            <p:ph idx="1"/>
          </p:nvPr>
        </p:nvSpPr>
        <p:spPr/>
        <p:txBody>
          <a:bodyPr/>
          <a:lstStyle/>
          <a:p>
            <a:pPr>
              <a:defRPr sz="1600"/>
            </a:pPr>
            <a:r>
              <a:t>installations normales, c’est-à-dire ne comporter que des conducteurs de circuits de sécurité.</a:t>
            </a:r>
          </a:p>
          <a:p>
            <a:pPr>
              <a:defRPr sz="1600"/>
            </a:pPr>
            <a:r>
              <a:t>Ceci n'exclut pas le cheminement de ces différents câbles sur le même support.</a:t>
            </a:r>
          </a:p>
          <a:p>
            <a:pPr>
              <a:defRPr sz="1600"/>
            </a:pPr>
            <a:r>
              <a:t>C.</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563.2 Les circuits des installations de sécurité ne doivent pas traverser des emplacements</a:t>
            </a:r>
          </a:p>
        </p:txBody>
      </p:sp>
      <p:sp>
        <p:nvSpPr>
          <p:cNvPr id="3" name="Content Placeholder 2"/>
          <p:cNvSpPr>
            <a:spLocks noGrp="1"/>
          </p:cNvSpPr>
          <p:nvPr>
            <p:ph idx="1"/>
          </p:nvPr>
        </p:nvSpPr>
        <p:spPr/>
        <p:txBody>
          <a:bodyPr/>
          <a:lstStyle/>
          <a:p>
            <a:pPr>
              <a:defRPr sz="1600"/>
            </a:pPr>
            <a:r>
              <a:t>présentant des risques d'incendie (BE2), et des emplacements présentant des risques d'explosion (BE3).</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563.3 Dans certains cas, la protection contre les surcharges, prescrite par le paragraphe</a:t>
            </a:r>
          </a:p>
        </p:txBody>
      </p:sp>
      <p:sp>
        <p:nvSpPr>
          <p:cNvPr id="3" name="Content Placeholder 2"/>
          <p:cNvSpPr>
            <a:spLocks noGrp="1"/>
          </p:cNvSpPr>
          <p:nvPr>
            <p:ph idx="1"/>
          </p:nvPr>
        </p:nvSpPr>
        <p:spPr/>
        <p:txBody>
          <a:bodyPr/>
          <a:lstStyle/>
          <a:p>
            <a:pPr>
              <a:defRPr sz="1600"/>
            </a:pPr>
            <a:r>
              <a:t>433.</a:t>
            </a:r>
          </a:p>
          <a:p>
            <a:pPr>
              <a:defRPr sz="1600"/>
            </a:pPr>
            <a:r>
              <a:t>2.</a:t>
            </a:r>
          </a:p>
          <a:p>
            <a:pPr>
              <a:defRPr sz="1600"/>
            </a:pPr>
            <a:r>
              <a:t>1, ne doit pas être mise en oeuvre.</a:t>
            </a:r>
          </a:p>
          <a:p>
            <a:pPr>
              <a:defRPr sz="1600"/>
            </a:pPr>
            <a:r>
              <a:t>- 320 -   Les textes réglementaires précisent ces cas visant des circuits alimentant des moteurs, circuits dont les conducteurs ont une section devant satisfaire à 433.</a:t>
            </a:r>
          </a:p>
          <a:p>
            <a:pPr>
              <a:defRPr sz="1600"/>
            </a:pPr>
            <a:r>
              <a:t>3 e).</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563.4 Chaque circuit doit être protégé de telle manière que tout incident électrique l'affectant,</a:t>
            </a:r>
          </a:p>
        </p:txBody>
      </p:sp>
      <p:sp>
        <p:nvSpPr>
          <p:cNvPr id="3" name="Content Placeholder 2"/>
          <p:cNvSpPr>
            <a:spLocks noGrp="1"/>
          </p:cNvSpPr>
          <p:nvPr>
            <p:ph idx="1"/>
          </p:nvPr>
        </p:nvSpPr>
        <p:spPr/>
        <p:txBody>
          <a:bodyPr/>
          <a:lstStyle/>
          <a:p>
            <a:pPr>
              <a:defRPr sz="1600"/>
            </a:pPr>
            <a:r>
              <a:t>par surintensité, rupture ou défaut à la terre, n'interrompe pas l'alimentation des autres circuits de sécurité alimentés par la même source.</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563.5 Les dispositifs de protection, de commande et d'alarme, doivent être clairement</a:t>
            </a:r>
          </a:p>
        </p:txBody>
      </p:sp>
      <p:sp>
        <p:nvSpPr>
          <p:cNvPr id="3" name="Content Placeholder 2"/>
          <p:cNvSpPr>
            <a:spLocks noGrp="1"/>
          </p:cNvSpPr>
          <p:nvPr>
            <p:ph idx="1"/>
          </p:nvPr>
        </p:nvSpPr>
        <p:spPr/>
        <p:txBody>
          <a:bodyPr/>
          <a:lstStyle/>
          <a:p>
            <a:pPr>
              <a:defRPr sz="1600"/>
            </a:pPr>
            <a:r>
              <a:t>identifiés.</a:t>
            </a:r>
          </a:p>
          <a:p>
            <a:pPr>
              <a:defRPr sz="1600"/>
            </a:pPr>
            <a:r>
              <a:t>Les dispositifs de protection et de commande doivent être groupés dans des emplacements accessibles seulement aux personnes chargées de l'entretien et de la surveillance des matériels.</a:t>
            </a:r>
          </a:p>
          <a:p>
            <a:pPr>
              <a:defRPr sz="1600"/>
            </a:pPr>
            <a:r>
              <a:t>564 Matériels d'utilisation  C.</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564.1 Dans les installations d'éclairage, les types de lampes doivent être compatibles avec la</a:t>
            </a:r>
          </a:p>
        </p:txBody>
      </p:sp>
      <p:sp>
        <p:nvSpPr>
          <p:cNvPr id="3" name="Content Placeholder 2"/>
          <p:cNvSpPr>
            <a:spLocks noGrp="1"/>
          </p:cNvSpPr>
          <p:nvPr>
            <p:ph idx="1"/>
          </p:nvPr>
        </p:nvSpPr>
        <p:spPr/>
        <p:txBody>
          <a:bodyPr/>
          <a:lstStyle/>
          <a:p>
            <a:pPr>
              <a:defRPr sz="1600"/>
            </a:pPr>
            <a:r>
              <a:t>durée de commutation de façon à maintenir le niveau d'éclairement spécifié.</a:t>
            </a:r>
          </a:p>
          <a:p>
            <a:pPr>
              <a:defRPr sz="1600"/>
            </a:pPr>
            <a:r>
              <a:t>La règle de cet article interdit l'utilisation pour l'éclairage de sécurité des lampes à décharge d'un type tel que leur amorçage nécessite un temps supérieur à 15 secondes.</a:t>
            </a:r>
          </a:p>
          <a:p>
            <a:pPr>
              <a:defRPr sz="1600"/>
            </a:pPr>
            <a:r>
              <a:t>C.</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564.2 Dans les matériels alimentés par deux circuits différents, un défaut se produisant dans</a:t>
            </a:r>
          </a:p>
        </p:txBody>
      </p:sp>
      <p:sp>
        <p:nvSpPr>
          <p:cNvPr id="3" name="Content Placeholder 2"/>
          <p:cNvSpPr>
            <a:spLocks noGrp="1"/>
          </p:cNvSpPr>
          <p:nvPr>
            <p:ph idx="1"/>
          </p:nvPr>
        </p:nvSpPr>
        <p:spPr/>
        <p:txBody>
          <a:bodyPr/>
          <a:lstStyle/>
          <a:p>
            <a:pPr>
              <a:defRPr sz="1600"/>
            </a:pPr>
            <a:r>
              <a:t>un circuit ne doit pas affecter la protection contre les chocs électriques et le fonctionnement correct de l'autre circuit.</a:t>
            </a:r>
          </a:p>
          <a:p>
            <a:pPr>
              <a:defRPr sz="1600"/>
            </a:pPr>
            <a:r>
              <a:t>La mise à la terre de ces matériels doit être effectuée par les deux conducteurs de protection.</a:t>
            </a:r>
          </a:p>
          <a:p>
            <a:pPr>
              <a:defRPr sz="1600"/>
            </a:pPr>
            <a:r>
              <a:t>565 Prescriptions particulières aux sources de sécurité ne pouvant pas fonctionner en parallèle avec les sources normales.</a:t>
            </a:r>
          </a:p>
        </p:txBody>
      </p:sp>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565.1 Toutes précautions doivent être prises pour éviter la mise en parallèle des sources, par</a:t>
            </a:r>
          </a:p>
        </p:txBody>
      </p:sp>
      <p:sp>
        <p:nvSpPr>
          <p:cNvPr id="3" name="Content Placeholder 2"/>
          <p:cNvSpPr>
            <a:spLocks noGrp="1"/>
          </p:cNvSpPr>
          <p:nvPr>
            <p:ph idx="1"/>
          </p:nvPr>
        </p:nvSpPr>
        <p:spPr/>
        <p:txBody>
          <a:bodyPr/>
          <a:lstStyle/>
          <a:p>
            <a:pPr>
              <a:defRPr sz="1600"/>
            </a:pPr>
            <a:r>
              <a:t>exemple à l'aide de verrouillage mécanique.</a:t>
            </a:r>
          </a:p>
          <a:p>
            <a:pPr>
              <a:defRPr sz="1600"/>
            </a:pPr>
            <a:r>
              <a:t>Dans le cas d'une source fonctionnant en remplacement du réseau de distribution publique, des dispositions appropriées sont données en 551.</a:t>
            </a:r>
          </a:p>
          <a:p>
            <a:pPr>
              <a:defRPr sz="1600"/>
            </a:pPr>
            <a:r>
              <a:t>1.</a:t>
            </a:r>
          </a:p>
          <a:p>
            <a:pPr>
              <a:defRPr sz="1600"/>
            </a:pPr>
            <a:r>
              <a:t>1  C.</a:t>
            </a:r>
          </a:p>
        </p:txBody>
      </p:sp>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565.2 La protection contre les courts-circuits et la protection contre les contacts indirects</a:t>
            </a:r>
          </a:p>
        </p:txBody>
      </p:sp>
      <p:sp>
        <p:nvSpPr>
          <p:cNvPr id="3" name="Content Placeholder 2"/>
          <p:cNvSpPr>
            <a:spLocks noGrp="1"/>
          </p:cNvSpPr>
          <p:nvPr>
            <p:ph idx="1"/>
          </p:nvPr>
        </p:nvSpPr>
        <p:spPr/>
        <p:txBody>
          <a:bodyPr/>
          <a:lstStyle/>
          <a:p>
            <a:pPr>
              <a:defRPr sz="1600"/>
            </a:pPr>
            <a:r>
              <a:t>doivent être assurées quelle que soit la source alimentant les installations.</a:t>
            </a:r>
          </a:p>
          <a:p>
            <a:pPr>
              <a:defRPr sz="1600"/>
            </a:pPr>
            <a:r>
              <a:t>566 Prescriptions particulières aux sources de sécurité pouvant fonctionner en parallèle avec les sources normales  Dans le cas d'une source pouvant fonctionner en parallèle avec le réseau de distribution publique, les prescriptions du 551.</a:t>
            </a:r>
          </a:p>
          <a:p>
            <a:pPr>
              <a:defRPr sz="1600"/>
            </a:pPr>
            <a:r>
              <a:t>1.</a:t>
            </a:r>
          </a:p>
          <a:p>
            <a:pPr>
              <a:defRPr sz="1600"/>
            </a:pPr>
            <a:r>
              <a:t>2 s'appliquent.</a:t>
            </a:r>
          </a:p>
          <a:p>
            <a:pPr>
              <a:defRPr sz="1600"/>
            </a:pPr>
            <a:r>
              <a:t>C  La protection contre les courts-circuits et la protection contre les contacts indirects doivent être assurées aussi bien lorsque l'installation est alimentée séparément par l'une quelconque des deux sources que par les deux sources en parallèle.</a:t>
            </a:r>
          </a:p>
        </p:txBody>
      </p:sp>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6 – Vérifications et entretien des installations</a:t>
            </a:r>
          </a:p>
        </p:txBody>
      </p:sp>
      <p:sp>
        <p:nvSpPr>
          <p:cNvPr id="3" name="Content Placeholder 2"/>
          <p:cNvSpPr>
            <a:spLocks noGrp="1"/>
          </p:cNvSpPr>
          <p:nvPr>
            <p:ph idx="1"/>
          </p:nvPr>
        </p:nvSpPr>
        <p:spPr/>
        <p:txBody>
          <a:bodyPr/>
          <a:lstStyle/>
          <a:p>
            <a:pPr>
              <a:defRPr sz="1600"/>
            </a:pPr>
            <a:r>
              <a:t>600 Introduction.</a:t>
            </a:r>
          </a:p>
          <a:p>
            <a:pPr>
              <a:defRPr sz="1600"/>
            </a:pPr>
            <a:r>
              <a:t>323  Partie 6-61 - Vérifica tions et mise en service.</a:t>
            </a:r>
          </a:p>
          <a:p>
            <a:pPr>
              <a:defRPr sz="1600"/>
            </a:pPr>
            <a:r>
              <a:t>323.</a:t>
            </a:r>
          </a:p>
        </p:txBody>
      </p:sp>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610.3 Définitions...........................................................................................................323</a:t>
            </a:r>
          </a:p>
        </p:txBody>
      </p:sp>
      <p:sp>
        <p:nvSpPr>
          <p:cNvPr id="3" name="Content Placeholder 2"/>
          <p:cNvSpPr>
            <a:spLocks noGrp="1"/>
          </p:cNvSpPr>
          <p:nvPr>
            <p:ph idx="1"/>
          </p:nvPr>
        </p:nvSpPr>
        <p:spPr/>
        <p:txBody>
          <a:bodyPr/>
          <a:lstStyle/>
          <a:p>
            <a:pPr>
              <a:defRPr sz="1600"/>
            </a:pPr>
            <a:r>
              <a:t>611 Inspection visuelle.</a:t>
            </a:r>
          </a:p>
          <a:p>
            <a:pPr>
              <a:defRPr sz="1600"/>
            </a:pPr>
            <a:r>
              <a:t>324  612 Essais.</a:t>
            </a:r>
          </a:p>
          <a:p>
            <a:pPr>
              <a:defRPr sz="1600"/>
            </a:pPr>
            <a:r>
              <a:t>325.</a:t>
            </a:r>
          </a:p>
        </p:txBody>
      </p:sp>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612.2 Continuité des conducteurs de protection et des liaisons équipotentielles</a:t>
            </a:r>
          </a:p>
        </p:txBody>
      </p:sp>
      <p:sp>
        <p:nvSpPr>
          <p:cNvPr id="3" name="Content Placeholder 2"/>
          <p:cNvSpPr>
            <a:spLocks noGrp="1"/>
          </p:cNvSpPr>
          <p:nvPr>
            <p:ph idx="1"/>
          </p:nvPr>
        </p:nvSpPr>
        <p:spPr/>
        <p:txBody>
          <a:bodyPr/>
          <a:lstStyle/>
          <a:p>
            <a:pPr>
              <a:defRPr sz="1600"/>
            </a:pPr>
            <a:r>
              <a:t>principales et supplémentaires.</a:t>
            </a:r>
          </a:p>
          <a:p>
            <a:pPr>
              <a:defRPr sz="1600"/>
            </a:pPr>
            <a:r>
              <a:t>325.</a:t>
            </a:r>
          </a:p>
        </p:txBody>
      </p:sp>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 Vérification des conditions de protection par coupure automatique</a:t>
            </a:r>
          </a:p>
        </p:txBody>
      </p:sp>
      <p:sp>
        <p:nvSpPr>
          <p:cNvPr id="3" name="Content Placeholder 2"/>
          <p:cNvSpPr>
            <a:spLocks noGrp="1"/>
          </p:cNvSpPr>
          <p:nvPr>
            <p:ph idx="1"/>
          </p:nvPr>
        </p:nvSpPr>
        <p:spPr/>
        <p:txBody>
          <a:bodyPr/>
          <a:lstStyle/>
          <a:p>
            <a:pPr>
              <a:defRPr sz="1600"/>
            </a:pPr>
            <a:r>
              <a:t>rois.</a:t>
            </a:r>
          </a:p>
          <a:p>
            <a:pPr>
              <a:defRPr sz="1600"/>
            </a:pPr>
            <a:r>
              <a:t>327  de l'alimentation.</a:t>
            </a:r>
          </a:p>
          <a:p>
            <a:pPr>
              <a:defRPr sz="1600"/>
            </a:pPr>
            <a:r>
              <a:t>327.</a:t>
            </a:r>
          </a:p>
        </p:txBody>
      </p:sp>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612.7 Essais fonctionnels .............................................................................................331</a:t>
            </a:r>
          </a:p>
        </p:txBody>
      </p:sp>
      <p:sp>
        <p:nvSpPr>
          <p:cNvPr id="3" name="Content Placeholder 2"/>
          <p:cNvSpPr>
            <a:spLocks noGrp="1"/>
          </p:cNvSpPr>
          <p:nvPr>
            <p:ph idx="1"/>
          </p:nvPr>
        </p:nvSpPr>
        <p:spPr/>
        <p:txBody>
          <a:bodyPr/>
          <a:lstStyle/>
          <a:p>
            <a:pPr>
              <a:defRPr sz="1600"/>
            </a:pPr>
            <a:r>
              <a:t>Partie 6-62 - Vérifications périodiques.</a:t>
            </a:r>
          </a:p>
          <a:p>
            <a:pPr>
              <a:defRPr sz="1600"/>
            </a:pPr>
            <a:r>
              <a:t>331.</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620.4 Rapport...............................................................................................................332</a:t>
            </a:r>
          </a:p>
        </p:txBody>
      </p:sp>
      <p:sp>
        <p:nvSpPr>
          <p:cNvPr id="3" name="Content Placeholder 2"/>
          <p:cNvSpPr>
            <a:spLocks noGrp="1"/>
          </p:cNvSpPr>
          <p:nvPr>
            <p:ph idx="1"/>
          </p:nvPr>
        </p:nvSpPr>
        <p:spPr/>
        <p:txBody>
          <a:bodyPr/>
          <a:lstStyle/>
          <a:p>
            <a:pPr>
              <a:defRPr sz="1600"/>
            </a:pPr>
            <a:r>
              <a:t>Partie 6-63 - Entretien des installations.</a:t>
            </a:r>
          </a:p>
          <a:p>
            <a:pPr>
              <a:defRPr sz="1600"/>
            </a:pPr>
            <a:r>
              <a:t>332  - 323 -   C  C  C  600 Introduction  La partie 6-61 concerne les vérifications à la périodiques.</a:t>
            </a:r>
          </a:p>
          <a:p>
            <a:pPr>
              <a:defRPr sz="1600"/>
            </a:pPr>
            <a:r>
              <a:t>mise en service et la partie 6-62 les vérifications  Ces vérifications, à la mise en service et périodiques, sont à rapprocher de la vérification initiale des installations électriques, lors de leur mise en service ou après qu'elles aient subi une modification de structure, et des vérifications périodiques, novembre 1988, vérifications faisant l'objet de l'arrêté du 10 octobre 2000.</a:t>
            </a:r>
          </a:p>
          <a:p>
            <a:pPr>
              <a:defRPr sz="1600"/>
            </a:pPr>
            <a:r>
              <a:t>Cet arrêté définit, notamment, de façon détaillée l'étendue des vérifications et le contenu des rapports relatifs auxdites vérifications.</a:t>
            </a:r>
          </a:p>
          <a:p>
            <a:pPr>
              <a:defRPr sz="1600"/>
            </a:pPr>
            <a:r>
              <a:t>Les vérifications portent sur les dispositions prises pour satisfaire aux prescriptions du décret du 14 novembre 1988 et des arrêtés pris pour son application.</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610.1.1 Toute installation doit, pendant la mise en œuvre ou lorsqu'elle est terminée et avant sa</a:t>
            </a:r>
          </a:p>
        </p:txBody>
      </p:sp>
      <p:sp>
        <p:nvSpPr>
          <p:cNvPr id="3" name="Content Placeholder 2"/>
          <p:cNvSpPr>
            <a:spLocks noGrp="1"/>
          </p:cNvSpPr>
          <p:nvPr>
            <p:ph idx="1"/>
          </p:nvPr>
        </p:nvSpPr>
        <p:spPr/>
        <p:txBody>
          <a:bodyPr/>
          <a:lstStyle/>
          <a:p>
            <a:pPr>
              <a:defRPr sz="1600"/>
            </a:pPr>
            <a:r>
              <a:t>mise à la disposition de l'usager, être vérifiée.</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610.1.2 Les informations demandées en 514.5 doivent être mises à la disposition des personnes</a:t>
            </a:r>
          </a:p>
        </p:txBody>
      </p:sp>
      <p:sp>
        <p:nvSpPr>
          <p:cNvPr id="3" name="Content Placeholder 2"/>
          <p:cNvSpPr>
            <a:spLocks noGrp="1"/>
          </p:cNvSpPr>
          <p:nvPr>
            <p:ph idx="1"/>
          </p:nvPr>
        </p:nvSpPr>
        <p:spPr/>
        <p:txBody>
          <a:bodyPr/>
          <a:lstStyle/>
          <a:p>
            <a:pPr>
              <a:defRPr sz="1600"/>
            </a:pPr>
            <a:r>
              <a:t>effectuant les vérifications.</a:t>
            </a:r>
          </a:p>
          <a:p>
            <a:pPr>
              <a:defRPr sz="1600"/>
            </a:pPr>
            <a:r>
              <a:t>Il est rappelé que les schémas font partie des documents demandés dans l'annexe III (point 4) de l'arrêté du 10 octobre 2000.</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610.1.3 Des précautions doivent être prises pendant la vérification et les essais, pour éviter des</a:t>
            </a:r>
          </a:p>
        </p:txBody>
      </p:sp>
      <p:sp>
        <p:nvSpPr>
          <p:cNvPr id="3" name="Content Placeholder 2"/>
          <p:cNvSpPr>
            <a:spLocks noGrp="1"/>
          </p:cNvSpPr>
          <p:nvPr>
            <p:ph idx="1"/>
          </p:nvPr>
        </p:nvSpPr>
        <p:spPr/>
        <p:txBody>
          <a:bodyPr/>
          <a:lstStyle/>
          <a:p>
            <a:pPr>
              <a:defRPr sz="1600"/>
            </a:pPr>
            <a:r>
              <a:t>dangers pour les personnes et des dommages aux biens et aux matériels installés.</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610.1.4 Lors d'extensions ou de modifications d'installations existantes, il doit être vérifié que les</a:t>
            </a:r>
          </a:p>
        </p:txBody>
      </p:sp>
      <p:sp>
        <p:nvSpPr>
          <p:cNvPr id="3" name="Content Placeholder 2"/>
          <p:cNvSpPr>
            <a:spLocks noGrp="1"/>
          </p:cNvSpPr>
          <p:nvPr>
            <p:ph idx="1"/>
          </p:nvPr>
        </p:nvSpPr>
        <p:spPr/>
        <p:txBody>
          <a:bodyPr/>
          <a:lstStyle/>
          <a:p>
            <a:pPr>
              <a:defRPr sz="1600"/>
            </a:pPr>
            <a:r>
              <a:t>extensions ou modifications de l'installation satisfont aux prescriptions de la présente norme et ne compromettent pas la sécurité de l'installation existante.</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610.1.5 Les vérifications doivent être réalisées par une personne qualifiée, compétente dans le</a:t>
            </a:r>
          </a:p>
        </p:txBody>
      </p:sp>
      <p:sp>
        <p:nvSpPr>
          <p:cNvPr id="3" name="Content Placeholder 2"/>
          <p:cNvSpPr>
            <a:spLocks noGrp="1"/>
          </p:cNvSpPr>
          <p:nvPr>
            <p:ph idx="1"/>
          </p:nvPr>
        </p:nvSpPr>
        <p:spPr/>
        <p:txBody>
          <a:bodyPr/>
          <a:lstStyle/>
          <a:p>
            <a:pPr>
              <a:defRPr sz="1600"/>
            </a:pPr>
            <a:r>
              <a:t>domaine des vérifications, ayant une connaissance approfondie des dispositions de la présente norme et de celles des réglementations nationales.</a:t>
            </a:r>
          </a:p>
          <a:p>
            <a:pPr>
              <a:defRPr sz="1600"/>
            </a:pPr>
            <a:r>
              <a:t>Les textes réglementaires peuvent préciser les conditions auxquelles doivent satisfaire les personnes autorisées à effectuer ces vérifications, le cas échéant, la nécessité d’agrément.</a:t>
            </a:r>
          </a:p>
          <a:p>
            <a:pPr>
              <a:defRPr sz="1600"/>
            </a:pPr>
            <a:r>
              <a:t>C.</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610.1.6 Suite à la vérification conformément aux prescriptions de la présente partie, un rapport</a:t>
            </a:r>
          </a:p>
        </p:txBody>
      </p:sp>
      <p:sp>
        <p:nvSpPr>
          <p:cNvPr id="3" name="Content Placeholder 2"/>
          <p:cNvSpPr>
            <a:spLocks noGrp="1"/>
          </p:cNvSpPr>
          <p:nvPr>
            <p:ph idx="1"/>
          </p:nvPr>
        </p:nvSpPr>
        <p:spPr/>
        <p:txBody>
          <a:bodyPr/>
          <a:lstStyle/>
          <a:p>
            <a:pPr>
              <a:defRPr sz="1600"/>
            </a:pPr>
            <a:r>
              <a:t>doit être établi.</a:t>
            </a:r>
          </a:p>
          <a:p>
            <a:pPr>
              <a:defRPr sz="1600"/>
            </a:pPr>
            <a:r>
              <a:t>Ce rapport devra comporter les observations relatives à l'inspection visuelle et aux essais effectués.</a:t>
            </a:r>
          </a:p>
          <a:p>
            <a:pPr>
              <a:defRPr sz="1600"/>
            </a:pPr>
            <a:r>
              <a:t>NOTE - Des informations relatives aux vérifications périodiques sont données dans la partie 6-62.</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610.3 Définitions</a:t>
            </a:r>
          </a:p>
        </p:txBody>
      </p:sp>
      <p:sp>
        <p:nvSpPr>
          <p:cNvPr id="3" name="Content Placeholder 2"/>
          <p:cNvSpPr>
            <a:spLocks noGrp="1"/>
          </p:cNvSpPr>
          <p:nvPr>
            <p:ph idx="1"/>
          </p:nvPr>
        </p:nvSpPr>
        <p:spPr/>
        <p:txBody>
          <a:bodyPr/>
          <a:lstStyle/>
          <a:p>
            <a:pPr>
              <a:defRPr sz="1600"/>
            </a:pPr>
            <a:r>
              <a:t>610.</a:t>
            </a:r>
          </a:p>
          <a:p>
            <a:pPr>
              <a:defRPr sz="1600"/>
            </a:pPr>
            <a:r>
              <a:t>3.</a:t>
            </a:r>
          </a:p>
          <a:p>
            <a:pPr>
              <a:defRPr sz="1600"/>
            </a:pPr>
            <a:r>
              <a:t>1 vérification la vérification intègre toutes les méthodes au moyen desquelles la conformité de l’ensemble de l’installation électrique à la présente norme est prouvée.</a:t>
            </a:r>
          </a:p>
          <a:p>
            <a:pPr>
              <a:defRPr sz="1600"/>
            </a:pPr>
            <a:r>
              <a:t>Elle comprend une inspection visuelle et des essais.</a:t>
            </a:r>
          </a:p>
          <a:p>
            <a:pPr>
              <a:defRPr sz="1600"/>
            </a:pPr>
            <a:r>
              <a:t>- 324 -   C  610.</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611.1 L’inspection visuelle doit précéder les essais et être normalement effectuée, l'ensemble de</a:t>
            </a:r>
          </a:p>
        </p:txBody>
      </p:sp>
      <p:sp>
        <p:nvSpPr>
          <p:cNvPr id="3" name="Content Placeholder 2"/>
          <p:cNvSpPr>
            <a:spLocks noGrp="1"/>
          </p:cNvSpPr>
          <p:nvPr>
            <p:ph idx="1"/>
          </p:nvPr>
        </p:nvSpPr>
        <p:spPr/>
        <p:txBody>
          <a:bodyPr/>
          <a:lstStyle/>
          <a:p>
            <a:pPr>
              <a:defRPr sz="1600"/>
            </a:pPr>
            <a:r>
              <a:t>l'installation étant hors tension.</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611.2 L’inspection visuelle est destinée à vérifier si le matériel électrique relié en permanence :</a:t>
            </a:r>
          </a:p>
        </p:txBody>
      </p:sp>
      <p:sp>
        <p:nvSpPr>
          <p:cNvPr id="3" name="Content Placeholder 2"/>
          <p:cNvSpPr>
            <a:spLocks noGrp="1"/>
          </p:cNvSpPr>
          <p:nvPr>
            <p:ph idx="1"/>
          </p:nvPr>
        </p:nvSpPr>
        <p:spPr/>
        <p:txBody>
          <a:bodyPr/>
          <a:lstStyle/>
          <a:p>
            <a:pPr>
              <a:defRPr sz="1600"/>
            </a:pPr>
            <a:r>
              <a:t>-  -  -  est conforme aux prescriptions de sécurité des normes de matériels applicables ;  NOTE - Cela peut être vérifié par examen du marquage ou du certificat.</a:t>
            </a:r>
          </a:p>
          <a:p>
            <a:pPr>
              <a:defRPr sz="1600"/>
            </a:pPr>
            <a:r>
              <a:t>est choisi correctement et installé conformément à la présente norme et aux instructions des constructeurs ;  ne présente aucun dommage visible pouvant affecter la sécurité.</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611.3 L’inspection visuelle doit comprendre au moins la vérification des conditions suivantes,</a:t>
            </a:r>
          </a:p>
        </p:txBody>
      </p:sp>
      <p:sp>
        <p:nvSpPr>
          <p:cNvPr id="3" name="Content Placeholder 2"/>
          <p:cNvSpPr>
            <a:spLocks noGrp="1"/>
          </p:cNvSpPr>
          <p:nvPr>
            <p:ph idx="1"/>
          </p:nvPr>
        </p:nvSpPr>
        <p:spPr/>
        <p:txBody>
          <a:bodyPr/>
          <a:lstStyle/>
          <a:p>
            <a:pPr>
              <a:defRPr sz="1600"/>
            </a:pPr>
            <a:r>
              <a:t>dans la mesure où elles s'appliquent :  - mesures de protection contre les chocs électriques, y compris la mesure des distances, par exemple en ce qui concerne la protection par barrières ou par enveloppes, par obstacles ou par éloignement (voir annexes A et B de la partie 4-41) ;  NOTE - La règle en annexe C1 dans la partie 4-41 «Protection par locaux non conducteurs» est seulement lorsque l'installation n'alimente que des matériels connectés à demeure.</a:t>
            </a:r>
          </a:p>
          <a:p>
            <a:pPr>
              <a:defRPr sz="1600"/>
            </a:pPr>
            <a:r>
              <a:t>vérifiable  présence de barrières coupe-feu et d'autres dispositions empêchant la propagation du feu et protection contre les effets thermiques (voir pa rties 4-42, 4-43 et 527) ;  choix des matériels et mise en œuvre dans les emplacements à risque d'explosion (voir 424) ;  choix des conducteurs pour les courants admissibles   et la chute de tension (voir 523) ;  choix et réglage des dispositifs de protection et   de surveillance (voir partie 5-53)   ;  -  -  -  -  Le choix des sections de conducteurs et le réglage des dispositifs de protection sont vérifiés d'après les notes de calcul établies par le concepteur conformément aux règles de la présente norme, et notamment des parties 4-41, 4-43, convient de se référer    5-53 et 5-54.</a:t>
            </a:r>
          </a:p>
          <a:p>
            <a:pPr>
              <a:defRPr sz="1600"/>
            </a:pPr>
            <a:r>
              <a:t>Pour les locaux d'habitation, il   à la partie 7-771.</a:t>
            </a:r>
          </a:p>
          <a:p>
            <a:pPr>
              <a:defRPr sz="1600"/>
            </a:pPr>
            <a:r>
              <a:t>C  -  -  -  -  -  -  -  présence de dispositifs appropriés de sectionnement et 537) ;    de commande (voir partie 4-46 et  respect des règles interdisant l'installation de dispositifs de coupure unipolaires sur le conducteur neutre ;  choix des matériels et des mesures de protection appropriés aux influences externes (voir.</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512.2 et 522) ;</a:t>
            </a:r>
          </a:p>
        </p:txBody>
      </p:sp>
      <p:sp>
        <p:nvSpPr>
          <p:cNvPr id="3" name="Content Placeholder 2"/>
          <p:cNvSpPr>
            <a:spLocks noGrp="1"/>
          </p:cNvSpPr>
          <p:nvPr>
            <p:ph idx="1"/>
          </p:nvPr>
        </p:nvSpPr>
        <p:spPr/>
        <p:txBody>
          <a:bodyPr/>
          <a:lstStyle/>
          <a:p>
            <a:pPr>
              <a:defRPr sz="1600"/>
            </a:pPr>
            <a:r>
              <a:t>identification des conducteurs neutres et des conducteurs de protection (voir 514.</a:t>
            </a:r>
          </a:p>
          <a:p>
            <a:pPr>
              <a:defRPr sz="1600"/>
            </a:pPr>
            <a:r>
              <a:t>3) ;  présence de schémas, notices d'avertissement et   informations analogues (voir 514.</a:t>
            </a:r>
          </a:p>
          <a:p>
            <a:pPr>
              <a:defRPr sz="1600"/>
            </a:pPr>
            <a:r>
              <a:t>5) ;  identification des circuits,   fusibles, interrupteurs, bornes, etc.</a:t>
            </a:r>
          </a:p>
          <a:p>
            <a:pPr>
              <a:defRPr sz="1600"/>
            </a:pPr>
            <a:r>
              <a:t>(voir   514) ;  réalisation des connexions des conducteurs (voir 526) ;  - 325 -   C  C  Le but de cette vérification est de contrôler que les moyens de fixation sont appropriés aux conducteurs concernés et que ces connexions sont correctement effectuées.</a:t>
            </a:r>
          </a:p>
          <a:p>
            <a:pPr>
              <a:defRPr sz="1600"/>
            </a:pPr>
            <a:r>
              <a:t>En cas de doute sur l'efficacité d'une connexion, il y a lieu de mesurer la résistance de contact au droit de cette connexion.</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612.1 Généralités</a:t>
            </a:r>
          </a:p>
        </p:txBody>
      </p:sp>
      <p:sp>
        <p:nvSpPr>
          <p:cNvPr id="3" name="Content Placeholder 2"/>
          <p:cNvSpPr>
            <a:spLocks noGrp="1"/>
          </p:cNvSpPr>
          <p:nvPr>
            <p:ph idx="1"/>
          </p:nvPr>
        </p:nvSpPr>
        <p:spPr/>
        <p:txBody>
          <a:bodyPr/>
          <a:lstStyle/>
          <a:p>
            <a:pPr>
              <a:defRPr sz="1600"/>
            </a:pPr>
            <a:r>
              <a:t>Les essais ci-après doivent être effectués dans la mesure où ils s'appliquent et de préférence dans l'ordre suivant :  -  -  -  -  -  -  -  continuité des conducteurs de protection et des liaisons équipotentielles principales et supplémentaires (voir 612.</a:t>
            </a:r>
          </a:p>
          <a:p>
            <a:pPr>
              <a:defRPr sz="1600"/>
            </a:pPr>
            <a:r>
              <a:t>2) ;  résistance d'isolement de l'installation électrique (voir 612.</a:t>
            </a:r>
          </a:p>
          <a:p>
            <a:pPr>
              <a:defRPr sz="1600"/>
            </a:pPr>
            <a:r>
              <a:t>3)   ;  protection par TBTS ou TBTP et par séparation des circuits (voir 612.</a:t>
            </a:r>
          </a:p>
          <a:p>
            <a:pPr>
              <a:defRPr sz="1600"/>
            </a:pPr>
            <a:r>
              <a:t>4) ;  résistance des sols et parois (voir 612.</a:t>
            </a:r>
          </a:p>
          <a:p>
            <a:pPr>
              <a:defRPr sz="1600"/>
            </a:pPr>
            <a:r>
              <a:t>5) ;  coupure automatique de l'alimentation (voir   article 612.</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612.2 Continuité des conducteurs de protection et des</a:t>
            </a:r>
          </a:p>
        </p:txBody>
      </p:sp>
      <p:sp>
        <p:nvSpPr>
          <p:cNvPr id="3" name="Content Placeholder 2"/>
          <p:cNvSpPr>
            <a:spLocks noGrp="1"/>
          </p:cNvSpPr>
          <p:nvPr>
            <p:ph idx="1"/>
          </p:nvPr>
        </p:nvSpPr>
        <p:spPr/>
        <p:txBody>
          <a:bodyPr/>
          <a:lstStyle/>
          <a:p>
            <a:pPr>
              <a:defRPr sz="1600"/>
            </a:pPr>
            <a:r>
              <a:t>principales et supplémentaires  liaisons équipotentielles  Un essai de continuité doit être effectué.</a:t>
            </a:r>
          </a:p>
          <a:p>
            <a:pPr>
              <a:defRPr sz="1600"/>
            </a:pPr>
            <a:r>
              <a:t>Il est recommandé que l'essai soit effectué avec une source d'une tension à vide de 4 V à 24 V, en courant continu ou alternatif, et avec un courant d'au moins 0,2 A.</a:t>
            </a:r>
          </a:p>
          <a:p>
            <a:pPr>
              <a:defRPr sz="1600"/>
            </a:pPr>
            <a:r>
              <a:t>L'attention est appelée sur le fait que le courant utilisé pour l'essai de continuité doit être compatible avec les risques d'incendie ou d'explosion de l'emplacement considéré.</a:t>
            </a:r>
          </a:p>
          <a:p>
            <a:pPr>
              <a:defRPr sz="1600"/>
            </a:pPr>
            <a:r>
              <a:t>——————— (1) Série NF EN 61557 (C 42-198)  - 326 -   C  Cet essai est demandé dans le cadre de la vérification des conditions de protection par coupure automatique de l'alimentation (voir 612.</a:t>
            </a:r>
          </a:p>
          <a:p>
            <a:pPr>
              <a:defRPr sz="1600"/>
            </a:pPr>
            <a:r>
              <a:t>6).</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612.3 Résistance d'isolement de l'installation électrique</a:t>
            </a:r>
          </a:p>
        </p:txBody>
      </p:sp>
      <p:sp>
        <p:nvSpPr>
          <p:cNvPr id="3" name="Content Placeholder 2"/>
          <p:cNvSpPr>
            <a:spLocks noGrp="1"/>
          </p:cNvSpPr>
          <p:nvPr>
            <p:ph idx="1"/>
          </p:nvPr>
        </p:nvSpPr>
        <p:spPr/>
        <p:txBody>
          <a:bodyPr/>
          <a:lstStyle/>
          <a:p>
            <a:pPr>
              <a:defRPr sz="1600"/>
            </a:pPr>
            <a:r>
              <a:t>La résistance d'isolement doit être mesurée entre chaque conducteur actif et la terre.</a:t>
            </a:r>
          </a:p>
          <a:p>
            <a:pPr>
              <a:defRPr sz="1600"/>
            </a:pPr>
            <a:r>
              <a:t>NOTES - 1 - Dans le schéma TN-C, le conducteur PEN est considéré comme une partie de la terre.</a:t>
            </a:r>
          </a:p>
          <a:p>
            <a:pPr>
              <a:defRPr sz="1600"/>
            </a:pPr>
            <a:r>
              <a:t>2 - Pendant cette mesure, les conducteurs de phase et le conducteur neutre peuvent être reliés ensemble.</a:t>
            </a:r>
          </a:p>
          <a:p>
            <a:pPr>
              <a:defRPr sz="1600"/>
            </a:pPr>
            <a:r>
              <a:t>Tableau 61A – Valeurs minimales de la résistance d'isolement  Tension nominale du circuit  V  Tension d'essai en courant continu  Résistance d'isolement  MΩ  TBTS et TBTP  Inférieure ou égale à 500 V, à l'exception des cas ci-dessus  Supérieure à 500 V  V  250  500  1 000  ≥ 0,25  ≥ 0,5  ≥ 1,0  Les mesures sont effectuées, l’installation étant hors tension.</a:t>
            </a:r>
          </a:p>
          <a:p>
            <a:pPr>
              <a:defRPr sz="1600"/>
            </a:pPr>
            <a:r>
              <a:t>Il est généralement procédé à la mesure de la résistance d’isolement de l’ensemble d’une installation à son origine.</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612.4 Protection par TBTS ou TBTP ou par séparation des circuits</a:t>
            </a:r>
          </a:p>
        </p:txBody>
      </p:sp>
      <p:sp>
        <p:nvSpPr>
          <p:cNvPr id="3" name="Content Placeholder 2"/>
          <p:cNvSpPr>
            <a:spLocks noGrp="1"/>
          </p:cNvSpPr>
          <p:nvPr>
            <p:ph idx="1"/>
          </p:nvPr>
        </p:nvSpPr>
        <p:spPr/>
        <p:txBody>
          <a:bodyPr/>
          <a:lstStyle/>
          <a:p>
            <a:pPr>
              <a:defRPr sz="1600"/>
            </a:pPr>
            <a:r>
              <a:t>La séparation des circuits doit être vérifiée conformément à 61 par TBTS, à 612.</a:t>
            </a:r>
          </a:p>
          <a:p>
            <a:pPr>
              <a:defRPr sz="1600"/>
            </a:pPr>
            <a:r>
              <a:t>4.</a:t>
            </a:r>
          </a:p>
          <a:p>
            <a:pPr>
              <a:defRPr sz="1600"/>
            </a:pPr>
            <a:r>
              <a:t>2 dans le cas d’une protection par TBTP et à 612.</a:t>
            </a:r>
          </a:p>
          <a:p>
            <a:pPr>
              <a:defRPr sz="1600"/>
            </a:pPr>
            <a:r>
              <a:t>4.</a:t>
            </a:r>
          </a:p>
          <a:p>
            <a:pPr>
              <a:defRPr sz="1600"/>
            </a:pPr>
            <a:r>
              <a:t>3 dans le cas d’une protection par séparation électrique.</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2.4.1 dans le cas d’une protection</a:t>
            </a:r>
          </a:p>
        </p:txBody>
      </p:sp>
      <p:sp>
        <p:nvSpPr>
          <p:cNvPr id="3" name="Content Placeholder 2"/>
          <p:cNvSpPr>
            <a:spLocks noGrp="1"/>
          </p:cNvSpPr>
          <p:nvPr>
            <p:ph idx="1"/>
          </p:nvPr>
        </p:nvSpPr>
        <p:spPr/>
        <p:txBody>
          <a:bodyPr/>
          <a:lstStyle/>
          <a:p>
            <a:pPr>
              <a:defRPr sz="1600"/>
            </a:pPr>
            <a:r>
              <a:t>La mesure de la résistance d'isolement du circuit séparé est effectuée par rapport à la terre.</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612.4.1 Protection par TBTS</a:t>
            </a:r>
          </a:p>
        </p:txBody>
      </p:sp>
      <p:sp>
        <p:nvSpPr>
          <p:cNvPr id="3" name="Content Placeholder 2"/>
          <p:cNvSpPr>
            <a:spLocks noGrp="1"/>
          </p:cNvSpPr>
          <p:nvPr>
            <p:ph idx="1"/>
          </p:nvPr>
        </p:nvSpPr>
        <p:spPr/>
        <p:txBody>
          <a:bodyPr/>
          <a:lstStyle/>
          <a:p>
            <a:pPr>
              <a:defRPr sz="1600"/>
            </a:pPr>
            <a:r>
              <a:t>La séparation des parties actives de celles des autres circuits ainsi que de la terre, ement.</a:t>
            </a:r>
          </a:p>
          <a:p>
            <a:pPr>
              <a:defRPr sz="1600"/>
            </a:pPr>
            <a:r>
              <a:t>Les valeurs conformément à 414, doit être vérifiée par une mesure de la résistance d'isol de résistance d'isolement obtenues doivent être conformes   au tableau 61A.</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612.4.2 Protection par TBTP</a:t>
            </a:r>
          </a:p>
        </p:txBody>
      </p:sp>
      <p:sp>
        <p:nvSpPr>
          <p:cNvPr id="3" name="Content Placeholder 2"/>
          <p:cNvSpPr>
            <a:spLocks noGrp="1"/>
          </p:cNvSpPr>
          <p:nvPr>
            <p:ph idx="1"/>
          </p:nvPr>
        </p:nvSpPr>
        <p:spPr/>
        <p:txBody>
          <a:bodyPr/>
          <a:lstStyle/>
          <a:p>
            <a:pPr>
              <a:defRPr sz="1600"/>
            </a:pPr>
            <a:r>
              <a:t>La séparation des parties actives de celles des autres circuits ainsi que de la terre, conformément à 414, doit être vérifiée par une mesure de la résistance d'isol ement.</a:t>
            </a:r>
          </a:p>
          <a:p>
            <a:pPr>
              <a:defRPr sz="1600"/>
            </a:pPr>
            <a:r>
              <a:t>Les valeurs de résistance d'isolement obtenues doivent être conformes   au tableau 61A.</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612.4.3 Protection par séparation électrique</a:t>
            </a:r>
          </a:p>
        </p:txBody>
      </p:sp>
      <p:sp>
        <p:nvSpPr>
          <p:cNvPr id="3" name="Content Placeholder 2"/>
          <p:cNvSpPr>
            <a:spLocks noGrp="1"/>
          </p:cNvSpPr>
          <p:nvPr>
            <p:ph idx="1"/>
          </p:nvPr>
        </p:nvSpPr>
        <p:spPr/>
        <p:txBody>
          <a:bodyPr/>
          <a:lstStyle/>
          <a:p>
            <a:pPr>
              <a:defRPr sz="1600"/>
            </a:pPr>
            <a:r>
              <a:t>La séparation des parties actives de celles des autres circuits ainsi que de la terre, conformément à 413, doit être vérifiée par une mesure de la résistance d'isolement.</a:t>
            </a:r>
          </a:p>
          <a:p>
            <a:pPr>
              <a:defRPr sz="1600"/>
            </a:pPr>
            <a:r>
              <a:t>Les valeurs de résistance d'isolement obtenues doivent être conformes   au tableau 61A.</a:t>
            </a:r>
          </a:p>
          <a:p>
            <a:pPr>
              <a:defRPr sz="1600"/>
            </a:pPr>
            <a:r>
              <a:t>La séparation requise en 413.</a:t>
            </a:r>
          </a:p>
          <a:p>
            <a:pPr>
              <a:defRPr sz="1600"/>
            </a:pPr>
            <a:r>
              <a:t>3.</a:t>
            </a:r>
          </a:p>
          <a:p>
            <a:pPr>
              <a:defRPr sz="1600"/>
            </a:pPr>
            <a:r>
              <a:t>3 entre circuit   séparé et tout autre circuit est vérifiée par examen.</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612.5 Résistance des sols et des parois</a:t>
            </a:r>
          </a:p>
        </p:txBody>
      </p:sp>
      <p:sp>
        <p:nvSpPr>
          <p:cNvPr id="3" name="Content Placeholder 2"/>
          <p:cNvSpPr>
            <a:spLocks noGrp="1"/>
          </p:cNvSpPr>
          <p:nvPr>
            <p:ph idx="1"/>
          </p:nvPr>
        </p:nvSpPr>
        <p:spPr/>
        <p:txBody>
          <a:bodyPr/>
          <a:lstStyle/>
          <a:p>
            <a:pPr>
              <a:defRPr sz="1600"/>
            </a:pPr>
            <a:r>
              <a:t>Il peut être nécessaire de mesurer : -  -  la résistance minimale des sols et parois pour la partie 4-41 ou, la résistance maximale des sols des locaux à usage médical où existent des risques d’inflammation pour satisfaire à la prescription du paragraphe 14.</a:t>
            </a:r>
          </a:p>
          <a:p>
            <a:pPr>
              <a:defRPr sz="1600"/>
            </a:pPr>
            <a:r>
              <a:t>1.</a:t>
            </a:r>
          </a:p>
          <a:p>
            <a:pPr>
              <a:defRPr sz="1600"/>
            </a:pPr>
            <a:r>
              <a:t>3 de la norme NF C 15- 211.</a:t>
            </a:r>
          </a:p>
          <a:p>
            <a:pPr>
              <a:defRPr sz="1600"/>
            </a:pPr>
            <a:r>
              <a:t>satisfaire aux prescriptions de l’annexe C1 de  Les mesures sont faites en au moins cinq emplacements différents du local, situés au voisinage des quatre angles et du centre.</a:t>
            </a:r>
          </a:p>
          <a:p>
            <a:pPr>
              <a:defRPr sz="1600"/>
            </a:pPr>
            <a:r>
              <a:t>En chacun de ces emplacements, il est fait cinq mesures dans un cercle de 50 cm de diamètre, dont on prendra la valeur moyenne.</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612.6.1 Généralités</a:t>
            </a:r>
          </a:p>
        </p:txBody>
      </p:sp>
      <p:sp>
        <p:nvSpPr>
          <p:cNvPr id="3" name="Content Placeholder 2"/>
          <p:cNvSpPr>
            <a:spLocks noGrp="1"/>
          </p:cNvSpPr>
          <p:nvPr>
            <p:ph idx="1"/>
          </p:nvPr>
        </p:nvSpPr>
        <p:spPr/>
        <p:txBody>
          <a:bodyPr/>
          <a:lstStyle/>
          <a:p>
            <a:pPr>
              <a:defRPr sz="1600"/>
            </a:pPr>
            <a:r>
              <a:t>L'efficacité des mesures de protection contre les contacts indirects par coupure automatique de l'alimentation est vérifiée comme suit :  La vérification de l'efficacité de la mesure de protection contre les contacts indirects dépend du schéma des liaisons à la terre.</a:t>
            </a:r>
          </a:p>
          <a:p>
            <a:pPr>
              <a:defRPr sz="1600"/>
            </a:pPr>
            <a:r>
              <a:t>a) Pour le schéma TN  C  La vérification de la conformité avec les règles   de 411.</a:t>
            </a:r>
          </a:p>
          <a:p>
            <a:pPr>
              <a:defRPr sz="1600"/>
            </a:pPr>
            <a:r>
              <a:t>3.</a:t>
            </a:r>
          </a:p>
          <a:p>
            <a:pPr>
              <a:defRPr sz="1600"/>
            </a:pPr>
            <a:r>
              <a:t>2 et de 411.</a:t>
            </a:r>
          </a:p>
          <a:p>
            <a:pPr>
              <a:defRPr sz="1600"/>
            </a:pPr>
            <a:r>
              <a:t>4.</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411.3.2.2 ou 411.3.2.3.</a:t>
            </a:r>
          </a:p>
        </p:txBody>
      </p:sp>
      <p:sp>
        <p:nvSpPr>
          <p:cNvPr id="3" name="Content Placeholder 2"/>
          <p:cNvSpPr>
            <a:spLocks noGrp="1"/>
          </p:cNvSpPr>
          <p:nvPr>
            <p:ph idx="1"/>
          </p:nvPr>
        </p:nvSpPr>
        <p:spPr/>
        <p:txBody>
          <a:bodyPr/>
          <a:lstStyle/>
          <a:p>
            <a:pPr>
              <a:defRPr sz="1600"/>
            </a:pPr>
            <a:r>
              <a:t>Le courant minimal de défaut franc peut être déterminé par calcul si les conducteurs de phase et le conducteur de protection sont installés à proximité immédiate sans interposition d’éléments ferro-magnétiques.</a:t>
            </a:r>
          </a:p>
          <a:p>
            <a:pPr>
              <a:defRPr sz="1600"/>
            </a:pPr>
            <a:r>
              <a:t>Conformément aux dispositions en   minimal de défaut doit être au moins égal :    411.</a:t>
            </a:r>
          </a:p>
          <a:p>
            <a:pPr>
              <a:defRPr sz="1600"/>
            </a:pPr>
            <a:r>
              <a:t>3, ce courant  -  -  si la protection est assurée par disjoncteur, au courant assurant le fonctionnement instantané ou court retard du disjoncteur ; si la protection est assurée par fusibles, au courant assurant la fusion du fusible dans un temps au plus égal à celui fixé dans le tableau 41A en fonction de la tension assignée de l’installation.</a:t>
            </a:r>
          </a:p>
          <a:p>
            <a:pPr>
              <a:defRPr sz="1600"/>
            </a:pPr>
            <a:r>
              <a:t>Il suffit donc de vérifier que l’installation est conforme à la note de calculs fournie par le concepteur, par examen :  - -  des sections et longueurs des circuits ; des courants assignés (pour les fusibles) et de réglage (pour les disjoncteurs) des dispositifs de coupure automatique.</a:t>
            </a:r>
          </a:p>
          <a:p>
            <a:pPr>
              <a:defRPr sz="1600"/>
            </a:pPr>
            <a:r>
              <a:t>Les calculs effectués par des programmes informatisés ayant reçu l’avis technique de l’UTE suivant les procédures d’attribution du guide UTE C 15-500 sont réputés assurer la conformité aux règles de la présente norme.</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612.6.2 Mesure de la résistance des prises de terre</a:t>
            </a:r>
          </a:p>
        </p:txBody>
      </p:sp>
      <p:sp>
        <p:nvSpPr>
          <p:cNvPr id="3" name="Content Placeholder 2"/>
          <p:cNvSpPr>
            <a:spLocks noGrp="1"/>
          </p:cNvSpPr>
          <p:nvPr>
            <p:ph idx="1"/>
          </p:nvPr>
        </p:nvSpPr>
        <p:spPr/>
        <p:txBody>
          <a:bodyPr/>
          <a:lstStyle/>
          <a:p>
            <a:pPr>
              <a:defRPr sz="1600"/>
            </a:pPr>
            <a:r>
              <a:t>La mesure de la résistance d'une prise de terre est effectuée à l'aide d'une méthode appropriée.</a:t>
            </a:r>
          </a:p>
          <a:p>
            <a:pPr>
              <a:defRPr sz="1600"/>
            </a:pPr>
            <a:r>
              <a:t>NOTES - 1 - L'annexe C décrit, à titre d'exemple, une méthode de mesure utilisant conditions à remplir.</a:t>
            </a:r>
          </a:p>
          <a:p>
            <a:pPr>
              <a:defRPr sz="1600"/>
            </a:pPr>
            <a:r>
              <a:t>2 - Lorsque, dans le schéma TT, l'emplacement de l'installation (par exemple dans les villes) ne permet pas de disposer en pratique de deux prises de terre auxiliaires, la mesure de la résistance de la boucle de défaut donne une valeur par excès.</a:t>
            </a:r>
          </a:p>
          <a:p>
            <a:pPr>
              <a:defRPr sz="1600"/>
            </a:pPr>
            <a:r>
              <a:t>deux prises de terre auxiliaires et précise les  Il peut être utile de mesurer les prises de terre «barrette ouverte» et «barrette fermée» afin de savoir si la valeur «barrette fermée» est due à la prise de terre spécialement établie ou à des prises de terre de fait.</a:t>
            </a:r>
          </a:p>
          <a:p>
            <a:pPr>
              <a:defRPr sz="1600"/>
            </a:pPr>
            <a:r>
              <a:t>Il n‘est pas toujours nécessaire de déconnecter la borne de terre pour effectuer la mesure de la résistance de la prise de terre.</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612.6.3 Mesure de l'impédance de la boucle de défaut</a:t>
            </a:r>
          </a:p>
        </p:txBody>
      </p:sp>
      <p:sp>
        <p:nvSpPr>
          <p:cNvPr id="3" name="Content Placeholder 2"/>
          <p:cNvSpPr>
            <a:spLocks noGrp="1"/>
          </p:cNvSpPr>
          <p:nvPr>
            <p:ph idx="1"/>
          </p:nvPr>
        </p:nvSpPr>
        <p:spPr/>
        <p:txBody>
          <a:bodyPr/>
          <a:lstStyle/>
          <a:p>
            <a:pPr>
              <a:defRPr sz="1600"/>
            </a:pPr>
            <a:r>
              <a:t>C  La mesure de l'impédance de la boucle de défaut doit être effectuée à la même fréquence que la fréquence nominale de l’alimentation.</a:t>
            </a:r>
          </a:p>
          <a:p>
            <a:pPr>
              <a:defRPr sz="1600"/>
            </a:pPr>
            <a:r>
              <a:t>L'impédance de la boucle de défaut mesurée doit satisfaire schéma TN et 411.</a:t>
            </a:r>
          </a:p>
          <a:p>
            <a:pPr>
              <a:defRPr sz="1600"/>
            </a:pPr>
            <a:r>
              <a:t>6.</a:t>
            </a:r>
          </a:p>
          <a:p>
            <a:pPr>
              <a:defRPr sz="1600"/>
            </a:pPr>
            <a:r>
              <a:t>4 pour le schéma IT.</a:t>
            </a:r>
          </a:p>
          <a:p>
            <a:pPr>
              <a:defRPr sz="1600"/>
            </a:pPr>
            <a:r>
              <a:t>aux conditions de 411.</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612.6.4.1 La vérification consiste à mesurer la résistance entre toute masse et le point le plus</a:t>
            </a:r>
          </a:p>
        </p:txBody>
      </p:sp>
      <p:sp>
        <p:nvSpPr>
          <p:cNvPr id="3" name="Content Placeholder 2"/>
          <p:cNvSpPr>
            <a:spLocks noGrp="1"/>
          </p:cNvSpPr>
          <p:nvPr>
            <p:ph idx="1"/>
          </p:nvPr>
        </p:nvSpPr>
        <p:spPr/>
        <p:txBody>
          <a:bodyPr/>
          <a:lstStyle/>
          <a:p>
            <a:pPr>
              <a:defRPr sz="1600"/>
            </a:pPr>
            <a:r>
              <a:t>proche de I'équipotentialité principale.</a:t>
            </a:r>
          </a:p>
          <a:p>
            <a:pPr>
              <a:defRPr sz="1600"/>
            </a:pPr>
            <a:r>
              <a:t>NOTE - Les conducteurs de protection comprennent les conduits métalliques et autres enveloppes métalliques pour les conducteurs dans les conditions définies en 543.</a:t>
            </a:r>
          </a:p>
          <a:p>
            <a:pPr>
              <a:defRPr sz="1600"/>
            </a:pPr>
            <a:r>
              <a:t>2.</a:t>
            </a:r>
          </a:p>
          <a:p>
            <a:pPr>
              <a:defRPr sz="1600"/>
            </a:pPr>
            <a:r>
              <a:t>Il est recommandé d’effectuer cette mesure sous une tension à vide comprise entre 4 et 24 V en courant continu ou alternatif et avec un courant d’au moins 0,2 A.</a:t>
            </a:r>
          </a:p>
          <a:p>
            <a:pPr>
              <a:defRPr sz="1600"/>
            </a:pPr>
            <a:r>
              <a:t>Dans les circuits protégés par un dispositif de protection contre les surcharges de courant assigné ne dépassant pas 32 A, il est possible de mettre en oeuvre des sources développant une intensité nominale plus faible que 0,2 A.</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612.6.4.2 Lorsque les prescriptions en 612.6.3 ou 612.6.4.1 ne sont pas satisfaites et qu'une</a:t>
            </a:r>
          </a:p>
        </p:txBody>
      </p:sp>
      <p:sp>
        <p:nvSpPr>
          <p:cNvPr id="3" name="Content Placeholder 2"/>
          <p:cNvSpPr>
            <a:spLocks noGrp="1"/>
          </p:cNvSpPr>
          <p:nvPr>
            <p:ph idx="1"/>
          </p:nvPr>
        </p:nvSpPr>
        <p:spPr/>
        <p:txBody>
          <a:bodyPr/>
          <a:lstStyle/>
          <a:p>
            <a:pPr>
              <a:defRPr sz="1600"/>
            </a:pPr>
            <a:r>
              <a:t>être vérifiée liaison supplémentaire est réalisée conformément comme indiqué en 415.</a:t>
            </a:r>
          </a:p>
          <a:p>
            <a:pPr>
              <a:defRPr sz="1600"/>
            </a:pPr>
            <a:r>
              <a:t>2.</a:t>
            </a:r>
          </a:p>
          <a:p>
            <a:pPr>
              <a:defRPr sz="1600"/>
            </a:pPr>
            <a:r>
              <a:t>2.</a:t>
            </a:r>
          </a:p>
          <a:p>
            <a:pPr>
              <a:defRPr sz="1600"/>
            </a:pPr>
            <a:r>
              <a:t>en 415.</a:t>
            </a:r>
          </a:p>
          <a:p>
            <a:pPr>
              <a:defRPr sz="1600"/>
            </a:pPr>
            <a:r>
              <a:t>2, son efficacité doit  C.</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612.7 Essais fonctionnels</a:t>
            </a:r>
          </a:p>
        </p:txBody>
      </p:sp>
      <p:sp>
        <p:nvSpPr>
          <p:cNvPr id="3" name="Content Placeholder 2"/>
          <p:cNvSpPr>
            <a:spLocks noGrp="1"/>
          </p:cNvSpPr>
          <p:nvPr>
            <p:ph idx="1"/>
          </p:nvPr>
        </p:nvSpPr>
        <p:spPr/>
        <p:txBody>
          <a:bodyPr/>
          <a:lstStyle/>
          <a:p>
            <a:pPr>
              <a:defRPr sz="1600"/>
            </a:pPr>
            <a:r>
              <a:t>Les ensembles d'appareillage, les moteurs et leurs auxiliaires, les commandes, les verrouillages, les CPI, doivent être soumis à un essai fonctionnel afin de vérifier qu'ils sont correctement montés, réglés et installés conformément aux prescriptions de la présente norme.</a:t>
            </a:r>
          </a:p>
          <a:p>
            <a:pPr>
              <a:defRPr sz="1600"/>
            </a:pPr>
            <a:r>
              <a:t>Les dispositifs de protection doivent être soumis à des essais fonctionnels, si nécessaire, afin de vérifier qu'ils sont correctement installés et réglés.</a:t>
            </a:r>
          </a:p>
          <a:p>
            <a:pPr>
              <a:defRPr sz="1600"/>
            </a:pPr>
            <a:r>
              <a:t>Partie 6-62 - Vérifications périodiques.</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620.1 Généralités</a:t>
            </a:r>
          </a:p>
        </p:txBody>
      </p:sp>
      <p:sp>
        <p:nvSpPr>
          <p:cNvPr id="3" name="Content Placeholder 2"/>
          <p:cNvSpPr>
            <a:spLocks noGrp="1"/>
          </p:cNvSpPr>
          <p:nvPr>
            <p:ph idx="1"/>
          </p:nvPr>
        </p:nvSpPr>
        <p:spPr/>
        <p:txBody>
          <a:bodyPr/>
          <a:lstStyle/>
          <a:p>
            <a:pPr>
              <a:defRPr sz="1600"/>
            </a:pPr>
            <a:r>
              <a:t>C  Les vérifications périodiques des installations électriques sont effectuées pour déterminer si les installations et des parties d'installations n'ont pas subi de détériorations les rendant impropres à la sécurité d'utilisation et qu'elles sont maintenues conformes aux règles d'installation, sauf spécifications contraires prescrites par des règlements nationaux.</a:t>
            </a:r>
          </a:p>
          <a:p>
            <a:pPr>
              <a:defRPr sz="1600"/>
            </a:pPr>
            <a:r>
              <a:t>De plus, elles comprennent l'examen des effets de tout changement de destination des locaux pour lesquels l'installation était prévue.</a:t>
            </a:r>
          </a:p>
          <a:p>
            <a:pPr>
              <a:defRPr sz="1600"/>
            </a:pPr>
            <a:r>
              <a:t>NOTE – Les règles générales et les indications méthodologiques données pour la vérification initiale sont valables pour les vérifications périodiques.</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620.2 Périodicité des vérifications périodiques</a:t>
            </a:r>
          </a:p>
        </p:txBody>
      </p:sp>
      <p:sp>
        <p:nvSpPr>
          <p:cNvPr id="3" name="Content Placeholder 2"/>
          <p:cNvSpPr>
            <a:spLocks noGrp="1"/>
          </p:cNvSpPr>
          <p:nvPr>
            <p:ph idx="1"/>
          </p:nvPr>
        </p:nvSpPr>
        <p:spPr/>
        <p:txBody>
          <a:bodyPr/>
          <a:lstStyle/>
          <a:p>
            <a:pPr>
              <a:defRPr sz="1600"/>
            </a:pPr>
            <a:r>
              <a:t>Après la vérification initiale, il convient que les vérifications des installations électriques soient effectuées avec une périodicité minimale selon les caractéristiques de l'installation, l'utilisation et l'environnement.</a:t>
            </a:r>
          </a:p>
          <a:p>
            <a:pPr>
              <a:defRPr sz="1600"/>
            </a:pPr>
            <a:r>
              <a:t>La périodicité maximale entre les inspections peut être indiquée dans les règlements nationaux.</a:t>
            </a:r>
          </a:p>
          <a:p>
            <a:pPr>
              <a:defRPr sz="1600"/>
            </a:pPr>
            <a:r>
              <a:t>Les principaux textes prescrivant les périodicités de vérification sont les suivants :  -  -  -  -  arrêté du 10 octobre 2000 pour les établissements recevant des travailleurs ;  arrêté du 25 juin 1980 modifié pour les établissements recevant du public ;  arrêtés relatifs aux installations classées ;  arrêté du règlement général des industries extractives.</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620.3 Domaine des vérifications périodiques</a:t>
            </a:r>
          </a:p>
        </p:txBody>
      </p:sp>
      <p:sp>
        <p:nvSpPr>
          <p:cNvPr id="3" name="Content Placeholder 2"/>
          <p:cNvSpPr>
            <a:spLocks noGrp="1"/>
          </p:cNvSpPr>
          <p:nvPr>
            <p:ph idx="1"/>
          </p:nvPr>
        </p:nvSpPr>
        <p:spPr/>
        <p:txBody>
          <a:bodyPr/>
          <a:lstStyle/>
          <a:p>
            <a:pPr>
              <a:defRPr sz="1600"/>
            </a:pPr>
            <a:r>
              <a:t>Il est recommandé que les vérifications périodiques comprennent au minimum :  -  - - - - -  une inspection visuelle relative à la protection contre les contacts directs et indirects et la protection contre l'incendie et l'explosion ; un essai de résistance d'isolement ; un essai de continuité des conducteurs de protection ; un essai fonctionnel des dispositifs différentiels, voir annexe B ; un contrôle des dispositifs de protection contre les surintensités ; la mesure de la résistance de la prise de terre.</a:t>
            </a:r>
          </a:p>
          <a:p>
            <a:pPr>
              <a:defRPr sz="1600"/>
            </a:pPr>
            <a:r>
              <a:t>Les textes réglementaires appropriés, notamment l'arrêté du 10 octobre 2000, indiquent l'étendue des vérifications périodiques.</a:t>
            </a:r>
          </a:p>
          <a:p>
            <a:pPr>
              <a:defRPr sz="1600"/>
            </a:pPr>
            <a:r>
              <a:t>- 332 -.</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620.4 Rapport</a:t>
            </a:r>
          </a:p>
        </p:txBody>
      </p:sp>
      <p:sp>
        <p:nvSpPr>
          <p:cNvPr id="3" name="Content Placeholder 2"/>
          <p:cNvSpPr>
            <a:spLocks noGrp="1"/>
          </p:cNvSpPr>
          <p:nvPr>
            <p:ph idx="1"/>
          </p:nvPr>
        </p:nvSpPr>
        <p:spPr/>
        <p:txBody>
          <a:bodyPr/>
          <a:lstStyle/>
          <a:p>
            <a:pPr>
              <a:defRPr sz="1600"/>
            </a:pPr>
            <a:r>
              <a:t>A la suite des vérifications périodiques, un rapport doit être établi et doit comporter, en complément à toute observation relative à l'examen visuel et aux essais effectués, les informations relatives aux modifications et extensions non conformes aux prescriptions, en spécifiant les parties concernées de l'installation.</a:t>
            </a:r>
          </a:p>
          <a:p>
            <a:pPr>
              <a:defRPr sz="1600"/>
            </a:pPr>
            <a:r>
              <a:t>C  Partie 6-63 - Entretien des installations  Les installations doivent être maintenues constamment en bon état.</a:t>
            </a:r>
          </a:p>
          <a:p>
            <a:pPr>
              <a:defRPr sz="1600"/>
            </a:pPr>
            <a:r>
              <a:t>Toute défectuosité ou anomalie constatée dans l'état du matériel électrique ou dans son fonctionnement doit être signalée à une personne chargée de la surveillance de l'installation.</a:t>
            </a:r>
          </a:p>
          <a:p>
            <a:pPr>
              <a:defRPr sz="1600"/>
            </a:pPr>
            <a:r>
              <a:t>Il en est ainsi notamment lorsque les dispositifs de protection contre les surintensités ou contre les chocs électriques fonctionnent sans cause connue.</a:t>
            </a:r>
          </a:p>
          <a:p>
            <a:pPr>
              <a:defRPr sz="1600"/>
            </a:pPr>
            <a:r>
              <a:t>Il y a lieu de veiller en particulier :  -  -  -  -  au maintien des dispositions mettant hors de portée les parties actives,  aux connexions et à l'état des conducteurs de protection,  à l'état des câbles souples alimentant les appareils mobiles ainsi qu'à leurs dispositifs de connexion,  au réglage correct des dispositifs de protection.</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A – (informative) – Méthode de mesure de la résistance d'isolement</a:t>
            </a:r>
          </a:p>
        </p:txBody>
      </p:sp>
      <p:sp>
        <p:nvSpPr>
          <p:cNvPr id="3" name="Content Placeholder 2"/>
          <p:cNvSpPr>
            <a:spLocks noGrp="1"/>
          </p:cNvSpPr>
          <p:nvPr>
            <p:ph idx="1"/>
          </p:nvPr>
        </p:nvSpPr>
        <p:spPr/>
        <p:txBody>
          <a:bodyPr/>
          <a:lstStyle/>
          <a:p>
            <a:pPr>
              <a:defRPr sz="1600"/>
            </a:pPr>
            <a:r>
              <a:t>des sols et des parois  C  On utilise pour ces mesures un ohmmètre à magnéto ou un mesureur d'isolement à batterie incorporée donnant une tension à vide d'environ 500 V (ou 1 000 V si la tension assignée de l'installation est supérieure à 500 V) en courant continu.</a:t>
            </a:r>
          </a:p>
          <a:p>
            <a:pPr>
              <a:defRPr sz="1600"/>
            </a:pPr>
            <a:r>
              <a:t>La résistance est mesurée entre l'électrode de mesure et un conducteur de protection de l'installation.</a:t>
            </a:r>
          </a:p>
          <a:p>
            <a:pPr>
              <a:defRPr sz="1600"/>
            </a:pPr>
            <a:r>
              <a:t>L'électrode peut être l'une de celles qui sont décrites ci-après.</a:t>
            </a:r>
          </a:p>
          <a:p>
            <a:pPr>
              <a:defRPr sz="1600"/>
            </a:pPr>
            <a:r>
              <a:t>En cas de contestation, l'utilisation de l'électrode 2 est la méthode de référence.</a:t>
            </a:r>
          </a:p>
          <a:p>
            <a:pPr>
              <a:defRPr sz="1600"/>
            </a:pPr>
            <a:r>
              <a:t>NOTE - Il est recommandé d'effectuer l'essai avant l'application du traitement de surface (vernis, peintures et produits similaires).</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B – (informative) – Vérification du fonctionnement des dispositifs de</a:t>
            </a:r>
          </a:p>
        </p:txBody>
      </p:sp>
      <p:sp>
        <p:nvSpPr>
          <p:cNvPr id="3" name="Content Placeholder 2"/>
          <p:cNvSpPr>
            <a:spLocks noGrp="1"/>
          </p:cNvSpPr>
          <p:nvPr>
            <p:ph idx="1"/>
          </p:nvPr>
        </p:nvSpPr>
        <p:spPr/>
        <p:txBody>
          <a:bodyPr/>
          <a:lstStyle/>
          <a:p>
            <a:pPr>
              <a:defRPr sz="1600"/>
            </a:pPr>
            <a:r>
              <a:t>protection à courant différentiel-résiduel  C  NOTE - Le courant de fuite permanent de l'installation s'additionne vectoriellement au courant d'essai.</a:t>
            </a:r>
          </a:p>
          <a:p>
            <a:pPr>
              <a:defRPr sz="1600"/>
            </a:pPr>
            <a:r>
              <a:t>En cas de doute, la vérification du fonctionnement est effectuée en déconnectant la charge.</a:t>
            </a:r>
          </a:p>
          <a:p>
            <a:pPr>
              <a:defRPr sz="1600"/>
            </a:pPr>
            <a:r>
              <a:t>Les méthodes suivantes sont données à titre d'exemple.</a:t>
            </a:r>
          </a:p>
          <a:p>
            <a:pPr>
              <a:defRPr sz="1600"/>
            </a:pPr>
            <a:r>
              <a:t>Méthode 1  La figure B1 montre le principe d'une méthode dans laquelle une résistance variable est connectée entre un conducteur actif en aval et les masses.</a:t>
            </a:r>
          </a:p>
          <a:p>
            <a:pPr>
              <a:defRPr sz="1600"/>
            </a:pPr>
            <a:r>
              <a:t>Le courant est augmenté en réduisant la valeur de la résistance variable RP.</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C – (informative) – Mesure de la résistance d'une prise de terre</a:t>
            </a:r>
          </a:p>
        </p:txBody>
      </p:sp>
      <p:sp>
        <p:nvSpPr>
          <p:cNvPr id="3" name="Content Placeholder 2"/>
          <p:cNvSpPr>
            <a:spLocks noGrp="1"/>
          </p:cNvSpPr>
          <p:nvPr>
            <p:ph idx="1"/>
          </p:nvPr>
        </p:nvSpPr>
        <p:spPr/>
        <p:txBody>
          <a:bodyPr/>
          <a:lstStyle/>
          <a:p>
            <a:pPr>
              <a:defRPr sz="1600"/>
            </a:pPr>
            <a:r>
              <a:t>A titre d'exemple, la méthode suivante peut être utilisée lorsque la mesure de la résistance de la prise de terre est prescrite (voir figure C1).</a:t>
            </a:r>
          </a:p>
          <a:p>
            <a:pPr>
              <a:defRPr sz="1600"/>
            </a:pPr>
            <a:r>
              <a:t>Un courant alternatif d'intensité constante circule entre la prise de terre T et une prise de terre auxiliaire T1 placée à une distance de T telle que les surfaces d'influence des deux prises de terre ne se chevauchent pas.</a:t>
            </a:r>
          </a:p>
          <a:p>
            <a:pPr>
              <a:defRPr sz="1600"/>
            </a:pPr>
            <a:r>
              <a:t>Une deuxième prise de terre auxiliaire T2, qui peut être un piquet métallique enfoncé dans le sol, est alors disposée à mi-chemin entre T et T1, et la chute de tension entre T et T2 est mesurée.</a:t>
            </a:r>
          </a:p>
          <a:p>
            <a:pPr>
              <a:defRPr sz="1600"/>
            </a:pPr>
            <a:r>
              <a:t>La résistance de la prise de terre est égale à la tension entre T et T2 divisée par le courant circulant entre T et T1, à condition qu'il n'y ait pas d'influence mutuelle entre les prises de terre.</a:t>
            </a:r>
          </a:p>
          <a:p>
            <a:pPr>
              <a:defRPr sz="1600"/>
            </a:pPr>
            <a:r>
              <a:t>Afin de vérifier que la résistance des prises de terre est correcte, deux autres lectures sont effectuées en déplaçant la prise de terre T2 d'environ 6 m plus loin, puis 6 m plus près de la prise T.</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TITRE 7. - Règles pour les installations et emplacements spéciaux</a:t>
            </a:r>
          </a:p>
        </p:txBody>
      </p:sp>
      <p:sp>
        <p:nvSpPr>
          <p:cNvPr id="3" name="Content Placeholder 2"/>
          <p:cNvSpPr>
            <a:spLocks noGrp="1"/>
          </p:cNvSpPr>
          <p:nvPr>
            <p:ph idx="1"/>
          </p:nvPr>
        </p:nvSpPr>
        <p:spPr/>
        <p:txBody>
          <a:bodyPr/>
          <a:lstStyle/>
          <a:p>
            <a:pPr>
              <a:defRPr sz="1600"/>
            </a:pPr>
            <a:r>
              <a:t>Partie 7-701 – Locaux contenant une baignoire ou une douche (Salles d’eau)  Partie 7-702 – Piscines et autres bassins  Partie 7-703 – Locaux contenant des radiateurs pour saunas  Partie 7-704 – Installations de chantier  Partie 7-705 – Installations électriques dans les établissements agricoles  Partie 7-706 – Enceintes conductrices exiguës  Partie 7-708 – Installations électriques des parcs de caravanes  Partie 7-709 – Installations électriques des marinas  Partie 7-711 – Installations électriques temporaires de structures, baraques, stands dans des champs de foire, des marchés, des parcs de loisirs, des cirques et des lieux d'expositions ou de spectacle  Partie 7-717 – Unités mobiles ou transportables  Partie 7-752 – Aires de distribution de carburants liquides  Partie 7-753 – Équipements de chauffage électrique des locaux  Partie 7-771 – Locaux d’habitation  Partie 7-772 – Dispositions spéciales aux installations des parties communes et des services  généraux des immeubles collectif  Partie 7-773 – Protection d’installations non surveillées  Partie 7-781 – Locaux ou emplacements de service électrique   Partie 7-701 – Locaux contenant une baignoire ou une douche  (Salle d’eau).</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701.71 Règles complémentaires pour les salles de douches..........................................349</a:t>
            </a:r>
          </a:p>
        </p:txBody>
      </p:sp>
      <p:sp>
        <p:nvSpPr>
          <p:cNvPr id="3" name="Content Placeholder 2"/>
          <p:cNvSpPr>
            <a:spLocks noGrp="1"/>
          </p:cNvSpPr>
          <p:nvPr>
            <p:ph idx="1"/>
          </p:nvPr>
        </p:nvSpPr>
        <p:spPr/>
        <p:txBody>
          <a:bodyPr/>
          <a:lstStyle/>
          <a:p>
            <a:pPr>
              <a:defRPr sz="1600"/>
            </a:pPr>
            <a:r>
              <a:t>Annexe – (informative) Liaison équipotentielle.</a:t>
            </a:r>
          </a:p>
          <a:p>
            <a:pPr>
              <a:defRPr sz="1600"/>
            </a:pPr>
            <a:r>
              <a:t>351  Les prescriptions de la présente partie complètent, modifient ou remplacent les prescriptions générales des autres parties de la NF C 15-100.</a:t>
            </a:r>
          </a:p>
          <a:p>
            <a:pPr>
              <a:defRPr sz="1600"/>
            </a:pPr>
            <a:r>
              <a:t>Les numéros suivant le numéro particulier de la partie 7-701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- 339 -.</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701.1 Domaine d'application</a:t>
            </a:r>
          </a:p>
        </p:txBody>
      </p:sp>
      <p:sp>
        <p:nvSpPr>
          <p:cNvPr id="3" name="Content Placeholder 2"/>
          <p:cNvSpPr>
            <a:spLocks noGrp="1"/>
          </p:cNvSpPr>
          <p:nvPr>
            <p:ph idx="1"/>
          </p:nvPr>
        </p:nvSpPr>
        <p:spPr/>
        <p:txBody>
          <a:bodyPr/>
          <a:lstStyle/>
          <a:p>
            <a:pPr>
              <a:defRPr sz="1600"/>
            </a:pPr>
            <a:r>
              <a:t>C  Les prescriptions particulières de la présente partie s'appliquent aux locaux contenant des baignoires et/ou douches (avec ou sans receveur), dans lesquels le risque de choc électrique est augmenté en raison de la réduction de la résistance électrique du corps humain mouillé ou immergé et de son contact avec le potentiel de la terre.</a:t>
            </a:r>
          </a:p>
          <a:p>
            <a:pPr>
              <a:defRPr sz="1600"/>
            </a:pPr>
            <a:r>
              <a:t>NOTE - Pour les salles de balnéothérapie : - -  lorsque l'installation est lorsque l'installation est   individuelle, les règles de la présente partie sont applicables ;  collective, les règles de la partie 7-702 sont applicables.</a:t>
            </a:r>
          </a:p>
          <a:p>
            <a:pPr>
              <a:defRPr sz="1600"/>
            </a:pPr>
            <a:r>
              <a:t>Les règles de cette partie sont basées sur les deux principes suivants :  -  -  limitation du matériel électrique situé à proximité de la baignoire ou du bac à douche ;  égalisation des potentiels de tous les éléments conducteurs et masses simultanément accessibles.</a:t>
            </a:r>
          </a:p>
          <a:p>
            <a:pPr>
              <a:defRPr sz="1600"/>
            </a:pPr>
            <a:r>
              <a:t>C.</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701.320.1 Les présentes prescriptions considèrent quatre volumes,</a:t>
            </a:r>
          </a:p>
        </p:txBody>
      </p:sp>
      <p:sp>
        <p:nvSpPr>
          <p:cNvPr id="3" name="Content Placeholder 2"/>
          <p:cNvSpPr>
            <a:spLocks noGrp="1"/>
          </p:cNvSpPr>
          <p:nvPr>
            <p:ph idx="1"/>
          </p:nvPr>
        </p:nvSpPr>
        <p:spPr/>
        <p:txBody>
          <a:bodyPr/>
          <a:lstStyle/>
          <a:p>
            <a:pPr>
              <a:defRPr sz="1600"/>
            </a:pPr>
            <a:r>
              <a:t>-  -  -  -  le volume 0 est le volume intérieur de la baignoire ou du receveur de douche ;  le volume 1 est limité, • d'une part, par la surface cylindrique à génératrice verticale circonscrite à la baignoire ou au receveur de douche ou, pour une douche à pomme fixe sans receveur, par la surface cylindrique à génératrice verticale de rayon 0,60 m et dont l'axe passe par la pomme fixe, • d'autre part, par le plan horizontal situé au-dessus du volume 0 et celui situé à 2,25 m  au-dessus du fond de la baignoire ou du receveur de douche.</a:t>
            </a:r>
          </a:p>
          <a:p>
            <a:pPr>
              <a:defRPr sz="1600"/>
            </a:pPr>
            <a:r>
              <a:t>le volume 2 est limité, • d'une part, par la surface verticale extérieure du volume 1 et une surface parallèle située  à 0,60 m de la première,  • d'autre part, par le sol et le plan horizontal situé à 3,0 m au-dessus du sol.</a:t>
            </a:r>
          </a:p>
          <a:p>
            <a:pPr>
              <a:defRPr sz="1600"/>
            </a:pPr>
            <a:r>
              <a:t>le volume 3 est limité, • d'une part, par la surface verticale extérieure du volume 2 et une surface parallèle située  à 2,40 m de la première,  • d'autre part, par le sol et le plan horizontal situé à 2,25 m au-dessus du sol.</a:t>
            </a:r>
          </a:p>
          <a:p>
            <a:pPr>
              <a:defRPr sz="1600"/>
            </a:pPr>
            <a:r>
              <a:t>Les dimensions sont mesurées en tenant compte des murs et des parois (voir figures 701A, 701B et 701C).</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701.320.2 Dans le cas où il n'y a pas de receveur de douche et où la pomme de douche est</a:t>
            </a:r>
          </a:p>
        </p:txBody>
      </p:sp>
      <p:sp>
        <p:nvSpPr>
          <p:cNvPr id="3" name="Content Placeholder 2"/>
          <p:cNvSpPr>
            <a:spLocks noGrp="1"/>
          </p:cNvSpPr>
          <p:nvPr>
            <p:ph idx="1"/>
          </p:nvPr>
        </p:nvSpPr>
        <p:spPr/>
        <p:txBody>
          <a:bodyPr/>
          <a:lstStyle/>
          <a:p>
            <a:pPr>
              <a:defRPr sz="1600"/>
            </a:pPr>
            <a:r>
              <a:t>située à l'extrémité d'un flexible, l'axe vertical de la surface cylindrique est considéré à l'origine du flexible et le volume 1 est limité par la surface cylindrique située à 1,20 m de ce point, quelle que soit la position du point d'écoulement.</a:t>
            </a:r>
          </a:p>
          <a:p>
            <a:pPr>
              <a:defRPr sz="1600"/>
            </a:pPr>
            <a:r>
              <a:t>C.</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701.320.3 Les cabines de douche individuelles doivent répondre aux prescriptions des</a:t>
            </a:r>
          </a:p>
        </p:txBody>
      </p:sp>
      <p:sp>
        <p:nvSpPr>
          <p:cNvPr id="3" name="Content Placeholder 2"/>
          <p:cNvSpPr>
            <a:spLocks noGrp="1"/>
          </p:cNvSpPr>
          <p:nvPr>
            <p:ph idx="1"/>
          </p:nvPr>
        </p:nvSpPr>
        <p:spPr/>
        <p:txBody>
          <a:bodyPr/>
          <a:lstStyle/>
          <a:p>
            <a:pPr>
              <a:defRPr sz="1600"/>
            </a:pPr>
            <a:r>
              <a:t>paragraphes 701.</a:t>
            </a:r>
          </a:p>
          <a:p>
            <a:pPr>
              <a:defRPr sz="1600"/>
            </a:pPr>
            <a:r>
              <a:t>1 à 701.</a:t>
            </a:r>
          </a:p>
          <a:p>
            <a:pPr>
              <a:defRPr sz="1600"/>
            </a:pPr>
            <a:r>
              <a:t>5.</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701.320.4 Le volume situé au-dessus du volume 1 jusqu'à une hauteur de 3 m au-dessus du sol</a:t>
            </a:r>
          </a:p>
        </p:txBody>
      </p:sp>
      <p:sp>
        <p:nvSpPr>
          <p:cNvPr id="3" name="Content Placeholder 2"/>
          <p:cNvSpPr>
            <a:spLocks noGrp="1"/>
          </p:cNvSpPr>
          <p:nvPr>
            <p:ph idx="1"/>
          </p:nvPr>
        </p:nvSpPr>
        <p:spPr/>
        <p:txBody>
          <a:bodyPr/>
          <a:lstStyle/>
          <a:p>
            <a:pPr>
              <a:defRPr sz="1600"/>
            </a:pPr>
            <a:r>
              <a:t>est un volume 2.</a:t>
            </a:r>
          </a:p>
          <a:p>
            <a:pPr>
              <a:defRPr sz="1600"/>
            </a:pPr>
            <a:r>
              <a:t>Le volume situé au-dessus du volume 2 pour une hauteur supérieure à 3 m au-dessus du sol est hors volumes.</a:t>
            </a:r>
          </a:p>
          <a:p>
            <a:pPr>
              <a:defRPr sz="1600"/>
            </a:pPr>
            <a:r>
              <a:t>Le volume situé au-dessus du volume 3 est hors volumes.</a:t>
            </a:r>
          </a:p>
          <a:p>
            <a:pPr>
              <a:defRPr sz="1600"/>
            </a:pPr>
            <a:r>
              <a:t>Voir figures 701B.</a:t>
            </a:r>
          </a:p>
          <a:p>
            <a:pPr>
              <a:defRPr sz="1600"/>
            </a:pPr>
            <a:r>
              <a:t>- 340 -  2002.</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701.320.5 L'espace situé au-dessous de la baignoire ou de la douche et sur leurs côtés est</a:t>
            </a:r>
          </a:p>
        </p:txBody>
      </p:sp>
      <p:sp>
        <p:nvSpPr>
          <p:cNvPr id="3" name="Content Placeholder 2"/>
          <p:cNvSpPr>
            <a:spLocks noGrp="1"/>
          </p:cNvSpPr>
          <p:nvPr>
            <p:ph idx="1"/>
          </p:nvPr>
        </p:nvSpPr>
        <p:spPr/>
        <p:txBody>
          <a:bodyPr/>
          <a:lstStyle/>
          <a:p>
            <a:pPr>
              <a:defRPr sz="1600"/>
            </a:pPr>
            <a:r>
              <a:t>assimilé au volume 3 s'il est fermé et accessible par une trappe prévue à cet usage et pouvant être ouverte seulement à l'aide d'un outil.</a:t>
            </a:r>
          </a:p>
          <a:p>
            <a:pPr>
              <a:defRPr sz="1600"/>
            </a:pPr>
            <a:r>
              <a:t>Dans le cas contraire, les règles du volume 1 s’appliquent à cet espace.</a:t>
            </a:r>
          </a:p>
          <a:p>
            <a:pPr>
              <a:defRPr sz="1600"/>
            </a:pPr>
            <a:r>
              <a:t>Toutefois, dans les deux cas, le degré de protection minimal IPX3 est requis.</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701.320.6 Lorsqu'un faux-plafond fermé est disposé dans les volumes 1 et 2, l'espace situé au-</a:t>
            </a:r>
          </a:p>
        </p:txBody>
      </p:sp>
      <p:sp>
        <p:nvSpPr>
          <p:cNvPr id="3" name="Content Placeholder 2"/>
          <p:cNvSpPr>
            <a:spLocks noGrp="1"/>
          </p:cNvSpPr>
          <p:nvPr>
            <p:ph idx="1"/>
          </p:nvPr>
        </p:nvSpPr>
        <p:spPr/>
        <p:txBody>
          <a:bodyPr/>
          <a:lstStyle/>
          <a:p>
            <a:pPr>
              <a:defRPr sz="1600"/>
            </a:pPr>
            <a:r>
              <a:t>dessus de ce faux-plafond est assimilé à un volume 3 [voir   figure 701B e)].</a:t>
            </a:r>
          </a:p>
          <a:p>
            <a:pPr>
              <a:defRPr sz="1600"/>
            </a:pPr>
            <a:r>
              <a:t>Si un faux-plafond ajouré est à une hauteur comprise entre 2,25 m et 3 m, les volumes ainsi définis sont indiqués dans la figure 701B c).</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701.4 Protection pour assurer la sécurité</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701.41 Protection contre les chocs électriques</a:t>
            </a:r>
          </a:p>
        </p:txBody>
      </p:sp>
      <p:sp>
        <p:nvSpPr>
          <p:cNvPr id="3" name="Content Placeholder 2"/>
          <p:cNvSpPr>
            <a:spLocks noGrp="1"/>
          </p:cNvSpPr>
          <p:nvPr>
            <p:ph idx="1"/>
          </p:nvPr>
        </p:nvSpPr>
        <p:spPr/>
        <p:txBody>
          <a:bodyPr/>
          <a:lstStyle/>
          <a:p>
            <a:pPr>
              <a:defRPr sz="1600"/>
            </a:pPr>
            <a:r>
              <a:t>NOTE - Pour la protection des socles de prises de courant, voir 701.</a:t>
            </a:r>
          </a:p>
          <a:p>
            <a:pPr>
              <a:defRPr sz="1600"/>
            </a:pPr>
            <a:r>
              <a:t>53.</a:t>
            </a:r>
          </a:p>
        </p:txBody>
      </p:sp>
    </p:spTree>
  </p:cSld>
  <p:clrMapOvr>
    <a:masterClrMapping/>
  </p:clrMapOvr>
</p:sld>
</file>

<file path=ppt/slides/slide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701.414.1 Lorsque la TBTS est utilisée, la protection contre les contacts directs doit être</a:t>
            </a:r>
          </a:p>
        </p:txBody>
      </p:sp>
      <p:sp>
        <p:nvSpPr>
          <p:cNvPr id="3" name="Content Placeholder 2"/>
          <p:cNvSpPr>
            <a:spLocks noGrp="1"/>
          </p:cNvSpPr>
          <p:nvPr>
            <p:ph idx="1"/>
          </p:nvPr>
        </p:nvSpPr>
        <p:spPr/>
        <p:txBody>
          <a:bodyPr/>
          <a:lstStyle/>
          <a:p>
            <a:pPr>
              <a:defRPr sz="1600"/>
            </a:pPr>
            <a:r>
              <a:t>assurée, quelle que soit la tension nominale, au moyen de barrières ou d'enveloppes présentant au moins le degré de protection IP2X.</a:t>
            </a:r>
          </a:p>
        </p:txBody>
      </p:sp>
    </p:spTree>
  </p:cSld>
  <p:clrMapOvr>
    <a:masterClrMapping/>
  </p:clrMapOvr>
</p:sld>
</file>

<file path=ppt/slides/slide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701.414.2 Dans le volume 0, seule la mesure de protection par TBTS de tension nominale au</a:t>
            </a:r>
          </a:p>
        </p:txBody>
      </p:sp>
      <p:sp>
        <p:nvSpPr>
          <p:cNvPr id="3" name="Content Placeholder 2"/>
          <p:cNvSpPr>
            <a:spLocks noGrp="1"/>
          </p:cNvSpPr>
          <p:nvPr>
            <p:ph idx="1"/>
          </p:nvPr>
        </p:nvSpPr>
        <p:spPr/>
        <p:txBody>
          <a:bodyPr/>
          <a:lstStyle/>
          <a:p>
            <a:pPr>
              <a:defRPr sz="1600"/>
            </a:pPr>
            <a:r>
              <a:t>plus égale à 12 V en courant alternatif ou 30 V en courant continu est admise, la source de sécurité étant installée en dehors des volumes 0, 1 et 2.</a:t>
            </a:r>
          </a:p>
        </p:txBody>
      </p:sp>
    </p:spTree>
  </p:cSld>
  <p:clrMapOvr>
    <a:masterClrMapping/>
  </p:clrMapOvr>
</p:sld>
</file>

<file path=ppt/slides/slide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701.414.3 Tous les matériels électriques situés hors volumes 0, 1, 2, 3 dans les locaux</a:t>
            </a:r>
          </a:p>
        </p:txBody>
      </p:sp>
      <p:sp>
        <p:nvSpPr>
          <p:cNvPr id="3" name="Content Placeholder 2"/>
          <p:cNvSpPr>
            <a:spLocks noGrp="1"/>
          </p:cNvSpPr>
          <p:nvPr>
            <p:ph idx="1"/>
          </p:nvPr>
        </p:nvSpPr>
        <p:spPr/>
        <p:txBody>
          <a:bodyPr/>
          <a:lstStyle/>
          <a:p>
            <a:pPr>
              <a:defRPr sz="1600"/>
            </a:pPr>
            <a:r>
              <a:t>contenant une baignoire ou une douche sont protégés par DDR 30mA quelles que soient les dimensions de ce local.</a:t>
            </a:r>
          </a:p>
        </p:txBody>
      </p:sp>
    </p:spTree>
  </p:cSld>
  <p:clrMapOvr>
    <a:masterClrMapping/>
  </p:clrMapOvr>
</p:sld>
</file>

<file path=ppt/slides/slide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701.415.2 Liaison équipotentielle supplémentaire</a:t>
            </a:r>
          </a:p>
        </p:txBody>
      </p:sp>
      <p:sp>
        <p:nvSpPr>
          <p:cNvPr id="3" name="Content Placeholder 2"/>
          <p:cNvSpPr>
            <a:spLocks noGrp="1"/>
          </p:cNvSpPr>
          <p:nvPr>
            <p:ph idx="1"/>
          </p:nvPr>
        </p:nvSpPr>
        <p:spPr/>
        <p:txBody>
          <a:bodyPr/>
          <a:lstStyle/>
          <a:p>
            <a:pPr>
              <a:defRPr sz="1600"/>
            </a:pPr>
            <a:r>
              <a:t>Une liaison équipotentielle supplémentaire doit relier tous les éléments conducteurs et toutes les masses des volumes 1, 2 et 3.</a:t>
            </a:r>
          </a:p>
          <a:p>
            <a:pPr>
              <a:defRPr sz="1600"/>
            </a:pPr>
            <a:r>
              <a:t>Voir annexes A et B de la présente partie.</a:t>
            </a:r>
          </a:p>
          <a:p>
            <a:pPr>
              <a:defRPr sz="1600"/>
            </a:pPr>
            <a:r>
              <a:t>Dans le cas de réhabilitations totales, on considérera une huisserie de porte ou de fenêtre électriquement reliée de fait à la liaison équipotentielle lorsque la continuité, mesurée selon 612.</a:t>
            </a:r>
          </a:p>
          <a:p>
            <a:pPr>
              <a:defRPr sz="1600"/>
            </a:pPr>
            <a:r>
              <a:t>2, entre un élément conducteur liaison équipotentielle supplémentaire et l’huisserie, est au plus égale à 2 Ω.</a:t>
            </a:r>
          </a:p>
          <a:p>
            <a:pPr>
              <a:defRPr sz="1600"/>
            </a:pPr>
            <a:r>
              <a:t>Dans ce cas, il n’y a pas lieu de mettre en œuvre un conducteur reliant l’huisserie à la liaison équipotentielle supplémentaire locale puisqu’elle est considérée comme étant réalisée.</a:t>
            </a:r>
          </a:p>
        </p:txBody>
      </p:sp>
    </p:spTree>
  </p:cSld>
  <p:clrMapOvr>
    <a:masterClrMapping/>
  </p:clrMapOvr>
</p:sld>
</file>

<file path=ppt/slides/slide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701.5 Choix et mise en œuvre des matériels électriques</a:t>
            </a:r>
          </a:p>
        </p:txBody>
      </p:sp>
      <p:sp>
        <p:nvSpPr>
          <p:cNvPr id="3" name="Content Placeholder 2"/>
          <p:cNvSpPr>
            <a:spLocks noGrp="1"/>
          </p:cNvSpPr>
          <p:nvPr>
            <p:ph idx="1"/>
          </p:nvPr>
        </p:nvSpPr>
        <p:spPr/>
        <p:txBody>
          <a:bodyPr/>
          <a:lstStyle/>
          <a:p>
            <a:pPr>
              <a:defRPr sz="1600"/>
            </a:pPr>
            <a:r>
              <a:t>C.</a:t>
            </a:r>
          </a:p>
        </p:txBody>
      </p:sp>
    </p:spTree>
  </p:cSld>
  <p:clrMapOvr>
    <a:masterClrMapping/>
  </p:clrMapOvr>
</p:sld>
</file>

<file path=ppt/slides/slide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701.512.2 Influences externes</a:t>
            </a:r>
          </a:p>
        </p:txBody>
      </p:sp>
      <p:sp>
        <p:nvSpPr>
          <p:cNvPr id="3" name="Content Placeholder 2"/>
          <p:cNvSpPr>
            <a:spLocks noGrp="1"/>
          </p:cNvSpPr>
          <p:nvPr>
            <p:ph idx="1"/>
          </p:nvPr>
        </p:nvSpPr>
        <p:spPr/>
        <p:txBody>
          <a:bodyPr/>
          <a:lstStyle/>
          <a:p>
            <a:pPr>
              <a:defRPr sz="1600"/>
            </a:pPr>
            <a:r>
              <a:t>Les conditions d'influences externes sont les suivantes en fonction des volumes considérés :  Tableau 701A – Influences externes  VOLUMES VOLUMES  Température ambiante Température ambiante  (AA) (AA)  Humidité Humidité  Présence d’eau Présence d’eau  (AB) (AB)  (AD) (AD)  0 0  4 4  4 4  7 7  1 1  4 4  4 4  4 4  2 2  4 4  4 4  3 3  3 3  4 4  4 4  2 2  Les matériels électriques doivent posséder au moins les degrés de protection suivants : • dans le volume 0 : IPX7 ; • dans le volume 1 : IPX4 ou, si ce volume peut être soumis à des jets d'eau pour nettoyage  dans les bains publics : IPX5 ;  • dans le volume 2 : IPX3 ou, si ce volume peut être soumis à des jets d'eau pour nettoyage  dans les bains publics : IPX5 ;  • dans le volume 3 : IPX1 ou, si ce volume peut être soumis à des jets d'eau pour nettoyage  dans les bains publics : IPX5.</a:t>
            </a:r>
          </a:p>
          <a:p>
            <a:pPr>
              <a:defRPr sz="1600"/>
            </a:pPr>
            <a:r>
              <a:t>Le tableau 701B résume les conditions dans lesquelles les matériels électriques peuvent être utilisés dans les différents volumes.</a:t>
            </a:r>
          </a:p>
        </p:txBody>
      </p:sp>
    </p:spTree>
  </p:cSld>
  <p:clrMapOvr>
    <a:masterClrMapping/>
  </p:clrMapOvr>
</p:sld>
</file>

<file path=ppt/slides/slide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701.52 Canalisations</a:t>
            </a:r>
          </a:p>
        </p:txBody>
      </p:sp>
      <p:sp>
        <p:nvSpPr>
          <p:cNvPr id="3" name="Content Placeholder 2"/>
          <p:cNvSpPr>
            <a:spLocks noGrp="1"/>
          </p:cNvSpPr>
          <p:nvPr>
            <p:ph idx="1"/>
          </p:nvPr>
        </p:nvSpPr>
        <p:spPr/>
        <p:txBody>
          <a:bodyPr/>
          <a:lstStyle/>
          <a:p>
            <a:pPr>
              <a:defRPr sz="1600"/>
            </a:pPr>
            <a:r>
              <a:t>C  C.</a:t>
            </a:r>
          </a:p>
        </p:txBody>
      </p:sp>
    </p:spTree>
  </p:cSld>
  <p:clrMapOvr>
    <a:masterClrMapping/>
  </p:clrMapOvr>
</p:sld>
</file>

<file path=ppt/slides/slide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701.520.01 Les canalisations doivent présenter une isolation satisfaisant aux règles de la</a:t>
            </a:r>
          </a:p>
        </p:txBody>
      </p:sp>
      <p:sp>
        <p:nvSpPr>
          <p:cNvPr id="3" name="Content Placeholder 2"/>
          <p:cNvSpPr>
            <a:spLocks noGrp="1"/>
          </p:cNvSpPr>
          <p:nvPr>
            <p:ph idx="1"/>
          </p:nvPr>
        </p:nvSpPr>
        <p:spPr/>
        <p:txBody>
          <a:bodyPr/>
          <a:lstStyle/>
          <a:p>
            <a:pPr>
              <a:defRPr sz="1600"/>
            </a:pPr>
            <a:r>
              <a:t>protection par isolation double ou renforcée et ne comporter aucun revêtement métallique.</a:t>
            </a:r>
          </a:p>
          <a:p>
            <a:pPr>
              <a:defRPr sz="1600"/>
            </a:pPr>
            <a:r>
              <a:t>Ces canalisations sont, par exemple, constituées par des conducteurs isolés dans des conduits ou des systèmes de goulottes isolants ou par des câbles multiconducteurs avec une gaine isolante.</a:t>
            </a:r>
          </a:p>
          <a:p>
            <a:pPr>
              <a:defRPr sz="1600"/>
            </a:pPr>
            <a:r>
              <a:t>la  Lorsque traversée d'une paroi de salle d'eau nécessite une protection mécanique supplémentaire, il peut être fait usage de tronçons de conduits métalliques rigides (MRL), mais il n'est pas nécessaire de les relier à la liaison équipotentielle de la salle d'eau du fait de leur courte longueur.</a:t>
            </a:r>
          </a:p>
        </p:txBody>
      </p:sp>
    </p:spTree>
  </p:cSld>
  <p:clrMapOvr>
    <a:masterClrMapping/>
  </p:clrMapOvr>
</p:sld>
</file>

<file path=ppt/slides/slide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701.520.02 Dans le volume 0, aucune canalisation n'est admise, sauf TBTS limitée à 12 V en</a:t>
            </a:r>
          </a:p>
        </p:txBody>
      </p:sp>
      <p:sp>
        <p:nvSpPr>
          <p:cNvPr id="3" name="Content Placeholder 2"/>
          <p:cNvSpPr>
            <a:spLocks noGrp="1"/>
          </p:cNvSpPr>
          <p:nvPr>
            <p:ph idx="1"/>
          </p:nvPr>
        </p:nvSpPr>
        <p:spPr/>
        <p:txBody>
          <a:bodyPr/>
          <a:lstStyle/>
          <a:p>
            <a:pPr>
              <a:defRPr sz="1600"/>
            </a:pPr>
            <a:r>
              <a:t>courant alternatif ou 30 V en courant continu.</a:t>
            </a:r>
          </a:p>
          <a:p>
            <a:pPr>
              <a:defRPr sz="1600"/>
            </a:pPr>
            <a:r>
              <a:t>Dans les volumes 1 et 2, les canalisations doivent être limitées à celles nécessaires à l'alimentation des appareils situés dans ces volumes.</a:t>
            </a:r>
          </a:p>
        </p:txBody>
      </p:sp>
    </p:spTree>
  </p:cSld>
  <p:clrMapOvr>
    <a:masterClrMapping/>
  </p:clrMapOvr>
</p:sld>
</file>

<file path=ppt/slides/slide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701.520.03 Les boîtes de connexion ne sont pas admises dans les volumes 0, 1 et 2.</a:t>
            </a:r>
          </a:p>
        </p:txBody>
      </p:sp>
      <p:sp>
        <p:nvSpPr>
          <p:cNvPr id="3" name="Content Placeholder 2"/>
          <p:cNvSpPr>
            <a:spLocks noGrp="1"/>
          </p:cNvSpPr>
          <p:nvPr>
            <p:ph idx="1"/>
          </p:nvPr>
        </p:nvSpPr>
        <p:spPr/>
        <p:txBody>
          <a:bodyPr/>
          <a:lstStyle/>
          <a:p>
            <a:pPr>
              <a:defRPr sz="1600"/>
            </a:pPr>
            <a:r>
              <a:t>Par dérogation, dans le volume 2, les boîtes de connexion permettant le raccordement des appareils d’utilisation, sont admises à condition d’être disposées derrière ces appareils.</a:t>
            </a:r>
          </a:p>
        </p:txBody>
      </p:sp>
    </p:spTree>
  </p:cSld>
  <p:clrMapOvr>
    <a:masterClrMapping/>
  </p:clrMapOvr>
</p:sld>
</file>

<file path=ppt/slides/slide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701.53 Appareillage</a:t>
            </a:r>
          </a:p>
        </p:txBody>
      </p:sp>
      <p:sp>
        <p:nvSpPr>
          <p:cNvPr id="3" name="Content Placeholder 2"/>
          <p:cNvSpPr>
            <a:spLocks noGrp="1"/>
          </p:cNvSpPr>
          <p:nvPr>
            <p:ph idx="1"/>
          </p:nvPr>
        </p:nvSpPr>
        <p:spPr/>
        <p:txBody>
          <a:bodyPr/>
          <a:lstStyle/>
          <a:p>
            <a:pPr>
              <a:defRPr sz="1600"/>
            </a:pPr>
            <a:r>
              <a:t>Dans le volume 0, aucun appareillage ne doit être installé.</a:t>
            </a:r>
          </a:p>
          <a:p>
            <a:pPr>
              <a:defRPr sz="1600"/>
            </a:pPr>
            <a:r>
              <a:t>Dans les volumes 1 et 2, aucun appareillage ne doit être installé, à l'exception d'interrupteurs de circuits à TBTS alimentés sous une tension au plus égale à 12 V en courant alternatif ou 30 V en courant continu, la source de sécurité étant installée en dehors des volumes 0, 1 et 2.</a:t>
            </a:r>
          </a:p>
          <a:p>
            <a:pPr>
              <a:defRPr sz="1600"/>
            </a:pPr>
            <a:r>
              <a:t>NOTE - Des cordons isolants commandant des interrupteurs sont admis dans les volumes 1 et 2 à condition qu'ils  satisfassent aux prescriptions de la norme en vigueur ——————— (1) NF EN 60669-1 (C 61-110)  (1).</a:t>
            </a:r>
          </a:p>
          <a:p>
            <a:pPr>
              <a:defRPr sz="1600"/>
            </a:pPr>
            <a:r>
              <a:t>- 342 -   C  Par dérogation, dans le volume 2, il est admis un socle de prise de courant alimenté par un transformateur de séparation pour rasoir de puissance assignée comprise entre 20 VA et 50 VA conforme à la norme  (2).</a:t>
            </a:r>
          </a:p>
          <a:p>
            <a:pPr>
              <a:defRPr sz="1600"/>
            </a:pPr>
            <a:r>
              <a:t>Ce socle de prise de courant peut présenter un degré de protection IP20.</a:t>
            </a:r>
          </a:p>
        </p:txBody>
      </p:sp>
    </p:spTree>
  </p:cSld>
  <p:clrMapOvr>
    <a:masterClrMapping/>
  </p:clrMapOvr>
</p:sld>
</file>

<file path=ppt/slides/slide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701.55 Autres matériels</a:t>
            </a:r>
          </a:p>
        </p:txBody>
      </p:sp>
      <p:sp>
        <p:nvSpPr>
          <p:cNvPr id="3" name="Content Placeholder 2"/>
          <p:cNvSpPr>
            <a:spLocks noGrp="1"/>
          </p:cNvSpPr>
          <p:nvPr>
            <p:ph idx="1"/>
          </p:nvPr>
        </p:nvSpPr>
        <p:spPr/>
        <p:txBody>
          <a:bodyPr/>
          <a:lstStyle/>
          <a:p>
            <a:pPr>
              <a:defRPr sz="1600"/>
            </a:pPr>
            <a:r>
              <a:t>Dans les volumes 0 et 1, seuls sont autorisés des appareils prévus pour utilisation dans une baignoire alimentés en TBTS limitée à 12 V en courant alternatif et 30 V en courant continu, la source étant en dehors des volumes 0, 1 et 2.</a:t>
            </a:r>
          </a:p>
          <a:p>
            <a:pPr>
              <a:defRPr sz="1600"/>
            </a:pPr>
            <a:r>
              <a:t>Les maîtres d’oeuvre doivent prendre des dispositions pour que les appareils d'utilisation de la classe 1 semi-fixes (tels qu'appareils de séchage du linge, machines à laver le linge) ne se trouvent en aucun cas à l'intérieur des volumes 0, 1 et 2.</a:t>
            </a:r>
          </a:p>
          <a:p>
            <a:pPr>
              <a:defRPr sz="1600"/>
            </a:pPr>
            <a:r>
              <a:t>Si les dimensions de la salle d'eau ne permettent pas de les placer en dehors du volume 2 et s'il n'est pas possible de les placer dans un autre local, ces appareils peuvent néanmoins être installés si la partie du volume 2 les recevant est transformée en volume 3, par exemple par interposition d'une séparation fixe et durable en matériau non métallique (paroi, cloison, écran etc.</a:t>
            </a:r>
          </a:p>
          <a:p>
            <a:pPr>
              <a:defRPr sz="1600"/>
            </a:pPr>
            <a:r>
              <a:t>) de hauteur égale à celle du volume 1.</a:t>
            </a:r>
          </a:p>
          <a:p>
            <a:pPr>
              <a:defRPr sz="1600"/>
            </a:pPr>
            <a:r>
              <a:t>(Voir figure 701B).</a:t>
            </a:r>
          </a:p>
        </p:txBody>
      </p:sp>
    </p:spTree>
  </p:cSld>
  <p:clrMapOvr>
    <a:masterClrMapping/>
  </p:clrMapOvr>
</p:sld>
</file>

<file path=ppt/slides/slide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701.415.2 soient satisfaites et que le volume situé au-dessous de la baignoire soit accessible</a:t>
            </a:r>
          </a:p>
        </p:txBody>
      </p:sp>
      <p:sp>
        <p:nvSpPr>
          <p:cNvPr id="3" name="Content Placeholder 2"/>
          <p:cNvSpPr>
            <a:spLocks noGrp="1"/>
          </p:cNvSpPr>
          <p:nvPr>
            <p:ph idx="1"/>
          </p:nvPr>
        </p:nvSpPr>
        <p:spPr/>
        <p:txBody>
          <a:bodyPr/>
          <a:lstStyle/>
          <a:p>
            <a:pPr>
              <a:defRPr sz="1600"/>
            </a:pPr>
            <a:r>
              <a:t>seulement à l'aide d'un outil.</a:t>
            </a:r>
          </a:p>
          <a:p>
            <a:pPr>
              <a:defRPr sz="1600"/>
            </a:pPr>
            <a:r>
              <a:t>Des éléments électriques chauffants noyés dans le sol, destinés au chauffage du local, peuvent être installés en dessous des volumes 2, 3 et hors volumes sous réserve qu'ils soient recouverts d'un grillage métallique mis à la terre ou comportent un revêtement métallique mis à la terre, relié à la liaison équipotentielle définie en 701.</a:t>
            </a:r>
          </a:p>
          <a:p>
            <a:pPr>
              <a:defRPr sz="1600"/>
            </a:pPr>
            <a:r>
              <a:t>415.</a:t>
            </a:r>
          </a:p>
          <a:p>
            <a:pPr>
              <a:defRPr sz="1600"/>
            </a:pPr>
            <a:r>
              <a:t>2.</a:t>
            </a:r>
          </a:p>
          <a:p>
            <a:pPr>
              <a:defRPr sz="1600"/>
            </a:pPr>
            <a:r>
              <a:t>Tableau 701B – Matériels admis selon les volumes  - 344 -   Du fait que les normes relatives aux appareils électrodomestiques ne tiennent pas compte du marquage et des essais suivant le système IP, le marquage des gouttes d'eau et les essais correspondants sont admis avec les équivalences suivantes :  Tableau 701C – Marquage des gouttes d’eau  Degré de protection  NF EN 60598-1 (C 71-000) LUMINAIRES  NF EN 60335-1 (C 73-800) APPAREILS ELECTRODOMESTIQUES    Protégé contre les chutes d’eau verticales  Protégé contre la pluie  Protégé contre les projections d'eau  IPX1  IPX3  IPX4  Protégé contre les jets d'eau  IPX5  Etanche à l'immersion  IPX7      NOTE - Un double marquage (c'est-à-dire les gouttes d'eau et le code IP) n'est pas admis du fait que les essais sont différents.</a:t>
            </a:r>
          </a:p>
        </p:txBody>
      </p:sp>
    </p:spTree>
  </p:cSld>
  <p:clrMapOvr>
    <a:masterClrMapping/>
  </p:clrMapOvr>
</p:sld>
</file>

<file path=ppt/slides/slide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701.71 Règles complémentaires pour les salles de douches</a:t>
            </a:r>
          </a:p>
        </p:txBody>
      </p:sp>
      <p:sp>
        <p:nvSpPr>
          <p:cNvPr id="3" name="Content Placeholder 2"/>
          <p:cNvSpPr>
            <a:spLocks noGrp="1"/>
          </p:cNvSpPr>
          <p:nvPr>
            <p:ph idx="1"/>
          </p:nvPr>
        </p:nvSpPr>
        <p:spPr/>
        <p:txBody>
          <a:bodyPr/>
          <a:lstStyle/>
          <a:p>
            <a:pPr>
              <a:defRPr sz="1600"/>
            </a:pPr>
            <a:r>
              <a:t>Une salle de douches est un local comportant plusieurs postes de douche, séparés ou non par des cloisons : On distingue :  -  -  -  les salles de douches comportant des cabines de douche avec déshabilloir individuel ;  les salles de douches comportant des cabines de douche sans déshabilloir individuel ;  les salles de douches dans lesquelles les postes de douche ne sont pas séparés par des cloisons.</a:t>
            </a:r>
          </a:p>
          <a:p>
            <a:pPr>
              <a:defRPr sz="1600"/>
            </a:pPr>
            <a:r>
              <a:t>Une cabine de douche comporte un seul poste de douche.</a:t>
            </a:r>
          </a:p>
          <a:p>
            <a:pPr>
              <a:defRPr sz="1600"/>
            </a:pPr>
            <a:r>
              <a:t>C  Les règles de la présente partie sont applicables aux salles de douches compte tenu des règles complémentaires suivantes :.</a:t>
            </a:r>
          </a:p>
        </p:txBody>
      </p:sp>
    </p:spTree>
  </p:cSld>
  <p:clrMapOvr>
    <a:masterClrMapping/>
  </p:clrMapOvr>
</p:sld>
</file>

<file path=ppt/slides/slide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701.71.1 Cabines de douches individuelles</a:t>
            </a:r>
          </a:p>
        </p:txBody>
      </p:sp>
      <p:sp>
        <p:nvSpPr>
          <p:cNvPr id="3" name="Content Placeholder 2"/>
          <p:cNvSpPr>
            <a:spLocks noGrp="1"/>
          </p:cNvSpPr>
          <p:nvPr>
            <p:ph idx="1"/>
          </p:nvPr>
        </p:nvSpPr>
        <p:spPr/>
        <p:txBody>
          <a:bodyPr/>
          <a:lstStyle/>
          <a:p>
            <a:pPr>
              <a:defRPr sz="1600"/>
            </a:pPr>
            <a:r>
              <a:t>Une cabine de douche individuelle, située dans une salle de douches, est un local fermé comportant deux parties :  - -  la douche proprement dite qui constitue le volume 1 ; un déshabilloir qui constitue le volume 2.</a:t>
            </a:r>
          </a:p>
          <a:p>
            <a:pPr>
              <a:defRPr sz="1600"/>
            </a:pPr>
            <a:r>
              <a:t>Ces deux parties sont séparées par une cloison qui peut être fixe ou mobile ; la cloison doit avoir une hauteur au moins égale à celle de la pomme de douche.</a:t>
            </a:r>
          </a:p>
        </p:txBody>
      </p:sp>
    </p:spTree>
  </p:cSld>
  <p:clrMapOvr>
    <a:masterClrMapping/>
  </p:clrMapOvr>
</p:sld>
</file>

<file path=ppt/slides/slide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701.71.2 Douches collectives</a:t>
            </a:r>
          </a:p>
        </p:txBody>
      </p:sp>
      <p:sp>
        <p:nvSpPr>
          <p:cNvPr id="3" name="Content Placeholder 2"/>
          <p:cNvSpPr>
            <a:spLocks noGrp="1"/>
          </p:cNvSpPr>
          <p:nvPr>
            <p:ph idx="1"/>
          </p:nvPr>
        </p:nvSpPr>
        <p:spPr/>
        <p:txBody>
          <a:bodyPr/>
          <a:lstStyle/>
          <a:p>
            <a:pPr>
              <a:defRPr sz="1600"/>
            </a:pPr>
            <a:r>
              <a:t>C  Lorsque les salles de douches comportent des cabines sans déshabilloir individuel (voir figure 701D) : - -  le volume 1 est constitué par les cabines de douche ; le volume 2 est constitué par la partie de la salle de douches extérieure aux cabines de douche.</a:t>
            </a:r>
          </a:p>
          <a:p>
            <a:pPr>
              <a:defRPr sz="1600"/>
            </a:pPr>
            <a:r>
              <a:t>Les cloisons des cabines de douches doivent avoir une hauteur au moins égale à celle des pommes de douche avec un minimum de 2 mètres.</a:t>
            </a:r>
          </a:p>
          <a:p>
            <a:pPr>
              <a:defRPr sz="1600"/>
            </a:pPr>
            <a:r>
              <a:t>Lorsque les salles de douches ne comportent pas de cabines de douche (voir figure 701E) : -  le volume 1 est défini, dans le plan horizontal, par la surface destinée à assurer l'écoulement des eaux, éventuellement limitée par une cloison ; le volume 2 est constitué par la partie de la salle de douches extérieure au volume 1.</a:t>
            </a:r>
          </a:p>
          <a:p>
            <a:pPr>
              <a:defRPr sz="1600"/>
            </a:pPr>
            <a:r>
              <a:t>-  Pour le volume 1, à partir d'un plan de référence constitué par, le sol ou le fond du bac à douche s'il est au-dessus du sol, les appareils d'éclairage en basse tension doivent être situés à une hauteur supérieure à celle de la pomme de douche avec un minimum de 2,25 m.</a:t>
            </a:r>
          </a:p>
          <a:p>
            <a:pPr>
              <a:defRPr sz="1600"/>
            </a:pPr>
            <a:r>
              <a:t>Pour les autres volumes, les règles du tableau 701B sont applicables.</a:t>
            </a:r>
          </a:p>
        </p:txBody>
      </p:sp>
    </p:spTree>
  </p:cSld>
  <p:clrMapOvr>
    <a:masterClrMapping/>
  </p:clrMapOvr>
</p:sld>
</file>

<file path=ppt/slides/slide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702.55 Autres matériels............................................................................................................ 359</a:t>
            </a:r>
          </a:p>
        </p:txBody>
      </p:sp>
      <p:sp>
        <p:nvSpPr>
          <p:cNvPr id="3" name="Content Placeholder 2"/>
          <p:cNvSpPr>
            <a:spLocks noGrp="1"/>
          </p:cNvSpPr>
          <p:nvPr>
            <p:ph idx="1"/>
          </p:nvPr>
        </p:nvSpPr>
        <p:spPr/>
        <p:txBody>
          <a:bodyPr/>
          <a:lstStyle/>
          <a:p>
            <a:pPr>
              <a:defRPr sz="1600"/>
            </a:pPr>
            <a:r>
              <a:t>Les prescriptions de la présente partie complètent, modifient ou remplacent les prescriptions générales des autres parties de la NF C 15-100.</a:t>
            </a:r>
          </a:p>
          <a:p>
            <a:pPr>
              <a:defRPr sz="1600"/>
            </a:pPr>
            <a:r>
              <a:t>Les numéros suivant le numéro particulier de la partie 7-702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- 355 -   H.</a:t>
            </a:r>
          </a:p>
        </p:txBody>
      </p:sp>
    </p:spTree>
  </p:cSld>
  <p:clrMapOvr>
    <a:masterClrMapping/>
  </p:clrMapOvr>
</p:sld>
</file>

<file path=ppt/slides/slide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702.11 Domaine d'application</a:t>
            </a:r>
          </a:p>
        </p:txBody>
      </p:sp>
      <p:sp>
        <p:nvSpPr>
          <p:cNvPr id="3" name="Content Placeholder 2"/>
          <p:cNvSpPr>
            <a:spLocks noGrp="1"/>
          </p:cNvSpPr>
          <p:nvPr>
            <p:ph idx="1"/>
          </p:nvPr>
        </p:nvSpPr>
        <p:spPr/>
        <p:txBody>
          <a:bodyPr/>
          <a:lstStyle/>
          <a:p>
            <a:pPr>
              <a:defRPr sz="1600"/>
            </a:pPr>
            <a:r>
              <a:t>Les prescriptions particulières de la présente partie s'appliquent aux bassins des piscines et aux bassins des fontaines.</a:t>
            </a:r>
          </a:p>
          <a:p>
            <a:pPr>
              <a:defRPr sz="1600"/>
            </a:pPr>
            <a:r>
              <a:t>Elles sont aussi applicables aux volumes les entourant.</a:t>
            </a:r>
          </a:p>
          <a:p>
            <a:pPr>
              <a:defRPr sz="1600"/>
            </a:pPr>
            <a:r>
              <a:t>Dans ces volumes, en usage normal, le risque de choc électrique est augmenté en raison de la réduction de la résistance du corps humain et de son contact avec le potentiel de terre.</a:t>
            </a:r>
          </a:p>
          <a:p>
            <a:pPr>
              <a:defRPr sz="1600"/>
            </a:pPr>
            <a:r>
              <a:t>Pour les pédiluves, les prescriptions relatives aux piscines doivent être appliquées.</a:t>
            </a:r>
          </a:p>
          <a:p>
            <a:pPr>
              <a:defRPr sz="1600"/>
            </a:pPr>
            <a:r>
              <a:t>NOTE - Pour les salles de balnéothérapie : - -  lorsque l'installation est  individuelle, les règles de la partie 7-701 sont applicables ; lorsque l'installation est collective, les règles de la présente partie sont applicables.</a:t>
            </a:r>
          </a:p>
        </p:txBody>
      </p:sp>
    </p:spTree>
  </p:cSld>
  <p:clrMapOvr>
    <a:masterClrMapping/>
  </p:clrMapOvr>
</p:sld>
</file>

<file path=ppt/slides/slide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702.2 Définitions</a:t>
            </a:r>
          </a:p>
        </p:txBody>
      </p:sp>
      <p:sp>
        <p:nvSpPr>
          <p:cNvPr id="3" name="Content Placeholder 2"/>
          <p:cNvSpPr>
            <a:spLocks noGrp="1"/>
          </p:cNvSpPr>
          <p:nvPr>
            <p:ph idx="1"/>
          </p:nvPr>
        </p:nvSpPr>
        <p:spPr/>
        <p:txBody>
          <a:bodyPr/>
          <a:lstStyle/>
          <a:p>
            <a:pPr>
              <a:defRPr sz="1600"/>
            </a:pPr>
            <a:r>
              <a:t>Pour les besoins de la présente partie, la définition suivante s'applique.</a:t>
            </a:r>
          </a:p>
        </p:txBody>
      </p:sp>
    </p:spTree>
  </p:cSld>
  <p:clrMapOvr>
    <a:masterClrMapping/>
  </p:clrMapOvr>
</p:sld>
</file>

<file path=ppt/slides/slide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702.2.21 Bassins des fontaines</a:t>
            </a:r>
          </a:p>
        </p:txBody>
      </p:sp>
      <p:sp>
        <p:nvSpPr>
          <p:cNvPr id="3" name="Content Placeholder 2"/>
          <p:cNvSpPr>
            <a:spLocks noGrp="1"/>
          </p:cNvSpPr>
          <p:nvPr>
            <p:ph idx="1"/>
          </p:nvPr>
        </p:nvSpPr>
        <p:spPr/>
        <p:txBody>
          <a:bodyPr/>
          <a:lstStyle/>
          <a:p>
            <a:pPr>
              <a:defRPr sz="1600"/>
            </a:pPr>
            <a:r>
              <a:t>Bassins non destinés à être occupés par des personnes.</a:t>
            </a:r>
          </a:p>
        </p:txBody>
      </p:sp>
    </p:spTree>
  </p:cSld>
  <p:clrMapOvr>
    <a:masterClrMapping/>
  </p:clrMapOvr>
</p:sld>
</file>

<file path=ppt/slides/slide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702.32 Classification des volumes</a:t>
            </a:r>
          </a:p>
        </p:txBody>
      </p:sp>
      <p:sp>
        <p:nvSpPr>
          <p:cNvPr id="3" name="Content Placeholder 2"/>
          <p:cNvSpPr>
            <a:spLocks noGrp="1"/>
          </p:cNvSpPr>
          <p:nvPr>
            <p:ph idx="1"/>
          </p:nvPr>
        </p:nvSpPr>
        <p:spPr/>
        <p:txBody>
          <a:bodyPr/>
          <a:lstStyle/>
          <a:p>
            <a:pPr>
              <a:defRPr sz="1600"/>
            </a:pPr>
            <a:r>
              <a:t>Les présentes prescriptions se fondent sur les dimensions des trois volumes (des exemples sont donnés aux figures 702A, 702B, 702C, 702D et 702E).</a:t>
            </a:r>
          </a:p>
          <a:p>
            <a:pPr>
              <a:defRPr sz="1600"/>
            </a:pPr>
            <a:r>
              <a:t>a) Volume 0  Ce volume comprend l'intérieur du bassin, ses ouvertures dans les parois ou le fond, les pédiluves, la partie interne de cascades ou de fontaines.</a:t>
            </a:r>
          </a:p>
          <a:p>
            <a:pPr>
              <a:defRPr sz="1600"/>
            </a:pPr>
            <a:r>
              <a:t>b) Volume 1  Ce volume est limité par :  le volume 0 ; le plan vertical situé à 2 m des bords du bassin ; le sol ou la surface où peuvent se tenir des personnes ;  - - - - un plan horizontal situé à 2,5 m au-dessus du sol ou de la surface.</a:t>
            </a:r>
          </a:p>
          <a:p>
            <a:pPr>
              <a:defRPr sz="1600"/>
            </a:pPr>
            <a:r>
              <a:t>Lorsque la piscine comporte des plongeoirs, des tremplins, des plots de départ, un toboggan ou des éléments structuraux destinés à être occupés ou accessibles par des personnes, le volume 1 est limité par : -  un plan vertical situé à 1,5 m autour des plongeoirs, tremplins, plots de départ, toboggans et éléments structuraux tels que sculptures accessibles et bassins ;  -  le plan horizontal situé à 2,5 m au-dessus du niveau le plus élevé destiné à être occupé par des personnes.</a:t>
            </a:r>
          </a:p>
          <a:p>
            <a:pPr>
              <a:defRPr sz="1600"/>
            </a:pPr>
            <a:r>
              <a:t>- 356 -   H  c) Volume 2  Ce volume est limité par  -  -  le plan vertical extérieur du volume 1 et le plan parallèle situé à 1,5 m de ce dernier;  le sol ou la surface destinés à être occupés par des personnes et un plan horizontal situé à 2,5 m au-dessus du sol ou de la surface.</a:t>
            </a:r>
          </a:p>
        </p:txBody>
      </p:sp>
    </p:spTree>
  </p:cSld>
  <p:clrMapOvr>
    <a:masterClrMapping/>
  </p:clrMapOvr>
</p:sld>
</file>

<file path=ppt/slides/slide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702.411.3.1 Volumes 0 et 1 des piscines</a:t>
            </a:r>
          </a:p>
        </p:txBody>
      </p:sp>
      <p:sp>
        <p:nvSpPr>
          <p:cNvPr id="3" name="Content Placeholder 2"/>
          <p:cNvSpPr>
            <a:spLocks noGrp="1"/>
          </p:cNvSpPr>
          <p:nvPr>
            <p:ph idx="1"/>
          </p:nvPr>
        </p:nvSpPr>
        <p:spPr/>
        <p:txBody>
          <a:bodyPr/>
          <a:lstStyle/>
          <a:p>
            <a:pPr>
              <a:defRPr sz="1600"/>
            </a:pPr>
            <a:r>
              <a:t>Dans les volumes 0 et 1 des piscines, seule la mesure de protection par TBTS sous une tension nominale non supérieure à 12 V en courant alternatif ou 30 V en courant continu est admise, la source de sécurité étant installée en dehors des volumes 0, 1 et 2 (voir aussi.</a:t>
            </a:r>
          </a:p>
        </p:txBody>
      </p:sp>
    </p:spTree>
  </p:cSld>
  <p:clrMapOvr>
    <a:masterClrMapping/>
  </p:clrMapOvr>
</p:sld>
</file>

<file path=ppt/slides/slide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702.411.3.2 Volumes 0 et 1 des fontaines</a:t>
            </a:r>
          </a:p>
        </p:txBody>
      </p:sp>
      <p:sp>
        <p:nvSpPr>
          <p:cNvPr id="3" name="Content Placeholder 2"/>
          <p:cNvSpPr>
            <a:spLocks noGrp="1"/>
          </p:cNvSpPr>
          <p:nvPr>
            <p:ph idx="1"/>
          </p:nvPr>
        </p:nvSpPr>
        <p:spPr/>
        <p:txBody>
          <a:bodyPr/>
          <a:lstStyle/>
          <a:p>
            <a:pPr>
              <a:defRPr sz="1600"/>
            </a:pPr>
            <a:r>
              <a:t>Dans les volumes 0 et 1 des fontaines, l’une des mesures de protection suivantes doit être utilisée :  - TBTS (voir 414), la source de sécurité étant installée en dehors des volumes 0 et 1 ; -  coupure automatique de l'alimentation (voir 415.</a:t>
            </a:r>
          </a:p>
          <a:p>
            <a:pPr>
              <a:defRPr sz="1600"/>
            </a:pPr>
            <a:r>
              <a:t>1) par dispositif différentiel de courant différentiel-résiduel assigné non supérieur à 30 mA ; séparation électrique (voir 413.</a:t>
            </a:r>
          </a:p>
          <a:p>
            <a:pPr>
              <a:defRPr sz="1600"/>
            </a:pPr>
            <a:r>
              <a:t>3), la source de séparation alimentant un seul appareil étant située en dehors des volumes 0 et 1.</a:t>
            </a:r>
          </a:p>
          <a:p>
            <a:pPr>
              <a:defRPr sz="1600"/>
            </a:pPr>
            <a:r>
              <a:t>-.</a:t>
            </a:r>
          </a:p>
        </p:txBody>
      </p:sp>
    </p:spTree>
  </p:cSld>
  <p:clrMapOvr>
    <a:masterClrMapping/>
  </p:clrMapOvr>
</p:sld>
</file>

<file path=ppt/slides/slide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702.411.3.3 Volume 2 des piscines</a:t>
            </a:r>
          </a:p>
        </p:txBody>
      </p:sp>
      <p:sp>
        <p:nvSpPr>
          <p:cNvPr id="3" name="Content Placeholder 2"/>
          <p:cNvSpPr>
            <a:spLocks noGrp="1"/>
          </p:cNvSpPr>
          <p:nvPr>
            <p:ph idx="1"/>
          </p:nvPr>
        </p:nvSpPr>
        <p:spPr/>
        <p:txBody>
          <a:bodyPr/>
          <a:lstStyle/>
          <a:p>
            <a:pPr>
              <a:defRPr sz="1600"/>
            </a:pPr>
            <a:r>
              <a:t>NOTE - Il n'existe pas de volume 2 pour les fontaines.</a:t>
            </a:r>
          </a:p>
          <a:p>
            <a:pPr>
              <a:defRPr sz="1600"/>
            </a:pPr>
            <a:r>
              <a:t>L’une ou plusieurs des mesures de protection suivantes doit être utilisée :  - TBTS (voir 414), la source de sécurité étant installée en dehors des volumes 0, 1 et 2 ; -  coupure automatique de l'alimentation (voir 415.</a:t>
            </a:r>
          </a:p>
          <a:p>
            <a:pPr>
              <a:defRPr sz="1600"/>
            </a:pPr>
            <a:r>
              <a:t>1) par dispositif différentiel de courant différentiel-résiduel assigné non supérieur à 30 mA ; séparation électrique (voir 413.</a:t>
            </a:r>
          </a:p>
          <a:p>
            <a:pPr>
              <a:defRPr sz="1600"/>
            </a:pPr>
            <a:r>
              <a:t>3), la source de séparation alimentant un seul appareil étant située en dehors des volumes 0, 1 et 2.</a:t>
            </a:r>
          </a:p>
          <a:p>
            <a:pPr>
              <a:defRPr sz="1600"/>
            </a:pPr>
            <a:r>
              <a:t>-.</a:t>
            </a:r>
          </a:p>
        </p:txBody>
      </p:sp>
    </p:spTree>
  </p:cSld>
  <p:clrMapOvr>
    <a:masterClrMapping/>
  </p:clrMapOvr>
</p:sld>
</file>

<file path=ppt/slides/slide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702.414.1.1 Lorsque la TBTS est utilisée, quelle que soit sa tension nominale, la protection</a:t>
            </a:r>
          </a:p>
        </p:txBody>
      </p:sp>
      <p:sp>
        <p:nvSpPr>
          <p:cNvPr id="3" name="Content Placeholder 2"/>
          <p:cNvSpPr>
            <a:spLocks noGrp="1"/>
          </p:cNvSpPr>
          <p:nvPr>
            <p:ph idx="1"/>
          </p:nvPr>
        </p:nvSpPr>
        <p:spPr/>
        <p:txBody>
          <a:bodyPr/>
          <a:lstStyle/>
          <a:p>
            <a:pPr>
              <a:defRPr sz="1600"/>
            </a:pPr>
            <a:r>
              <a:t>contre les contacts directs doit être assurée par des barrières ou des enveloppes présentant au moins le degré de protection IP2X ou IPXXB en conformité avec la NF C 20-010.</a:t>
            </a:r>
          </a:p>
          <a:p>
            <a:pPr>
              <a:defRPr sz="1600"/>
            </a:pPr>
            <a:r>
              <a:t>Les règles de dimensionnement et de protection des circuits d’éclairage TBTS sont données dans le guide UTE C 15-559.</a:t>
            </a:r>
          </a:p>
          <a:p>
            <a:pPr>
              <a:defRPr sz="1600"/>
            </a:pPr>
            <a:r>
              <a:t>Pour les chutes de tension, les règles peuvent ne pas être appliquées pour les piscines à usage domestique au détriment de la durée de vie des matériels et de l’éclairage.</a:t>
            </a:r>
          </a:p>
          <a:p>
            <a:pPr>
              <a:defRPr sz="1600"/>
            </a:pPr>
            <a:r>
              <a:t>- 357 -   H.</a:t>
            </a:r>
          </a:p>
        </p:txBody>
      </p:sp>
    </p:spTree>
  </p:cSld>
  <p:clrMapOvr>
    <a:masterClrMapping/>
  </p:clrMapOvr>
</p:sld>
</file>

<file path=ppt/slides/slide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702.415.2 Liaison équipotentielle supplémentaire</a:t>
            </a:r>
          </a:p>
        </p:txBody>
      </p:sp>
      <p:sp>
        <p:nvSpPr>
          <p:cNvPr id="3" name="Content Placeholder 2"/>
          <p:cNvSpPr>
            <a:spLocks noGrp="1"/>
          </p:cNvSpPr>
          <p:nvPr>
            <p:ph idx="1"/>
          </p:nvPr>
        </p:nvSpPr>
        <p:spPr/>
        <p:txBody>
          <a:bodyPr/>
          <a:lstStyle/>
          <a:p>
            <a:pPr>
              <a:defRPr sz="1600"/>
            </a:pPr>
            <a:r>
              <a:t>Tous les éléments conducteurs des volumes 0, 1 et 2 doivent être reliés par des conducteurs d’équipotentialité, eux-mêmes reliés aux conducteurs de protection des masses des matériels situés dans ces volumes.</a:t>
            </a:r>
          </a:p>
          <a:p>
            <a:pPr>
              <a:defRPr sz="1600"/>
            </a:pPr>
            <a:r>
              <a:t>NOTES - 1 – Cette connexion peut être prévue à proximité immédiate de l'emplacement, par exemple sur un tableau de distribution, sur un accessoire ou sur tout autre matériel.</a:t>
            </a:r>
          </a:p>
          <a:p>
            <a:pPr>
              <a:defRPr sz="1600"/>
            </a:pPr>
            <a:r>
              <a:t>2 – Voir aussi 702.</a:t>
            </a:r>
          </a:p>
          <a:p>
            <a:pPr>
              <a:defRPr sz="1600"/>
            </a:pPr>
            <a:r>
              <a:t>55.</a:t>
            </a:r>
          </a:p>
          <a:p>
            <a:pPr>
              <a:defRPr sz="1600"/>
            </a:pPr>
            <a:r>
              <a:t>1.</a:t>
            </a:r>
          </a:p>
        </p:txBody>
      </p:sp>
    </p:spTree>
  </p:cSld>
  <p:clrMapOvr>
    <a:masterClrMapping/>
  </p:clrMapOvr>
</p:sld>
</file>

<file path=ppt/slides/slide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702.46 Sectionnement et commande</a:t>
            </a:r>
          </a:p>
        </p:txBody>
      </p:sp>
      <p:sp>
        <p:nvSpPr>
          <p:cNvPr id="3" name="Content Placeholder 2"/>
          <p:cNvSpPr>
            <a:spLocks noGrp="1"/>
          </p:cNvSpPr>
          <p:nvPr>
            <p:ph idx="1"/>
          </p:nvPr>
        </p:nvSpPr>
        <p:spPr/>
        <p:txBody>
          <a:bodyPr/>
          <a:lstStyle/>
          <a:p>
            <a:pPr>
              <a:defRPr sz="1600"/>
            </a:pPr>
            <a:r>
              <a:t>Pour les piscines publiques, en vertu de l'article L131 du Code des communes et de l'article L 221-6, alinéa 2, du Code de la consommation, il est prescrit l’adjonction à proximité du bassin, d'un dispositif d'urgence permettant, en cas de besoin, l'interruption immédiate de l'effet "ventouse" et la libération d'un baigneur plaqué contre la grille.</a:t>
            </a:r>
          </a:p>
          <a:p>
            <a:pPr>
              <a:defRPr sz="1600"/>
            </a:pPr>
            <a:r>
              <a:t>H.</a:t>
            </a:r>
          </a:p>
        </p:txBody>
      </p:sp>
    </p:spTree>
  </p:cSld>
  <p:clrMapOvr>
    <a:masterClrMapping/>
  </p:clrMapOvr>
</p:sld>
</file>

<file path=ppt/slides/slide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702.512.2 Influences externes</a:t>
            </a:r>
          </a:p>
        </p:txBody>
      </p:sp>
      <p:sp>
        <p:nvSpPr>
          <p:cNvPr id="3" name="Content Placeholder 2"/>
          <p:cNvSpPr>
            <a:spLocks noGrp="1"/>
          </p:cNvSpPr>
          <p:nvPr>
            <p:ph idx="1"/>
          </p:nvPr>
        </p:nvSpPr>
        <p:spPr/>
        <p:txBody>
          <a:bodyPr/>
          <a:lstStyle/>
          <a:p>
            <a:pPr>
              <a:defRPr sz="1600"/>
            </a:pPr>
            <a:r>
              <a:t>Les conditions d'influences externes sont les suivantes :  Tableau 702A – Conditions d’influences externes  VOLUMES  Température ambiante  (AA)  Humidité  Présence d’eau  (AB)  (AD)  0  4  4  8  1  4  4  5  2  4  4  2 *  Sauf indication contraire, la classe des autres conditions d'influences externes est 1.</a:t>
            </a:r>
          </a:p>
          <a:p>
            <a:pPr>
              <a:defRPr sz="1600"/>
            </a:pPr>
            <a:r>
              <a:t>- 358 -   H  Les matériels électriques doivent posséder au moins les degrés de protection suivants en conformité avec la NF C 20-010 :  - - -  dans le volume 0 : dans le volume 1 : dans le volume 2 : IPX2 pour les piscines à l'intérieur des bâtiments ou IPX5 si ce volume peut être soumis à des jets d’eau pour nettoyage ;  IPX8 ; IPX5 ;  IPX5 pour les piscines à l'extérieur des bâtiments.</a:t>
            </a:r>
          </a:p>
          <a:p>
            <a:pPr>
              <a:defRPr sz="1600"/>
            </a:pPr>
            <a:r>
              <a:t>Pour l'équivalence entre les degrés de protection IP et le marquage par des gouttes d'eau, voir le tableau 702C.</a:t>
            </a:r>
          </a:p>
          <a:p>
            <a:pPr>
              <a:defRPr sz="1600"/>
            </a:pPr>
            <a:r>
              <a:t>Le tableau 702B résume les conditions dans lesquelles les matériels électriques peuvent être utilisés dans les différents volumes des piscines.</a:t>
            </a:r>
          </a:p>
          <a:p>
            <a:pPr>
              <a:defRPr sz="1600"/>
            </a:pPr>
            <a:r>
              <a:t>H.</a:t>
            </a:r>
          </a:p>
        </p:txBody>
      </p:sp>
    </p:spTree>
  </p:cSld>
  <p:clrMapOvr>
    <a:masterClrMapping/>
  </p:clrMapOvr>
</p:sld>
</file>

<file path=ppt/slides/slide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702.522.21 Mise en œuvre selon les volumes</a:t>
            </a:r>
          </a:p>
        </p:txBody>
      </p:sp>
      <p:sp>
        <p:nvSpPr>
          <p:cNvPr id="3" name="Content Placeholder 2"/>
          <p:cNvSpPr>
            <a:spLocks noGrp="1"/>
          </p:cNvSpPr>
          <p:nvPr>
            <p:ph idx="1"/>
          </p:nvPr>
        </p:nvSpPr>
        <p:spPr/>
        <p:txBody>
          <a:bodyPr/>
          <a:lstStyle/>
          <a:p>
            <a:pPr>
              <a:defRPr sz="1600"/>
            </a:pPr>
            <a:r>
              <a:t>Dans les volumes 0, 1 et 2, les canalisations ne doivent pas comporter de gaine métallique.</a:t>
            </a:r>
          </a:p>
          <a:p>
            <a:pPr>
              <a:defRPr sz="1600"/>
            </a:pPr>
            <a:r>
              <a:t>NOTE – Il convient que les câbles soient disposés dans des conduits en matériau isolant.</a:t>
            </a:r>
          </a:p>
        </p:txBody>
      </p:sp>
    </p:spTree>
  </p:cSld>
  <p:clrMapOvr>
    <a:masterClrMapping/>
  </p:clrMapOvr>
</p:sld>
</file>

<file path=ppt/slides/slide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702.522.22 Limitation des canalisations selon les volumes</a:t>
            </a:r>
          </a:p>
        </p:txBody>
      </p:sp>
      <p:sp>
        <p:nvSpPr>
          <p:cNvPr id="3" name="Content Placeholder 2"/>
          <p:cNvSpPr>
            <a:spLocks noGrp="1"/>
          </p:cNvSpPr>
          <p:nvPr>
            <p:ph idx="1"/>
          </p:nvPr>
        </p:nvSpPr>
        <p:spPr/>
        <p:txBody>
          <a:bodyPr/>
          <a:lstStyle/>
          <a:p>
            <a:pPr>
              <a:defRPr sz="1600"/>
            </a:pPr>
            <a:r>
              <a:t>Dans les volumes 0 et 1, les canalisations doivent être limitées à celles nécessaires à l'alimentation des appareils situés dans ces volumes.</a:t>
            </a:r>
          </a:p>
        </p:txBody>
      </p:sp>
    </p:spTree>
  </p:cSld>
  <p:clrMapOvr>
    <a:masterClrMapping/>
  </p:clrMapOvr>
</p:sld>
</file>

<file path=ppt/slides/slide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702.522.23 Prescriptions complémentaires pour les canalisations des fontaines</a:t>
            </a:r>
          </a:p>
        </p:txBody>
      </p:sp>
      <p:sp>
        <p:nvSpPr>
          <p:cNvPr id="3" name="Content Placeholder 2"/>
          <p:cNvSpPr>
            <a:spLocks noGrp="1"/>
          </p:cNvSpPr>
          <p:nvPr>
            <p:ph idx="1"/>
          </p:nvPr>
        </p:nvSpPr>
        <p:spPr/>
        <p:txBody>
          <a:bodyPr/>
          <a:lstStyle/>
          <a:p>
            <a:pPr>
              <a:defRPr sz="1600"/>
            </a:pPr>
            <a:r>
              <a:t>Pour les fontaines, les prescriptions complémentaires suivantes doivent être satisfaites :  a) Les câbles alimentant les matériels situés dans le volume 0 doivent cheminer le plus loin possible des bords du bassin et alimenter en vertical les matériels par le chemin le plus court possible.</a:t>
            </a:r>
          </a:p>
          <a:p>
            <a:pPr>
              <a:defRPr sz="1600"/>
            </a:pPr>
            <a:r>
              <a:t>Les câbles H07RN-8F conviennent dans le volume 0.</a:t>
            </a:r>
          </a:p>
          <a:p>
            <a:pPr>
              <a:defRPr sz="1600"/>
            </a:pPr>
            <a:r>
              <a:t>b) Dans le volume 1, les câbles doivent être protégés contre les dommages mécaniques  (AG3).</a:t>
            </a:r>
          </a:p>
        </p:txBody>
      </p:sp>
    </p:spTree>
  </p:cSld>
  <p:clrMapOvr>
    <a:masterClrMapping/>
  </p:clrMapOvr>
</p:sld>
</file>

<file path=ppt/slides/slide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702.522.24 Boîtes de connexion</a:t>
            </a:r>
          </a:p>
        </p:txBody>
      </p:sp>
      <p:sp>
        <p:nvSpPr>
          <p:cNvPr id="3" name="Content Placeholder 2"/>
          <p:cNvSpPr>
            <a:spLocks noGrp="1"/>
          </p:cNvSpPr>
          <p:nvPr>
            <p:ph idx="1"/>
          </p:nvPr>
        </p:nvSpPr>
        <p:spPr/>
        <p:txBody>
          <a:bodyPr/>
          <a:lstStyle/>
          <a:p>
            <a:pPr>
              <a:defRPr sz="1600"/>
            </a:pPr>
            <a:r>
              <a:t>H  Les boîtes de connexion ne sont pas admises dans les volumes 0 et 1, à l'exception de celles situées dans le volume 1 pour les circuits TBTS.</a:t>
            </a:r>
          </a:p>
        </p:txBody>
      </p:sp>
    </p:spTree>
  </p:cSld>
  <p:clrMapOvr>
    <a:masterClrMapping/>
  </p:clrMapOvr>
</p:sld>
</file>

<file path=ppt/slides/slide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702.53 Appareillage</a:t>
            </a:r>
          </a:p>
        </p:txBody>
      </p:sp>
      <p:sp>
        <p:nvSpPr>
          <p:cNvPr id="3" name="Content Placeholder 2"/>
          <p:cNvSpPr>
            <a:spLocks noGrp="1"/>
          </p:cNvSpPr>
          <p:nvPr>
            <p:ph idx="1"/>
          </p:nvPr>
        </p:nvSpPr>
        <p:spPr/>
        <p:txBody>
          <a:bodyPr/>
          <a:lstStyle/>
          <a:p>
            <a:pPr>
              <a:defRPr sz="1600"/>
            </a:pPr>
            <a:r>
              <a:t>Dans les volumes 0 et 1, aucun appareillage sauf TBTS, y compris les prises de courant, ne doit être installé.</a:t>
            </a:r>
          </a:p>
          <a:p>
            <a:pPr>
              <a:defRPr sz="1600"/>
            </a:pPr>
            <a:r>
              <a:t>Dans le volume 2, les prises de courant et interrupteurs sont admis à condition d'être protégés par l'une des mesures suivantes :  - TBTS (voir 414), la source de sécurité étant installée en dehors des volumes 0, 1 et 2 ;  -  -  coupure automatique de l'alimentation (voir 415.</a:t>
            </a:r>
          </a:p>
          <a:p>
            <a:pPr>
              <a:defRPr sz="1600"/>
            </a:pPr>
            <a:r>
              <a:t>1) par dispositif différentiel de courant différentiel-résiduel assigné non supérieur à 30 mA ;  séparation électrique (voir article 413.</a:t>
            </a:r>
          </a:p>
          <a:p>
            <a:pPr>
              <a:defRPr sz="1600"/>
            </a:pPr>
            <a:r>
              <a:t>3), la source de séparation ali mentant un seul appareil étant située en dehors des volumes 0, 1 et 2.</a:t>
            </a:r>
          </a:p>
          <a:p>
            <a:pPr>
              <a:defRPr sz="1600"/>
            </a:pPr>
            <a:r>
              <a:t>- 359 -.</a:t>
            </a:r>
          </a:p>
        </p:txBody>
      </p:sp>
    </p:spTree>
  </p:cSld>
  <p:clrMapOvr>
    <a:masterClrMapping/>
  </p:clrMapOvr>
</p:sld>
</file>

<file path=ppt/slides/slide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702.55.1.1 Généralités</a:t>
            </a:r>
          </a:p>
        </p:txBody>
      </p:sp>
      <p:sp>
        <p:nvSpPr>
          <p:cNvPr id="3" name="Content Placeholder 2"/>
          <p:cNvSpPr>
            <a:spLocks noGrp="1"/>
          </p:cNvSpPr>
          <p:nvPr>
            <p:ph idx="1"/>
          </p:nvPr>
        </p:nvSpPr>
        <p:spPr/>
        <p:txBody>
          <a:bodyPr/>
          <a:lstStyle/>
          <a:p>
            <a:pPr>
              <a:defRPr sz="1600"/>
            </a:pPr>
            <a:r>
              <a:t>Dans les volumes 0 et 1, seuls des appareils destinés à l’utilisation pour les piscines peuvent être installés, en tenant compte des prescriptions de 702.</a:t>
            </a:r>
          </a:p>
          <a:p>
            <a:pPr>
              <a:defRPr sz="1600"/>
            </a:pPr>
            <a:r>
              <a:t>55.</a:t>
            </a:r>
          </a:p>
          <a:p>
            <a:pPr>
              <a:defRPr sz="1600"/>
            </a:pPr>
            <a:r>
              <a:t>1 à 702.</a:t>
            </a:r>
          </a:p>
          <a:p>
            <a:pPr>
              <a:defRPr sz="1600"/>
            </a:pPr>
            <a:r>
              <a:t>55.</a:t>
            </a:r>
          </a:p>
          <a:p>
            <a:pPr>
              <a:defRPr sz="1600"/>
            </a:pPr>
            <a:r>
              <a:t>4.</a:t>
            </a:r>
          </a:p>
        </p:txBody>
      </p:sp>
    </p:spTree>
  </p:cSld>
  <p:clrMapOvr>
    <a:masterClrMapping/>
  </p:clrMapOvr>
</p:sld>
</file>

<file path=ppt/slides/slide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702.55.1.2 Prescriptions particulières pour des matériels électriques basse tension</a:t>
            </a:r>
          </a:p>
        </p:txBody>
      </p:sp>
      <p:sp>
        <p:nvSpPr>
          <p:cNvPr id="3" name="Content Placeholder 2"/>
          <p:cNvSpPr>
            <a:spLocks noGrp="1"/>
          </p:cNvSpPr>
          <p:nvPr>
            <p:ph idx="1"/>
          </p:nvPr>
        </p:nvSpPr>
        <p:spPr/>
        <p:txBody>
          <a:bodyPr/>
          <a:lstStyle/>
          <a:p>
            <a:pPr>
              <a:defRPr sz="1600"/>
            </a:pPr>
            <a:r>
              <a:t>installés dans le volume 1 des piscines et autres bassins  Les matériels fixes spécialement destinés à être utilisés dans les piscines (par exemple groupes de filtration, nage à contre-courant) alimentés sous une tension autre que la TBTS limitée à 12 V alternatif ou 30 V continu, sont admis dans le volume 1 avec les prescriptions suivantes :  a) Les matériels électriques doivent être situés dans une enveloppe dont l'isolation est équivalente à une isolation supplémentaire et présentant une protection mécanique IK07.</a:t>
            </a:r>
          </a:p>
          <a:p>
            <a:pPr>
              <a:defRPr sz="1600"/>
            </a:pPr>
            <a:r>
              <a:t>b) Les prescriptions de 702.</a:t>
            </a:r>
          </a:p>
          <a:p>
            <a:pPr>
              <a:defRPr sz="1600"/>
            </a:pPr>
            <a:r>
              <a:t>55.</a:t>
            </a:r>
          </a:p>
          <a:p>
            <a:pPr>
              <a:defRPr sz="1600"/>
            </a:pPr>
            <a:r>
              <a:t>1.</a:t>
            </a:r>
          </a:p>
          <a:p>
            <a:pPr>
              <a:defRPr sz="1600"/>
            </a:pPr>
            <a:r>
              <a:t>1 a) à f) sont applicables, et  c) L'ouverture de la trappe spécifiée en 702.</a:t>
            </a:r>
          </a:p>
        </p:txBody>
      </p:sp>
    </p:spTree>
  </p:cSld>
  <p:clrMapOvr>
    <a:masterClrMapping/>
  </p:clrMapOvr>
</p:sld>
</file>

<file path=ppt/slides/slide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702.55.2 Appareils d'éclairage subaquatiques</a:t>
            </a:r>
          </a:p>
        </p:txBody>
      </p:sp>
      <p:sp>
        <p:nvSpPr>
          <p:cNvPr id="3" name="Content Placeholder 2"/>
          <p:cNvSpPr>
            <a:spLocks noGrp="1"/>
          </p:cNvSpPr>
          <p:nvPr>
            <p:ph idx="1"/>
          </p:nvPr>
        </p:nvSpPr>
        <p:spPr/>
        <p:txBody>
          <a:bodyPr/>
          <a:lstStyle/>
          <a:p>
            <a:pPr>
              <a:defRPr sz="1600"/>
            </a:pPr>
            <a:r>
              <a:t>Les luminaires placés dans l’eau ou au contact de l’eau doivent être conformes à la norme  (1).</a:t>
            </a:r>
          </a:p>
          <a:p>
            <a:pPr>
              <a:defRPr sz="1600"/>
            </a:pPr>
            <a:r>
              <a:t>Les appareils d’éclairage situés derrière des hublots étanches doivent être mis en œuvre de manière qu’aucun contact, intentionnel ou non, ne puisse se produire entre les masses du luminaire et une partie conductrice des hublots.</a:t>
            </a:r>
          </a:p>
        </p:txBody>
      </p:sp>
    </p:spTree>
  </p:cSld>
  <p:clrMapOvr>
    <a:masterClrMapping/>
  </p:clrMapOvr>
</p:sld>
</file>

<file path=ppt/slides/slide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702.55.3 Matériels électriques des fontaines</a:t>
            </a:r>
          </a:p>
        </p:txBody>
      </p:sp>
      <p:sp>
        <p:nvSpPr>
          <p:cNvPr id="3" name="Content Placeholder 2"/>
          <p:cNvSpPr>
            <a:spLocks noGrp="1"/>
          </p:cNvSpPr>
          <p:nvPr>
            <p:ph idx="1"/>
          </p:nvPr>
        </p:nvSpPr>
        <p:spPr/>
        <p:txBody>
          <a:bodyPr/>
          <a:lstStyle/>
          <a:p>
            <a:pPr>
              <a:defRPr sz="1600"/>
            </a:pPr>
            <a:r>
              <a:t>Les matériels électriques dans les volumes 0 et 1 doivent être inaccessibles, par exemple par utilisation de verre armé ou de grilles ne pouvant être enlevées qu'à l'aide d'un outil.</a:t>
            </a:r>
          </a:p>
          <a:p>
            <a:pPr>
              <a:defRPr sz="1600"/>
            </a:pPr>
            <a:r>
              <a:t>Les luminaires dans les volumes 0 et 1 doivent être fixés et être conformes à la norme  (1).</a:t>
            </a:r>
          </a:p>
          <a:p>
            <a:pPr>
              <a:defRPr sz="1600"/>
            </a:pPr>
            <a:r>
              <a:t>Les pompes électriques doivent satisfaire aux conditions d’influences externes (voir 702.</a:t>
            </a:r>
          </a:p>
          <a:p>
            <a:pPr>
              <a:defRPr sz="1600"/>
            </a:pPr>
            <a:r>
              <a:t>512.</a:t>
            </a:r>
          </a:p>
          <a:p>
            <a:pPr>
              <a:defRPr sz="1600"/>
            </a:pPr>
            <a:r>
              <a:t>2).</a:t>
            </a:r>
          </a:p>
        </p:txBody>
      </p:sp>
    </p:spTree>
  </p:cSld>
  <p:clrMapOvr>
    <a:masterClrMapping/>
  </p:clrMapOvr>
</p:sld>
</file>

<file path=ppt/slides/slide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703.53 Appareillage ............................................................................................................369</a:t>
            </a:r>
          </a:p>
        </p:txBody>
      </p:sp>
      <p:sp>
        <p:nvSpPr>
          <p:cNvPr id="3" name="Content Placeholder 2"/>
          <p:cNvSpPr>
            <a:spLocks noGrp="1"/>
          </p:cNvSpPr>
          <p:nvPr>
            <p:ph idx="1"/>
          </p:nvPr>
        </p:nvSpPr>
        <p:spPr/>
        <p:txBody>
          <a:bodyPr/>
          <a:lstStyle/>
          <a:p>
            <a:pPr>
              <a:defRPr sz="1600"/>
            </a:pPr>
            <a:r>
              <a:t>Les prescriptions de la présente partie complètent, modifient ou remplacent les prescriptions générales des autres parties de la NF C 15-100.</a:t>
            </a:r>
          </a:p>
          <a:p>
            <a:pPr>
              <a:defRPr sz="1600"/>
            </a:pPr>
            <a:r>
              <a:t>Les numéros suivant le numéro particulier de la partie 7-703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- 369 -   H.</a:t>
            </a:r>
          </a:p>
        </p:txBody>
      </p:sp>
    </p:spTree>
  </p:cSld>
  <p:clrMapOvr>
    <a:masterClrMapping/>
  </p:clrMapOvr>
</p:sld>
</file>

<file path=ppt/slides/slide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703.1 Domaine d'application</a:t>
            </a:r>
          </a:p>
        </p:txBody>
      </p:sp>
      <p:sp>
        <p:nvSpPr>
          <p:cNvPr id="3" name="Content Placeholder 2"/>
          <p:cNvSpPr>
            <a:spLocks noGrp="1"/>
          </p:cNvSpPr>
          <p:nvPr>
            <p:ph idx="1"/>
          </p:nvPr>
        </p:nvSpPr>
        <p:spPr/>
        <p:txBody>
          <a:bodyPr/>
          <a:lstStyle/>
          <a:p>
            <a:pPr>
              <a:defRPr sz="1600"/>
            </a:pPr>
            <a:r>
              <a:t>Les prescriptions particulières de la présente partie s'appliquent aux locaux dans lesquels sont installés des équipements de saunas à air chaud conformément à la norme en vigueur  (*).</a:t>
            </a:r>
          </a:p>
          <a:p>
            <a:pPr>
              <a:defRPr sz="1600"/>
            </a:pPr>
            <a:r>
              <a:t>Les règles de cette partie s'appliquent aux saunas dont l'humidité est maintenue élevée pendant de longues périodes.</a:t>
            </a:r>
          </a:p>
          <a:p>
            <a:pPr>
              <a:defRPr sz="1600"/>
            </a:pPr>
            <a:r>
              <a:t>Les bains turcs sont des exemples de locaux auxquels les règles de la présente partie sont applicables.</a:t>
            </a:r>
          </a:p>
          <a:p>
            <a:pPr>
              <a:defRPr sz="1600"/>
            </a:pPr>
            <a:r>
              <a:t>H.</a:t>
            </a:r>
          </a:p>
        </p:txBody>
      </p:sp>
    </p:spTree>
  </p:cSld>
  <p:clrMapOvr>
    <a:masterClrMapping/>
  </p:clrMapOvr>
</p:sld>
</file>

<file path=ppt/slides/slide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703.2.09.01 Sauna à air chaud : Local ou emplacement dans lequel l'air est chauffé en service</a:t>
            </a:r>
          </a:p>
        </p:txBody>
      </p:sp>
      <p:sp>
        <p:nvSpPr>
          <p:cNvPr id="3" name="Content Placeholder 2"/>
          <p:cNvSpPr>
            <a:spLocks noGrp="1"/>
          </p:cNvSpPr>
          <p:nvPr>
            <p:ph idx="1"/>
          </p:nvPr>
        </p:nvSpPr>
        <p:spPr/>
        <p:txBody>
          <a:bodyPr/>
          <a:lstStyle/>
          <a:p>
            <a:pPr>
              <a:defRPr sz="1600"/>
            </a:pPr>
            <a:r>
              <a:t>à haute température et où l'humidité relative est normalement faible, s'élevant seulement pendant une courte période lorsque de l'eau est versée sur le radiateur.</a:t>
            </a:r>
          </a:p>
        </p:txBody>
      </p:sp>
    </p:spTree>
  </p:cSld>
  <p:clrMapOvr>
    <a:masterClrMapping/>
  </p:clrMapOvr>
</p:sld>
</file>

<file path=ppt/slides/slide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703.414.4.7 Lorsque la TBTS est utilisée, la protection contre les contacts directs doit être</a:t>
            </a:r>
          </a:p>
        </p:txBody>
      </p:sp>
      <p:sp>
        <p:nvSpPr>
          <p:cNvPr id="3" name="Content Placeholder 2"/>
          <p:cNvSpPr>
            <a:spLocks noGrp="1"/>
          </p:cNvSpPr>
          <p:nvPr>
            <p:ph idx="1"/>
          </p:nvPr>
        </p:nvSpPr>
        <p:spPr/>
        <p:txBody>
          <a:bodyPr/>
          <a:lstStyle/>
          <a:p>
            <a:pPr>
              <a:defRPr sz="1600"/>
            </a:pPr>
            <a:r>
              <a:t>assurée, quelle que soit la tension nominale au moyen de barrières ou d'enveloppes présentant au moins le degré de protection IP2X ou IPXXB.</a:t>
            </a:r>
          </a:p>
        </p:txBody>
      </p:sp>
    </p:spTree>
  </p:cSld>
  <p:clrMapOvr>
    <a:masterClrMapping/>
  </p:clrMapOvr>
</p:sld>
</file>

<file path=ppt/slides/slide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703.512.2 Les matériels électriques doivent posséder au moins les degrés de protection IP24.</a:t>
            </a:r>
          </a:p>
        </p:txBody>
      </p:sp>
      <p:sp>
        <p:nvSpPr>
          <p:cNvPr id="3" name="Content Placeholder 2"/>
          <p:cNvSpPr>
            <a:spLocks noGrp="1"/>
          </p:cNvSpPr>
          <p:nvPr>
            <p:ph idx="1"/>
          </p:nvPr>
        </p:nvSpPr>
        <p:spPr/>
        <p:txBody>
          <a:bodyPr/>
          <a:lstStyle/>
          <a:p>
            <a:pPr>
              <a:defRPr sz="1600"/>
            </a:pPr>
            <a:r>
              <a:t>Quatre zones sont définies comme indiqué dans la figure 703A.</a:t>
            </a:r>
          </a:p>
          <a:p>
            <a:pPr>
              <a:defRPr sz="1600"/>
            </a:pPr>
            <a:r>
              <a:t>-  -  -  -  dans la zone 1, seuls sont admis les matériels appartenant aux radiateurs pour saunas ;  dans la zone 2, aucune prescription spéciale n'est nécessaire du point de vue de la résistance du matériel à la chaleur ;  dans la zone 3, les matériels doivent pouvoir supporter une température de 125 °C ;  dans la zone 4, seuls sont installés : • •  les luminaires montés de façon à empêcher leur surchauffe,  les dispositifs de commande des radiateurs de saunas (thermostats et limiteurs de température),  •  les canalisations qui leur sont raccordées.</a:t>
            </a:r>
          </a:p>
          <a:p>
            <a:pPr>
              <a:defRPr sz="1600"/>
            </a:pPr>
            <a:r>
              <a:t>La résistance à la chaleur doit être comme prescrit pour la zone 3.</a:t>
            </a:r>
          </a:p>
        </p:txBody>
      </p:sp>
    </p:spTree>
  </p:cSld>
  <p:clrMapOvr>
    <a:masterClrMapping/>
  </p:clrMapOvr>
</p:sld>
</file>

<file path=ppt/slides/slide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703.52 Canalisations</a:t>
            </a:r>
          </a:p>
        </p:txBody>
      </p:sp>
      <p:sp>
        <p:nvSpPr>
          <p:cNvPr id="3" name="Content Placeholder 2"/>
          <p:cNvSpPr>
            <a:spLocks noGrp="1"/>
          </p:cNvSpPr>
          <p:nvPr>
            <p:ph idx="1"/>
          </p:nvPr>
        </p:nvSpPr>
        <p:spPr/>
        <p:txBody>
          <a:bodyPr/>
          <a:lstStyle/>
          <a:p>
            <a:pPr>
              <a:defRPr sz="1600"/>
            </a:pPr>
            <a:r>
              <a:t>Les canalisations doivent comporter une isolation satisfaisant aux prescriptions de l'article.</a:t>
            </a:r>
          </a:p>
        </p:txBody>
      </p:sp>
    </p:spTree>
  </p:cSld>
  <p:clrMapOvr>
    <a:masterClrMapping/>
  </p:clrMapOvr>
</p:sld>
</file>

<file path=ppt/slides/slide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412.2 et ne doivent comporter aucun revêtement</a:t>
            </a:r>
          </a:p>
        </p:txBody>
      </p:sp>
      <p:sp>
        <p:nvSpPr>
          <p:cNvPr id="3" name="Content Placeholder 2"/>
          <p:cNvSpPr>
            <a:spLocks noGrp="1"/>
          </p:cNvSpPr>
          <p:nvPr>
            <p:ph idx="1"/>
          </p:nvPr>
        </p:nvSpPr>
        <p:spPr/>
        <p:txBody>
          <a:bodyPr/>
          <a:lstStyle/>
          <a:p>
            <a:pPr>
              <a:defRPr sz="1600"/>
            </a:pPr>
            <a:r>
              <a:t>métallique.</a:t>
            </a:r>
          </a:p>
        </p:txBody>
      </p:sp>
    </p:spTree>
  </p:cSld>
  <p:clrMapOvr>
    <a:masterClrMapping/>
  </p:clrMapOvr>
</p:sld>
</file>

<file path=ppt/slides/slide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703.53 Appareillage</a:t>
            </a:r>
          </a:p>
        </p:txBody>
      </p:sp>
      <p:sp>
        <p:nvSpPr>
          <p:cNvPr id="3" name="Content Placeholder 2"/>
          <p:cNvSpPr>
            <a:spLocks noGrp="1"/>
          </p:cNvSpPr>
          <p:nvPr>
            <p:ph idx="1"/>
          </p:nvPr>
        </p:nvSpPr>
        <p:spPr/>
        <p:txBody>
          <a:bodyPr/>
          <a:lstStyle/>
          <a:p>
            <a:pPr>
              <a:defRPr sz="1600"/>
            </a:pPr>
            <a:r>
              <a:t>Les appareillages non incorporés au radiateur doivent être placés en dehors du local.</a:t>
            </a:r>
          </a:p>
          <a:p>
            <a:pPr>
              <a:defRPr sz="1600"/>
            </a:pPr>
            <a:r>
              <a:t>(*) NF EN 60335-2-53 (C 73-823)  - 370 -    Figure 703A - Zones de température ambiante  ______________  - 371 -   Partie 7-704 – Installations de chantier.</a:t>
            </a:r>
          </a:p>
        </p:txBody>
      </p:sp>
    </p:spTree>
  </p:cSld>
  <p:clrMapOvr>
    <a:masterClrMapping/>
  </p:clrMapOvr>
</p:sld>
</file>

<file path=ppt/slides/slide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704.536 Dispositifs de commande et de sectionnement.......................................................377</a:t>
            </a:r>
          </a:p>
        </p:txBody>
      </p:sp>
      <p:sp>
        <p:nvSpPr>
          <p:cNvPr id="3" name="Content Placeholder 2"/>
          <p:cNvSpPr>
            <a:spLocks noGrp="1"/>
          </p:cNvSpPr>
          <p:nvPr>
            <p:ph idx="1"/>
          </p:nvPr>
        </p:nvSpPr>
        <p:spPr/>
        <p:txBody>
          <a:bodyPr/>
          <a:lstStyle/>
          <a:p>
            <a:pPr>
              <a:defRPr sz="1600"/>
            </a:pPr>
            <a:r>
              <a:t>Les prescriptions de la présente partie complètent, modifient ou remplacent les prescriptions générales des autres parties de la NF C 15-100.</a:t>
            </a:r>
          </a:p>
          <a:p>
            <a:pPr>
              <a:defRPr sz="1600"/>
            </a:pPr>
            <a:r>
              <a:t>Les numéros suivant le numéro particulier de la partie 7-704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- 373 -.</a:t>
            </a:r>
          </a:p>
          <a:p>
            <a:pPr>
              <a:defRPr sz="1600"/>
            </a:pPr>
            <a:r>
              <a:t>H.</a:t>
            </a:r>
          </a:p>
        </p:txBody>
      </p:sp>
    </p:spTree>
  </p:cSld>
  <p:clrMapOvr>
    <a:masterClrMapping/>
  </p:clrMapOvr>
</p:sld>
</file>

<file path=ppt/slides/slide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704.1 Domaine d'application</a:t>
            </a:r>
          </a:p>
        </p:txBody>
      </p:sp>
      <p:sp>
        <p:nvSpPr>
          <p:cNvPr id="3" name="Content Placeholder 2"/>
          <p:cNvSpPr>
            <a:spLocks noGrp="1"/>
          </p:cNvSpPr>
          <p:nvPr>
            <p:ph idx="1"/>
          </p:nvPr>
        </p:nvSpPr>
        <p:spPr/>
        <p:txBody>
          <a:bodyPr/>
          <a:lstStyle/>
          <a:p>
            <a:pPr>
              <a:defRPr sz="1600"/>
            </a:pPr>
            <a:r>
              <a:t>Les prescriptions particulières de la présente partie s’appliquent aux installations temporaires destinées : - -  aux travaux de construction de nouveaux bâtiments ; aux travaux de réparation, de modification, d’extension ou de démolition de bâtiments existants ; aux travaux publics ; aux travaux de terrassement ; et aux travaux analogues.</a:t>
            </a:r>
          </a:p>
          <a:p>
            <a:pPr>
              <a:defRPr sz="1600"/>
            </a:pPr>
            <a:r>
              <a:t>- - -  Les parties de bâtiments qui subissent des transformations telles que agrandissements, réparations importantes ou démolitions, sont considérées comme des chantiers pendant la durée des travaux correspondants, dans la mesure où ces travaux nécessitent la réalisation d’une installation temporaire.</a:t>
            </a:r>
          </a:p>
          <a:p>
            <a:pPr>
              <a:defRPr sz="1600"/>
            </a:pPr>
            <a:r>
              <a:t>Les prescriptions de cette partie ne sont pas applicables aux installations électriques des mines à ciel ouvert et des carrières.</a:t>
            </a:r>
          </a:p>
          <a:p>
            <a:pPr>
              <a:defRPr sz="1600"/>
            </a:pPr>
            <a:r>
              <a:t>H  Les règles de cette partie ne sont pas applicables aux locaux administratifs des chantiers (par exemple bureaux, vestiaires, salles de réunion, cantines, restaurants, dortoirs, locaux sanitaires, etc.</a:t>
            </a:r>
          </a:p>
          <a:p>
            <a:pPr>
              <a:defRPr sz="1600"/>
            </a:pPr>
            <a:r>
              <a:t>) pour lesquels les règles générales des titres 1 à 6 de la présente norme sont applicables.</a:t>
            </a:r>
          </a:p>
        </p:txBody>
      </p:sp>
    </p:spTree>
  </p:cSld>
  <p:clrMapOvr>
    <a:masterClrMapping/>
  </p:clrMapOvr>
</p:sld>
</file>

<file path=ppt/slides/slide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704.1.5 Dans les chantiers, les installations fixes sont limitées à l'ensemble comprenant</a:t>
            </a:r>
          </a:p>
        </p:txBody>
      </p:sp>
      <p:sp>
        <p:nvSpPr>
          <p:cNvPr id="3" name="Content Placeholder 2"/>
          <p:cNvSpPr>
            <a:spLocks noGrp="1"/>
          </p:cNvSpPr>
          <p:nvPr>
            <p:ph idx="1"/>
          </p:nvPr>
        </p:nvSpPr>
        <p:spPr/>
        <p:txBody>
          <a:bodyPr/>
          <a:lstStyle/>
          <a:p>
            <a:pPr>
              <a:defRPr sz="1600"/>
            </a:pPr>
            <a:r>
              <a:t>l'appareil général de commande et les dispositifs de protection principaux (voir 704-536).</a:t>
            </a:r>
          </a:p>
          <a:p>
            <a:pPr>
              <a:defRPr sz="1600"/>
            </a:pPr>
            <a:r>
              <a:t>NOTE - Cet ensemble d’appareillage est considéré comme l’interface entre l’alimentation et l’installation de chantier.</a:t>
            </a:r>
          </a:p>
          <a:p>
            <a:pPr>
              <a:defRPr sz="1600"/>
            </a:pPr>
            <a:r>
              <a:t>Les installations en aval sont considérées comme des installations mobiles, à l'exception des parties qui sont conçues conformément aux règles de la partie 52.</a:t>
            </a:r>
          </a:p>
          <a:p>
            <a:pPr>
              <a:defRPr sz="1600"/>
            </a:pPr>
            <a:r>
              <a:t>- 374 -.</a:t>
            </a:r>
          </a:p>
        </p:txBody>
      </p:sp>
    </p:spTree>
  </p:cSld>
  <p:clrMapOvr>
    <a:masterClrMapping/>
  </p:clrMapOvr>
</p:sld>
</file>

<file path=ppt/slides/slide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704.312.2 Types de schémas de liaisons à la terre</a:t>
            </a:r>
          </a:p>
        </p:txBody>
      </p:sp>
      <p:sp>
        <p:nvSpPr>
          <p:cNvPr id="3" name="Content Placeholder 2"/>
          <p:cNvSpPr>
            <a:spLocks noGrp="1"/>
          </p:cNvSpPr>
          <p:nvPr>
            <p:ph idx="1"/>
          </p:nvPr>
        </p:nvSpPr>
        <p:spPr/>
        <p:txBody>
          <a:bodyPr/>
          <a:lstStyle/>
          <a:p>
            <a:pPr>
              <a:defRPr sz="1600"/>
            </a:pPr>
            <a:r>
              <a:t>Les schémas TT et TN-S sont utilisés de préférence dans les installations de chantier.</a:t>
            </a:r>
          </a:p>
          <a:p>
            <a:pPr>
              <a:defRPr sz="1600"/>
            </a:pPr>
            <a:r>
              <a:t>Le schéma TN-C peut être utilisé dans la partie fixe des installations, c'est-à-dire dans la partie comprise entre l'origine de l'installation et l'ensemble comprenant l'appareil général de commande et les dispositifs de protection principaux.</a:t>
            </a:r>
          </a:p>
          <a:p>
            <a:pPr>
              <a:defRPr sz="1600"/>
            </a:pPr>
            <a:r>
              <a:t>Le schéma IT peut être utilisé lorsqu'il est nécessaire d'éviter la coupure au premier défaut à la terre dans des cas particuliers et pour une partie d'installation (par exemple, alimentation d'un réseau de pompes de rabattement de nappe d'eau, alimentation de ventilateurs d'aération).</a:t>
            </a:r>
          </a:p>
          <a:p>
            <a:pPr>
              <a:defRPr sz="1600"/>
            </a:pPr>
            <a:r>
              <a:t>Mais ce schéma entraîne de lourdes sujétions : protection du conducteur neutre, limitation des longueurs de canalisations pour la protection au deuxième défaut ; en outre, l'isolement doit être surveillé par un contrôleur permanent d'isolement et la signalisation d'un premier défaut nécessite la recherche et l'élimination rapide de ce défaut.</a:t>
            </a:r>
          </a:p>
          <a:p>
            <a:pPr>
              <a:defRPr sz="1600"/>
            </a:pPr>
            <a:r>
              <a:t>H.</a:t>
            </a:r>
          </a:p>
        </p:txBody>
      </p:sp>
    </p:spTree>
  </p:cSld>
  <p:clrMapOvr>
    <a:masterClrMapping/>
  </p:clrMapOvr>
</p:sld>
</file>

<file path=ppt/slides/slide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704.313 Alimentation</a:t>
            </a:r>
          </a:p>
        </p:txBody>
      </p:sp>
      <p:sp>
        <p:nvSpPr>
          <p:cNvPr id="3" name="Content Placeholder 2"/>
          <p:cNvSpPr>
            <a:spLocks noGrp="1"/>
          </p:cNvSpPr>
          <p:nvPr>
            <p:ph idx="1"/>
          </p:nvPr>
        </p:nvSpPr>
        <p:spPr/>
        <p:txBody>
          <a:bodyPr/>
          <a:lstStyle/>
          <a:p>
            <a:pPr>
              <a:defRPr sz="1600"/>
            </a:pPr>
            <a:r>
              <a:t>Tout matériel doit être identifié d’après la source qui l’alimente et ne doit comporter que des éléments appartenant à une seule et même installation, sauf pour des circuits d’alimentation de remplacement, de signalisation ou de commande.</a:t>
            </a:r>
          </a:p>
          <a:p>
            <a:pPr>
              <a:defRPr sz="1600"/>
            </a:pPr>
            <a:r>
              <a:t>NOTE - Un même chantier peut être desservi à partir de plusieurs alimentations, y compris par des groupes générateurs.</a:t>
            </a:r>
          </a:p>
        </p:txBody>
      </p:sp>
    </p:spTree>
  </p:cSld>
  <p:clrMapOvr>
    <a:masterClrMapping/>
  </p:clrMapOvr>
</p:sld>
</file>

<file path=ppt/slides/slide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704.35 Installations de sécurité</a:t>
            </a:r>
          </a:p>
        </p:txBody>
      </p:sp>
      <p:sp>
        <p:nvSpPr>
          <p:cNvPr id="3" name="Content Placeholder 2"/>
          <p:cNvSpPr>
            <a:spLocks noGrp="1"/>
          </p:cNvSpPr>
          <p:nvPr>
            <p:ph idx="1"/>
          </p:nvPr>
        </p:nvSpPr>
        <p:spPr/>
        <p:txBody>
          <a:bodyPr/>
          <a:lstStyle/>
          <a:p>
            <a:pPr>
              <a:defRPr sz="1600"/>
            </a:pPr>
            <a:r>
              <a:t>Des installations de sécurité sont installées chaque fois que la sécurité des personnes risque d'être compromise par la défaillance possible de l'alimentation normale d'un circuit ou d'un appareil.</a:t>
            </a:r>
          </a:p>
        </p:txBody>
      </p:sp>
    </p:spTree>
  </p:cSld>
  <p:clrMapOvr>
    <a:masterClrMapping/>
  </p:clrMapOvr>
</p:sld>
</file>

<file path=ppt/slides/slide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704.351 Éclairage de sécurité</a:t>
            </a:r>
          </a:p>
        </p:txBody>
      </p:sp>
      <p:sp>
        <p:nvSpPr>
          <p:cNvPr id="3" name="Content Placeholder 2"/>
          <p:cNvSpPr>
            <a:spLocks noGrp="1"/>
          </p:cNvSpPr>
          <p:nvPr>
            <p:ph idx="1"/>
          </p:nvPr>
        </p:nvSpPr>
        <p:spPr/>
        <p:txBody>
          <a:bodyPr/>
          <a:lstStyle/>
          <a:p>
            <a:pPr>
              <a:defRPr sz="1600"/>
            </a:pPr>
            <a:r>
              <a:t>Lorsqu'un texte le prescrit, l'éclairage de sécurité doit permettre de prendre les mesures de sécurité nécessitées par la défaillance de l'éclairage normal, compte tenu des particularités du chantier.</a:t>
            </a:r>
          </a:p>
          <a:p>
            <a:pPr>
              <a:defRPr sz="1600"/>
            </a:pPr>
            <a:r>
              <a:t>Il doit notamment permettre l'évacuation du personnel et la mise en application des consignes.</a:t>
            </a:r>
          </a:p>
          <a:p>
            <a:pPr>
              <a:defRPr sz="1600"/>
            </a:pPr>
            <a:r>
              <a:t>Il y a lieu notamment d'envisager la mise en place de cet éclairage dans les zones particulièrement obscures tels que noyau central de bâtiments élevés ou les niveaux de parkings souterrains.</a:t>
            </a:r>
          </a:p>
          <a:p>
            <a:pPr>
              <a:defRPr sz="1600"/>
            </a:pPr>
            <a:r>
              <a:t>L'éclairage de sécurité doit être électrique.</a:t>
            </a:r>
          </a:p>
          <a:p>
            <a:pPr>
              <a:defRPr sz="1600"/>
            </a:pPr>
            <a:r>
              <a:t>Il peut être assuré :  -  -  -  -  par des blocs autonomes (solution fortement recommandée) conformément aux normes les concernant   ;  (1)  par une installation alimentée par une batterie d'accumulateurs, la durée de fonctionnement autonome étant d'au moins une heure ;  par lampes à accumulateurs ou à piles (cas de personnel restreint), la durée de fonctionnement étant d'au moins une heure ;  par des groupes moteurs thermiques-générateurs pouvant assurer l'alimentation correcte de l'éclairage de sécurité dans un temps au plus égal à 15 secondes.</a:t>
            </a:r>
          </a:p>
        </p:txBody>
      </p:sp>
    </p:spTree>
  </p:cSld>
  <p:clrMapOvr>
    <a:masterClrMapping/>
  </p:clrMapOvr>
</p:sld>
</file>

<file path=ppt/slides/slide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704.352 Autres circuits de sécurité</a:t>
            </a:r>
          </a:p>
        </p:txBody>
      </p:sp>
      <p:sp>
        <p:nvSpPr>
          <p:cNvPr id="3" name="Content Placeholder 2"/>
          <p:cNvSpPr>
            <a:spLocks noGrp="1"/>
          </p:cNvSpPr>
          <p:nvPr>
            <p:ph idx="1"/>
          </p:nvPr>
        </p:nvSpPr>
        <p:spPr/>
        <p:txBody>
          <a:bodyPr/>
          <a:lstStyle/>
          <a:p>
            <a:pPr>
              <a:defRPr sz="1600"/>
            </a:pPr>
            <a:r>
              <a:t>Les circuits alimentant des équipements tels que pompes de relevage ou d'épuisement, ventilateurs d'aération, etc.</a:t>
            </a:r>
          </a:p>
          <a:p>
            <a:pPr>
              <a:defRPr sz="1600"/>
            </a:pPr>
            <a:r>
              <a:t>dont la continuité de service est essentielle, leur arrêt faisant courir des dangers graves de noyade, d'asphyxie au personnel, sont à traiter comme des circuits de sécurité.</a:t>
            </a:r>
          </a:p>
          <a:p>
            <a:pPr>
              <a:defRPr sz="1600"/>
            </a:pPr>
            <a:r>
              <a:t>Ces circuits sont conçus de telle sorte que la protection soit assurée sans coupure automatique de l'alimentation au premier défaut et doivent pouvoir être alimentés, en cas de défaillance de l'alimentation normale et selon les puissances :  -  -  par des groupes électrogènes pouvant assurer l'alimentation des circuits de sécurité dans un temps au plus égal à 15 secondes ;  par des batteries d'accumulateurs associées à un chargeur redresseur (récepteurs alimentés en courant continu) ou une alimentation sans interruption (ASI) (récepteurs alimentés en courant alternatif).</a:t>
            </a:r>
          </a:p>
          <a:p>
            <a:pPr>
              <a:defRPr sz="1600"/>
            </a:pPr>
            <a:r>
              <a:t>H.</a:t>
            </a:r>
          </a:p>
        </p:txBody>
      </p:sp>
    </p:spTree>
  </p:cSld>
  <p:clrMapOvr>
    <a:masterClrMapping/>
  </p:clrMapOvr>
</p:sld>
</file>

<file path=ppt/slides/slide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704.411.1 Généralités</a:t>
            </a:r>
          </a:p>
        </p:txBody>
      </p:sp>
      <p:sp>
        <p:nvSpPr>
          <p:cNvPr id="3" name="Content Placeholder 2"/>
          <p:cNvSpPr>
            <a:spLocks noGrp="1"/>
          </p:cNvSpPr>
          <p:nvPr>
            <p:ph idx="1"/>
          </p:nvPr>
        </p:nvSpPr>
        <p:spPr/>
        <p:txBody>
          <a:bodyPr/>
          <a:lstStyle/>
          <a:p>
            <a:pPr>
              <a:defRPr sz="1600"/>
            </a:pPr>
            <a:r>
              <a:t>Un DDR à haute sensibilité (I∆n ≤ 30 mA) doit être installé en amont de tout circuit destiné à alimenter des appareils mobiles ou portatifs (circuits alimentant les prises de courant).</a:t>
            </a:r>
          </a:p>
          <a:p>
            <a:pPr>
              <a:defRPr sz="1600"/>
            </a:pPr>
            <a:r>
              <a:t>Quelles que soient les mesures de protection prises (choix et mise en œuvre des matériels, maintenance, entretien, vérification), les risques suivants ne peuvent être négligés :  -  -  -  contact direct à la suite d'une dégradation des isolants ;  contact direct à la suite d'une défaillance du matériel ou d'une imprudence des personnes ;  contact indirect avec une masse non reliée à une prise de terre à la suite d'une rupture ou d'une mauvaise continuité du conducteur de protection.</a:t>
            </a:r>
          </a:p>
          <a:p>
            <a:pPr>
              <a:defRPr sz="1600"/>
            </a:pPr>
            <a:r>
              <a:t>H.</a:t>
            </a:r>
          </a:p>
        </p:txBody>
      </p:sp>
    </p:spTree>
  </p:cSld>
  <p:clrMapOvr>
    <a:masterClrMapping/>
  </p:clrMapOvr>
</p:sld>
</file>

<file path=ppt/slides/slide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704.411.1.1 Protection contre les contacts directs</a:t>
            </a:r>
          </a:p>
        </p:txBody>
      </p:sp>
      <p:sp>
        <p:nvSpPr>
          <p:cNvPr id="3" name="Content Placeholder 2"/>
          <p:cNvSpPr>
            <a:spLocks noGrp="1"/>
          </p:cNvSpPr>
          <p:nvPr>
            <p:ph idx="1"/>
          </p:nvPr>
        </p:nvSpPr>
        <p:spPr/>
        <p:txBody>
          <a:bodyPr/>
          <a:lstStyle/>
          <a:p>
            <a:pPr>
              <a:defRPr sz="1600"/>
            </a:pPr>
            <a:r>
              <a:t>Les dispositions de protection contre les contacts directs utilisées sont :  -  -  la protection par isolation des parties actives (annexe A.</a:t>
            </a:r>
          </a:p>
          <a:p>
            <a:pPr>
              <a:defRPr sz="1600"/>
            </a:pPr>
            <a:r>
              <a:t>1 e n 4-41) ;  la protection au moyen de barrières ou d'enveloppes (annexe A.</a:t>
            </a:r>
          </a:p>
          <a:p>
            <a:pPr>
              <a:defRPr sz="1600"/>
            </a:pPr>
            <a:r>
              <a:t>2 en 4-41).</a:t>
            </a:r>
          </a:p>
        </p:txBody>
      </p:sp>
    </p:spTree>
  </p:cSld>
  <p:clrMapOvr>
    <a:masterClrMapping/>
  </p:clrMapOvr>
</p:sld>
</file>

<file path=ppt/slides/slide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704.411.1.2 Mesures de protection</a:t>
            </a:r>
          </a:p>
        </p:txBody>
      </p:sp>
      <p:sp>
        <p:nvSpPr>
          <p:cNvPr id="3" name="Content Placeholder 2"/>
          <p:cNvSpPr>
            <a:spLocks noGrp="1"/>
          </p:cNvSpPr>
          <p:nvPr>
            <p:ph idx="1"/>
          </p:nvPr>
        </p:nvSpPr>
        <p:spPr/>
        <p:txBody>
          <a:bodyPr/>
          <a:lstStyle/>
          <a:p>
            <a:pPr>
              <a:defRPr sz="1600"/>
            </a:pPr>
            <a:r>
              <a:t>a) La TBTS (414) peut être utilisée dans toutes les circonstances et    notamment lorsque les  conditions de travail sont sévères, par exemple dans les enceintes conductrices exiguës pour l'alimentation des outils portatifs, pour le meulage en milieu mouillé ou pour le chauffage du béton.</a:t>
            </a:r>
          </a:p>
          <a:p>
            <a:pPr>
              <a:defRPr sz="1600"/>
            </a:pPr>
            <a:r>
              <a:t>La TBTP (414) peut être utilisée pour le chauffage du béton.</a:t>
            </a:r>
          </a:p>
          <a:p>
            <a:pPr>
              <a:defRPr sz="1600"/>
            </a:pPr>
            <a:r>
              <a:t>b) La mesure de protection par emploi de matériels de classe Il ou par isolation équivalente (412) est utilisée pour les matériels pour lesquels cette mesure de protection est réalisée par construction.</a:t>
            </a:r>
          </a:p>
          <a:p>
            <a:pPr>
              <a:defRPr sz="1600"/>
            </a:pPr>
            <a:r>
              <a:t>Cette mesure de protection est recommandée pour les outils portatifs à main.</a:t>
            </a:r>
          </a:p>
          <a:p>
            <a:pPr>
              <a:defRPr sz="1600"/>
            </a:pPr>
            <a:r>
              <a:t>L'attention est appelée sur le fait que les outils portatifs ne possèdent pas toujours un degré de protection suffisant pour leur utilisation dans des emplacements soumis à des projections d'eau (IPX4).</a:t>
            </a:r>
          </a:p>
        </p:txBody>
      </p:sp>
    </p:spTree>
  </p:cSld>
  <p:clrMapOvr>
    <a:masterClrMapping/>
  </p:clrMapOvr>
</p:sld>
</file>

<file path=ppt/slides/slide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704.43 Protection contre les surintensités</a:t>
            </a:r>
          </a:p>
        </p:txBody>
      </p:sp>
      <p:sp>
        <p:nvSpPr>
          <p:cNvPr id="3" name="Content Placeholder 2"/>
          <p:cNvSpPr>
            <a:spLocks noGrp="1"/>
          </p:cNvSpPr>
          <p:nvPr>
            <p:ph idx="1"/>
          </p:nvPr>
        </p:nvSpPr>
        <p:spPr/>
        <p:txBody>
          <a:bodyPr/>
          <a:lstStyle/>
          <a:p>
            <a:pPr>
              <a:defRPr sz="1600"/>
            </a:pPr>
            <a:r>
              <a:t>Les dispositifs de protection contre les surintensités sont de préférence des disjoncteurs qui évitent les erreurs de réglage et de remplacement et facilitent l'exploitation.</a:t>
            </a:r>
          </a:p>
          <a:p>
            <a:pPr>
              <a:defRPr sz="1600"/>
            </a:pPr>
            <a:r>
              <a:t>- 376 -.</a:t>
            </a:r>
          </a:p>
        </p:txBody>
      </p:sp>
    </p:spTree>
  </p:cSld>
  <p:clrMapOvr>
    <a:masterClrMapping/>
  </p:clrMapOvr>
</p:sld>
</file>

<file path=ppt/slides/slide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704.433 Protection contre les surcharges</a:t>
            </a:r>
          </a:p>
        </p:txBody>
      </p:sp>
      <p:sp>
        <p:nvSpPr>
          <p:cNvPr id="3" name="Content Placeholder 2"/>
          <p:cNvSpPr>
            <a:spLocks noGrp="1"/>
          </p:cNvSpPr>
          <p:nvPr>
            <p:ph idx="1"/>
          </p:nvPr>
        </p:nvSpPr>
        <p:spPr/>
        <p:txBody>
          <a:bodyPr/>
          <a:lstStyle/>
          <a:p>
            <a:pPr>
              <a:defRPr sz="1600"/>
            </a:pPr>
            <a:r>
              <a:t>En principe, tout circuit doit être protégé contre les surcharges.</a:t>
            </a:r>
          </a:p>
          <a:p>
            <a:pPr>
              <a:defRPr sz="1600"/>
            </a:pPr>
            <a:r>
              <a:t>Des dispositions particulières doivent être prises pour les circuits alimentant des appareils de levage, afin d'éviter des déclenchements intempestifs.</a:t>
            </a:r>
          </a:p>
          <a:p>
            <a:pPr>
              <a:defRPr sz="1600"/>
            </a:pPr>
            <a:r>
              <a:t>H.</a:t>
            </a:r>
          </a:p>
        </p:txBody>
      </p:sp>
    </p:spTree>
  </p:cSld>
  <p:clrMapOvr>
    <a:masterClrMapping/>
  </p:clrMapOvr>
</p:sld>
</file>

<file path=ppt/slides/slide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704.434 Protection contre les courts-circuits</a:t>
            </a:r>
          </a:p>
        </p:txBody>
      </p:sp>
      <p:sp>
        <p:nvSpPr>
          <p:cNvPr id="3" name="Content Placeholder 2"/>
          <p:cNvSpPr>
            <a:spLocks noGrp="1"/>
          </p:cNvSpPr>
          <p:nvPr>
            <p:ph idx="1"/>
          </p:nvPr>
        </p:nvSpPr>
        <p:spPr/>
        <p:txBody>
          <a:bodyPr/>
          <a:lstStyle/>
          <a:p>
            <a:pPr>
              <a:defRPr sz="1600"/>
            </a:pPr>
            <a:r>
              <a:t>L’ensemble de chantier choisi doit être tel que les dispositifs de protection de chaque circuit possèdent un pouvoir de coupure au moins égal au courant de court-circuit présumé au point où il est installé.</a:t>
            </a:r>
          </a:p>
          <a:p>
            <a:pPr>
              <a:defRPr sz="1600"/>
            </a:pPr>
            <a:r>
              <a:t>Afin de parer à toute éventualité (déplacement, permutation, modifications diverses, etc.</a:t>
            </a:r>
          </a:p>
          <a:p>
            <a:pPr>
              <a:defRPr sz="1600"/>
            </a:pPr>
            <a:r>
              <a:t>), il est conseillé de choisir dans un même chantier des ensembles de chantier ayant la même tenue aux courants de court-circuit, permettant ainsi de les installer en n'importe quel emplacement du chantier.</a:t>
            </a:r>
          </a:p>
        </p:txBody>
      </p:sp>
    </p:spTree>
  </p:cSld>
  <p:clrMapOvr>
    <a:masterClrMapping/>
  </p:clrMapOvr>
</p:sld>
</file>

<file path=ppt/slides/slide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704.511.1 Les ensembles de chantier doivent être conformes aux prescriptions de la norme</a:t>
            </a:r>
          </a:p>
        </p:txBody>
      </p:sp>
      <p:sp>
        <p:nvSpPr>
          <p:cNvPr id="3" name="Content Placeholder 2"/>
          <p:cNvSpPr>
            <a:spLocks noGrp="1"/>
          </p:cNvSpPr>
          <p:nvPr>
            <p:ph idx="1"/>
          </p:nvPr>
        </p:nvSpPr>
        <p:spPr/>
        <p:txBody>
          <a:bodyPr/>
          <a:lstStyle/>
          <a:p>
            <a:pPr>
              <a:defRPr sz="1600"/>
            </a:pPr>
            <a:r>
              <a:t>ou à l’article 558 de la présente norme.</a:t>
            </a:r>
          </a:p>
          <a:p>
            <a:pPr>
              <a:defRPr sz="1600"/>
            </a:pPr>
            <a:r>
              <a:t>(2).</a:t>
            </a:r>
          </a:p>
        </p:txBody>
      </p:sp>
    </p:spTree>
  </p:cSld>
  <p:clrMapOvr>
    <a:masterClrMapping/>
  </p:clrMapOvr>
</p:sld>
</file>

<file path=ppt/slides/slide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704.512.2 Choix et mise en œuvre des matériels en fonction des influences externes</a:t>
            </a:r>
          </a:p>
        </p:txBody>
      </p:sp>
      <p:sp>
        <p:nvSpPr>
          <p:cNvPr id="3" name="Content Placeholder 2"/>
          <p:cNvSpPr>
            <a:spLocks noGrp="1"/>
          </p:cNvSpPr>
          <p:nvPr>
            <p:ph idx="1"/>
          </p:nvPr>
        </p:nvSpPr>
        <p:spPr/>
        <p:txBody>
          <a:bodyPr/>
          <a:lstStyle/>
          <a:p>
            <a:pPr>
              <a:defRPr sz="1600"/>
            </a:pPr>
            <a:r>
              <a:t>Sauf indications contraires, les conditions minimales d'influences externes susceptibles d'être rencontrées dans les installations de chantier sont les suivantes :  AA AD AE AG AH  température ambiante : - 5, + 40 °C présence d'eau : projections d'eau présence de corps solides : très petits chocs mécaniques : importants vibrations : moyennes  (AA4) (AD4) (AE3) (AG3) (AH2)  Les matériels doivent présenter les degrés de protection minimaux IP44 et IK08.</a:t>
            </a:r>
          </a:p>
        </p:txBody>
      </p:sp>
    </p:spTree>
  </p:cSld>
  <p:clrMapOvr>
    <a:masterClrMapping/>
  </p:clrMapOvr>
</p:sld>
</file>

<file path=ppt/slides/slide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704.52 Canalisations</a:t>
            </a:r>
          </a:p>
        </p:txBody>
      </p:sp>
      <p:sp>
        <p:nvSpPr>
          <p:cNvPr id="3" name="Content Placeholder 2"/>
          <p:cNvSpPr>
            <a:spLocks noGrp="1"/>
          </p:cNvSpPr>
          <p:nvPr>
            <p:ph idx="1"/>
          </p:nvPr>
        </p:nvSpPr>
        <p:spPr/>
        <p:txBody>
          <a:bodyPr/>
          <a:lstStyle/>
          <a:p>
            <a:pPr>
              <a:defRPr sz="1600"/>
            </a:pPr>
            <a:r>
              <a:t>H.</a:t>
            </a:r>
          </a:p>
        </p:txBody>
      </p:sp>
    </p:spTree>
  </p:cSld>
  <p:clrMapOvr>
    <a:masterClrMapping/>
  </p:clrMapOvr>
</p:sld>
</file>

<file path=ppt/slides/slide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704.522.8.1.8 Afin d’éviter la détérioration des câbles, ceux-ci ne doivent pas être posés dans</a:t>
            </a:r>
          </a:p>
        </p:txBody>
      </p:sp>
      <p:sp>
        <p:nvSpPr>
          <p:cNvPr id="3" name="Content Placeholder 2"/>
          <p:cNvSpPr>
            <a:spLocks noGrp="1"/>
          </p:cNvSpPr>
          <p:nvPr>
            <p:ph idx="1"/>
          </p:nvPr>
        </p:nvSpPr>
        <p:spPr/>
        <p:txBody>
          <a:bodyPr/>
          <a:lstStyle/>
          <a:p>
            <a:pPr>
              <a:defRPr sz="1600"/>
            </a:pPr>
            <a:r>
              <a:t>des passages de piétons ou de véhicules.</a:t>
            </a:r>
          </a:p>
          <a:p>
            <a:pPr>
              <a:defRPr sz="1600"/>
            </a:pPr>
            <a:r>
              <a:t>Si une telle pose est nécessaire, une protection spéciale contre les dommages mécaniques et contre les contacts avec les engins doit être prévue.</a:t>
            </a:r>
          </a:p>
          <a:p>
            <a:pPr>
              <a:defRPr sz="1600"/>
            </a:pPr>
            <a:r>
              <a:t>Lorsqu'il est fait usage de câbles souples, ceux-ci doivent être du type 07 RN-F ou 07 BN4-F Les câbles rigides doivent présenter une résistance mécanique équivalente.</a:t>
            </a:r>
          </a:p>
          <a:p>
            <a:pPr>
              <a:defRPr sz="1600"/>
            </a:pPr>
            <a:r>
              <a:t>(2) NF EN 60439-4 (C 63-424)  - 377 -    H.</a:t>
            </a:r>
          </a:p>
        </p:txBody>
      </p:sp>
    </p:spTree>
  </p:cSld>
  <p:clrMapOvr>
    <a:masterClrMapping/>
  </p:clrMapOvr>
</p:sld>
</file>

<file path=ppt/slides/slide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704.525 Chutes de tension dans les installations</a:t>
            </a:r>
          </a:p>
        </p:txBody>
      </p:sp>
      <p:sp>
        <p:nvSpPr>
          <p:cNvPr id="3" name="Content Placeholder 2"/>
          <p:cNvSpPr>
            <a:spLocks noGrp="1"/>
          </p:cNvSpPr>
          <p:nvPr>
            <p:ph idx="1"/>
          </p:nvPr>
        </p:nvSpPr>
        <p:spPr/>
        <p:txBody>
          <a:bodyPr/>
          <a:lstStyle/>
          <a:p>
            <a:pPr>
              <a:defRPr sz="1600"/>
            </a:pPr>
            <a:r>
              <a:t>Des chutes de tension supérieures aux limites fixées pour les installations des bâtiments peuvent être admises sous réserve qu'elles ne nuisent pas au fonctionnement des matériels, notamment au démarrage des moteurs.</a:t>
            </a:r>
          </a:p>
        </p:txBody>
      </p:sp>
    </p:spTree>
  </p:cSld>
  <p:clrMapOvr>
    <a:masterClrMapping/>
  </p:clrMapOvr>
</p:sld>
</file>

<file path=ppt/slides/slide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704.536 Dispositifs de commande et de sectionnement</a:t>
            </a:r>
          </a:p>
        </p:txBody>
      </p:sp>
      <p:sp>
        <p:nvSpPr>
          <p:cNvPr id="3" name="Content Placeholder 2"/>
          <p:cNvSpPr>
            <a:spLocks noGrp="1"/>
          </p:cNvSpPr>
          <p:nvPr>
            <p:ph idx="1"/>
          </p:nvPr>
        </p:nvSpPr>
        <p:spPr/>
        <p:txBody>
          <a:bodyPr/>
          <a:lstStyle/>
          <a:p>
            <a:pPr>
              <a:defRPr sz="1600"/>
            </a:pPr>
            <a:r>
              <a:t>Un ensemble d’appareillage doit pouvoir être coupé et sectionné par un dispositif situé à l’intérieur de l’ensemble.</a:t>
            </a:r>
          </a:p>
          <a:p>
            <a:pPr>
              <a:defRPr sz="1600"/>
            </a:pPr>
            <a:r>
              <a:t>Des dispositifs de coupure d’urgence doivent être prévus sur l’alimentation de tous les matériels d’utilisation.</a:t>
            </a:r>
          </a:p>
          <a:p>
            <a:pPr>
              <a:defRPr sz="1600"/>
            </a:pPr>
            <a:r>
              <a:t>Les dispositifs de sectionnement des alimentations de puissance doivent pouvoir être condamnés en position ouverte (voir 462.</a:t>
            </a:r>
          </a:p>
          <a:p>
            <a:pPr>
              <a:defRPr sz="1600"/>
            </a:pPr>
            <a:r>
              <a:t>2) (par une enveloppe verrouillée).</a:t>
            </a:r>
          </a:p>
          <a:p>
            <a:pPr>
              <a:defRPr sz="1600"/>
            </a:pPr>
            <a:r>
              <a:t>exemple par verrouillage ou disposition dans  L’alimentation de chaque circuit doit s’effectuer à partir d’ensembles de distribution, chaque ensemble comprenant :  - - -  les dispositifs de protection contre les surintensités ; les dispositifs de protection contre les contacts indirects ; les socles de prise de courant, si nécessaire.</a:t>
            </a:r>
          </a:p>
        </p:txBody>
      </p:sp>
    </p:spTree>
  </p:cSld>
  <p:clrMapOvr>
    <a:masterClrMapping/>
  </p:clrMapOvr>
</p:sld>
</file>

<file path=ppt/slides/slide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704.542.2 Prise de terre</a:t>
            </a:r>
          </a:p>
        </p:txBody>
      </p:sp>
      <p:sp>
        <p:nvSpPr>
          <p:cNvPr id="3" name="Content Placeholder 2"/>
          <p:cNvSpPr>
            <a:spLocks noGrp="1"/>
          </p:cNvSpPr>
          <p:nvPr>
            <p:ph idx="1"/>
          </p:nvPr>
        </p:nvSpPr>
        <p:spPr/>
        <p:txBody>
          <a:bodyPr/>
          <a:lstStyle/>
          <a:p>
            <a:pPr>
              <a:defRPr sz="1600"/>
            </a:pPr>
            <a:r>
              <a:t>Lorsque la prise de terre des bâtiments en construction est réalisée par une boucle à fond de fouille, ce qui est la solution obligatoire pour tout bâtiment destiné à abriter des lieux de travail (y compris les bâtiments d’habitation collectifs), cette prise de terre doit être utilisée par les entreprises du chantier, dès sa réalisation par l’entreprise principale de construction intervenant en premier sur le chantier.</a:t>
            </a:r>
          </a:p>
          <a:p>
            <a:pPr>
              <a:defRPr sz="1600"/>
            </a:pPr>
            <a:r>
              <a:t>Il y a lieu de créer des prises de terre provisoires si des appareils électriques sont utilisés avant l’existence de la boucle à fond de fouille.</a:t>
            </a:r>
          </a:p>
        </p:txBody>
      </p:sp>
    </p:spTree>
  </p:cSld>
  <p:clrMapOvr>
    <a:masterClrMapping/>
  </p:clrMapOvr>
</p:sld>
</file>

<file path=ppt/slides/slide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704.555.1 Prises de courant</a:t>
            </a:r>
          </a:p>
        </p:txBody>
      </p:sp>
      <p:sp>
        <p:nvSpPr>
          <p:cNvPr id="3" name="Content Placeholder 2"/>
          <p:cNvSpPr>
            <a:spLocks noGrp="1"/>
          </p:cNvSpPr>
          <p:nvPr>
            <p:ph idx="1"/>
          </p:nvPr>
        </p:nvSpPr>
        <p:spPr/>
        <p:txBody>
          <a:bodyPr/>
          <a:lstStyle/>
          <a:p>
            <a:pPr>
              <a:defRPr sz="1600"/>
            </a:pPr>
            <a:r>
              <a:t>Les socles de prise de courant doivent être conformes soit à la norme NF EN 60309-1 (C 63- 300), soit à la norme NF C 61-303.</a:t>
            </a:r>
          </a:p>
          <a:p>
            <a:pPr>
              <a:defRPr sz="1600"/>
            </a:pPr>
            <a:r>
              <a:t>Les socles de prise de courant doivent être :  soit à l'intérieur   des ensembles décrits en 704.</a:t>
            </a:r>
          </a:p>
          <a:p>
            <a:pPr>
              <a:defRPr sz="1600"/>
            </a:pPr>
            <a:r>
              <a:t>511.</a:t>
            </a:r>
          </a:p>
          <a:p>
            <a:pPr>
              <a:defRPr sz="1600"/>
            </a:pPr>
            <a:r>
              <a:t>1 ;  soit à l'extérieur sur les enveloppes (armoires ou coffrets) de ces ensembles.</a:t>
            </a:r>
          </a:p>
          <a:p>
            <a:pPr>
              <a:defRPr sz="1600"/>
            </a:pPr>
            <a:r>
              <a:t>-  -.</a:t>
            </a:r>
          </a:p>
        </p:txBody>
      </p:sp>
    </p:spTree>
  </p:cSld>
  <p:clrMapOvr>
    <a:masterClrMapping/>
  </p:clrMapOvr>
</p:sld>
</file>

<file path=ppt/slides/slide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705.443 Protection contre les surtensions d’origine atmosphérique ou dues</a:t>
            </a:r>
          </a:p>
        </p:txBody>
      </p:sp>
      <p:sp>
        <p:nvSpPr>
          <p:cNvPr id="3" name="Content Placeholder 2"/>
          <p:cNvSpPr>
            <a:spLocks noGrp="1"/>
          </p:cNvSpPr>
          <p:nvPr>
            <p:ph idx="1"/>
          </p:nvPr>
        </p:nvSpPr>
        <p:spPr/>
        <p:txBody>
          <a:bodyPr/>
          <a:lstStyle/>
          <a:p>
            <a:pPr>
              <a:defRPr sz="1600"/>
            </a:pPr>
            <a:r>
              <a:t>à des manœuvres.</a:t>
            </a:r>
          </a:p>
          <a:p>
            <a:pPr>
              <a:defRPr sz="1600"/>
            </a:pPr>
            <a:r>
              <a:t>379.</a:t>
            </a:r>
          </a:p>
        </p:txBody>
      </p:sp>
    </p:spTree>
  </p:cSld>
  <p:clrMapOvr>
    <a:masterClrMapping/>
  </p:clrMapOvr>
</p:sld>
</file>

<file path=ppt/slides/slide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705.55 Autres matériels ......................................................................................................380</a:t>
            </a:r>
          </a:p>
        </p:txBody>
      </p:sp>
      <p:sp>
        <p:nvSpPr>
          <p:cNvPr id="3" name="Content Placeholder 2"/>
          <p:cNvSpPr>
            <a:spLocks noGrp="1"/>
          </p:cNvSpPr>
          <p:nvPr>
            <p:ph idx="1"/>
          </p:nvPr>
        </p:nvSpPr>
        <p:spPr/>
        <p:txBody>
          <a:bodyPr/>
          <a:lstStyle/>
          <a:p>
            <a:pPr>
              <a:defRPr sz="1600"/>
            </a:pPr>
            <a:r>
              <a:t>Les prescriptions de la présente partie complètent, modifient ou remplacent les prescriptions générales des autres parties de la NF C 15-100.</a:t>
            </a:r>
          </a:p>
          <a:p>
            <a:pPr>
              <a:defRPr sz="1600"/>
            </a:pPr>
            <a:r>
              <a:t>Les numéros suivant le numéro particulier de la partie 7-705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- 379 -   H.</a:t>
            </a:r>
          </a:p>
        </p:txBody>
      </p:sp>
    </p:spTree>
  </p:cSld>
  <p:clrMapOvr>
    <a:masterClrMapping/>
  </p:clrMapOvr>
</p:sld>
</file>

<file path=ppt/slides/slide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705.1 Domaine d'application</a:t>
            </a:r>
          </a:p>
        </p:txBody>
      </p:sp>
      <p:sp>
        <p:nvSpPr>
          <p:cNvPr id="3" name="Content Placeholder 2"/>
          <p:cNvSpPr>
            <a:spLocks noGrp="1"/>
          </p:cNvSpPr>
          <p:nvPr>
            <p:ph idx="1"/>
          </p:nvPr>
        </p:nvSpPr>
        <p:spPr/>
        <p:txBody>
          <a:bodyPr/>
          <a:lstStyle/>
          <a:p>
            <a:pPr>
              <a:defRPr sz="1600"/>
            </a:pPr>
            <a:r>
              <a:t>Les prescriptions particulières de la présente partie s'appliquent à toutes les parties des installations fixes des établissements agricoles et horticoles situées à l'extérieur et à l'intérieur et aux emplacements où se trouvent des animaux d'élevage (telles qu'écuries, étables, poulaillers, porcheries, locaux pour la préparation de la nourriture des animaux, greniers, granges pour le foin, la paille et les fertiliseurs, etc.</a:t>
            </a:r>
          </a:p>
          <a:p>
            <a:pPr>
              <a:defRPr sz="1600"/>
            </a:pPr>
            <a:r>
              <a:t>).</a:t>
            </a:r>
          </a:p>
          <a:p>
            <a:pPr>
              <a:defRPr sz="1600"/>
            </a:pPr>
            <a:r>
              <a:t>Les installations des logements d'habitation de ces établissements ne sont pas soumises aux règles de la présente partie, mais à la partie 7-771.</a:t>
            </a:r>
          </a:p>
          <a:p>
            <a:pPr>
              <a:defRPr sz="1600"/>
            </a:pPr>
            <a:r>
              <a:t>En cas d’incident, il convient de considérer la continuité de service des fonctions vitales pour la survie des animaux.</a:t>
            </a:r>
          </a:p>
          <a:p>
            <a:pPr>
              <a:defRPr sz="1600"/>
            </a:pPr>
            <a:r>
              <a:t>H.</a:t>
            </a:r>
          </a:p>
        </p:txBody>
      </p:sp>
    </p:spTree>
  </p:cSld>
  <p:clrMapOvr>
    <a:masterClrMapping/>
  </p:clrMapOvr>
</p:sld>
</file>

<file path=ppt/slides/slide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705.353 Source de sécurité ou de remplacement</a:t>
            </a:r>
          </a:p>
        </p:txBody>
      </p:sp>
      <p:sp>
        <p:nvSpPr>
          <p:cNvPr id="3" name="Content Placeholder 2"/>
          <p:cNvSpPr>
            <a:spLocks noGrp="1"/>
          </p:cNvSpPr>
          <p:nvPr>
            <p:ph idx="1"/>
          </p:nvPr>
        </p:nvSpPr>
        <p:spPr/>
        <p:txBody>
          <a:bodyPr/>
          <a:lstStyle/>
          <a:p>
            <a:pPr>
              <a:defRPr sz="1600"/>
            </a:pPr>
            <a:r>
              <a:t>Pour l'élevage intensif des animaux (production industrielle animale), il y a lieu de prendre en compte la nécessité éventuelle d’une source de remplacement.</a:t>
            </a:r>
          </a:p>
        </p:txBody>
      </p:sp>
    </p:spTree>
  </p:cSld>
  <p:clrMapOvr>
    <a:masterClrMapping/>
  </p:clrMapOvr>
</p:sld>
</file>

<file path=ppt/slides/slide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705.414 Lorsque la TBTS ou la TBTP est utilisée, la protection contre les contacts directs doit</a:t>
            </a:r>
          </a:p>
        </p:txBody>
      </p:sp>
      <p:sp>
        <p:nvSpPr>
          <p:cNvPr id="3" name="Content Placeholder 2"/>
          <p:cNvSpPr>
            <a:spLocks noGrp="1"/>
          </p:cNvSpPr>
          <p:nvPr>
            <p:ph idx="1"/>
          </p:nvPr>
        </p:nvSpPr>
        <p:spPr/>
        <p:txBody>
          <a:bodyPr/>
          <a:lstStyle/>
          <a:p>
            <a:pPr>
              <a:defRPr sz="1600"/>
            </a:pPr>
            <a:r>
              <a:t>être assurée au moyen de barrières ou d'enveloppes présentant au moins le degré de protection IP2X ou IPXXB, quelle que soit la tension nominale.</a:t>
            </a:r>
          </a:p>
        </p:txBody>
      </p:sp>
    </p:spTree>
  </p:cSld>
  <p:clrMapOvr>
    <a:masterClrMapping/>
  </p:clrMapOvr>
</p:sld>
</file>

<file path=ppt/slides/slide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705.415.1 Les circuits alimentant des prises de courant, quel que soit leur courant assigné,</a:t>
            </a:r>
          </a:p>
        </p:txBody>
      </p:sp>
      <p:sp>
        <p:nvSpPr>
          <p:cNvPr id="3" name="Content Placeholder 2"/>
          <p:cNvSpPr>
            <a:spLocks noGrp="1"/>
          </p:cNvSpPr>
          <p:nvPr>
            <p:ph idx="1"/>
          </p:nvPr>
        </p:nvSpPr>
        <p:spPr/>
        <p:txBody>
          <a:bodyPr/>
          <a:lstStyle/>
          <a:p>
            <a:pPr>
              <a:defRPr sz="1600"/>
            </a:pPr>
            <a:r>
              <a:t>doivent être protégés par des dispositifs différentiels dont le courant différentiel-résiduel assigné n'est pas supérieur à 30 mA.</a:t>
            </a:r>
          </a:p>
        </p:txBody>
      </p:sp>
    </p:spTree>
  </p:cSld>
  <p:clrMapOvr>
    <a:masterClrMapping/>
  </p:clrMapOvr>
</p:sld>
</file>

<file path=ppt/slides/slide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705.415.2 Liaison équipotentielle supplémentaire</a:t>
            </a:r>
          </a:p>
        </p:txBody>
      </p:sp>
      <p:sp>
        <p:nvSpPr>
          <p:cNvPr id="3" name="Content Placeholder 2"/>
          <p:cNvSpPr>
            <a:spLocks noGrp="1"/>
          </p:cNvSpPr>
          <p:nvPr>
            <p:ph idx="1"/>
          </p:nvPr>
        </p:nvSpPr>
        <p:spPr/>
        <p:txBody>
          <a:bodyPr/>
          <a:lstStyle/>
          <a:p>
            <a:pPr>
              <a:defRPr sz="1600"/>
            </a:pPr>
            <a:r>
              <a:t>Dans les locaux où se trouvent les animaux, une liaison équipotentielle supplémentaire doit relier toutes les masses et tous les éléments conducteurs qui peuvent être touchés par les animaux.</a:t>
            </a:r>
          </a:p>
          <a:p>
            <a:pPr>
              <a:defRPr sz="1600"/>
            </a:pPr>
            <a:r>
              <a:t>Tous les sols conducteurs doivent comporter des armatures métalliques reliées à la liaison équipotentielle supplémentaire.</a:t>
            </a:r>
          </a:p>
          <a:p>
            <a:pPr>
              <a:defRPr sz="1600"/>
            </a:pPr>
            <a:r>
              <a:t>H.</a:t>
            </a:r>
          </a:p>
        </p:txBody>
      </p:sp>
    </p:spTree>
  </p:cSld>
  <p:clrMapOvr>
    <a:masterClrMapping/>
  </p:clrMapOvr>
</p:sld>
</file>

<file path=ppt/slides/slide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705.422 Règles complémentaires de protection contre l'incendie</a:t>
            </a:r>
          </a:p>
        </p:txBody>
      </p:sp>
      <p:sp>
        <p:nvSpPr>
          <p:cNvPr id="3" name="Content Placeholder 2"/>
          <p:cNvSpPr>
            <a:spLocks noGrp="1"/>
          </p:cNvSpPr>
          <p:nvPr>
            <p:ph idx="1"/>
          </p:nvPr>
        </p:nvSpPr>
        <p:spPr/>
        <p:txBody>
          <a:bodyPr/>
          <a:lstStyle/>
          <a:p>
            <a:pPr>
              <a:defRPr sz="1600"/>
            </a:pPr>
            <a:r>
              <a:t>Dans les locaux ou emplacements à risques d’incendie (BE2), la protection doit être assurée par des DDR de courant différentiel-résiduel assigné au plus égal à 300 mA.</a:t>
            </a:r>
          </a:p>
          <a:p>
            <a:pPr>
              <a:defRPr sz="1600"/>
            </a:pPr>
            <a:r>
              <a:t>Ces locaux ou emplacements sont définis dans le guide UTE C 15-103.</a:t>
            </a:r>
          </a:p>
          <a:p>
            <a:pPr>
              <a:defRPr sz="1600"/>
            </a:pPr>
            <a:r>
              <a:t>H  Losque la continuité de service est requise, ces dispositifs doivent être soit de type S, soit retardés.</a:t>
            </a:r>
          </a:p>
          <a:p>
            <a:pPr>
              <a:defRPr sz="1600"/>
            </a:pPr>
            <a:r>
              <a:t>Les appareils de chauffage utilisés dans les locaux d'élevage des animaux doivent être fixes et maintenus à une distance appropriée des animaux et des matériaux combustibles pour éviter tout risque de brûlures aux animaux ou d'incendie.</a:t>
            </a:r>
          </a:p>
          <a:p>
            <a:pPr>
              <a:defRPr sz="1600"/>
            </a:pPr>
            <a:r>
              <a:t>Pour les appareils radiants, la distance doit être d'au moins 0,5 m, à moins qu'une distance plus grande ne soit spécifiée par le constructeur de l'appareil dans la notice d'emploi.</a:t>
            </a:r>
          </a:p>
        </p:txBody>
      </p:sp>
    </p:spTree>
  </p:cSld>
  <p:clrMapOvr>
    <a:masterClrMapping/>
  </p:clrMapOvr>
</p:sld>
</file>

<file path=ppt/slides/slide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705.443 Protection contre les surtensions d’origine atmosphérique ou dues à des</a:t>
            </a:r>
          </a:p>
        </p:txBody>
      </p:sp>
      <p:sp>
        <p:nvSpPr>
          <p:cNvPr id="3" name="Content Placeholder 2"/>
          <p:cNvSpPr>
            <a:spLocks noGrp="1"/>
          </p:cNvSpPr>
          <p:nvPr>
            <p:ph idx="1"/>
          </p:nvPr>
        </p:nvSpPr>
        <p:spPr/>
        <p:txBody>
          <a:bodyPr/>
          <a:lstStyle/>
          <a:p>
            <a:pPr>
              <a:defRPr sz="1600"/>
            </a:pPr>
            <a:r>
              <a:t>manœuvres  Lorsque la protection par parafoudre n’est pas parafoudres est néanmoins recommandée.</a:t>
            </a:r>
          </a:p>
          <a:p>
            <a:pPr>
              <a:defRPr sz="1600"/>
            </a:pPr>
            <a:r>
              <a:t>imposée par 443, la mise en œuvre de  - 380 -.</a:t>
            </a:r>
          </a:p>
        </p:txBody>
      </p:sp>
    </p:spTree>
  </p:cSld>
  <p:clrMapOvr>
    <a:masterClrMapping/>
  </p:clrMapOvr>
</p:sld>
</file>

<file path=ppt/slides/slide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705.512 Les matériels électriques doivent posséder au moins les degrés de protection tels</a:t>
            </a:r>
          </a:p>
        </p:txBody>
      </p:sp>
      <p:sp>
        <p:nvSpPr>
          <p:cNvPr id="3" name="Content Placeholder 2"/>
          <p:cNvSpPr>
            <a:spLocks noGrp="1"/>
          </p:cNvSpPr>
          <p:nvPr>
            <p:ph idx="1"/>
          </p:nvPr>
        </p:nvSpPr>
        <p:spPr/>
        <p:txBody>
          <a:bodyPr/>
          <a:lstStyle/>
          <a:p>
            <a:pPr>
              <a:defRPr sz="1600"/>
            </a:pPr>
            <a:r>
              <a:t>qu’indiqués dans le guide UTE C 15-103.</a:t>
            </a:r>
          </a:p>
          <a:p>
            <a:pPr>
              <a:defRPr sz="1600"/>
            </a:pPr>
            <a:r>
              <a:t>H.</a:t>
            </a:r>
          </a:p>
        </p:txBody>
      </p:sp>
    </p:spTree>
  </p:cSld>
  <p:clrMapOvr>
    <a:masterClrMapping/>
  </p:clrMapOvr>
</p:sld>
</file>

<file path=ppt/slides/slide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705.536 Dispositifs de sectionnement et de commande</a:t>
            </a:r>
          </a:p>
        </p:txBody>
      </p:sp>
      <p:sp>
        <p:nvSpPr>
          <p:cNvPr id="3" name="Content Placeholder 2"/>
          <p:cNvSpPr>
            <a:spLocks noGrp="1"/>
          </p:cNvSpPr>
          <p:nvPr>
            <p:ph idx="1"/>
          </p:nvPr>
        </p:nvSpPr>
        <p:spPr/>
        <p:txBody>
          <a:bodyPr/>
          <a:lstStyle/>
          <a:p>
            <a:pPr>
              <a:defRPr sz="1600"/>
            </a:pPr>
            <a:r>
              <a:t>Les dispositifs de coupure d'urgence ne doivent pas être disposés dans des endroits accessibles par les animaux ou dont l'accès serait empêché par des animaux.</a:t>
            </a:r>
          </a:p>
        </p:txBody>
      </p:sp>
    </p:spTree>
  </p:cSld>
  <p:clrMapOvr>
    <a:masterClrMapping/>
  </p:clrMapOvr>
</p:sld>
</file>

<file path=ppt/slides/slide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705.55 Autres matériels</a:t>
            </a:r>
          </a:p>
        </p:txBody>
      </p:sp>
      <p:sp>
        <p:nvSpPr>
          <p:cNvPr id="3" name="Content Placeholder 2"/>
          <p:cNvSpPr>
            <a:spLocks noGrp="1"/>
          </p:cNvSpPr>
          <p:nvPr>
            <p:ph idx="1"/>
          </p:nvPr>
        </p:nvSpPr>
        <p:spPr/>
        <p:txBody>
          <a:bodyPr/>
          <a:lstStyle/>
          <a:p>
            <a:pPr>
              <a:defRPr sz="1600"/>
            </a:pPr>
            <a:r>
              <a:t>Lorsque des clôtures électriques sont placées au voisinage de lignes électriques aériennes, des distances appropriées doivent être respectées pour limiter les courants induits.</a:t>
            </a:r>
          </a:p>
          <a:p>
            <a:pPr>
              <a:defRPr sz="1600"/>
            </a:pPr>
            <a:r>
              <a:t>Les règles de mise en œuvre des clôtures électriques font l’objet de la norme NF EN 60335-2- 76 (C 73-876).</a:t>
            </a:r>
          </a:p>
          <a:p>
            <a:pPr>
              <a:defRPr sz="1600"/>
            </a:pPr>
            <a:r>
              <a:t>______________  - 381 -   Partie 7-706 – Enceintes conductrices exiguës.</a:t>
            </a:r>
          </a:p>
        </p:txBody>
      </p:sp>
    </p:spTree>
  </p:cSld>
  <p:clrMapOvr>
    <a:masterClrMapping/>
  </p:clrMapOvr>
</p:sld>
</file>

<file path=ppt/slides/slide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706.4 Protection pour assurer la sécurité ............................................................................383</a:t>
            </a:r>
          </a:p>
        </p:txBody>
      </p:sp>
      <p:sp>
        <p:nvSpPr>
          <p:cNvPr id="3" name="Content Placeholder 2"/>
          <p:cNvSpPr>
            <a:spLocks noGrp="1"/>
          </p:cNvSpPr>
          <p:nvPr>
            <p:ph idx="1"/>
          </p:nvPr>
        </p:nvSpPr>
        <p:spPr/>
        <p:txBody>
          <a:bodyPr/>
          <a:lstStyle/>
          <a:p>
            <a:pPr>
              <a:defRPr sz="1600"/>
            </a:pPr>
            <a:r>
              <a:t>______________  Les prescriptions de la présente partie complètent, modifient ou remplacent les prescriptions générales des autres parties de la NF C 15-100.</a:t>
            </a:r>
          </a:p>
          <a:p>
            <a:pPr>
              <a:defRPr sz="1600"/>
            </a:pPr>
            <a:r>
              <a:t>Les numéros suivant le numéro particulier de la partie 7-706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- 383 -   H.</a:t>
            </a:r>
          </a:p>
        </p:txBody>
      </p:sp>
    </p:spTree>
  </p:cSld>
  <p:clrMapOvr>
    <a:masterClrMapping/>
  </p:clrMapOvr>
</p:sld>
</file>

<file path=ppt/slides/slide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706.1 Domaine d'application</a:t>
            </a:r>
          </a:p>
        </p:txBody>
      </p:sp>
      <p:sp>
        <p:nvSpPr>
          <p:cNvPr id="3" name="Content Placeholder 2"/>
          <p:cNvSpPr>
            <a:spLocks noGrp="1"/>
          </p:cNvSpPr>
          <p:nvPr>
            <p:ph idx="1"/>
          </p:nvPr>
        </p:nvSpPr>
        <p:spPr/>
        <p:txBody>
          <a:bodyPr/>
          <a:lstStyle/>
          <a:p>
            <a:pPr>
              <a:defRPr sz="1600"/>
            </a:pPr>
            <a:r>
              <a:t>Les prescriptions particulières de la présente section s'appliquent aux installations des enceintes conductrices exiguës (emplacements BC4) et à l'alimentation des appareils à l'intérieur de ces enceintes.</a:t>
            </a:r>
          </a:p>
          <a:p>
            <a:pPr>
              <a:defRPr sz="1600"/>
            </a:pPr>
            <a:r>
              <a:t>Une enceinte conductrice exiguë est un local ou emplacement de travail dont les parois sont essentiellement constituées de parties métalliques ou conductrices, à l’intérieur duquel une personne peut venir en contact, sur une partie importante de son corps, avec les parties conductrices environnantes et dont l’exiguïté limite les possibilités d’interrompre ce contact  Des exemples d'enceintes conductrices sont les chaudières, toutes cuves métalliques dont les dimensions sont telles que les personnes qui y pénètrent pour leur réparation ou leur entretien sont continuellement en contact avec les parois.</a:t>
            </a:r>
          </a:p>
          <a:p>
            <a:pPr>
              <a:defRPr sz="1600"/>
            </a:pPr>
            <a:r>
              <a:t>D'une façon générale, il suffit qu'une dimension de l'enceinte soit particulièrement réduite - par exemple un vide sanitaire ou une fosse de garage - pour que la liberté de mouvement des personnes soit restreinte et que les règles relatives aux enceintes conductrices soient applicables.</a:t>
            </a:r>
          </a:p>
          <a:p>
            <a:pPr>
              <a:defRPr sz="1600"/>
            </a:pPr>
            <a:r>
              <a:t>Les prescriptions de cette partie ne s'appliquent pas aux emplacements dans lesquels les personnes peuvent se mouvoir librement pour travailler, y pénétrer ou en sortir, sans contrainte physique.</a:t>
            </a:r>
          </a:p>
          <a:p>
            <a:pPr>
              <a:defRPr sz="1600"/>
            </a:pPr>
            <a:r>
              <a:t>Elles s'appliquent à l'installation des matériels fixes dans les enceintes conductrices exiguës et à l'alimentation des matériels portatifs dans ces enceintes.</a:t>
            </a:r>
          </a:p>
        </p:txBody>
      </p:sp>
    </p:spTree>
  </p:cSld>
  <p:clrMapOvr>
    <a:masterClrMapping/>
  </p:clrMapOvr>
</p:sld>
</file>

<file path=ppt/slides/slide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706.410.3 Généralités</a:t>
            </a:r>
          </a:p>
        </p:txBody>
      </p:sp>
      <p:sp>
        <p:nvSpPr>
          <p:cNvPr id="3" name="Content Placeholder 2"/>
          <p:cNvSpPr>
            <a:spLocks noGrp="1"/>
          </p:cNvSpPr>
          <p:nvPr>
            <p:ph idx="1"/>
          </p:nvPr>
        </p:nvSpPr>
        <p:spPr/>
        <p:txBody>
          <a:bodyPr/>
          <a:lstStyle/>
          <a:p>
            <a:pPr>
              <a:defRPr sz="1600"/>
            </a:pPr>
            <a:r>
              <a:t>Seules sont admises les mesures de protection suivantes :  a) pour l'alimentation d'outils portatifs et d'appareils de mesures portatifs :  - soit la TBTS (414) ; - soit la séparation électrique des circuits limitée à l’alimentation d’un seul appareil  (413).</a:t>
            </a:r>
          </a:p>
          <a:p>
            <a:pPr>
              <a:defRPr sz="1600"/>
            </a:pPr>
            <a:r>
              <a:t>Les matériels électriques sont de préférence de la classe II ; s’ils sont de la classe I, leur masse et l'ensemble des éléments conducteurs constituant l'enceinte conductrice sont interconnectés.</a:t>
            </a:r>
          </a:p>
          <a:p>
            <a:pPr>
              <a:defRPr sz="1600"/>
            </a:pPr>
            <a:r>
              <a:t>b) pour l'alimentation des lampes baladeuses :  -  la TBTS (414) ;  Un luminaire à fluorescence avec un transformateur élévateur incorporé alimenté en TBTS est également admis.</a:t>
            </a:r>
          </a:p>
          <a:p>
            <a:pPr>
              <a:defRPr sz="1600"/>
            </a:pPr>
            <a:r>
              <a:t>H  c) Pour l'alimentation des matériels fixes :  - soit la coupure automa tique de l'alimentation (411) ; une liaison équipotentielle  supplémentaire (415.</a:t>
            </a:r>
          </a:p>
          <a:p>
            <a:pPr>
              <a:defRPr sz="1600"/>
            </a:pPr>
            <a:r>
              <a:t>2) conductrices de l'enceinte ;    doit relier les masses des matériels fixes et les parties  - soit la TBTS (article 414) ;  - soit la séparation électrique des circuits limitée à l’alimentation d’un seul appareil  (413) ;  - soit un dispositif de protection différentiel ayant un courant différentiel-résiduel assigné au plus égal à 30 mA protégeant un matériel de classe Il ou ayant une isolation équivalente, sous réserve que ce matériel possède un degré de protection adéquat.</a:t>
            </a:r>
          </a:p>
        </p:txBody>
      </p:sp>
    </p:spTree>
  </p:cSld>
  <p:clrMapOvr>
    <a:masterClrMapping/>
  </p:clrMapOvr>
</p:sld>
</file>

<file path=ppt/slides/slide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706.415.2 Liaison équipotentielle supplémentaire</a:t>
            </a:r>
          </a:p>
        </p:txBody>
      </p:sp>
      <p:sp>
        <p:nvSpPr>
          <p:cNvPr id="3" name="Content Placeholder 2"/>
          <p:cNvSpPr>
            <a:spLocks noGrp="1"/>
          </p:cNvSpPr>
          <p:nvPr>
            <p:ph idx="1"/>
          </p:nvPr>
        </p:nvSpPr>
        <p:spPr/>
        <p:txBody>
          <a:bodyPr/>
          <a:lstStyle/>
          <a:p>
            <a:pPr>
              <a:defRPr sz="1600"/>
            </a:pPr>
            <a:r>
              <a:t>Si pour certains matériels, tels que des appareils de mesure ou de contrôle, il est nécessaire de disposer d'une prise de terre fonctionnelle, une liaison équipotentielle doit relier toutes les masses, tous les éléments conducteurs à l'intérieur de l'enceinte conductrice et la prise de terre fonctionnelle.</a:t>
            </a:r>
          </a:p>
          <a:p>
            <a:pPr>
              <a:defRPr sz="1600"/>
            </a:pPr>
            <a:r>
              <a:t>_________________  - 385 -   Partie 7-708 – Installations électriques des parcs de caravanes.</a:t>
            </a:r>
          </a:p>
        </p:txBody>
      </p:sp>
    </p:spTree>
  </p:cSld>
  <p:clrMapOvr>
    <a:masterClrMapping/>
  </p:clrMapOvr>
</p:sld>
</file>

<file path=ppt/slides/slide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708.530 Généralités et règles communes............................................................................388</a:t>
            </a:r>
          </a:p>
        </p:txBody>
      </p:sp>
      <p:sp>
        <p:nvSpPr>
          <p:cNvPr id="3" name="Content Placeholder 2"/>
          <p:cNvSpPr>
            <a:spLocks noGrp="1"/>
          </p:cNvSpPr>
          <p:nvPr>
            <p:ph idx="1"/>
          </p:nvPr>
        </p:nvSpPr>
        <p:spPr/>
        <p:txBody>
          <a:bodyPr/>
          <a:lstStyle/>
          <a:p>
            <a:pPr>
              <a:defRPr sz="1600"/>
            </a:pPr>
            <a:r>
              <a:t>Annexe - (informative) - Exemple d'instruction pour le branchement de la caravane sur l'alimentation du parc de caravanes.</a:t>
            </a:r>
          </a:p>
          <a:p>
            <a:pPr>
              <a:defRPr sz="1600"/>
            </a:pPr>
            <a:r>
              <a:t>391  Les prescriptions de la présente partie complètent, modifient ou remplacent les prescriptions générales des autres parties de la NF C 15-100.</a:t>
            </a:r>
          </a:p>
          <a:p>
            <a:pPr>
              <a:defRPr sz="1600"/>
            </a:pPr>
            <a:r>
              <a:t>Les numéros suivant le numéro particulier de la partie 7-708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-387-   H.</a:t>
            </a:r>
          </a:p>
        </p:txBody>
      </p:sp>
    </p:spTree>
  </p:cSld>
  <p:clrMapOvr>
    <a:masterClrMapping/>
  </p:clrMapOvr>
</p:sld>
</file>

<file path=ppt/slides/slide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708.1 Domaine d'application</a:t>
            </a:r>
          </a:p>
        </p:txBody>
      </p:sp>
      <p:sp>
        <p:nvSpPr>
          <p:cNvPr id="3" name="Content Placeholder 2"/>
          <p:cNvSpPr>
            <a:spLocks noGrp="1"/>
          </p:cNvSpPr>
          <p:nvPr>
            <p:ph idx="1"/>
          </p:nvPr>
        </p:nvSpPr>
        <p:spPr/>
        <p:txBody>
          <a:bodyPr/>
          <a:lstStyle/>
          <a:p>
            <a:pPr>
              <a:defRPr sz="1600"/>
            </a:pPr>
            <a:r>
              <a:t>Les prescriptions particulières de la présente partie s'appliquent aux parties des installations électriques des parcs de caravanes qui fournissent les possibilités d'alimentation des véhicules de loisirs ou des tentes.</a:t>
            </a:r>
          </a:p>
          <a:p>
            <a:pPr>
              <a:defRPr sz="1600"/>
            </a:pPr>
            <a:r>
              <a:t>Elles ne s'appliquent pas aux installations électriques intérieures des résidences mobiles de loisirs, des véhicules de loisirs, des unités mobiles ou transportables.</a:t>
            </a:r>
          </a:p>
          <a:p>
            <a:pPr>
              <a:defRPr sz="1600"/>
            </a:pPr>
            <a:r>
              <a:t>NOTES - 1 - Pour les installations dans les caravanes et les caravanes à moteur, fonctionnant en 12 V courant continu, les normes EN 1648-1 et EN 1648-2 s’appliquent.</a:t>
            </a:r>
          </a:p>
          <a:p>
            <a:pPr>
              <a:defRPr sz="1600"/>
            </a:pPr>
            <a:r>
              <a:t>2 - Pour les installations dans les caravanes et les caravanes à moteur, fonctionnant au-dessus de 12 V courant continu, la norme NF S 56-200 s’applique.</a:t>
            </a:r>
          </a:p>
        </p:txBody>
      </p:sp>
    </p:spTree>
  </p:cSld>
  <p:clrMapOvr>
    <a:masterClrMapping/>
  </p:clrMapOvr>
</p:sld>
</file>

<file path=ppt/slides/slide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708.2.1 Véhicule de loisirs</a:t>
            </a:r>
          </a:p>
        </p:txBody>
      </p:sp>
      <p:sp>
        <p:nvSpPr>
          <p:cNvPr id="3" name="Content Placeholder 2"/>
          <p:cNvSpPr>
            <a:spLocks noGrp="1"/>
          </p:cNvSpPr>
          <p:nvPr>
            <p:ph idx="1"/>
          </p:nvPr>
        </p:nvSpPr>
        <p:spPr/>
        <p:txBody>
          <a:bodyPr/>
          <a:lstStyle/>
          <a:p>
            <a:pPr>
              <a:defRPr sz="1600"/>
            </a:pPr>
            <a:r>
              <a:t>Unité équipée pour l'habitation pour occupation temporaire ou saisonnière et pouvant satisfaire aux prescriptions pour la construction et l'utilisation des véhicules routiers.</a:t>
            </a:r>
          </a:p>
        </p:txBody>
      </p:sp>
    </p:spTree>
  </p:cSld>
  <p:clrMapOvr>
    <a:masterClrMapping/>
  </p:clrMapOvr>
</p:sld>
</file>

<file path=ppt/slides/slide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708.2.1.1 Caravane</a:t>
            </a:r>
          </a:p>
        </p:txBody>
      </p:sp>
      <p:sp>
        <p:nvSpPr>
          <p:cNvPr id="3" name="Content Placeholder 2"/>
          <p:cNvSpPr>
            <a:spLocks noGrp="1"/>
          </p:cNvSpPr>
          <p:nvPr>
            <p:ph idx="1"/>
          </p:nvPr>
        </p:nvSpPr>
        <p:spPr/>
        <p:txBody>
          <a:bodyPr/>
          <a:lstStyle/>
          <a:p>
            <a:pPr>
              <a:defRPr sz="1600"/>
            </a:pPr>
            <a:r>
              <a:t>Véhicule de loisirs remorqué, utilisé pour le tourisme, et pouvant satisfaire aux prescriptions pour la construction et l'utilisation des véhicules routiers.</a:t>
            </a:r>
          </a:p>
        </p:txBody>
      </p:sp>
    </p:spTree>
  </p:cSld>
  <p:clrMapOvr>
    <a:masterClrMapping/>
  </p:clrMapOvr>
</p:sld>
</file>

<file path=ppt/slides/slide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708.2.1.2 Caravane à moteur (camping car)</a:t>
            </a:r>
          </a:p>
        </p:txBody>
      </p:sp>
      <p:sp>
        <p:nvSpPr>
          <p:cNvPr id="3" name="Content Placeholder 2"/>
          <p:cNvSpPr>
            <a:spLocks noGrp="1"/>
          </p:cNvSpPr>
          <p:nvPr>
            <p:ph idx="1"/>
          </p:nvPr>
        </p:nvSpPr>
        <p:spPr/>
        <p:txBody>
          <a:bodyPr/>
          <a:lstStyle/>
          <a:p>
            <a:pPr>
              <a:defRPr sz="1600"/>
            </a:pPr>
            <a:r>
              <a:t>Véhicule de loisirs automoteur utilisé pour le tourisme et pouvant satisfaire aux prescriptions pour la construction et l'utilisation des véhicules routiers.</a:t>
            </a:r>
          </a:p>
          <a:p>
            <a:pPr>
              <a:defRPr sz="1600"/>
            </a:pPr>
            <a:r>
              <a:t>NOTE – La caravane à moteur est soit adaptée d’une série de production de véhicules, soit conçue et construite sur un châssis existant, avec ou sans cabine de conduite, le logement étant fixe ou démontable.</a:t>
            </a:r>
          </a:p>
        </p:txBody>
      </p:sp>
    </p:spTree>
  </p:cSld>
  <p:clrMapOvr>
    <a:masterClrMapping/>
  </p:clrMapOvr>
</p:sld>
</file>

<file path=ppt/slides/slide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708.2.1.3 Résidence mobile de loisirs</a:t>
            </a:r>
          </a:p>
        </p:txBody>
      </p:sp>
      <p:sp>
        <p:nvSpPr>
          <p:cNvPr id="3" name="Content Placeholder 2"/>
          <p:cNvSpPr>
            <a:spLocks noGrp="1"/>
          </p:cNvSpPr>
          <p:nvPr>
            <p:ph idx="1"/>
          </p:nvPr>
        </p:nvSpPr>
        <p:spPr/>
        <p:txBody>
          <a:bodyPr/>
          <a:lstStyle/>
          <a:p>
            <a:pPr>
              <a:defRPr sz="1600"/>
            </a:pPr>
            <a:r>
              <a:t>Véhicule de loisirs transportable qui inclut des moyens de mouvement mais ne satisfait pas aux prescriptions pour la construction et l’utilisation des véhicules routiers.</a:t>
            </a:r>
          </a:p>
        </p:txBody>
      </p:sp>
    </p:spTree>
  </p:cSld>
  <p:clrMapOvr>
    <a:masterClrMapping/>
  </p:clrMapOvr>
</p:sld>
</file>

<file path=ppt/slides/slide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708.2.2 Emplacement de caravane</a:t>
            </a:r>
          </a:p>
        </p:txBody>
      </p:sp>
      <p:sp>
        <p:nvSpPr>
          <p:cNvPr id="3" name="Content Placeholder 2"/>
          <p:cNvSpPr>
            <a:spLocks noGrp="1"/>
          </p:cNvSpPr>
          <p:nvPr>
            <p:ph idx="1"/>
          </p:nvPr>
        </p:nvSpPr>
        <p:spPr/>
        <p:txBody>
          <a:bodyPr/>
          <a:lstStyle/>
          <a:p>
            <a:pPr>
              <a:defRPr sz="1600"/>
            </a:pPr>
            <a:r>
              <a:t>Emplacement du sol destiné à l'installation d'un véhicule équipé pour les loisirs.</a:t>
            </a:r>
          </a:p>
        </p:txBody>
      </p:sp>
    </p:spTree>
  </p:cSld>
  <p:clrMapOvr>
    <a:masterClrMapping/>
  </p:clrMapOvr>
</p:sld>
</file>

<file path=ppt/slides/slide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708.2.3 Parc de caravanes</a:t>
            </a:r>
          </a:p>
        </p:txBody>
      </p:sp>
      <p:sp>
        <p:nvSpPr>
          <p:cNvPr id="3" name="Content Placeholder 2"/>
          <p:cNvSpPr>
            <a:spLocks noGrp="1"/>
          </p:cNvSpPr>
          <p:nvPr>
            <p:ph idx="1"/>
          </p:nvPr>
        </p:nvSpPr>
        <p:spPr/>
        <p:txBody>
          <a:bodyPr/>
          <a:lstStyle/>
          <a:p>
            <a:pPr>
              <a:defRPr sz="1600"/>
            </a:pPr>
            <a:r>
              <a:t>Surface de terrain qui contient plusieurs emplacements de caravanes.</a:t>
            </a:r>
          </a:p>
        </p:txBody>
      </p:sp>
    </p:spTree>
  </p:cSld>
  <p:clrMapOvr>
    <a:masterClrMapping/>
  </p:clrMapOvr>
</p:sld>
</file>

<file path=ppt/slides/slide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708.2.4 Point d'alimentation électrique de caravane</a:t>
            </a:r>
          </a:p>
        </p:txBody>
      </p:sp>
      <p:sp>
        <p:nvSpPr>
          <p:cNvPr id="3" name="Content Placeholder 2"/>
          <p:cNvSpPr>
            <a:spLocks noGrp="1"/>
          </p:cNvSpPr>
          <p:nvPr>
            <p:ph idx="1"/>
          </p:nvPr>
        </p:nvSpPr>
        <p:spPr/>
        <p:txBody>
          <a:bodyPr/>
          <a:lstStyle/>
          <a:p>
            <a:pPr>
              <a:defRPr sz="1600"/>
            </a:pPr>
            <a:r>
              <a:t>Matériel qui comporte les moyens de connexion et de déconnexion des câbles d'alimentation des véhicules de loisirs avec un réseau d'alimentation électrique.</a:t>
            </a:r>
          </a:p>
        </p:txBody>
      </p:sp>
    </p:spTree>
  </p:cSld>
  <p:clrMapOvr>
    <a:masterClrMapping/>
  </p:clrMapOvr>
</p:sld>
</file>

<file path=ppt/slides/slide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708.31 Tensions normalisées</a:t>
            </a:r>
          </a:p>
        </p:txBody>
      </p:sp>
      <p:sp>
        <p:nvSpPr>
          <p:cNvPr id="3" name="Content Placeholder 2"/>
          <p:cNvSpPr>
            <a:spLocks noGrp="1"/>
          </p:cNvSpPr>
          <p:nvPr>
            <p:ph idx="1"/>
          </p:nvPr>
        </p:nvSpPr>
        <p:spPr/>
        <p:txBody>
          <a:bodyPr/>
          <a:lstStyle/>
          <a:p>
            <a:pPr>
              <a:defRPr sz="1600"/>
            </a:pPr>
            <a:r>
              <a:t>La tension nominale de l’installation d’alimentation des véhicules de loisirs ne doit pas être supérieure à 230 V en courant alternatif monophasé ou à 400 V en courant alternatif triphasé.</a:t>
            </a:r>
          </a:p>
          <a:p>
            <a:pPr>
              <a:defRPr sz="1600"/>
            </a:pPr>
            <a:r>
              <a:t>- 388 -   H.</a:t>
            </a:r>
          </a:p>
        </p:txBody>
      </p:sp>
    </p:spTree>
  </p:cSld>
  <p:clrMapOvr>
    <a:masterClrMapping/>
  </p:clrMapOvr>
</p:sld>
</file>

<file path=ppt/slides/slide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708.411.4 Dans le cas d’un schéma TN, seul le schéma TN-S doit être utilisé.</a:t>
            </a:r>
          </a:p>
        </p:txBody>
      </p:sp>
      <p:sp>
        <p:nvSpPr>
          <p:cNvPr id="3" name="Content Placeholder 2"/>
          <p:cNvSpPr>
            <a:spLocks noGrp="1"/>
          </p:cNvSpPr>
          <p:nvPr>
            <p:ph idx="1"/>
          </p:nvPr>
        </p:nvSpPr>
        <p:spPr/>
        <p:txBody>
          <a:bodyPr/>
          <a:lstStyle/>
          <a:p>
            <a:pPr>
              <a:defRPr sz="1600"/>
            </a:pPr>
            <a:r>
              <a:t>Le schéma IT est déconseillé.</a:t>
            </a:r>
          </a:p>
          <a:p>
            <a:pPr>
              <a:defRPr sz="1600"/>
            </a:pPr>
            <a:r>
              <a:t>H.</a:t>
            </a:r>
          </a:p>
        </p:txBody>
      </p:sp>
    </p:spTree>
  </p:cSld>
  <p:clrMapOvr>
    <a:masterClrMapping/>
  </p:clrMapOvr>
</p:sld>
</file>

<file path=ppt/slides/slide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708.415.1 Protection complémentaire par dispositifs à courant différentiel résiduel</a:t>
            </a:r>
          </a:p>
        </p:txBody>
      </p:sp>
      <p:sp>
        <p:nvSpPr>
          <p:cNvPr id="3" name="Content Placeholder 2"/>
          <p:cNvSpPr>
            <a:spLocks noGrp="1"/>
          </p:cNvSpPr>
          <p:nvPr>
            <p:ph idx="1"/>
          </p:nvPr>
        </p:nvSpPr>
        <p:spPr/>
        <p:txBody>
          <a:bodyPr/>
          <a:lstStyle/>
          <a:p>
            <a:pPr>
              <a:defRPr sz="1600"/>
            </a:pPr>
            <a:r>
              <a:t>Les socles de prise de courant doivent être protégés par un dispositif à courant différentiel résiduel ayant un courant différentiel résiduel assigné au plus égal à 30 mA.</a:t>
            </a:r>
          </a:p>
        </p:txBody>
      </p:sp>
    </p:spTree>
  </p:cSld>
  <p:clrMapOvr>
    <a:masterClrMapping/>
  </p:clrMapOvr>
</p:sld>
</file>

<file path=ppt/slides/slide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708.51 Influences externes</a:t>
            </a:r>
          </a:p>
        </p:txBody>
      </p:sp>
      <p:sp>
        <p:nvSpPr>
          <p:cNvPr id="3" name="Content Placeholder 2"/>
          <p:cNvSpPr>
            <a:spLocks noGrp="1"/>
          </p:cNvSpPr>
          <p:nvPr>
            <p:ph idx="1"/>
          </p:nvPr>
        </p:nvSpPr>
        <p:spPr/>
        <p:txBody>
          <a:bodyPr/>
          <a:lstStyle/>
          <a:p>
            <a:pPr>
              <a:defRPr sz="1600"/>
            </a:pPr>
            <a:r>
              <a:t>Les matériels installés dans les parcs de caravanes doivent satisfaire aux conditions d’influences externes suivantes : - présence d’eau : AD4 (projections d’eau), IPX4 ; - présence de corps étrangers : AE2 (petits objets), IP3X ; - contraintes mécaniques (chocs) : AG3 (importants), IK08.</a:t>
            </a:r>
          </a:p>
        </p:txBody>
      </p:sp>
    </p:spTree>
  </p:cSld>
  <p:clrMapOvr>
    <a:masterClrMapping/>
  </p:clrMapOvr>
</p:sld>
</file>

<file path=ppt/slides/slide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708.52 Canalisations</a:t>
            </a:r>
          </a:p>
        </p:txBody>
      </p:sp>
      <p:sp>
        <p:nvSpPr>
          <p:cNvPr id="3" name="Content Placeholder 2"/>
          <p:cNvSpPr>
            <a:spLocks noGrp="1"/>
          </p:cNvSpPr>
          <p:nvPr>
            <p:ph idx="1"/>
          </p:nvPr>
        </p:nvSpPr>
        <p:spPr/>
        <p:txBody>
          <a:bodyPr/>
          <a:lstStyle/>
          <a:p>
            <a:pPr>
              <a:defRPr sz="1600"/>
            </a:pPr>
            <a:r>
              <a:t>Les canalisations suivantes sont appropriées pour d'alimentation électrique des caravanes :  les circuits alimentant  les points  - canalisations enterrées ; -  lignes aériennes.</a:t>
            </a:r>
          </a:p>
          <a:p>
            <a:pPr>
              <a:defRPr sz="1600"/>
            </a:pPr>
            <a:r>
              <a:t>NOTE – Il est recommandé que l’alimentation des points de connexion des véhicules de loisirs soit réalisée par des canalisations enterrées.</a:t>
            </a:r>
          </a:p>
        </p:txBody>
      </p:sp>
    </p:spTree>
  </p:cSld>
  <p:clrMapOvr>
    <a:masterClrMapping/>
  </p:clrMapOvr>
</p:sld>
</file>

<file path=ppt/slides/slide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708.529.5 Canalisations enterrées</a:t>
            </a:r>
          </a:p>
        </p:txBody>
      </p:sp>
      <p:sp>
        <p:nvSpPr>
          <p:cNvPr id="3" name="Content Placeholder 2"/>
          <p:cNvSpPr>
            <a:spLocks noGrp="1"/>
          </p:cNvSpPr>
          <p:nvPr>
            <p:ph idx="1"/>
          </p:nvPr>
        </p:nvSpPr>
        <p:spPr/>
        <p:txBody>
          <a:bodyPr/>
          <a:lstStyle/>
          <a:p>
            <a:pPr>
              <a:defRPr sz="1600"/>
            </a:pPr>
            <a:r>
              <a:t>Les canalisations enterrées doivent satisfaire aux prescriptions de 529.</a:t>
            </a:r>
          </a:p>
          <a:p>
            <a:pPr>
              <a:defRPr sz="1600"/>
            </a:pPr>
            <a:r>
              <a:t>5.</a:t>
            </a:r>
          </a:p>
          <a:p>
            <a:pPr>
              <a:defRPr sz="1600"/>
            </a:pPr>
            <a:r>
              <a:t>Les canalisations enterrées doivent, à moins qu’elles ne comportent une protection mécanique complémentaire, être placées en dehors de tout emplacement de caravane ou de toute surface où des piquets de tente ou des crochets d’ancrage peuvent être implantés.</a:t>
            </a:r>
          </a:p>
        </p:txBody>
      </p:sp>
    </p:spTree>
  </p:cSld>
  <p:clrMapOvr>
    <a:masterClrMapping/>
  </p:clrMapOvr>
</p:sld>
</file>

<file path=ppt/slides/slide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708.529.7 Lignes aériennes</a:t>
            </a:r>
          </a:p>
        </p:txBody>
      </p:sp>
      <p:sp>
        <p:nvSpPr>
          <p:cNvPr id="3" name="Content Placeholder 2"/>
          <p:cNvSpPr>
            <a:spLocks noGrp="1"/>
          </p:cNvSpPr>
          <p:nvPr>
            <p:ph idx="1"/>
          </p:nvPr>
        </p:nvSpPr>
        <p:spPr/>
        <p:txBody>
          <a:bodyPr/>
          <a:lstStyle/>
          <a:p>
            <a:pPr>
              <a:defRPr sz="1600"/>
            </a:pPr>
            <a:r>
              <a:t>Tous les conducteurs aériens doivent être isolés.</a:t>
            </a:r>
          </a:p>
          <a:p>
            <a:pPr>
              <a:defRPr sz="1600"/>
            </a:pPr>
            <a:r>
              <a:t>Les poteaux et autres supports de lignes aériennes doivent être placés ou protégés de sorte qu'ils ne puissent être endommagés par tout mouvement prévisible des véhicules.</a:t>
            </a:r>
          </a:p>
          <a:p>
            <a:pPr>
              <a:defRPr sz="1600"/>
            </a:pPr>
            <a:r>
              <a:t>Les lignes aériennes doivent être à une hauteur au-dessus du sol supérieure ou égale à 6 m dans tous les endroits où les véhicules peuvent se déplacer et à 3,5 m dans les autres endroits.</a:t>
            </a:r>
          </a:p>
        </p:txBody>
      </p:sp>
    </p:spTree>
  </p:cSld>
  <p:clrMapOvr>
    <a:masterClrMapping/>
  </p:clrMapOvr>
</p:sld>
</file>

<file path=ppt/slides/slide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708.530.1 Le point d'alimentation électrique doit être placé au bord de l'emplacement et à</a:t>
            </a:r>
          </a:p>
        </p:txBody>
      </p:sp>
      <p:sp>
        <p:nvSpPr>
          <p:cNvPr id="3" name="Content Placeholder 2"/>
          <p:cNvSpPr>
            <a:spLocks noGrp="1"/>
          </p:cNvSpPr>
          <p:nvPr>
            <p:ph idx="1"/>
          </p:nvPr>
        </p:nvSpPr>
        <p:spPr/>
        <p:txBody>
          <a:bodyPr/>
          <a:lstStyle/>
          <a:p>
            <a:pPr>
              <a:defRPr sz="1600"/>
            </a:pPr>
            <a:r>
              <a:t>20 m au plus du point de connexion du véhicule de loisirs ou de la tente.</a:t>
            </a:r>
          </a:p>
          <a:p>
            <a:pPr>
              <a:defRPr sz="1600"/>
            </a:pPr>
            <a:r>
              <a:t>- 389 -   H.</a:t>
            </a:r>
          </a:p>
        </p:txBody>
      </p:sp>
    </p:spTree>
  </p:cSld>
  <p:clrMapOvr>
    <a:masterClrMapping/>
  </p:clrMapOvr>
</p:sld>
</file>

<file path=ppt/slides/slide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708.530.2.1 Chaque socle de prise de courant et son enveloppe constituant une partie du</a:t>
            </a:r>
          </a:p>
        </p:txBody>
      </p:sp>
      <p:sp>
        <p:nvSpPr>
          <p:cNvPr id="3" name="Content Placeholder 2"/>
          <p:cNvSpPr>
            <a:spLocks noGrp="1"/>
          </p:cNvSpPr>
          <p:nvPr>
            <p:ph idx="1"/>
          </p:nvPr>
        </p:nvSpPr>
        <p:spPr/>
        <p:txBody>
          <a:bodyPr/>
          <a:lstStyle/>
          <a:p>
            <a:pPr>
              <a:defRPr sz="1600"/>
            </a:pPr>
            <a:r>
              <a:t>point d’alimentation électrique doivent être conformes à la norme  et satisfaire au minimum au degré de protection IP44.</a:t>
            </a:r>
          </a:p>
          <a:p>
            <a:pPr>
              <a:defRPr sz="1600"/>
            </a:pPr>
            <a:r>
              <a:t>(1).</a:t>
            </a:r>
          </a:p>
        </p:txBody>
      </p:sp>
    </p:spTree>
  </p:cSld>
  <p:clrMapOvr>
    <a:masterClrMapping/>
  </p:clrMapOvr>
</p:sld>
</file>

<file path=ppt/slides/slide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708.530.2.2 Les socles de prise de courant doivent être placés à une hauteur comprise entre</a:t>
            </a:r>
          </a:p>
        </p:txBody>
      </p:sp>
      <p:sp>
        <p:nvSpPr>
          <p:cNvPr id="3" name="Content Placeholder 2"/>
          <p:cNvSpPr>
            <a:spLocks noGrp="1"/>
          </p:cNvSpPr>
          <p:nvPr>
            <p:ph idx="1"/>
          </p:nvPr>
        </p:nvSpPr>
        <p:spPr/>
        <p:txBody>
          <a:bodyPr/>
          <a:lstStyle/>
          <a:p>
            <a:pPr>
              <a:defRPr sz="1600"/>
            </a:pPr>
            <a:r>
              <a:t>0,50 m et 1,50 m entre l’axe des alvéoles et le sol.</a:t>
            </a:r>
          </a:p>
          <a:p>
            <a:pPr>
              <a:defRPr sz="1600"/>
            </a:pPr>
            <a:r>
              <a:t>Dans des cas particuliers dus à des conditions d’environnement, la hauteur maximum peut être supérieure à 1,5 m.</a:t>
            </a:r>
          </a:p>
        </p:txBody>
      </p:sp>
    </p:spTree>
  </p:cSld>
  <p:clrMapOvr>
    <a:masterClrMapping/>
  </p:clrMapOvr>
</p:sld>
</file>

<file path=ppt/slides/slide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708.530.2.3 Le courant assigné des socles de prise de courant doit correspondre à la</a:t>
            </a:r>
          </a:p>
        </p:txBody>
      </p:sp>
      <p:sp>
        <p:nvSpPr>
          <p:cNvPr id="3" name="Content Placeholder 2"/>
          <p:cNvSpPr>
            <a:spLocks noGrp="1"/>
          </p:cNvSpPr>
          <p:nvPr>
            <p:ph idx="1"/>
          </p:nvPr>
        </p:nvSpPr>
        <p:spPr/>
        <p:txBody>
          <a:bodyPr/>
          <a:lstStyle/>
          <a:p>
            <a:pPr>
              <a:defRPr sz="1600"/>
            </a:pPr>
            <a:r>
              <a:t>demande maximale et être d'au moins 16 A.</a:t>
            </a:r>
          </a:p>
        </p:txBody>
      </p:sp>
    </p:spTree>
  </p:cSld>
  <p:clrMapOvr>
    <a:masterClrMapping/>
  </p:clrMapOvr>
</p:sld>
</file>

<file path=ppt/slides/slide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708.530.2.4 Un socle de prise de courant au moins doit être prévu pour la connexion de tout</a:t>
            </a:r>
          </a:p>
        </p:txBody>
      </p:sp>
      <p:sp>
        <p:nvSpPr>
          <p:cNvPr id="3" name="Content Placeholder 2"/>
          <p:cNvSpPr>
            <a:spLocks noGrp="1"/>
          </p:cNvSpPr>
          <p:nvPr>
            <p:ph idx="1"/>
          </p:nvPr>
        </p:nvSpPr>
        <p:spPr/>
        <p:txBody>
          <a:bodyPr/>
          <a:lstStyle/>
          <a:p>
            <a:pPr>
              <a:defRPr sz="1600"/>
            </a:pPr>
            <a:r>
              <a:t>véhicule de loisirs.</a:t>
            </a:r>
          </a:p>
        </p:txBody>
      </p:sp>
    </p:spTree>
  </p:cSld>
  <p:clrMapOvr>
    <a:masterClrMapping/>
  </p:clrMapOvr>
</p:sld>
</file>

<file path=ppt/slides/slide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708.530.3 Un socle de prise de courant doit alimenter seulement une caravane.</a:t>
            </a:r>
          </a:p>
        </p:txBody>
      </p:sp>
      <p:sp>
        <p:nvSpPr>
          <p:cNvPr id="3" name="Content Placeholder 2"/>
          <p:cNvSpPr>
            <a:spLocks noGrp="1"/>
          </p:cNvSpPr>
          <p:nvPr>
            <p:ph idx="1"/>
          </p:nvPr>
        </p:nvSpPr>
        <p:spPr/>
        <p:txBody>
          <a:bodyPr/>
          <a:lstStyle/>
          <a:p>
            <a:pPr>
              <a:defRPr sz="1600"/>
            </a:pPr>
            <a:r>
              <a:t>Il y a lieu de prévoir au moins des socles de prises de courant conformes à la norme (1) de caractéristiques minimales suivantes :  Socles de prises de courant monophasé : - Tension assignée : 200-250 V - Courant assigné : 16 A - Position horaire : 6 h - Nombre de pôles : 2 et un contact de terre - Construction : IP44 et IK08 minimum  En supplément, des socles de prises de courant de caractéristiques suivantes peuvent être prévus :  - Socles de prises de courant monophasé : - Tension assignée : 200-250 V - Courant assigné : 32 A - Position horaire : 6 h - Nombre de pôles : 2 et un contact de terre - Construction : IP44 et IK08 minimum  - Socles de prises de courant triphasé : - Tension assignée : 346-415 V - Courant assigné : 32 A - Position horaire : 6 h - Nombre de pôles : 4 et un contact de terre - Construction : IP44 et IK08 minimum.</a:t>
            </a:r>
          </a:p>
        </p:txBody>
      </p:sp>
    </p:spTree>
  </p:cSld>
  <p:clrMapOvr>
    <a:masterClrMapping/>
  </p:clrMapOvr>
</p:sld>
</file>

<file path=ppt/slides/slide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708.530.4 Quatre socles de prises de courant, au plus, peuvent être groupés dans un coffret</a:t>
            </a:r>
          </a:p>
        </p:txBody>
      </p:sp>
      <p:sp>
        <p:nvSpPr>
          <p:cNvPr id="3" name="Content Placeholder 2"/>
          <p:cNvSpPr>
            <a:spLocks noGrp="1"/>
          </p:cNvSpPr>
          <p:nvPr>
            <p:ph idx="1"/>
          </p:nvPr>
        </p:nvSpPr>
        <p:spPr/>
        <p:txBody>
          <a:bodyPr/>
          <a:lstStyle/>
          <a:p>
            <a:pPr>
              <a:defRPr sz="1600"/>
            </a:pPr>
            <a:r>
              <a:t>enveloppe.</a:t>
            </a:r>
          </a:p>
        </p:txBody>
      </p:sp>
    </p:spTree>
  </p:cSld>
  <p:clrMapOvr>
    <a:masterClrMapping/>
  </p:clrMapOvr>
</p:sld>
</file>

<file path=ppt/slides/slide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708.531.1 Chaque socle de prise de courant doit être protégé individuellement par un</a:t>
            </a:r>
          </a:p>
        </p:txBody>
      </p:sp>
      <p:sp>
        <p:nvSpPr>
          <p:cNvPr id="3" name="Content Placeholder 2"/>
          <p:cNvSpPr>
            <a:spLocks noGrp="1"/>
          </p:cNvSpPr>
          <p:nvPr>
            <p:ph idx="1"/>
          </p:nvPr>
        </p:nvSpPr>
        <p:spPr/>
        <p:txBody>
          <a:bodyPr/>
          <a:lstStyle/>
          <a:p>
            <a:pPr>
              <a:defRPr sz="1600"/>
            </a:pPr>
            <a:r>
              <a:t>dispositif à courant différentiel ayant un courant différentiel- résiduel assigné au plus égal à 30 mA.</a:t>
            </a:r>
          </a:p>
        </p:txBody>
      </p:sp>
    </p:spTree>
  </p:cSld>
  <p:clrMapOvr>
    <a:masterClrMapping/>
  </p:clrMapOvr>
</p:sld>
</file>

<file path=ppt/slides/slide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708.533 Protection contre les surintensités</a:t>
            </a:r>
          </a:p>
        </p:txBody>
      </p:sp>
      <p:sp>
        <p:nvSpPr>
          <p:cNvPr id="3" name="Content Placeholder 2"/>
          <p:cNvSpPr>
            <a:spLocks noGrp="1"/>
          </p:cNvSpPr>
          <p:nvPr>
            <p:ph idx="1"/>
          </p:nvPr>
        </p:nvSpPr>
        <p:spPr/>
        <p:txBody>
          <a:bodyPr/>
          <a:lstStyle/>
          <a:p>
            <a:pPr>
              <a:defRPr sz="1600"/>
            </a:pPr>
            <a:r>
              <a:t>Chaque socle de prise de courant doit être protégé individuellement contre les surintensités.</a:t>
            </a:r>
          </a:p>
          <a:p>
            <a:pPr>
              <a:defRPr sz="1600"/>
            </a:pPr>
            <a:r>
              <a:t>(1) NF EN 60309-2 (C 63-310)  - 390 -.</a:t>
            </a:r>
          </a:p>
        </p:txBody>
      </p:sp>
    </p:spTree>
  </p:cSld>
  <p:clrMapOvr>
    <a:masterClrMapping/>
  </p:clrMapOvr>
</p:sld>
</file>

<file path=ppt/slides/slide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708.559.1 Connexion de la caravane</a:t>
            </a:r>
          </a:p>
        </p:txBody>
      </p:sp>
      <p:sp>
        <p:nvSpPr>
          <p:cNvPr id="3" name="Content Placeholder 2"/>
          <p:cNvSpPr>
            <a:spLocks noGrp="1"/>
          </p:cNvSpPr>
          <p:nvPr>
            <p:ph idx="1"/>
          </p:nvPr>
        </p:nvSpPr>
        <p:spPr/>
        <p:txBody>
          <a:bodyPr/>
          <a:lstStyle/>
          <a:p>
            <a:pPr>
              <a:defRPr sz="1600"/>
            </a:pPr>
            <a:r>
              <a:t>L'alimentation des caravanes s'effectue souvent à partir de bornes comportant à la fois des prises de courant et des robinets de distribution d'eau.</a:t>
            </a:r>
          </a:p>
          <a:p>
            <a:pPr>
              <a:defRPr sz="1600"/>
            </a:pPr>
            <a:r>
              <a:t>Les risques qui résultent de la proximité des socles de prise de courant et des distributions d'eau, concernent non seulement la possibilité de contact simultané mais les possibilités d'arroser les socles de prise de courant et de rendre le sol mouillé à proximité.</a:t>
            </a:r>
          </a:p>
          <a:p>
            <a:pPr>
              <a:defRPr sz="1600"/>
            </a:pPr>
            <a:r>
              <a:t>En fait, ces risques sont pris en considération dans le choix du degré de protection des socles de prise de courant (IPX4 correspondant à la condition AD4).</a:t>
            </a:r>
          </a:p>
          <a:p>
            <a:pPr>
              <a:defRPr sz="1600"/>
            </a:pPr>
            <a:r>
              <a:t>Toutefois, il est souhaitable que les appareillages électriques et les robinets de distribution d'eau soient convenablement séparés de façon à éviter tout contact fortuit et simultané entre les premiers et les seconds.</a:t>
            </a:r>
          </a:p>
          <a:p>
            <a:pPr>
              <a:defRPr sz="1600"/>
            </a:pPr>
            <a:r>
              <a:t>En outre, il est recommandé que les bornes elles-mêmes soient en matière isolante.</a:t>
            </a:r>
          </a:p>
        </p:txBody>
      </p:sp>
    </p:spTree>
  </p:cSld>
  <p:clrMapOvr>
    <a:masterClrMapping/>
  </p:clrMapOvr>
</p:sld>
</file>

<file path=ppt/slides/slide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708.559.1.1 Eléments du dispositif de connexion</a:t>
            </a:r>
          </a:p>
        </p:txBody>
      </p:sp>
      <p:sp>
        <p:nvSpPr>
          <p:cNvPr id="3" name="Content Placeholder 2"/>
          <p:cNvSpPr>
            <a:spLocks noGrp="1"/>
          </p:cNvSpPr>
          <p:nvPr>
            <p:ph idx="1"/>
          </p:nvPr>
        </p:nvSpPr>
        <p:spPr/>
        <p:txBody>
          <a:bodyPr/>
          <a:lstStyle/>
          <a:p>
            <a:pPr>
              <a:defRPr sz="1600"/>
            </a:pPr>
            <a:r>
              <a:t>Les moyens de connexion entre le socle de prise de courant de l'emplacement de caravane et le véhicule de loisirs doivent être constitués :  - -  -  d'une fiche comme spécifié par la norme d'un câble souple du type H07 RN-F ou équivalent comportant un conducteur de protection, identifié selon le HD 308 ; d'un connecteur comme spécifié par la norme (2).</a:t>
            </a:r>
          </a:p>
          <a:p>
            <a:pPr>
              <a:defRPr sz="1600"/>
            </a:pPr>
            <a:r>
              <a:t>;  (2).</a:t>
            </a:r>
          </a:p>
        </p:txBody>
      </p:sp>
    </p:spTree>
  </p:cSld>
  <p:clrMapOvr>
    <a:masterClrMapping/>
  </p:clrMapOvr>
</p:sld>
</file>

<file path=ppt/slides/slide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708.559.1.2 Longueur du câble</a:t>
            </a:r>
          </a:p>
        </p:txBody>
      </p:sp>
      <p:sp>
        <p:nvSpPr>
          <p:cNvPr id="3" name="Content Placeholder 2"/>
          <p:cNvSpPr>
            <a:spLocks noGrp="1"/>
          </p:cNvSpPr>
          <p:nvPr>
            <p:ph idx="1"/>
          </p:nvPr>
        </p:nvSpPr>
        <p:spPr/>
        <p:txBody>
          <a:bodyPr/>
          <a:lstStyle/>
          <a:p>
            <a:pPr>
              <a:defRPr sz="1600"/>
            </a:pPr>
            <a:r>
              <a:t>La longueur du câble ne doit pas dépasser 25 m.</a:t>
            </a:r>
          </a:p>
          <a:p>
            <a:pPr>
              <a:defRPr sz="1600"/>
            </a:pPr>
            <a:r>
              <a:t>Le câble ne doit pas comporter de connexions intermédiaires sur toute sa longueur.</a:t>
            </a:r>
          </a:p>
        </p:txBody>
      </p:sp>
    </p:spTree>
  </p:cSld>
  <p:clrMapOvr>
    <a:masterClrMapping/>
  </p:clrMapOvr>
</p:sld>
</file>

<file path=ppt/slides/slide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708.559.1.3 Section du câble</a:t>
            </a:r>
          </a:p>
        </p:txBody>
      </p:sp>
      <p:sp>
        <p:nvSpPr>
          <p:cNvPr id="3" name="Content Placeholder 2"/>
          <p:cNvSpPr>
            <a:spLocks noGrp="1"/>
          </p:cNvSpPr>
          <p:nvPr>
            <p:ph idx="1"/>
          </p:nvPr>
        </p:nvSpPr>
        <p:spPr/>
        <p:txBody>
          <a:bodyPr/>
          <a:lstStyle/>
          <a:p>
            <a:pPr>
              <a:defRPr sz="1600"/>
            </a:pPr>
            <a:r>
              <a:t>Pour un socle de prise de courant de 16 A, la section minimale est de 2,5 mm2.</a:t>
            </a:r>
          </a:p>
          <a:p>
            <a:pPr>
              <a:defRPr sz="1600"/>
            </a:pPr>
            <a:r>
              <a:t>Pour un socle de prise de courant de 32 A, la section minimale est de 6 mm2.</a:t>
            </a:r>
          </a:p>
          <a:p>
            <a:pPr>
              <a:defRPr sz="1600"/>
            </a:pPr>
            <a:r>
              <a:t>H.</a:t>
            </a:r>
          </a:p>
        </p:txBody>
      </p:sp>
    </p:spTree>
  </p:cSld>
  <p:clrMapOvr>
    <a:masterClrMapping/>
  </p:clrMapOvr>
</p:sld>
</file>

<file path=ppt/slides/slide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708.559.1.4 Mise en œuvre des câbles</a:t>
            </a:r>
          </a:p>
        </p:txBody>
      </p:sp>
      <p:sp>
        <p:nvSpPr>
          <p:cNvPr id="3" name="Content Placeholder 2"/>
          <p:cNvSpPr>
            <a:spLocks noGrp="1"/>
          </p:cNvSpPr>
          <p:nvPr>
            <p:ph idx="1"/>
          </p:nvPr>
        </p:nvSpPr>
        <p:spPr/>
        <p:txBody>
          <a:bodyPr/>
          <a:lstStyle/>
          <a:p>
            <a:pPr>
              <a:defRPr sz="1600"/>
            </a:pPr>
            <a:r>
              <a:t>Les câbles sont installés de manière à ce qu'ils ne soient pas endommagés par des tensions ou des écrasements.</a:t>
            </a:r>
          </a:p>
        </p:txBody>
      </p:sp>
    </p:spTree>
  </p:cSld>
  <p:clrMapOvr>
    <a:masterClrMapping/>
  </p:clrMapOvr>
</p:sld>
</file>

<file path=ppt/slides/slide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708.559.1.5 Information des utilisateurs</a:t>
            </a:r>
          </a:p>
        </p:txBody>
      </p:sp>
      <p:sp>
        <p:nvSpPr>
          <p:cNvPr id="3" name="Content Placeholder 2"/>
          <p:cNvSpPr>
            <a:spLocks noGrp="1"/>
          </p:cNvSpPr>
          <p:nvPr>
            <p:ph idx="1"/>
          </p:nvPr>
        </p:nvSpPr>
        <p:spPr/>
        <p:txBody>
          <a:bodyPr/>
          <a:lstStyle/>
          <a:p>
            <a:pPr>
              <a:defRPr sz="1600"/>
            </a:pPr>
            <a:r>
              <a:t>L’exploitant du camping a pour obligation d’informer l’utilisateur sur la nature du courant délivré et sur les possibilités de connexion de la caravane (voir   annexe).</a:t>
            </a:r>
          </a:p>
          <a:p>
            <a:pPr>
              <a:defRPr sz="1600"/>
            </a:pPr>
            <a:r>
              <a:t>(2) NF EN 60309-2 (C 63-310)  - 391 -    Annexe – (informative) – Exemple d'instruction pour le branchement de la  caravane sur l'alimentation du parc de caravanes  Il est recommandé que le directeur du camping fournisse à chaque usager de caravane ayant l'intention de se raccorder à l'alimentation du camping, une notice d'instructions claire et à jour et appose, à chaque point d'alimentation, une copie à jour de cette notice d'instruction aisément lisible et protégée contre les intempéries.</a:t>
            </a:r>
          </a:p>
          <a:p>
            <a:pPr>
              <a:defRPr sz="1600"/>
            </a:pPr>
            <a:r>
              <a:t>Cette notice d'instruction doit comprendre, au moins, les indications suivantes :  INSTRUCTIONS POUR LE BRANCHEMENT DIRECT A L'ALIMENTATION DU PARC DE CARAVANES  Ce camping met à votre disposition pour votre caravane une connexion directe et une mise à la terre à l'alimentation du camping.</a:t>
            </a:r>
          </a:p>
          <a:p>
            <a:pPr>
              <a:defRPr sz="1600"/>
            </a:pPr>
            <a:r>
              <a:t>Généralités  a) L'alimentation de ce camping est.</a:t>
            </a:r>
          </a:p>
          <a:p>
            <a:pPr>
              <a:defRPr sz="1600"/>
            </a:pPr>
            <a:r>
              <a:t>* V,.</a:t>
            </a:r>
          </a:p>
        </p:txBody>
      </p:sp>
    </p:spTree>
  </p:cSld>
  <p:clrMapOvr>
    <a:masterClrMapping/>
  </p:clrMapOvr>
</p:sld>
</file>

<file path=ppt/slides/slide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709.559 Matériels d’utilisation.............................................................................................395</a:t>
            </a:r>
          </a:p>
        </p:txBody>
      </p:sp>
      <p:sp>
        <p:nvSpPr>
          <p:cNvPr id="3" name="Content Placeholder 2"/>
          <p:cNvSpPr>
            <a:spLocks noGrp="1"/>
          </p:cNvSpPr>
          <p:nvPr>
            <p:ph idx="1"/>
          </p:nvPr>
        </p:nvSpPr>
        <p:spPr/>
        <p:txBody>
          <a:bodyPr/>
          <a:lstStyle/>
          <a:p>
            <a:pPr>
              <a:defRPr sz="1600"/>
            </a:pPr>
            <a:r>
              <a:t>s.</a:t>
            </a:r>
          </a:p>
          <a:p>
            <a:pPr>
              <a:defRPr sz="1600"/>
            </a:pPr>
            <a:r>
              <a:t>393  Annexe - (informative) - Exemple d'instruction pour le branchement du bateau de plaisance sur l'alimentation du port.</a:t>
            </a:r>
          </a:p>
          <a:p>
            <a:pPr>
              <a:defRPr sz="1600"/>
            </a:pPr>
            <a:r>
              <a:t>396  Les prescriptions de la présente partie complètent, modifient ou remplacent les prescriptions générales des autres parties de la NF C 15-100.</a:t>
            </a:r>
          </a:p>
          <a:p>
            <a:pPr>
              <a:defRPr sz="1600"/>
            </a:pPr>
            <a:r>
              <a:t>Les numéros suivant le numéro particulier de la partie 7-709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p:txBody>
      </p:sp>
    </p:spTree>
  </p:cSld>
  <p:clrMapOvr>
    <a:masterClrMapping/>
  </p:clrMapOvr>
</p:sld>
</file>

<file path=ppt/slides/slide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709.1 Domaine d'application</a:t>
            </a:r>
          </a:p>
        </p:txBody>
      </p:sp>
      <p:sp>
        <p:nvSpPr>
          <p:cNvPr id="3" name="Content Placeholder 2"/>
          <p:cNvSpPr>
            <a:spLocks noGrp="1"/>
          </p:cNvSpPr>
          <p:nvPr>
            <p:ph idx="1"/>
          </p:nvPr>
        </p:nvSpPr>
        <p:spPr/>
        <p:txBody>
          <a:bodyPr/>
          <a:lstStyle/>
          <a:p>
            <a:pPr>
              <a:defRPr sz="1600"/>
            </a:pPr>
            <a:r>
              <a:t>Les prescriptions de la présente section sont applicables à l'installation électrique des marinas pour l'alimentation des bateaux de plaisance d’une longueur inférieure ou égale à 24 m.</a:t>
            </a:r>
          </a:p>
          <a:p>
            <a:pPr>
              <a:defRPr sz="1600"/>
            </a:pPr>
            <a:r>
              <a:t>NOTE - De telles installations sont caractérisées par le risque de corrosion, la présence d'eau, les mouvements de structures, les dommages mécaniques et les risques accrus de chocs électriques dus à la réduction de la résistance du corps humain et au contact du corps avec le potentiel de la terre.</a:t>
            </a:r>
          </a:p>
        </p:txBody>
      </p:sp>
    </p:spTree>
  </p:cSld>
  <p:clrMapOvr>
    <a:masterClrMapping/>
  </p:clrMapOvr>
</p:sld>
</file>

<file path=ppt/slides/slide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709.2.1 Bateau de plaisance</a:t>
            </a:r>
          </a:p>
        </p:txBody>
      </p:sp>
      <p:sp>
        <p:nvSpPr>
          <p:cNvPr id="3" name="Content Placeholder 2"/>
          <p:cNvSpPr>
            <a:spLocks noGrp="1"/>
          </p:cNvSpPr>
          <p:nvPr>
            <p:ph idx="1"/>
          </p:nvPr>
        </p:nvSpPr>
        <p:spPr/>
        <p:txBody>
          <a:bodyPr/>
          <a:lstStyle/>
          <a:p>
            <a:pPr>
              <a:defRPr sz="1600"/>
            </a:pPr>
            <a:r>
              <a:t>Tout bateau, vaisseau, yacht, maison exclusivement pour les sports et loisirs.</a:t>
            </a:r>
          </a:p>
          <a:p>
            <a:pPr>
              <a:defRPr sz="1600"/>
            </a:pPr>
            <a:r>
              <a:t>flottante ou unité  flottante motorisée utilisée.</a:t>
            </a:r>
          </a:p>
        </p:txBody>
      </p:sp>
    </p:spTree>
  </p:cSld>
  <p:clrMapOvr>
    <a:masterClrMapping/>
  </p:clrMapOvr>
</p:sld>
</file>

<file path=ppt/slides/slide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709.2.2 Marina</a:t>
            </a:r>
          </a:p>
        </p:txBody>
      </p:sp>
      <p:sp>
        <p:nvSpPr>
          <p:cNvPr id="3" name="Content Placeholder 2"/>
          <p:cNvSpPr>
            <a:spLocks noGrp="1"/>
          </p:cNvSpPr>
          <p:nvPr>
            <p:ph idx="1"/>
          </p:nvPr>
        </p:nvSpPr>
        <p:spPr/>
        <p:txBody>
          <a:bodyPr/>
          <a:lstStyle/>
          <a:p>
            <a:pPr>
              <a:defRPr sz="1600"/>
            </a:pPr>
            <a:r>
              <a:t>Installation pour le mouillage des bateaux de plaisance avec des appontements, des jetées et des quais fixes ou des pontons permettant l'amarrage de plus d'un bateau de plaisance.</a:t>
            </a:r>
          </a:p>
        </p:txBody>
      </p:sp>
    </p:spTree>
  </p:cSld>
  <p:clrMapOvr>
    <a:masterClrMapping/>
  </p:clrMapOvr>
</p:sld>
</file>

<file path=ppt/slides/slide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709.2.3 Point d'amarrage</a:t>
            </a:r>
          </a:p>
        </p:txBody>
      </p:sp>
      <p:sp>
        <p:nvSpPr>
          <p:cNvPr id="3" name="Content Placeholder 2"/>
          <p:cNvSpPr>
            <a:spLocks noGrp="1"/>
          </p:cNvSpPr>
          <p:nvPr>
            <p:ph idx="1"/>
          </p:nvPr>
        </p:nvSpPr>
        <p:spPr/>
        <p:txBody>
          <a:bodyPr/>
          <a:lstStyle/>
          <a:p>
            <a:pPr>
              <a:defRPr sz="1600"/>
            </a:pPr>
            <a:r>
              <a:t>Endroit où un bateau peut être mouillé.</a:t>
            </a:r>
          </a:p>
        </p:txBody>
      </p:sp>
    </p:spTree>
  </p:cSld>
  <p:clrMapOvr>
    <a:masterClrMapping/>
  </p:clrMapOvr>
</p:sld>
</file>

<file path=ppt/slides/slide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709.313 Tensions nominales d’alimentation</a:t>
            </a:r>
          </a:p>
        </p:txBody>
      </p:sp>
      <p:sp>
        <p:nvSpPr>
          <p:cNvPr id="3" name="Content Placeholder 2"/>
          <p:cNvSpPr>
            <a:spLocks noGrp="1"/>
          </p:cNvSpPr>
          <p:nvPr>
            <p:ph idx="1"/>
          </p:nvPr>
        </p:nvSpPr>
        <p:spPr/>
        <p:txBody>
          <a:bodyPr/>
          <a:lstStyle/>
          <a:p>
            <a:pPr>
              <a:defRPr sz="1600"/>
            </a:pPr>
            <a:r>
              <a:t>La tension nominale des installations alimentant les bateaux de plaisance ne doit pas être supérieure à 230 V en courant alternatif monophasé ou à 400 V en courant alternatif triphasé.</a:t>
            </a:r>
          </a:p>
        </p:txBody>
      </p:sp>
    </p:spTree>
  </p:cSld>
  <p:clrMapOvr>
    <a:masterClrMapping/>
  </p:clrMapOvr>
</p:sld>
</file>

<file path=ppt/slides/slide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709.411.4 Dans le cas d’un schéma TN, seul le schéma TN-S doit être utilisé.</a:t>
            </a:r>
          </a:p>
        </p:txBody>
      </p:sp>
      <p:sp>
        <p:nvSpPr>
          <p:cNvPr id="3" name="Content Placeholder 2"/>
          <p:cNvSpPr>
            <a:spLocks noGrp="1"/>
          </p:cNvSpPr>
          <p:nvPr>
            <p:ph idx="1"/>
          </p:nvPr>
        </p:nvSpPr>
        <p:spPr/>
        <p:txBody>
          <a:bodyPr/>
          <a:lstStyle/>
          <a:p>
            <a:pPr>
              <a:defRPr sz="1600"/>
            </a:pPr>
            <a:r>
              <a:t>Le schéma IT est déconseillé.</a:t>
            </a:r>
          </a:p>
          <a:p>
            <a:pPr>
              <a:defRPr sz="1600"/>
            </a:pPr>
            <a:r>
              <a:t>H.</a:t>
            </a:r>
          </a:p>
        </p:txBody>
      </p:sp>
    </p:spTree>
  </p:cSld>
  <p:clrMapOvr>
    <a:masterClrMapping/>
  </p:clrMapOvr>
</p:sld>
</file>

<file path=ppt/slides/slide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709.415.1 Protection complémentaire par dispositifs à courant différentiel-résiduel</a:t>
            </a:r>
          </a:p>
        </p:txBody>
      </p:sp>
      <p:sp>
        <p:nvSpPr>
          <p:cNvPr id="3" name="Content Placeholder 2"/>
          <p:cNvSpPr>
            <a:spLocks noGrp="1"/>
          </p:cNvSpPr>
          <p:nvPr>
            <p:ph idx="1"/>
          </p:nvPr>
        </p:nvSpPr>
        <p:spPr/>
        <p:txBody>
          <a:bodyPr/>
          <a:lstStyle/>
          <a:p>
            <a:pPr>
              <a:defRPr sz="1600"/>
            </a:pPr>
            <a:r>
              <a:t>Les socles de prise de courant doivent être protégés par un dispositif à courant différentiel-résiduel ayant un courant différentiel-résiduel assigné au plus égal à 30 mA.</a:t>
            </a:r>
          </a:p>
        </p:txBody>
      </p:sp>
    </p:spTree>
  </p:cSld>
  <p:clrMapOvr>
    <a:masterClrMapping/>
  </p:clrMapOvr>
</p:sld>
</file>

<file path=ppt/slides/slide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709.51 Influences externes</a:t>
            </a:r>
          </a:p>
        </p:txBody>
      </p:sp>
      <p:sp>
        <p:nvSpPr>
          <p:cNvPr id="3" name="Content Placeholder 2"/>
          <p:cNvSpPr>
            <a:spLocks noGrp="1"/>
          </p:cNvSpPr>
          <p:nvPr>
            <p:ph idx="1"/>
          </p:nvPr>
        </p:nvSpPr>
        <p:spPr/>
        <p:txBody>
          <a:bodyPr/>
          <a:lstStyle/>
          <a:p>
            <a:pPr>
              <a:defRPr sz="1600"/>
            </a:pPr>
            <a:r>
              <a:t>Les matériels installés sur et au-dessus des jetées, des appontements, des quais ou des pontons doivent satisfaire aux conditions d'influences externes suivantes :  Présence d'eau  AD4 (projections d'eau) AD5 (jets d'eau) AD6 (Paquets d'eau)  NOTE - Le code approprié sera choisi selon les influences externes réelles.</a:t>
            </a:r>
          </a:p>
          <a:p>
            <a:pPr>
              <a:defRPr sz="1600"/>
            </a:pPr>
            <a:r>
              <a:t>Présence de corps étrangers Présence de substances corrosives ou polluantes Contraintes mécaniques (chocs)  AE3 (Petits objets), AF3 (Atmosphérique) AG3 (Importants),  IPX4 IPX5 IPX6  IP4X  IK08  - 394 -   H.</a:t>
            </a:r>
          </a:p>
        </p:txBody>
      </p:sp>
    </p:spTree>
  </p:cSld>
  <p:clrMapOvr>
    <a:masterClrMapping/>
  </p:clrMapOvr>
</p:sld>
</file>

<file path=ppt/slides/slide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709.52.1 Canalisations des marinas</a:t>
            </a:r>
          </a:p>
        </p:txBody>
      </p:sp>
      <p:sp>
        <p:nvSpPr>
          <p:cNvPr id="3" name="Content Placeholder 2"/>
          <p:cNvSpPr>
            <a:spLocks noGrp="1"/>
          </p:cNvSpPr>
          <p:nvPr>
            <p:ph idx="1"/>
          </p:nvPr>
        </p:nvSpPr>
        <p:spPr/>
        <p:txBody>
          <a:bodyPr/>
          <a:lstStyle/>
          <a:p>
            <a:pPr>
              <a:defRPr sz="1600"/>
            </a:pPr>
            <a:r>
              <a:t>Les règles générales de la partie 52 de la NF C 15-100 sont applicables en prenant en compte les conditions d’influences   externes (709.</a:t>
            </a:r>
          </a:p>
          <a:p>
            <a:pPr>
              <a:defRPr sz="1600"/>
            </a:pPr>
            <a:r>
              <a:t>51).</a:t>
            </a:r>
          </a:p>
        </p:txBody>
      </p:sp>
    </p:spTree>
  </p:cSld>
  <p:clrMapOvr>
    <a:masterClrMapping/>
  </p:clrMapOvr>
</p:sld>
</file>

<file path=ppt/slides/slide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709.52.1.1 Les canalisations suivantes ne doivent pas être utilisées :</a:t>
            </a:r>
          </a:p>
        </p:txBody>
      </p:sp>
      <p:sp>
        <p:nvSpPr>
          <p:cNvPr id="3" name="Content Placeholder 2"/>
          <p:cNvSpPr>
            <a:spLocks noGrp="1"/>
          </p:cNvSpPr>
          <p:nvPr>
            <p:ph idx="1"/>
          </p:nvPr>
        </p:nvSpPr>
        <p:spPr/>
        <p:txBody>
          <a:bodyPr/>
          <a:lstStyle/>
          <a:p>
            <a:pPr>
              <a:defRPr sz="1600"/>
            </a:pPr>
            <a:r>
              <a:t>- - -  les lignes aériennes, les conducteurs isolés sous conduits, les câbles avec des conducteurs en aluminium.</a:t>
            </a:r>
          </a:p>
        </p:txBody>
      </p:sp>
    </p:spTree>
  </p:cSld>
  <p:clrMapOvr>
    <a:masterClrMapping/>
  </p:clrMapOvr>
</p:sld>
</file>

<file path=ppt/slides/slide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709.52.1.2 Les câbles doivent être choisis et installés de façon que les dommages</a:t>
            </a:r>
          </a:p>
        </p:txBody>
      </p:sp>
      <p:sp>
        <p:nvSpPr>
          <p:cNvPr id="3" name="Content Placeholder 2"/>
          <p:cNvSpPr>
            <a:spLocks noGrp="1"/>
          </p:cNvSpPr>
          <p:nvPr>
            <p:ph idx="1"/>
          </p:nvPr>
        </p:nvSpPr>
        <p:spPr/>
        <p:txBody>
          <a:bodyPr/>
          <a:lstStyle/>
          <a:p>
            <a:pPr>
              <a:defRPr sz="1600"/>
            </a:pPr>
            <a:r>
              <a:t>mécaniques dus aux marées et aux autres mouvements des structures flottantes soient évités.</a:t>
            </a:r>
          </a:p>
          <a:p>
            <a:pPr>
              <a:defRPr sz="1600"/>
            </a:pPr>
            <a:r>
              <a:t>Les conduits doivent être installés pour permettre l'écoulement de l'eau par des pentes et/ou des trous d'évacuation.</a:t>
            </a:r>
          </a:p>
        </p:txBody>
      </p:sp>
    </p:spTree>
  </p:cSld>
  <p:clrMapOvr>
    <a:masterClrMapping/>
  </p:clrMapOvr>
</p:sld>
</file>

<file path=ppt/slides/slide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709.530.1 Les coffrets avec des socles de prises de courant pour l'alimentation des bateaux</a:t>
            </a:r>
          </a:p>
        </p:txBody>
      </p:sp>
      <p:sp>
        <p:nvSpPr>
          <p:cNvPr id="3" name="Content Placeholder 2"/>
          <p:cNvSpPr>
            <a:spLocks noGrp="1"/>
          </p:cNvSpPr>
          <p:nvPr>
            <p:ph idx="1"/>
          </p:nvPr>
        </p:nvSpPr>
        <p:spPr/>
        <p:txBody>
          <a:bodyPr/>
          <a:lstStyle/>
          <a:p>
            <a:pPr>
              <a:defRPr sz="1600"/>
            </a:pPr>
            <a:r>
              <a:t>de plaisance doivent être situés aussi près que possible des points d'amarrage à alimenter.</a:t>
            </a:r>
          </a:p>
          <a:p>
            <a:pPr>
              <a:defRPr sz="1600"/>
            </a:pPr>
            <a:r>
              <a:t>NOTES - 1 - Les socles de prises de courant pour l'alimentation des bateaux peuvent être installés dans des coffrets séparés du tableau de distribution.</a:t>
            </a:r>
          </a:p>
          <a:p>
            <a:pPr>
              <a:defRPr sz="1600"/>
            </a:pPr>
            <a:r>
              <a:t>2 - Si les socles de prises de courant sont installés dans un tableau de distribution, ce tableau doit être situé aussi près que possible des points d'amarrage à alimenter.</a:t>
            </a:r>
          </a:p>
        </p:txBody>
      </p:sp>
    </p:spTree>
  </p:cSld>
  <p:clrMapOvr>
    <a:masterClrMapping/>
  </p:clrMapOvr>
</p:sld>
</file>

<file path=ppt/slides/slide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709.530.2 Les tableaux de distribution et les coffrets de socles de prises de courant installés</a:t>
            </a:r>
          </a:p>
        </p:txBody>
      </p:sp>
      <p:sp>
        <p:nvSpPr>
          <p:cNvPr id="3" name="Content Placeholder 2"/>
          <p:cNvSpPr>
            <a:spLocks noGrp="1"/>
          </p:cNvSpPr>
          <p:nvPr>
            <p:ph idx="1"/>
          </p:nvPr>
        </p:nvSpPr>
        <p:spPr/>
        <p:txBody>
          <a:bodyPr/>
          <a:lstStyle/>
          <a:p>
            <a:pPr>
              <a:defRPr sz="1600"/>
            </a:pPr>
            <a:r>
              <a:t>à l'extérieur doivent avoir les degrés de protection minimaux IP44 et IK08.</a:t>
            </a:r>
          </a:p>
          <a:p>
            <a:pPr>
              <a:defRPr sz="1600"/>
            </a:pPr>
            <a:r>
              <a:t>Les enveloppes doivent résister à la corrosion.</a:t>
            </a:r>
          </a:p>
          <a:p>
            <a:pPr>
              <a:defRPr sz="1600"/>
            </a:pPr>
            <a:r>
              <a:t>Lorsque les tableaux de distribution et les prises de courant associées sont installés sur des installations flottantes ou des jetées, ils doivent être fixés à au moins 0,3 m au-dessus de la passerelle.</a:t>
            </a:r>
          </a:p>
        </p:txBody>
      </p:sp>
    </p:spTree>
  </p:cSld>
  <p:clrMapOvr>
    <a:masterClrMapping/>
  </p:clrMapOvr>
</p:sld>
</file>

<file path=ppt/slides/slide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709.530.3 Un socle de prise de courant doit alimenter seulement un bateau de plaisance.</a:t>
            </a:r>
          </a:p>
        </p:txBody>
      </p:sp>
      <p:sp>
        <p:nvSpPr>
          <p:cNvPr id="3" name="Content Placeholder 2"/>
          <p:cNvSpPr>
            <a:spLocks noGrp="1"/>
          </p:cNvSpPr>
          <p:nvPr>
            <p:ph idx="1"/>
          </p:nvPr>
        </p:nvSpPr>
        <p:spPr/>
        <p:txBody>
          <a:bodyPr/>
          <a:lstStyle/>
          <a:p>
            <a:pPr>
              <a:defRPr sz="1600"/>
            </a:pPr>
            <a:r>
              <a:t>(1)  Il y a lieu de prévoir des socles de prises de courant conformes à la norme caractéristiques minimales suivantes :    de  Socles de prises de courant monophasé : - Tension assignée : 200-250 V - Courant assigné : 16 A - Position horaire : 6 h - Nombre de pôles : 2 et un contact de terre - Construction : IP44 et IK08 minimum  En supplément, des socles de prises de courant de caractéristiques suivantes peuvent être prévus :  - Socles de prises de courant monophasé : - Tension assignée : 200-250 V - Courant assigné : 32 A - Position horaire : 6 h - Nombre de pôles : 2 et un contact de terre - Construction : IP44 et IK08 minimum  (1) NF EN 60309-2 (C 63-310)  - 395 -    H  - Socles de prises de courant triphasé : - Tension assignée : 346-415 V - Courant assigné : 32 A - Position horaire : 6 h - Nombre de pôles : 4 et un contact de terre - Construction : IP44 et IK08 minimum.</a:t>
            </a:r>
          </a:p>
        </p:txBody>
      </p:sp>
    </p:spTree>
  </p:cSld>
  <p:clrMapOvr>
    <a:masterClrMapping/>
  </p:clrMapOvr>
</p:sld>
</file>

<file path=ppt/slides/slide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709.530.4 Quatre socles de prises de courant, au plus, peuvent être groupés dans un coffret</a:t>
            </a:r>
          </a:p>
        </p:txBody>
      </p:sp>
      <p:sp>
        <p:nvSpPr>
          <p:cNvPr id="3" name="Content Placeholder 2"/>
          <p:cNvSpPr>
            <a:spLocks noGrp="1"/>
          </p:cNvSpPr>
          <p:nvPr>
            <p:ph idx="1"/>
          </p:nvPr>
        </p:nvSpPr>
        <p:spPr/>
        <p:txBody>
          <a:bodyPr/>
          <a:lstStyle/>
          <a:p>
            <a:pPr>
              <a:defRPr sz="1600"/>
            </a:pPr>
            <a:r>
              <a:t>enveloppe.</a:t>
            </a:r>
          </a:p>
        </p:txBody>
      </p:sp>
    </p:spTree>
  </p:cSld>
  <p:clrMapOvr>
    <a:masterClrMapping/>
  </p:clrMapOvr>
</p:sld>
</file>

<file path=ppt/slides/slide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709.531.2 Dispositifs à courant différentiel-résiduel</a:t>
            </a:r>
          </a:p>
        </p:txBody>
      </p:sp>
      <p:sp>
        <p:nvSpPr>
          <p:cNvPr id="3" name="Content Placeholder 2"/>
          <p:cNvSpPr>
            <a:spLocks noGrp="1"/>
          </p:cNvSpPr>
          <p:nvPr>
            <p:ph idx="1"/>
          </p:nvPr>
        </p:nvSpPr>
        <p:spPr/>
        <p:txBody>
          <a:bodyPr/>
          <a:lstStyle/>
          <a:p>
            <a:pPr>
              <a:defRPr sz="1600"/>
            </a:pPr>
            <a:r>
              <a:t>Les socles de prises de courant doivent être protégés individuellement par un dispositif à courant différentiel-résiduel de courant différentiel-résiduel assigné au plus égal à 30 mA.</a:t>
            </a:r>
          </a:p>
        </p:txBody>
      </p:sp>
    </p:spTree>
  </p:cSld>
  <p:clrMapOvr>
    <a:masterClrMapping/>
  </p:clrMapOvr>
</p:sld>
</file>

<file path=ppt/slides/slide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709.533 Dispositifs de protection contre les surintensités</a:t>
            </a:r>
          </a:p>
        </p:txBody>
      </p:sp>
      <p:sp>
        <p:nvSpPr>
          <p:cNvPr id="3" name="Content Placeholder 2"/>
          <p:cNvSpPr>
            <a:spLocks noGrp="1"/>
          </p:cNvSpPr>
          <p:nvPr>
            <p:ph idx="1"/>
          </p:nvPr>
        </p:nvSpPr>
        <p:spPr/>
        <p:txBody>
          <a:bodyPr/>
          <a:lstStyle/>
          <a:p>
            <a:pPr>
              <a:defRPr sz="1600"/>
            </a:pPr>
            <a:r>
              <a:t>Chaque socle de prise de courant doit être protégé individuellement contre les surintensités.</a:t>
            </a:r>
          </a:p>
        </p:txBody>
      </p:sp>
    </p:spTree>
  </p:cSld>
  <p:clrMapOvr>
    <a:masterClrMapping/>
  </p:clrMapOvr>
</p:sld>
</file>

<file path=ppt/slides/slide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709.559.1.1 Eléments du dispositif de connexion</a:t>
            </a:r>
          </a:p>
        </p:txBody>
      </p:sp>
      <p:sp>
        <p:nvSpPr>
          <p:cNvPr id="3" name="Content Placeholder 2"/>
          <p:cNvSpPr>
            <a:spLocks noGrp="1"/>
          </p:cNvSpPr>
          <p:nvPr>
            <p:ph idx="1"/>
          </p:nvPr>
        </p:nvSpPr>
        <p:spPr/>
        <p:txBody>
          <a:bodyPr/>
          <a:lstStyle/>
          <a:p>
            <a:pPr>
              <a:defRPr sz="1600"/>
            </a:pPr>
            <a:r>
              <a:t>Le dispositif de connexion du bateau de plaisance se compose :  -  -  d'une caractéristiques indiquées en 709.</a:t>
            </a:r>
          </a:p>
          <a:p>
            <a:pPr>
              <a:defRPr sz="1600"/>
            </a:pPr>
            <a:r>
              <a:t>530.</a:t>
            </a:r>
          </a:p>
          <a:p>
            <a:pPr>
              <a:defRPr sz="1600"/>
            </a:pPr>
            <a:r>
              <a:t>2 ;  fiche avec un contact  relié au conducteur de protection possédant  les  d'un câble souple du type H07 RN-F ou équivalent comportant un conducteur de protection, relié soit à demeure au bateau de plaisance, soit à un connecteur possédant les caractéristiqu es indiquées en 709.</a:t>
            </a:r>
          </a:p>
          <a:p>
            <a:pPr>
              <a:defRPr sz="1600"/>
            </a:pPr>
            <a:r>
              <a:t>530.</a:t>
            </a:r>
          </a:p>
          <a:p>
            <a:pPr>
              <a:defRPr sz="1600"/>
            </a:pPr>
            <a:r>
              <a:t>3.</a:t>
            </a:r>
          </a:p>
        </p:txBody>
      </p:sp>
    </p:spTree>
  </p:cSld>
  <p:clrMapOvr>
    <a:masterClrMapping/>
  </p:clrMapOvr>
</p:sld>
</file>

<file path=ppt/slides/slide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709.559.1.2 Longueur du câble</a:t>
            </a:r>
          </a:p>
        </p:txBody>
      </p:sp>
      <p:sp>
        <p:nvSpPr>
          <p:cNvPr id="3" name="Content Placeholder 2"/>
          <p:cNvSpPr>
            <a:spLocks noGrp="1"/>
          </p:cNvSpPr>
          <p:nvPr>
            <p:ph idx="1"/>
          </p:nvPr>
        </p:nvSpPr>
        <p:spPr/>
        <p:txBody>
          <a:bodyPr/>
          <a:lstStyle/>
          <a:p>
            <a:pPr>
              <a:defRPr sz="1600"/>
            </a:pPr>
            <a:r>
              <a:t>La longueur du câble ne doit pas dépasser 25 m.</a:t>
            </a:r>
          </a:p>
          <a:p>
            <a:pPr>
              <a:defRPr sz="1600"/>
            </a:pPr>
            <a:r>
              <a:t>Le câble ne doit pas comporter de connexions intermédiaires sur toute sa longueur.</a:t>
            </a:r>
          </a:p>
        </p:txBody>
      </p:sp>
    </p:spTree>
  </p:cSld>
  <p:clrMapOvr>
    <a:masterClrMapping/>
  </p:clrMapOvr>
</p:sld>
</file>

<file path=ppt/slides/slide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709.559.1.3 Section du câble</a:t>
            </a:r>
          </a:p>
        </p:txBody>
      </p:sp>
      <p:sp>
        <p:nvSpPr>
          <p:cNvPr id="3" name="Content Placeholder 2"/>
          <p:cNvSpPr>
            <a:spLocks noGrp="1"/>
          </p:cNvSpPr>
          <p:nvPr>
            <p:ph idx="1"/>
          </p:nvPr>
        </p:nvSpPr>
        <p:spPr/>
        <p:txBody>
          <a:bodyPr/>
          <a:lstStyle/>
          <a:p>
            <a:pPr>
              <a:defRPr sz="1600"/>
            </a:pPr>
            <a:r>
              <a:t>Pour un socle de prise de courant de 16 A, la section minimale est de 2,5 mm2.</a:t>
            </a:r>
          </a:p>
          <a:p>
            <a:pPr>
              <a:defRPr sz="1600"/>
            </a:pPr>
            <a:r>
              <a:t>Pour un socle de prise de courant de 32 A, la section minimale est de 6 mm2.</a:t>
            </a:r>
          </a:p>
        </p:txBody>
      </p:sp>
    </p:spTree>
  </p:cSld>
  <p:clrMapOvr>
    <a:masterClrMapping/>
  </p:clrMapOvr>
</p:sld>
</file>

<file path=ppt/slides/slide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709.559.1.4 Mise en œuvre des câbles</a:t>
            </a:r>
          </a:p>
        </p:txBody>
      </p:sp>
      <p:sp>
        <p:nvSpPr>
          <p:cNvPr id="3" name="Content Placeholder 2"/>
          <p:cNvSpPr>
            <a:spLocks noGrp="1"/>
          </p:cNvSpPr>
          <p:nvPr>
            <p:ph idx="1"/>
          </p:nvPr>
        </p:nvSpPr>
        <p:spPr/>
        <p:txBody>
          <a:bodyPr/>
          <a:lstStyle/>
          <a:p>
            <a:pPr>
              <a:defRPr sz="1600"/>
            </a:pPr>
            <a:r>
              <a:t>Les câbles sont installés de manière à ce qu'ils ne soient pas :  -  -  déplacés par les mouvements du bateau de plaisance, ou  endommagés par des frottements, des tensions ou des écrasements.</a:t>
            </a:r>
          </a:p>
          <a:p>
            <a:pPr>
              <a:defRPr sz="1600"/>
            </a:pPr>
            <a:r>
              <a:t>Sauf s'ils sont installés dans des conduits en plastique, des gaines, des longerons ou analogues, ils doivent être fixés par des colliers ou attaches à des intervalles d'environ 0,3 m.</a:t>
            </a:r>
          </a:p>
          <a:p>
            <a:pPr>
              <a:defRPr sz="1600"/>
            </a:pPr>
            <a:r>
              <a:t>Ils doivent être posés à distance des réservoirs d'essence, des pots d'échappement et des sources de chaleur.</a:t>
            </a:r>
          </a:p>
        </p:txBody>
      </p:sp>
    </p:spTree>
  </p:cSld>
  <p:clrMapOvr>
    <a:masterClrMapping/>
  </p:clrMapOvr>
</p:sld>
</file>

<file path=ppt/slides/slide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709.559.1.5 Information des utilisateurs</a:t>
            </a:r>
          </a:p>
        </p:txBody>
      </p:sp>
      <p:sp>
        <p:nvSpPr>
          <p:cNvPr id="3" name="Content Placeholder 2"/>
          <p:cNvSpPr>
            <a:spLocks noGrp="1"/>
          </p:cNvSpPr>
          <p:nvPr>
            <p:ph idx="1"/>
          </p:nvPr>
        </p:nvSpPr>
        <p:spPr/>
        <p:txBody>
          <a:bodyPr/>
          <a:lstStyle/>
          <a:p>
            <a:pPr>
              <a:defRPr sz="1600"/>
            </a:pPr>
            <a:r>
              <a:t>L’exploitant de la marina a pour obligation d’informer l’utilisateur sur la nature du courant délivré et sur les possibilités de connexion du navire de plaisance   (voir annexe).</a:t>
            </a:r>
          </a:p>
          <a:p>
            <a:pPr>
              <a:defRPr sz="1600"/>
            </a:pPr>
            <a:r>
              <a:t>- 396 -   H  Annexe - (informative) - Exemple d'instruction pour le branchement  du bateau de plaisance sur l'alimentation du port  Il est recommandé que le directeur du port fournisse à chaque usager de bateau ayant l'intention de se raccorder à l'alimentation de la marina, une notice d'instructions claire et à jour et appose, à chaque point d'alimentation, une copie à jour de cette notice d'instruction aisément lisible et protégée contre les intempéries.</a:t>
            </a:r>
          </a:p>
          <a:p>
            <a:pPr>
              <a:defRPr sz="1600"/>
            </a:pPr>
            <a:r>
              <a:t>Cette notice d'instruction doit comprendre, au moins, les indications suivantes :  INSTRUCTIONS DE MOUILLAGE POUR LE BRANCHEMENT DIRECT A L'ALIMENTATION DU QUAI  Cette marina met à votre disposition pour votre bateau de plaisance une connexion directe et une mise à la terre à l'alimentation du quai.</a:t>
            </a:r>
          </a:p>
          <a:p>
            <a:pPr>
              <a:defRPr sz="1600"/>
            </a:pPr>
            <a:r>
              <a:t>Généralités a) A moins que vous n'ayez un  l'installation électrique de votre bateau de (l'électrolyse) peut endommager votre bateau ou les bateaux voisins.</a:t>
            </a:r>
          </a:p>
          <a:p>
            <a:pPr>
              <a:defRPr sz="1600"/>
            </a:pPr>
            <a:r>
              <a:t>transformateur d'isolement embarqué pour séparer la corrosion l'alimentation du quai,  b) L'alimentation de cette marina est.</a:t>
            </a:r>
          </a:p>
        </p:txBody>
      </p:sp>
    </p:spTree>
  </p:cSld>
  <p:clrMapOvr>
    <a:masterClrMapping/>
  </p:clrMapOvr>
</p:sld>
</file>

<file path=ppt/slides/slide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711.6 Vérification ................................................................................................................401</a:t>
            </a:r>
          </a:p>
        </p:txBody>
      </p:sp>
      <p:sp>
        <p:nvSpPr>
          <p:cNvPr id="3" name="Content Placeholder 2"/>
          <p:cNvSpPr>
            <a:spLocks noGrp="1"/>
          </p:cNvSpPr>
          <p:nvPr>
            <p:ph idx="1"/>
          </p:nvPr>
        </p:nvSpPr>
        <p:spPr/>
        <p:txBody>
          <a:bodyPr/>
          <a:lstStyle/>
          <a:p>
            <a:pPr>
              <a:defRPr sz="1600"/>
            </a:pPr>
            <a:r>
              <a:t>Les prescriptions de la présente partie complètent, modifient ou remplacent les prescriptions générales des autres parties de la NF C 15-100.</a:t>
            </a:r>
          </a:p>
          <a:p>
            <a:pPr>
              <a:defRPr sz="1600"/>
            </a:pPr>
            <a:r>
              <a:t>Les numéros suivant le numéro particulier de la partie 7-711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- 399 -   C.</a:t>
            </a:r>
          </a:p>
        </p:txBody>
      </p:sp>
    </p:spTree>
  </p:cSld>
  <p:clrMapOvr>
    <a:masterClrMapping/>
  </p:clrMapOvr>
</p:sld>
</file>

<file path=ppt/slides/slide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711.1 Domaine d'application</a:t>
            </a:r>
          </a:p>
        </p:txBody>
      </p:sp>
      <p:sp>
        <p:nvSpPr>
          <p:cNvPr id="3" name="Content Placeholder 2"/>
          <p:cNvSpPr>
            <a:spLocks noGrp="1"/>
          </p:cNvSpPr>
          <p:nvPr>
            <p:ph idx="1"/>
          </p:nvPr>
        </p:nvSpPr>
        <p:spPr/>
        <p:txBody>
          <a:bodyPr/>
          <a:lstStyle/>
          <a:p>
            <a:pPr>
              <a:defRPr sz="1600"/>
            </a:pPr>
            <a:r>
              <a:t>Les prescriptions particulières de la présente partie s'appliquent aux installations électriques temporaires des chapiteaux, tentes, structures, baraques, stands que l'on rencontre dans des emplacements ou enceintes tels que champs de foire, marchés, parcs de loisirs, cirques, lieux d'expositions ou de spectacle.</a:t>
            </a:r>
          </a:p>
          <a:p>
            <a:pPr>
              <a:defRPr sz="1600"/>
            </a:pPr>
            <a:r>
              <a:t>Sauf spécifications contraires, la présente partie n'est pas applicable aux machines et matériels pour lesquels il existe des prescriptions dans les normes appropriées, telle que la norme relative à la sécurité des machines  (1).</a:t>
            </a:r>
          </a:p>
          <a:p>
            <a:pPr>
              <a:defRPr sz="1600"/>
            </a:pPr>
            <a:r>
              <a:t>traite de  La présente partie les stands, chapiteaux, etc, l’installation électrique dans l’alimentation fixe de cette installation devant satisfaire aux règles générales de la présente norme.</a:t>
            </a:r>
          </a:p>
          <a:p>
            <a:pPr>
              <a:defRPr sz="1600"/>
            </a:pPr>
            <a:r>
              <a:t>Si les installations temporaires visées par la présente partie comprennent des unités mobiles ou transportables dans lesquelles une installation ou une partie d’installation électrique est incorporée, ces unités doivent satisfaire aux dispositions de la partie 7-717.</a:t>
            </a:r>
          </a:p>
          <a:p>
            <a:pPr>
              <a:defRPr sz="1600"/>
            </a:pPr>
            <a:r>
              <a:t>C.</a:t>
            </a:r>
          </a:p>
        </p:txBody>
      </p:sp>
    </p:spTree>
  </p:cSld>
  <p:clrMapOvr>
    <a:masterClrMapping/>
  </p:clrMapOvr>
</p:sld>
</file>

<file path=ppt/slides/slide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711.313 Alimentation</a:t>
            </a:r>
          </a:p>
        </p:txBody>
      </p:sp>
      <p:sp>
        <p:nvSpPr>
          <p:cNvPr id="3" name="Content Placeholder 2"/>
          <p:cNvSpPr>
            <a:spLocks noGrp="1"/>
          </p:cNvSpPr>
          <p:nvPr>
            <p:ph idx="1"/>
          </p:nvPr>
        </p:nvSpPr>
        <p:spPr/>
        <p:txBody>
          <a:bodyPr/>
          <a:lstStyle/>
          <a:p>
            <a:pPr>
              <a:defRPr sz="1600"/>
            </a:pPr>
            <a:r>
              <a:t>La tension d'alimentation nominale des installations électriques temporaires ne doit pas dépasser 230/400 V en courant alternatif.</a:t>
            </a:r>
          </a:p>
        </p:txBody>
      </p:sp>
    </p:spTree>
  </p:cSld>
  <p:clrMapOvr>
    <a:masterClrMapping/>
  </p:clrMapOvr>
</p:sld>
</file>

<file path=ppt/slides/slide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711.411.3.2 Coupure automatique de l'alimentation</a:t>
            </a:r>
          </a:p>
        </p:txBody>
      </p:sp>
      <p:sp>
        <p:nvSpPr>
          <p:cNvPr id="3" name="Content Placeholder 2"/>
          <p:cNvSpPr>
            <a:spLocks noGrp="1"/>
          </p:cNvSpPr>
          <p:nvPr>
            <p:ph idx="1"/>
          </p:nvPr>
        </p:nvSpPr>
        <p:spPr/>
        <p:txBody>
          <a:bodyPr/>
          <a:lstStyle/>
          <a:p>
            <a:pPr>
              <a:defRPr sz="1600"/>
            </a:pPr>
            <a:r>
              <a:t>A l'origine de l'installation et en tête des circuits non terminaux, la coupure automatique est assurée par des dispositifs à courant différentiel résiduel à moyenne sensibilité, temporisés ou de type S, afin d'assurer la sélectivité avec les dispositifs différentiels protégeant les circuits terminaux (voir 711.</a:t>
            </a:r>
          </a:p>
          <a:p>
            <a:pPr>
              <a:defRPr sz="1600"/>
            </a:pPr>
            <a:r>
              <a:t>415.</a:t>
            </a:r>
          </a:p>
          <a:p>
            <a:pPr>
              <a:defRPr sz="1600"/>
            </a:pPr>
            <a:r>
              <a:t>1).</a:t>
            </a:r>
          </a:p>
        </p:txBody>
      </p:sp>
    </p:spTree>
  </p:cSld>
  <p:clrMapOvr>
    <a:masterClrMapping/>
  </p:clrMapOvr>
</p:sld>
</file>

<file path=ppt/slides/slide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711.411.4 Schéma TN</a:t>
            </a:r>
          </a:p>
        </p:txBody>
      </p:sp>
      <p:sp>
        <p:nvSpPr>
          <p:cNvPr id="3" name="Content Placeholder 2"/>
          <p:cNvSpPr>
            <a:spLocks noGrp="1"/>
          </p:cNvSpPr>
          <p:nvPr>
            <p:ph idx="1"/>
          </p:nvPr>
        </p:nvSpPr>
        <p:spPr/>
        <p:txBody>
          <a:bodyPr/>
          <a:lstStyle/>
          <a:p>
            <a:pPr>
              <a:defRPr sz="1600"/>
            </a:pPr>
            <a:r>
              <a:t>Si le schéma des liaisons à la terre est TN, seul le schéma TN-S doit être utilisé.</a:t>
            </a:r>
          </a:p>
        </p:txBody>
      </p:sp>
    </p:spTree>
  </p:cSld>
  <p:clrMapOvr>
    <a:masterClrMapping/>
  </p:clrMapOvr>
</p:sld>
</file>

<file path=ppt/slides/slide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711.411.6 Schéma IT</a:t>
            </a:r>
          </a:p>
        </p:txBody>
      </p:sp>
      <p:sp>
        <p:nvSpPr>
          <p:cNvPr id="3" name="Content Placeholder 2"/>
          <p:cNvSpPr>
            <a:spLocks noGrp="1"/>
          </p:cNvSpPr>
          <p:nvPr>
            <p:ph idx="1"/>
          </p:nvPr>
        </p:nvSpPr>
        <p:spPr/>
        <p:txBody>
          <a:bodyPr/>
          <a:lstStyle/>
          <a:p>
            <a:pPr>
              <a:defRPr sz="1600"/>
            </a:pPr>
            <a:r>
              <a:t>Le schéma des liaisons à la terre IT ne peut être utilisé que si le choix d'un autre schéma est impossible.</a:t>
            </a:r>
          </a:p>
          <a:p>
            <a:pPr>
              <a:defRPr sz="1600"/>
            </a:pPr>
            <a:r>
              <a:t>Toutefois, le schéma IT peut être utilisé pour des applications en courant continu.</a:t>
            </a:r>
          </a:p>
          <a:p>
            <a:pPr>
              <a:defRPr sz="1600"/>
            </a:pPr>
            <a:r>
              <a:t>——————— (1) NF EN 60204-1 (C 79-130)  - 400 -   C.</a:t>
            </a:r>
          </a:p>
        </p:txBody>
      </p:sp>
    </p:spTree>
  </p:cSld>
  <p:clrMapOvr>
    <a:masterClrMapping/>
  </p:clrMapOvr>
</p:sld>
</file>

<file path=ppt/slides/slide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711.415.1 Protection complémentaire</a:t>
            </a:r>
          </a:p>
        </p:txBody>
      </p:sp>
      <p:sp>
        <p:nvSpPr>
          <p:cNvPr id="3" name="Content Placeholder 2"/>
          <p:cNvSpPr>
            <a:spLocks noGrp="1"/>
          </p:cNvSpPr>
          <p:nvPr>
            <p:ph idx="1"/>
          </p:nvPr>
        </p:nvSpPr>
        <p:spPr/>
        <p:txBody>
          <a:bodyPr/>
          <a:lstStyle/>
          <a:p>
            <a:pPr>
              <a:defRPr sz="1600"/>
            </a:pPr>
            <a:r>
              <a:t>Quel que soit le schéma des liaisons à la terre, tous les circuits terminaux doivent être protégés par un DDR de courant différentiel-résiduel assigné au plus égal à 30 mA, à l'exception des circuits alimentant des moteurs de forte puissance qui peuvent être protégés par des dispositifs à moyenne sensibilité de type S ou non volontairement retardés.</a:t>
            </a:r>
          </a:p>
          <a:p>
            <a:pPr>
              <a:defRPr sz="1600"/>
            </a:pPr>
            <a:r>
              <a:t>Dans le cas d’un schéma IT, il doit être prévu un DDR par circuit.</a:t>
            </a:r>
          </a:p>
        </p:txBody>
      </p:sp>
    </p:spTree>
  </p:cSld>
  <p:clrMapOvr>
    <a:masterClrMapping/>
  </p:clrMapOvr>
</p:sld>
</file>

<file path=ppt/slides/slide9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711.415.2 Liaison équipotentielle supplémentaire</a:t>
            </a:r>
          </a:p>
        </p:txBody>
      </p:sp>
      <p:sp>
        <p:nvSpPr>
          <p:cNvPr id="3" name="Content Placeholder 2"/>
          <p:cNvSpPr>
            <a:spLocks noGrp="1"/>
          </p:cNvSpPr>
          <p:nvPr>
            <p:ph idx="1"/>
          </p:nvPr>
        </p:nvSpPr>
        <p:spPr/>
        <p:txBody>
          <a:bodyPr/>
          <a:lstStyle/>
          <a:p>
            <a:pPr>
              <a:defRPr sz="1600"/>
            </a:pPr>
            <a:r>
              <a:t>Dans les emplacements utilisés pour des animaux, une liaison équipotentielle supplémentaire doit relier toutes les masses et éléments conducteurs pouvant être touchés simultanément par les animaux.</a:t>
            </a:r>
          </a:p>
        </p:txBody>
      </p:sp>
    </p:spTree>
  </p:cSld>
  <p:clrMapOvr>
    <a:masterClrMapping/>
  </p:clrMapOvr>
</p:sld>
</file>

<file path=ppt/slides/slide9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711.421 Règles générales de protection contre l'incendie</a:t>
            </a:r>
          </a:p>
        </p:txBody>
      </p:sp>
      <p:sp>
        <p:nvSpPr>
          <p:cNvPr id="3" name="Content Placeholder 2"/>
          <p:cNvSpPr>
            <a:spLocks noGrp="1"/>
          </p:cNvSpPr>
          <p:nvPr>
            <p:ph idx="1"/>
          </p:nvPr>
        </p:nvSpPr>
        <p:spPr/>
        <p:txBody>
          <a:bodyPr/>
          <a:lstStyle/>
          <a:p>
            <a:pPr>
              <a:defRPr sz="1600"/>
            </a:pPr>
            <a:r>
              <a:t>Les vitrines illuminées et les panneaux d'affichage doivent être constitués de matériaux présentant une résistance à la chaleur, une tenue mécanique, une isolation électrique et une ventilation appropriées, en tenant compte de la combustibilité des objets exposés à la chaleur dégagée par l'illumination.</a:t>
            </a:r>
          </a:p>
          <a:p>
            <a:pPr>
              <a:defRPr sz="1600"/>
            </a:pPr>
            <a:r>
              <a:t>Les étalages comportant une concentration de matériels électriques, d'éclairage ou de lampes susceptibles d'émettre une chaleur excessive doivent être équipés de toits en matériaux M0, M1 ou M2, convenablement ventilés.</a:t>
            </a:r>
          </a:p>
        </p:txBody>
      </p:sp>
    </p:spTree>
  </p:cSld>
  <p:clrMapOvr>
    <a:masterClrMapping/>
  </p:clrMapOvr>
</p:sld>
</file>

<file path=ppt/slides/slide9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711.422.1.13 Les moteurs commandés automatiquement ou à distance, ou non surveillés en</a:t>
            </a:r>
          </a:p>
        </p:txBody>
      </p:sp>
      <p:sp>
        <p:nvSpPr>
          <p:cNvPr id="3" name="Content Placeholder 2"/>
          <p:cNvSpPr>
            <a:spLocks noGrp="1"/>
          </p:cNvSpPr>
          <p:nvPr>
            <p:ph idx="1"/>
          </p:nvPr>
        </p:nvSpPr>
        <p:spPr/>
        <p:txBody>
          <a:bodyPr/>
          <a:lstStyle/>
          <a:p>
            <a:pPr>
              <a:defRPr sz="1600"/>
            </a:pPr>
            <a:r>
              <a:t>permanence, doivent être protégés contre les températures excessives par des dispositifs de protection contre les surcharges avec réarmement manuel ou par des dispositifs analogues.</a:t>
            </a:r>
          </a:p>
        </p:txBody>
      </p:sp>
    </p:spTree>
  </p:cSld>
  <p:clrMapOvr>
    <a:masterClrMapping/>
  </p:clrMapOvr>
</p:sld>
</file>

<file path=ppt/slides/slide9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711.462 Sectionnement et coupure en charge</a:t>
            </a:r>
          </a:p>
        </p:txBody>
      </p:sp>
      <p:sp>
        <p:nvSpPr>
          <p:cNvPr id="3" name="Content Placeholder 2"/>
          <p:cNvSpPr>
            <a:spLocks noGrp="1"/>
          </p:cNvSpPr>
          <p:nvPr>
            <p:ph idx="1"/>
          </p:nvPr>
        </p:nvSpPr>
        <p:spPr/>
        <p:txBody>
          <a:bodyPr/>
          <a:lstStyle/>
          <a:p>
            <a:pPr>
              <a:defRPr sz="1600"/>
            </a:pPr>
            <a:r>
              <a:t>Chaque structure, baraque, stand ou entité, destiné à être occupé par un utilisateur spécifique et chaque circuit de distribution alimentant des installations extérieures doit être prévu avec ses propres dispositifs de sectionnement et de coupure en charge facilement accessibles et aisément identifiables.</a:t>
            </a:r>
          </a:p>
        </p:txBody>
      </p:sp>
    </p:spTree>
  </p:cSld>
  <p:clrMapOvr>
    <a:masterClrMapping/>
  </p:clrMapOvr>
</p:sld>
</file>

<file path=ppt/slides/slide9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711.463 Coupure d'urgence</a:t>
            </a:r>
          </a:p>
        </p:txBody>
      </p:sp>
      <p:sp>
        <p:nvSpPr>
          <p:cNvPr id="3" name="Content Placeholder 2"/>
          <p:cNvSpPr>
            <a:spLocks noGrp="1"/>
          </p:cNvSpPr>
          <p:nvPr>
            <p:ph idx="1"/>
          </p:nvPr>
        </p:nvSpPr>
        <p:spPr/>
        <p:txBody>
          <a:bodyPr/>
          <a:lstStyle/>
          <a:p>
            <a:pPr>
              <a:defRPr sz="1600"/>
            </a:pPr>
            <a:r>
              <a:t>Un dispositif de coupure d'urgence doit être prévu en tête de l'installation électrique des entités telles que baraques ou stands.</a:t>
            </a:r>
          </a:p>
          <a:p>
            <a:pPr>
              <a:defRPr sz="1600"/>
            </a:pPr>
            <a:r>
              <a:t>Cette fonction de coupure d'urgence peut être assurée par le dispositif prescrit en 711.</a:t>
            </a:r>
          </a:p>
          <a:p>
            <a:pPr>
              <a:defRPr sz="1600"/>
            </a:pPr>
            <a:r>
              <a:t>462.</a:t>
            </a:r>
          </a:p>
        </p:txBody>
      </p:sp>
    </p:spTree>
  </p:cSld>
  <p:clrMapOvr>
    <a:masterClrMapping/>
  </p:clrMapOvr>
</p:sld>
</file>

<file path=ppt/slides/slide9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711.526 Connexions électriques</a:t>
            </a:r>
          </a:p>
        </p:txBody>
      </p:sp>
      <p:sp>
        <p:nvSpPr>
          <p:cNvPr id="3" name="Content Placeholder 2"/>
          <p:cNvSpPr>
            <a:spLocks noGrp="1"/>
          </p:cNvSpPr>
          <p:nvPr>
            <p:ph idx="1"/>
          </p:nvPr>
        </p:nvSpPr>
        <p:spPr/>
        <p:txBody>
          <a:bodyPr/>
          <a:lstStyle/>
          <a:p>
            <a:pPr>
              <a:defRPr sz="1600"/>
            </a:pPr>
            <a:r>
              <a:t>Les connexions doivent être enfermées dans des enveloppes de degré de protection minimal IP4X ou IPXXD.</a:t>
            </a:r>
          </a:p>
        </p:txBody>
      </p:sp>
    </p:spTree>
  </p:cSld>
  <p:clrMapOvr>
    <a:masterClrMapping/>
  </p:clrMapOvr>
</p:sld>
</file>

<file path=ppt/slides/slide9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711.53 Les dispositifs de protection contre les contacts indirects et contre les surintensités, des</a:t>
            </a:r>
          </a:p>
        </p:txBody>
      </p:sp>
      <p:sp>
        <p:nvSpPr>
          <p:cNvPr id="3" name="Content Placeholder 2"/>
          <p:cNvSpPr>
            <a:spLocks noGrp="1"/>
          </p:cNvSpPr>
          <p:nvPr>
            <p:ph idx="1"/>
          </p:nvPr>
        </p:nvSpPr>
        <p:spPr/>
        <p:txBody>
          <a:bodyPr/>
          <a:lstStyle/>
          <a:p>
            <a:pPr>
              <a:defRPr sz="1600"/>
            </a:pPr>
            <a:r>
              <a:t>circuits d'entités telles que baraques ou stands doivent être mis en œuvre dans des enveloppes fermées de degré de protection minimal IP4X ou IPXXD ne pouvant être ouvertes qu'à l'aide d'une clé ou d'un outil.</a:t>
            </a:r>
          </a:p>
        </p:txBody>
      </p:sp>
    </p:spTree>
  </p:cSld>
  <p:clrMapOvr>
    <a:masterClrMapping/>
  </p:clrMapOvr>
</p:sld>
</file>

<file path=ppt/slides/slide9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711.551 Groupes générateurs à basse tension</a:t>
            </a:r>
          </a:p>
        </p:txBody>
      </p:sp>
      <p:sp>
        <p:nvSpPr>
          <p:cNvPr id="3" name="Content Placeholder 2"/>
          <p:cNvSpPr>
            <a:spLocks noGrp="1"/>
          </p:cNvSpPr>
          <p:nvPr>
            <p:ph idx="1"/>
          </p:nvPr>
        </p:nvSpPr>
        <p:spPr/>
        <p:txBody>
          <a:bodyPr/>
          <a:lstStyle/>
          <a:p>
            <a:pPr>
              <a:defRPr sz="1600"/>
            </a:pPr>
            <a:r>
              <a:t>Les groupes générateurs doivent être situés ou protégés de manière à éviter des dangers et des blessures pour des personnes par un contact par inadvertance avec des parties à température élevée ou dangereuses.</a:t>
            </a:r>
          </a:p>
          <a:p>
            <a:pPr>
              <a:defRPr sz="1600"/>
            </a:pPr>
            <a:r>
              <a:t>Le guide UTE C 15-401 définit les conditions de mise en œuvre dans l'installation électrique, des groupes électrogènes.</a:t>
            </a:r>
          </a:p>
          <a:p>
            <a:pPr>
              <a:defRPr sz="1600"/>
            </a:pPr>
            <a:r>
              <a:t>- 401 -   C  C.</a:t>
            </a:r>
          </a:p>
        </p:txBody>
      </p:sp>
    </p:spTree>
  </p:cSld>
  <p:clrMapOvr>
    <a:masterClrMapping/>
  </p:clrMapOvr>
</p:sld>
</file>

<file path=ppt/slides/slide9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711.559.2.1 Luminaires</a:t>
            </a:r>
          </a:p>
        </p:txBody>
      </p:sp>
      <p:sp>
        <p:nvSpPr>
          <p:cNvPr id="3" name="Content Placeholder 2"/>
          <p:cNvSpPr>
            <a:spLocks noGrp="1"/>
          </p:cNvSpPr>
          <p:nvPr>
            <p:ph idx="1"/>
          </p:nvPr>
        </p:nvSpPr>
        <p:spPr/>
        <p:txBody>
          <a:bodyPr/>
          <a:lstStyle/>
          <a:p>
            <a:pPr>
              <a:defRPr sz="1600"/>
            </a:pPr>
            <a:r>
              <a:t>Les luminaires et motifs lumineux doivent être fixés de manière sûre à la structure ou aux supports destinés à les maintenir.</a:t>
            </a:r>
          </a:p>
          <a:p>
            <a:pPr>
              <a:defRPr sz="1600"/>
            </a:pPr>
            <a:r>
              <a:t>Voir aussi 559.</a:t>
            </a:r>
          </a:p>
          <a:p>
            <a:pPr>
              <a:defRPr sz="1600"/>
            </a:pPr>
            <a:r>
              <a:t>2.</a:t>
            </a:r>
          </a:p>
          <a:p>
            <a:pPr>
              <a:defRPr sz="1600"/>
            </a:pPr>
            <a:r>
              <a:t>4.</a:t>
            </a:r>
          </a:p>
          <a:p>
            <a:pPr>
              <a:defRPr sz="1600"/>
            </a:pPr>
            <a:r>
              <a:t>Les luminaires et motifs lumineux fixés à moins de 2,5 m (portée de main) du sol ou susceptibles de contacts fortuits doivent être fermement fixés, et situés ou protégés de manière à empêcher tout risque de blessure pour les personnes ou d'inflammation des matériaux.</a:t>
            </a:r>
          </a:p>
        </p:txBody>
      </p:sp>
    </p:spTree>
  </p:cSld>
  <p:clrMapOvr>
    <a:masterClrMapping/>
  </p:clrMapOvr>
</p:sld>
</file>

<file path=ppt/slides/slide9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711.559.2.2 Douilles</a:t>
            </a:r>
          </a:p>
        </p:txBody>
      </p:sp>
      <p:sp>
        <p:nvSpPr>
          <p:cNvPr id="3" name="Content Placeholder 2"/>
          <p:cNvSpPr>
            <a:spLocks noGrp="1"/>
          </p:cNvSpPr>
          <p:nvPr>
            <p:ph idx="1"/>
          </p:nvPr>
        </p:nvSpPr>
        <p:spPr/>
        <p:txBody>
          <a:bodyPr/>
          <a:lstStyle/>
          <a:p>
            <a:pPr>
              <a:defRPr sz="1600"/>
            </a:pPr>
            <a:r>
              <a:t>Les douilles avec pénétration de l'isolation pour les connexions ne doivent pas être utilisées, sauf si le câble et les douilles sont compatibles et si les douilles ne sont plus démontables après fixation du câble.</a:t>
            </a:r>
          </a:p>
        </p:txBody>
      </p:sp>
    </p:spTree>
  </p:cSld>
  <p:clrMapOvr>
    <a:masterClrMapping/>
  </p:clrMapOvr>
</p:sld>
</file>

<file path=ppt/slides/slide9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711.559.2.3 Lampes dans les stands de tir</a:t>
            </a:r>
          </a:p>
        </p:txBody>
      </p:sp>
      <p:sp>
        <p:nvSpPr>
          <p:cNvPr id="3" name="Content Placeholder 2"/>
          <p:cNvSpPr>
            <a:spLocks noGrp="1"/>
          </p:cNvSpPr>
          <p:nvPr>
            <p:ph idx="1"/>
          </p:nvPr>
        </p:nvSpPr>
        <p:spPr/>
        <p:txBody>
          <a:bodyPr/>
          <a:lstStyle/>
          <a:p>
            <a:pPr>
              <a:defRPr sz="1600"/>
            </a:pPr>
            <a:r>
              <a:t>Les lampes dans les stands de tir et de spectacles forains dans lesquels des projectiles sont utilisés doivent être convenablement implantées afin d’éviter tout dommage accidentel.</a:t>
            </a:r>
          </a:p>
        </p:txBody>
      </p:sp>
    </p:spTree>
  </p:cSld>
  <p:clrMapOvr>
    <a:masterClrMapping/>
  </p:clrMapOvr>
</p:sld>
</file>

<file path=ppt/slides/slide9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711.559.2.4 Projecteurs</a:t>
            </a:r>
          </a:p>
        </p:txBody>
      </p:sp>
      <p:sp>
        <p:nvSpPr>
          <p:cNvPr id="3" name="Content Placeholder 2"/>
          <p:cNvSpPr>
            <a:spLocks noGrp="1"/>
          </p:cNvSpPr>
          <p:nvPr>
            <p:ph idx="1"/>
          </p:nvPr>
        </p:nvSpPr>
        <p:spPr/>
        <p:txBody>
          <a:bodyPr/>
          <a:lstStyle/>
          <a:p>
            <a:pPr>
              <a:defRPr sz="1600"/>
            </a:pPr>
            <a:r>
              <a:t>Si des projecteurs mobiles sont utilisés, ils doivent être mis en oeuvre de manière qu’ils soient inaccessibles.</a:t>
            </a:r>
          </a:p>
          <a:p>
            <a:pPr>
              <a:defRPr sz="1600"/>
            </a:pPr>
            <a:r>
              <a:t>Les câbles d'alimentation doivent être souples et doivent présenter une protection mécanique appropriée.</a:t>
            </a:r>
          </a:p>
          <a:p>
            <a:pPr>
              <a:defRPr sz="1600"/>
            </a:pPr>
            <a:r>
              <a:t>Ces câbles doivent être du type H07RN-F ou H07BB-F.</a:t>
            </a:r>
          </a:p>
        </p:txBody>
      </p:sp>
    </p:spTree>
  </p:cSld>
  <p:clrMapOvr>
    <a:masterClrMapping/>
  </p:clrMapOvr>
</p:sld>
</file>

<file path=ppt/slides/slide9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711.559.2.5 Risque d'incendie par les luminaires et les projecteurs</a:t>
            </a:r>
          </a:p>
        </p:txBody>
      </p:sp>
      <p:sp>
        <p:nvSpPr>
          <p:cNvPr id="3" name="Content Placeholder 2"/>
          <p:cNvSpPr>
            <a:spLocks noGrp="1"/>
          </p:cNvSpPr>
          <p:nvPr>
            <p:ph idx="1"/>
          </p:nvPr>
        </p:nvSpPr>
        <p:spPr/>
        <p:txBody>
          <a:bodyPr/>
          <a:lstStyle/>
          <a:p>
            <a:pPr>
              <a:defRPr sz="1600"/>
            </a:pPr>
            <a:r>
              <a:t>Les luminaires et projecteurs doivent être fixés et protégés afin que leur orientation ou une concentration de chaleur ne soient pas susceptibles d'entraîner l'inflammation d'un quelconque matériau.</a:t>
            </a:r>
          </a:p>
          <a:p>
            <a:pPr>
              <a:defRPr sz="1600"/>
            </a:pPr>
            <a:r>
              <a:t>Les prescriptions de distances minimales des objets éclairés données par le constructeur doivent être respectées.</a:t>
            </a:r>
          </a:p>
        </p:txBody>
      </p:sp>
    </p:spTree>
  </p:cSld>
  <p:clrMapOvr>
    <a:masterClrMapping/>
  </p:clrMapOvr>
</p:sld>
</file>

<file path=ppt/slides/slide9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711.559.2.6 Enseignes et tubes lumineux à décharge fonctionnant à une tension de sortie</a:t>
            </a:r>
          </a:p>
        </p:txBody>
      </p:sp>
      <p:sp>
        <p:nvSpPr>
          <p:cNvPr id="3" name="Content Placeholder 2"/>
          <p:cNvSpPr>
            <a:spLocks noGrp="1"/>
          </p:cNvSpPr>
          <p:nvPr>
            <p:ph idx="1"/>
          </p:nvPr>
        </p:nvSpPr>
        <p:spPr/>
        <p:txBody>
          <a:bodyPr/>
          <a:lstStyle/>
          <a:p>
            <a:pPr>
              <a:defRPr sz="1600"/>
            </a:pPr>
            <a:r>
              <a:t>à vide assignée supérieure à 1kV  Les enseignes et tubes lumineux à décharge fonctionnant à une tension de sortie à vide assignée supérieure à 1kV doivent être installés conformément aux dispositions des normes NF C 15-150-1 et NF C 15-150-2.</a:t>
            </a:r>
          </a:p>
          <a:p>
            <a:pPr>
              <a:defRPr sz="1600"/>
            </a:pPr>
            <a:r>
              <a:t>S'ils sont enfermés dans des enveloppes, celles-ci doivent être en matériau M3 au moins ou en matériau satisfaisant à l'essai au fil incandescent, la température du fil incandescent étant de 750°C.</a:t>
            </a:r>
          </a:p>
          <a:p>
            <a:pPr>
              <a:defRPr sz="1600"/>
            </a:pPr>
            <a:r>
              <a:t>Le matériau du plan d'appui arrière des enseignes ou des tubes doit être M1.</a:t>
            </a:r>
          </a:p>
        </p:txBody>
      </p:sp>
    </p:spTree>
  </p:cSld>
  <p:clrMapOvr>
    <a:masterClrMapping/>
  </p:clrMapOvr>
</p:sld>
</file>

<file path=ppt/slides/slide9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711.559.2.7 Installations d'éclairage TBTS</a:t>
            </a:r>
          </a:p>
        </p:txBody>
      </p:sp>
      <p:sp>
        <p:nvSpPr>
          <p:cNvPr id="3" name="Content Placeholder 2"/>
          <p:cNvSpPr>
            <a:spLocks noGrp="1"/>
          </p:cNvSpPr>
          <p:nvPr>
            <p:ph idx="1"/>
          </p:nvPr>
        </p:nvSpPr>
        <p:spPr/>
        <p:txBody>
          <a:bodyPr/>
          <a:lstStyle/>
          <a:p>
            <a:pPr>
              <a:defRPr sz="1600"/>
            </a:pPr>
            <a:r>
              <a:t>Les installations d'éclairage TBTS doivent satisfaire aux prescriptions du guide UTE C 15-559.</a:t>
            </a:r>
          </a:p>
        </p:txBody>
      </p:sp>
    </p:spTree>
  </p:cSld>
  <p:clrMapOvr>
    <a:masterClrMapping/>
  </p:clrMapOvr>
</p:sld>
</file>

<file path=ppt/slides/slide9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711.6 Vérification</a:t>
            </a:r>
          </a:p>
        </p:txBody>
      </p:sp>
      <p:sp>
        <p:nvSpPr>
          <p:cNvPr id="3" name="Content Placeholder 2"/>
          <p:cNvSpPr>
            <a:spLocks noGrp="1"/>
          </p:cNvSpPr>
          <p:nvPr>
            <p:ph idx="1"/>
          </p:nvPr>
        </p:nvSpPr>
        <p:spPr/>
        <p:txBody>
          <a:bodyPr/>
          <a:lstStyle/>
          <a:p>
            <a:pPr>
              <a:defRPr sz="1600"/>
            </a:pPr>
            <a:r>
              <a:t>Les réglements nationaux indiquent les conditions de vérification des installations temporaires visées par la présente partie, notamment les réglements émanant du Ministère chargé du Travail et ceux émanant du Ministère de l'Intérieur.</a:t>
            </a:r>
          </a:p>
          <a:p>
            <a:pPr>
              <a:defRPr sz="1600"/>
            </a:pPr>
            <a:r>
              <a:t>_____________  - 402 -   Partie 7-717 – Unités mobiles ou transportables.</a:t>
            </a:r>
          </a:p>
        </p:txBody>
      </p:sp>
    </p:spTree>
  </p:cSld>
  <p:clrMapOvr>
    <a:masterClrMapping/>
  </p:clrMapOvr>
</p:sld>
</file>

<file path=ppt/slides/slide9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717.555 Matériels d’installation............................................................................................406</a:t>
            </a:r>
          </a:p>
        </p:txBody>
      </p:sp>
      <p:sp>
        <p:nvSpPr>
          <p:cNvPr id="3" name="Content Placeholder 2"/>
          <p:cNvSpPr>
            <a:spLocks noGrp="1"/>
          </p:cNvSpPr>
          <p:nvPr>
            <p:ph idx="1"/>
          </p:nvPr>
        </p:nvSpPr>
        <p:spPr/>
        <p:txBody>
          <a:bodyPr/>
          <a:lstStyle/>
          <a:p>
            <a:pPr>
              <a:defRPr sz="1600"/>
            </a:pPr>
            <a:r>
              <a:t>Les prescriptions de la présente partie complètent, modifient ou remplacent les prescriptions générales des autres parties de la NF C 15-100.</a:t>
            </a:r>
          </a:p>
          <a:p>
            <a:pPr>
              <a:defRPr sz="1600"/>
            </a:pPr>
            <a:r>
              <a:t>Les numéros suivant le numéro particulier de la partie 7-717 sont ceux des parties, articles ou paragraphes correspondants de la présente norme.</a:t>
            </a:r>
          </a:p>
          <a:p>
            <a:pPr>
              <a:defRPr sz="1600"/>
            </a:pPr>
            <a:r>
              <a:t>L'absence de référence à une partie, à un article ou à un paragraphe signifie que les prescriptions générales correspondantes sont applicables   C  C  C.</a:t>
            </a:r>
          </a:p>
        </p:txBody>
      </p:sp>
    </p:spTree>
  </p:cSld>
  <p:clrMapOvr>
    <a:masterClrMapping/>
  </p:clrMapOvr>
</p:sld>
</file>

<file path=ppt/slides/slide9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717.1 Domaine d’application</a:t>
            </a:r>
          </a:p>
        </p:txBody>
      </p:sp>
      <p:sp>
        <p:nvSpPr>
          <p:cNvPr id="3" name="Content Placeholder 2"/>
          <p:cNvSpPr>
            <a:spLocks noGrp="1"/>
          </p:cNvSpPr>
          <p:nvPr>
            <p:ph idx="1"/>
          </p:nvPr>
        </p:nvSpPr>
        <p:spPr/>
        <p:txBody>
          <a:bodyPr/>
          <a:lstStyle/>
          <a:p>
            <a:pPr>
              <a:defRPr sz="1600"/>
            </a:pPr>
            <a:r>
              <a:t>Les prescriptions particulières de la présente partie sont applicables aux unités :  -  -  soit du type mobile, par exemple véhicules (autopropulsés ou remorqués) ;  soit du type transportable, par exemple conteneurs ou cabines installés sur chantier.</a:t>
            </a:r>
          </a:p>
          <a:p>
            <a:pPr>
              <a:defRPr sz="1600"/>
            </a:pPr>
            <a:r>
              <a:t>Des exemples d’utilisation sont les émetteurs radio/télé, les services médicaux, la publicité, la lutte contre l’incendie, les ateliers, etc.</a:t>
            </a:r>
          </a:p>
          <a:p>
            <a:pPr>
              <a:defRPr sz="1600"/>
            </a:pPr>
            <a:r>
              <a:t>Plusieurs unités peuvent être électriquement interconnectées.</a:t>
            </a:r>
          </a:p>
          <a:p>
            <a:pPr>
              <a:defRPr sz="1600"/>
            </a:pPr>
            <a:r>
              <a:t>Ces prescriptions ne sont pas applicables :  -  -  -  -  -  aux groupes générateurs de remplacement ;  aux navires de plaisance ;  aux machines mobiles conformes à la norme NF EN 60204-1  (1)   ;  aux caravanes ;  aux matériels de traction électrique des véhicules.</a:t>
            </a:r>
          </a:p>
          <a:p>
            <a:pPr>
              <a:defRPr sz="1600"/>
            </a:pPr>
            <a:r>
              <a:t>Les prescriptions complémentaires des parties du titre 7, si elles sont applicables, seront prises en compte, par exemple pour les douches, les emplacements à usages médicaux, etc.</a:t>
            </a:r>
          </a:p>
        </p:txBody>
      </p:sp>
    </p:spTree>
  </p:cSld>
  <p:clrMapOvr>
    <a:masterClrMapping/>
  </p:clrMapOvr>
</p:sld>
</file>

<file path=ppt/slides/slide9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717.312.2.1 Schéma TN</a:t>
            </a:r>
          </a:p>
        </p:txBody>
      </p:sp>
      <p:sp>
        <p:nvSpPr>
          <p:cNvPr id="3" name="Content Placeholder 2"/>
          <p:cNvSpPr>
            <a:spLocks noGrp="1"/>
          </p:cNvSpPr>
          <p:nvPr>
            <p:ph idx="1"/>
          </p:nvPr>
        </p:nvSpPr>
        <p:spPr/>
        <p:txBody>
          <a:bodyPr/>
          <a:lstStyle/>
          <a:p>
            <a:pPr>
              <a:defRPr sz="1600"/>
            </a:pPr>
            <a:r>
              <a:t>Le schéma TN-C n’est pas admis à l’intérieur d’une unité.</a:t>
            </a:r>
          </a:p>
        </p:txBody>
      </p:sp>
    </p:spTree>
  </p:cSld>
  <p:clrMapOvr>
    <a:masterClrMapping/>
  </p:clrMapOvr>
</p:sld>
</file>

<file path=ppt/slides/slide9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717.313 Alimentation</a:t>
            </a:r>
          </a:p>
        </p:txBody>
      </p:sp>
      <p:sp>
        <p:nvSpPr>
          <p:cNvPr id="3" name="Content Placeholder 2"/>
          <p:cNvSpPr>
            <a:spLocks noGrp="1"/>
          </p:cNvSpPr>
          <p:nvPr>
            <p:ph idx="1"/>
          </p:nvPr>
        </p:nvSpPr>
        <p:spPr/>
        <p:txBody>
          <a:bodyPr/>
          <a:lstStyle/>
          <a:p>
            <a:pPr>
              <a:defRPr sz="1600"/>
            </a:pPr>
            <a:r>
              <a:t>Les méthodes suivantes peuvent être utilisées pour l’alimentation d’une unité :  a) alimentation par un groupe générateur à basse tension (voir figures 717A.</a:t>
            </a:r>
          </a:p>
          <a:p>
            <a:pPr>
              <a:defRPr sz="1600"/>
            </a:pPr>
            <a:r>
              <a:t>1 et 717A.</a:t>
            </a:r>
          </a:p>
          <a:p>
            <a:pPr>
              <a:defRPr sz="1600"/>
            </a:pPr>
            <a:r>
              <a:t>2) ;  Le groupe générateur peut être à l’intérieur d’une unité ou un groupe mobile.</a:t>
            </a:r>
          </a:p>
          <a:p>
            <a:pPr>
              <a:defRPr sz="1600"/>
            </a:pPr>
            <a:r>
              <a:t>b) alimentation directe par une installation électrique fixe (voir figure 717B) ;  c) alimentation par une installation électrique fixe par l’intermédiaire d’un transformateur  assurant une séparation simple (voir figures 717C.</a:t>
            </a:r>
          </a:p>
          <a:p>
            <a:pPr>
              <a:defRPr sz="1600"/>
            </a:pPr>
            <a:r>
              <a:t>1 et 717C.</a:t>
            </a:r>
          </a:p>
        </p:txBody>
      </p:sp>
    </p:spTree>
  </p:cSld>
  <p:clrMapOvr>
    <a:masterClrMapping/>
  </p:clrMapOvr>
</p:sld>
</file>

<file path=ppt/slides/slide9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717.411 Protection par coupure automatique de l'alimentation</a:t>
            </a:r>
          </a:p>
        </p:txBody>
      </p:sp>
      <p:sp>
        <p:nvSpPr>
          <p:cNvPr id="3" name="Content Placeholder 2"/>
          <p:cNvSpPr>
            <a:spLocks noGrp="1"/>
          </p:cNvSpPr>
          <p:nvPr>
            <p:ph idx="1"/>
          </p:nvPr>
        </p:nvSpPr>
        <p:spPr/>
        <p:txBody>
          <a:bodyPr/>
          <a:lstStyle/>
          <a:p>
            <a:pPr>
              <a:defRPr sz="1600"/>
            </a:pPr>
            <a:r>
              <a:t>a) pour les alimentations conformes à 717.</a:t>
            </a:r>
          </a:p>
          <a:p>
            <a:pPr>
              <a:defRPr sz="1600"/>
            </a:pPr>
            <a:r>
              <a:t>313 a) et 717.</a:t>
            </a:r>
          </a:p>
          <a:p>
            <a:pPr>
              <a:defRPr sz="1600"/>
            </a:pPr>
            <a:r>
              <a:t>313 c), seuls les schémas TN et IT sont autorisés et la protection par coupure automatique de l’alimentation doit être assurée :  -  -  en schéma TN, conformément aux protection étant des DDR ;  dispositions de 717.</a:t>
            </a:r>
          </a:p>
          <a:p>
            <a:pPr>
              <a:defRPr sz="1600"/>
            </a:pPr>
            <a:r>
              <a:t>411.</a:t>
            </a:r>
          </a:p>
          <a:p>
            <a:pPr>
              <a:defRPr sz="1600"/>
            </a:pPr>
            <a:r>
              <a:t>4, les dispositifs de  en schéma IT, conformément aux dispositions de 717.</a:t>
            </a:r>
          </a:p>
        </p:txBody>
      </p:sp>
    </p:spTree>
  </p:cSld>
  <p:clrMapOvr>
    <a:masterClrMapping/>
  </p:clrMapOvr>
</p:sld>
</file>

<file path=ppt/slides/slide9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717.411.3.1.1 Liaison équipotentielle principale</a:t>
            </a:r>
          </a:p>
        </p:txBody>
      </p:sp>
      <p:sp>
        <p:nvSpPr>
          <p:cNvPr id="3" name="Content Placeholder 2"/>
          <p:cNvSpPr>
            <a:spLocks noGrp="1"/>
          </p:cNvSpPr>
          <p:nvPr>
            <p:ph idx="1"/>
          </p:nvPr>
        </p:nvSpPr>
        <p:spPr/>
        <p:txBody>
          <a:bodyPr/>
          <a:lstStyle/>
          <a:p>
            <a:pPr>
              <a:defRPr sz="1600"/>
            </a:pPr>
            <a:r>
              <a:t>Les parties conductrices accessibles des unités telles que châssis, enveloppe conductrice, structure d'ensemble ou tubulaire doivent être interconnectées et reliées au conducteur principal de protection de l’unité par la liaison équipotentielle principale.</a:t>
            </a:r>
          </a:p>
          <a:p>
            <a:pPr>
              <a:defRPr sz="1600"/>
            </a:pPr>
            <a:r>
              <a:t>Cette liaison doit être à âme souple.</a:t>
            </a:r>
          </a:p>
        </p:txBody>
      </p:sp>
    </p:spTree>
  </p:cSld>
  <p:clrMapOvr>
    <a:masterClrMapping/>
  </p:clrMapOvr>
</p:sld>
</file>

<file path=ppt/slides/slide9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717.411.3.1.2 Equipotentialité des masses</a:t>
            </a:r>
          </a:p>
        </p:txBody>
      </p:sp>
      <p:sp>
        <p:nvSpPr>
          <p:cNvPr id="3" name="Content Placeholder 2"/>
          <p:cNvSpPr>
            <a:spLocks noGrp="1"/>
          </p:cNvSpPr>
          <p:nvPr>
            <p:ph idx="1"/>
          </p:nvPr>
        </p:nvSpPr>
        <p:spPr/>
        <p:txBody>
          <a:bodyPr/>
          <a:lstStyle/>
          <a:p>
            <a:pPr>
              <a:defRPr sz="1600"/>
            </a:pPr>
            <a:r>
              <a:t>Les masses des matériels électriques des unités doivent être interconnectées et reliées au conducteur principal de protection de l’unité, lui-même relié à la liaison équipotentielle principale.</a:t>
            </a:r>
          </a:p>
        </p:txBody>
      </p:sp>
    </p:spTree>
  </p:cSld>
  <p:clrMapOvr>
    <a:masterClrMapping/>
  </p:clrMapOvr>
</p:sld>
</file>

<file path=ppt/slides/slide9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717.411.3.1.3 Si plusieurs unités sont électriquement interconnectées et alimentées par la</a:t>
            </a:r>
          </a:p>
        </p:txBody>
      </p:sp>
      <p:sp>
        <p:nvSpPr>
          <p:cNvPr id="3" name="Content Placeholder 2"/>
          <p:cNvSpPr>
            <a:spLocks noGrp="1"/>
          </p:cNvSpPr>
          <p:nvPr>
            <p:ph idx="1"/>
          </p:nvPr>
        </p:nvSpPr>
        <p:spPr/>
        <p:txBody>
          <a:bodyPr/>
          <a:lstStyle/>
          <a:p>
            <a:pPr>
              <a:defRPr sz="1600"/>
            </a:pPr>
            <a:r>
              <a:t>même source, les liaisons équipotentielles principales doivent aussi être interconnectées.</a:t>
            </a:r>
          </a:p>
        </p:txBody>
      </p:sp>
    </p:spTree>
  </p:cSld>
  <p:clrMapOvr>
    <a:masterClrMapping/>
  </p:clrMapOvr>
</p:sld>
</file>

<file path=ppt/slides/slide9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711.411.3.1.4 Si un groupe générateur BT situé à l’extérieur est utilisé, sa masse doit être</a:t>
            </a:r>
          </a:p>
        </p:txBody>
      </p:sp>
      <p:sp>
        <p:nvSpPr>
          <p:cNvPr id="3" name="Content Placeholder 2"/>
          <p:cNvSpPr>
            <a:spLocks noGrp="1"/>
          </p:cNvSpPr>
          <p:nvPr>
            <p:ph idx="1"/>
          </p:nvPr>
        </p:nvSpPr>
        <p:spPr/>
        <p:txBody>
          <a:bodyPr/>
          <a:lstStyle/>
          <a:p>
            <a:pPr>
              <a:defRPr sz="1600"/>
            </a:pPr>
            <a:r>
              <a:t>reliée à la liaison équipotentielle principale.</a:t>
            </a:r>
          </a:p>
          <a:p>
            <a:pPr>
              <a:defRPr sz="1600"/>
            </a:pPr>
            <a:r>
              <a:t>C  C.</a:t>
            </a:r>
          </a:p>
        </p:txBody>
      </p:sp>
    </p:spTree>
  </p:cSld>
  <p:clrMapOvr>
    <a:masterClrMapping/>
  </p:clrMapOvr>
</p:sld>
</file>

<file path=ppt/slides/slide9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717.411.4 Schéma TN</a:t>
            </a:r>
          </a:p>
        </p:txBody>
      </p:sp>
      <p:sp>
        <p:nvSpPr>
          <p:cNvPr id="3" name="Content Placeholder 2"/>
          <p:cNvSpPr>
            <a:spLocks noGrp="1"/>
          </p:cNvSpPr>
          <p:nvPr>
            <p:ph idx="1"/>
          </p:nvPr>
        </p:nvSpPr>
        <p:spPr/>
        <p:txBody>
          <a:bodyPr/>
          <a:lstStyle/>
          <a:p>
            <a:pPr>
              <a:defRPr sz="1600"/>
            </a:pPr>
            <a:r>
              <a:t>Dans le cas d’alimentation par un groupe générateur à basse tension [717.</a:t>
            </a:r>
          </a:p>
          <a:p>
            <a:pPr>
              <a:defRPr sz="1600"/>
            </a:pPr>
            <a:r>
              <a:t>313 a) ] ou par l’intermédiaire d’un transformateur assurant une séparation simple [717.</a:t>
            </a:r>
          </a:p>
          <a:p>
            <a:pPr>
              <a:defRPr sz="1600"/>
            </a:pPr>
            <a:r>
              <a:t>313 c) ], si le schéma TN est choisi, le point neutre ou, si cela n'est pas possible, un conducteur de phase, doit être relié à la liaison équipotentielle principale (voir figures 717A.</a:t>
            </a:r>
          </a:p>
          <a:p>
            <a:pPr>
              <a:defRPr sz="1600"/>
            </a:pPr>
            <a:r>
              <a:t>1 et 717C.</a:t>
            </a:r>
          </a:p>
          <a:p>
            <a:pPr>
              <a:defRPr sz="1600"/>
            </a:pPr>
            <a:r>
              <a:t>1).</a:t>
            </a:r>
          </a:p>
        </p:txBody>
      </p:sp>
    </p:spTree>
  </p:cSld>
  <p:clrMapOvr>
    <a:masterClrMapping/>
  </p:clrMapOvr>
</p:sld>
</file>

<file path=ppt/slides/slide9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717.411.6 Schéma IT</a:t>
            </a:r>
          </a:p>
        </p:txBody>
      </p:sp>
      <p:sp>
        <p:nvSpPr>
          <p:cNvPr id="3" name="Content Placeholder 2"/>
          <p:cNvSpPr>
            <a:spLocks noGrp="1"/>
          </p:cNvSpPr>
          <p:nvPr>
            <p:ph idx="1"/>
          </p:nvPr>
        </p:nvSpPr>
        <p:spPr/>
        <p:txBody>
          <a:bodyPr/>
          <a:lstStyle/>
          <a:p>
            <a:pPr>
              <a:defRPr sz="1600"/>
            </a:pPr>
            <a:r>
              <a:t>Dans le cas d’alimentation par un groupe générateur à basse tension [717.</a:t>
            </a:r>
          </a:p>
          <a:p>
            <a:pPr>
              <a:defRPr sz="1600"/>
            </a:pPr>
            <a:r>
              <a:t>313 a) ] ou par l’intermédiaire d’un transformateur assurant une séparation simple [717.</a:t>
            </a:r>
          </a:p>
          <a:p>
            <a:pPr>
              <a:defRPr sz="1600"/>
            </a:pPr>
            <a:r>
              <a:t>313 c) ], si le schéma IT est choisi, la borne « terre » du CPI doit être connectée à la liaison équipotentielle principale (voir figure 717 C.</a:t>
            </a:r>
          </a:p>
          <a:p>
            <a:pPr>
              <a:defRPr sz="1600"/>
            </a:pPr>
            <a:r>
              <a:t>2).</a:t>
            </a:r>
          </a:p>
        </p:txBody>
      </p:sp>
    </p:spTree>
  </p:cSld>
  <p:clrMapOvr>
    <a:masterClrMapping/>
  </p:clrMapOvr>
</p:sld>
</file>

<file path=ppt/slides/slide9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717.415.1 Protection complémentaire par DDR</a:t>
            </a:r>
          </a:p>
        </p:txBody>
      </p:sp>
      <p:sp>
        <p:nvSpPr>
          <p:cNvPr id="3" name="Content Placeholder 2"/>
          <p:cNvSpPr>
            <a:spLocks noGrp="1"/>
          </p:cNvSpPr>
          <p:nvPr>
            <p:ph idx="1"/>
          </p:nvPr>
        </p:nvSpPr>
        <p:spPr/>
        <p:txBody>
          <a:bodyPr/>
          <a:lstStyle/>
          <a:p>
            <a:pPr>
              <a:defRPr sz="1600"/>
            </a:pPr>
            <a:r>
              <a:t>Une protection complémentaire par des dispositifs de protection à courant différentiel résiduel assigné au plus égal à 30 mA est nécessaire pour les matériels utilisés à l’extérieur de l’unité et pour tous les socles de prise de courant, à l'exception des socles de prises alimentés par des circuits protégés par :  - TBTS, ou  - TBTP, ou  -  séparation électrique.</a:t>
            </a:r>
          </a:p>
        </p:txBody>
      </p:sp>
    </p:spTree>
  </p:cSld>
  <p:clrMapOvr>
    <a:masterClrMapping/>
  </p:clrMapOvr>
</p:sld>
</file>

<file path=ppt/slides/slide9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717.512 Influences externes</a:t>
            </a:r>
          </a:p>
        </p:txBody>
      </p:sp>
      <p:sp>
        <p:nvSpPr>
          <p:cNvPr id="3" name="Content Placeholder 2"/>
          <p:cNvSpPr>
            <a:spLocks noGrp="1"/>
          </p:cNvSpPr>
          <p:nvPr>
            <p:ph idx="1"/>
          </p:nvPr>
        </p:nvSpPr>
        <p:spPr/>
        <p:txBody>
          <a:bodyPr/>
          <a:lstStyle/>
          <a:p>
            <a:pPr>
              <a:defRPr sz="1600"/>
            </a:pPr>
            <a:r>
              <a:t>Les matériels installés à l’extérieur des unités mobiles doivent satisfaire aux conditions d’influences externes suivantes : - - -  présence d’eau : AD4 (projections d’eau), IPX4 ; présence de corps étrangers : AE2 (petits objets), IP3X ; contraintes mécaniques (chocs) : AG3 (importants), IK08.</a:t>
            </a:r>
          </a:p>
          <a:p>
            <a:pPr>
              <a:defRPr sz="1600"/>
            </a:pPr>
            <a:r>
              <a:t>- 405 -   C.</a:t>
            </a:r>
          </a:p>
        </p:txBody>
      </p:sp>
    </p:spTree>
  </p:cSld>
  <p:clrMapOvr>
    <a:masterClrMapping/>
  </p:clrMapOvr>
</p:sld>
</file>

<file path=ppt/slides/slide9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717.514 Identification</a:t>
            </a:r>
          </a:p>
        </p:txBody>
      </p:sp>
      <p:sp>
        <p:nvSpPr>
          <p:cNvPr id="3" name="Content Placeholder 2"/>
          <p:cNvSpPr>
            <a:spLocks noGrp="1"/>
          </p:cNvSpPr>
          <p:nvPr>
            <p:ph idx="1"/>
          </p:nvPr>
        </p:nvSpPr>
        <p:spPr/>
        <p:txBody>
          <a:bodyPr/>
          <a:lstStyle/>
          <a:p>
            <a:pPr>
              <a:defRPr sz="1600"/>
            </a:pPr>
            <a:r>
              <a:t>Une plaque indicatrice doit être fixée à un emplacement visible par l’utilisateur de l’unité, indiquant clairement et de manière non ambiguë les types d'alimentations pouvant être connectés à l’unité.</a:t>
            </a:r>
          </a:p>
          <a:p>
            <a:pPr>
              <a:defRPr sz="1600"/>
            </a:pPr>
            <a:r>
              <a:t>Les descriptions indiquées en 717.</a:t>
            </a:r>
          </a:p>
          <a:p>
            <a:pPr>
              <a:defRPr sz="1600"/>
            </a:pPr>
            <a:r>
              <a:t>313 doivent être utilisées.</a:t>
            </a:r>
          </a:p>
        </p:txBody>
      </p:sp>
    </p:spTree>
  </p:cSld>
  <p:clrMapOvr>
    <a:masterClrMapping/>
  </p:clrMapOvr>
</p:sld>
</file>

<file path=ppt/slides/slide9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717.521.2 Canalisations</a:t>
            </a:r>
          </a:p>
        </p:txBody>
      </p:sp>
      <p:sp>
        <p:nvSpPr>
          <p:cNvPr id="3" name="Content Placeholder 2"/>
          <p:cNvSpPr>
            <a:spLocks noGrp="1"/>
          </p:cNvSpPr>
          <p:nvPr>
            <p:ph idx="1"/>
          </p:nvPr>
        </p:nvSpPr>
        <p:spPr/>
        <p:txBody>
          <a:bodyPr/>
          <a:lstStyle/>
          <a:p>
            <a:pPr>
              <a:defRPr sz="1600"/>
            </a:pPr>
            <a:r>
              <a:t>Des câbles souples en cuivre de section minimale 2,5 mm2 doivent être utilisés pour la connexion de l’unité à l’alimentation.</a:t>
            </a:r>
          </a:p>
          <a:p>
            <a:pPr>
              <a:defRPr sz="1600"/>
            </a:pPr>
            <a:r>
              <a:t>Les câbles doivent pénétrer dans l’unité par une entrée isolante de manière à assurer la double isolation.</a:t>
            </a:r>
          </a:p>
          <a:p>
            <a:pPr>
              <a:defRPr sz="1600"/>
            </a:pPr>
            <a:r>
              <a:t>Les gaines des câbles doivent être solidement fixées ou accrochées à l’unité.</a:t>
            </a:r>
          </a:p>
        </p:txBody>
      </p:sp>
    </p:spTree>
  </p:cSld>
  <p:clrMapOvr>
    <a:masterClrMapping/>
  </p:clrMapOvr>
</p:sld>
</file>

<file path=ppt/slides/slide9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717.555 Matériels d’installation</a:t>
            </a:r>
          </a:p>
        </p:txBody>
      </p:sp>
      <p:sp>
        <p:nvSpPr>
          <p:cNvPr id="3" name="Content Placeholder 2"/>
          <p:cNvSpPr>
            <a:spLocks noGrp="1"/>
          </p:cNvSpPr>
          <p:nvPr>
            <p:ph idx="1"/>
          </p:nvPr>
        </p:nvSpPr>
        <p:spPr/>
        <p:txBody>
          <a:bodyPr/>
          <a:lstStyle/>
          <a:p>
            <a:pPr>
              <a:defRPr sz="1600"/>
            </a:pPr>
            <a:r>
              <a:t>717.</a:t>
            </a:r>
          </a:p>
          <a:p>
            <a:pPr>
              <a:defRPr sz="1600"/>
            </a:pPr>
            <a:r>
              <a:t>555.</a:t>
            </a:r>
          </a:p>
          <a:p>
            <a:pPr>
              <a:defRPr sz="1600"/>
            </a:pPr>
            <a:r>
              <a:t>1Les fiches et prises de courant doivent être conformes à la NF EN 60309-1  (2).</a:t>
            </a:r>
          </a:p>
        </p:txBody>
      </p:sp>
    </p:spTree>
  </p:cSld>
  <p:clrMapOvr>
    <a:masterClrMapping/>
  </p:clrMapOvr>
</p:sld>
</file>

<file path=ppt/slides/slide9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717.555.2 Les socles de prises de courant situés à l’extérieur de l’unité doivent être équipés</a:t>
            </a:r>
          </a:p>
        </p:txBody>
      </p:sp>
      <p:sp>
        <p:nvSpPr>
          <p:cNvPr id="3" name="Content Placeholder 2"/>
          <p:cNvSpPr>
            <a:spLocks noGrp="1"/>
          </p:cNvSpPr>
          <p:nvPr>
            <p:ph idx="1"/>
          </p:nvPr>
        </p:nvSpPr>
        <p:spPr/>
        <p:txBody>
          <a:bodyPr/>
          <a:lstStyle/>
          <a:p>
            <a:pPr>
              <a:defRPr sz="1600"/>
            </a:pPr>
            <a:r>
              <a:t>d’une enveloppe assurant un degré de protection au moins égal à IP44.</a:t>
            </a:r>
          </a:p>
        </p:txBody>
      </p:sp>
    </p:spTree>
  </p:cSld>
  <p:clrMapOvr>
    <a:masterClrMapping/>
  </p:clrMapOvr>
</p:sld>
</file>

<file path=ppt/slides/slide9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717.559.1.1 Eléments des dispositifs de connexion à l’alimentation</a:t>
            </a:r>
          </a:p>
        </p:txBody>
      </p:sp>
      <p:sp>
        <p:nvSpPr>
          <p:cNvPr id="3" name="Content Placeholder 2"/>
          <p:cNvSpPr>
            <a:spLocks noGrp="1"/>
          </p:cNvSpPr>
          <p:nvPr>
            <p:ph idx="1"/>
          </p:nvPr>
        </p:nvSpPr>
        <p:spPr/>
        <p:txBody>
          <a:bodyPr/>
          <a:lstStyle/>
          <a:p>
            <a:pPr>
              <a:defRPr sz="1600"/>
            </a:pPr>
            <a:r>
              <a:t>Les dispositifs de connexion NF EN 60309-1 (2) et aux règles suivantes :  reliant  l’unité à  l’alimentation doivent satisfaire à  la  -  -  -  -  les fiches doivent avoir une enveloppe en matériau isolant ;  les fiches et les socles doivent procurer un degré de protection au moins égal à IP44, si elles sont extérieures ;  les entrées d’appareils et leurs enveloppes doivent procurer un degré de protection au moins égal à IP55 ;  la partie mâle doit se situer sur l'unité.</a:t>
            </a:r>
          </a:p>
          <a:p>
            <a:pPr>
              <a:defRPr sz="1600"/>
            </a:pPr>
            <a:r>
              <a:t>——————— (2) NF EN 60309-1 (C 63-300)  - 406 -   Figure  1a  2  8  8  10b  9  9  9  4  I∆ =n  30mA 10a  M  M1  M2  5  L1 L2 L3 N  PE  6  6a  11  INFO NEWS  9  6d  6b  6c  9  9  5  7  7  3  1a  Groupe générateur Basse tension  4  2  11  6d  6e  8  8  10b  I∆ =n  30mA 10a  9  9  9  M  M1  M2  5  L1 L2 L3 N  PE  6  6a  9  6b  6d  11  6c  INFO NEWS  9  9  5  6e  7  7  3  Figure 717A.</a:t>
            </a:r>
          </a:p>
          <a:p>
            <a:pPr>
              <a:defRPr sz="1600"/>
            </a:pPr>
            <a:r>
              <a:t>2 – Exemple d’alimentation par un groupe générateur à basse tension situé à l’extérieur de l’unité en schéma TN   C  Légende des figures 717A.</a:t>
            </a:r>
          </a:p>
          <a:p>
            <a:pPr>
              <a:defRPr sz="1600"/>
            </a:pPr>
            <a:r>
              <a:t>1 et 717A.</a:t>
            </a:r>
          </a:p>
          <a:p>
            <a:pPr>
              <a:defRPr sz="1600"/>
            </a:pPr>
            <a:r>
              <a:t>2  1a 2  3 4  5 6  7  8 9 10a  10b  Alimentation de l’unité par un groupe générateur BT conformément à 717.</a:t>
            </a:r>
          </a:p>
        </p:txBody>
      </p:sp>
    </p:spTree>
  </p:cSld>
  <p:clrMapOvr>
    <a:masterClrMapping/>
  </p:clrMapOvr>
</p:sld>
</file>

<file path=ppt/slides/slide9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752.55 Autres matériels ......................................................................................................416</a:t>
            </a:r>
          </a:p>
        </p:txBody>
      </p:sp>
      <p:sp>
        <p:nvSpPr>
          <p:cNvPr id="3" name="Content Placeholder 2"/>
          <p:cNvSpPr>
            <a:spLocks noGrp="1"/>
          </p:cNvSpPr>
          <p:nvPr>
            <p:ph idx="1"/>
          </p:nvPr>
        </p:nvSpPr>
        <p:spPr/>
        <p:txBody>
          <a:bodyPr/>
          <a:lstStyle/>
          <a:p>
            <a:pPr>
              <a:defRPr sz="1600"/>
            </a:pPr>
            <a:r>
              <a:t>Les prescriptions de la présente partie complètent, modifient ou remplacent les prescriptions générales des autres parties de la NF C 15-100.</a:t>
            </a:r>
          </a:p>
          <a:p>
            <a:pPr>
              <a:defRPr sz="1600"/>
            </a:pPr>
            <a:r>
              <a:t>Les numéros suivant le numéro particulier de la partie 7-752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- 415 -.</a:t>
            </a:r>
          </a:p>
        </p:txBody>
      </p:sp>
    </p:spTree>
  </p:cSld>
  <p:clrMapOvr>
    <a:masterClrMapping/>
  </p:clrMapOvr>
</p:sld>
</file>

<file path=ppt/slides/slide9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752.1 Domaine d’application</a:t>
            </a:r>
          </a:p>
        </p:txBody>
      </p:sp>
      <p:sp>
        <p:nvSpPr>
          <p:cNvPr id="3" name="Content Placeholder 2"/>
          <p:cNvSpPr>
            <a:spLocks noGrp="1"/>
          </p:cNvSpPr>
          <p:nvPr>
            <p:ph idx="1"/>
          </p:nvPr>
        </p:nvSpPr>
        <p:spPr/>
        <p:txBody>
          <a:bodyPr/>
          <a:lstStyle/>
          <a:p>
            <a:pPr>
              <a:defRPr sz="1600"/>
            </a:pPr>
            <a:r>
              <a:t>Les prescriptions de la présente partie sont applicables aux installations électriques des aires de distribution des carburants liquides.</a:t>
            </a:r>
          </a:p>
          <a:p>
            <a:pPr>
              <a:defRPr sz="1600"/>
            </a:pPr>
            <a:r>
              <a:t>Les installations de distribution de liquides inflammables sont généralement des installations classées, le plus souvent soumises à déclaration.</a:t>
            </a:r>
          </a:p>
          <a:p>
            <a:pPr>
              <a:defRPr sz="1600"/>
            </a:pPr>
            <a:r>
              <a:t>De ce fait, elles doivent notamment satisfaire aux prescriptions de l'arrêté-type n°261 bis (n° de nomenclature actuel 1434) relatif au remplissage et à la distribution de liquides inflammables.</a:t>
            </a:r>
          </a:p>
        </p:txBody>
      </p:sp>
    </p:spTree>
  </p:cSld>
  <p:clrMapOvr>
    <a:masterClrMapping/>
  </p:clrMapOvr>
</p:sld>
</file>

<file path=ppt/slides/slide9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752.46 Coupure d’urgence</a:t>
            </a:r>
          </a:p>
        </p:txBody>
      </p:sp>
      <p:sp>
        <p:nvSpPr>
          <p:cNvPr id="3" name="Content Placeholder 2"/>
          <p:cNvSpPr>
            <a:spLocks noGrp="1"/>
          </p:cNvSpPr>
          <p:nvPr>
            <p:ph idx="1"/>
          </p:nvPr>
        </p:nvSpPr>
        <p:spPr/>
        <p:txBody>
          <a:bodyPr/>
          <a:lstStyle/>
          <a:p>
            <a:pPr>
              <a:defRPr sz="1600"/>
            </a:pPr>
            <a:r>
              <a:t>Un dispositif de coupure d’urgence doit être prévu pour couper l’alimentation de l’aire de distribution des carburants liquides.</a:t>
            </a:r>
          </a:p>
        </p:txBody>
      </p:sp>
    </p:spTree>
  </p:cSld>
  <p:clrMapOvr>
    <a:masterClrMapping/>
  </p:clrMapOvr>
</p:sld>
</file>

<file path=ppt/slides/slide9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752.51 Emplacements dangereux</a:t>
            </a:r>
          </a:p>
        </p:txBody>
      </p:sp>
      <p:sp>
        <p:nvSpPr>
          <p:cNvPr id="3" name="Content Placeholder 2"/>
          <p:cNvSpPr>
            <a:spLocks noGrp="1"/>
          </p:cNvSpPr>
          <p:nvPr>
            <p:ph idx="1"/>
          </p:nvPr>
        </p:nvSpPr>
        <p:spPr/>
        <p:txBody>
          <a:bodyPr/>
          <a:lstStyle/>
          <a:p>
            <a:pPr>
              <a:defRPr sz="1600"/>
            </a:pPr>
            <a:r>
              <a:t>Conformément à la Directive européenne 1999/92/CE du 16/12/99, le document relatif à la protection contre les explosions établi et tenu à jour par le chef d’établissement mentionne les emplacements dangereux classés en zones.</a:t>
            </a:r>
          </a:p>
          <a:p>
            <a:pPr>
              <a:defRPr sz="1600"/>
            </a:pPr>
            <a:r>
              <a:t>Toutefois, sont classés obligatoirement en zone 1 les volumes au-dessus du sol et limités :  a) pour les orifices des bouches de chargement des réservoirs de stockage :  - par la surface sphérique située à 2 m autour de la bouche si celle-ci est à l'extérieur,  - par les parois du local si la bouche est située à l'intérieur.</a:t>
            </a:r>
          </a:p>
          <a:p>
            <a:pPr>
              <a:defRPr sz="1600"/>
            </a:pPr>
            <a:r>
              <a:t>b) pour les évents :  - par la surface sphérique située à 2 m autour de l'orifice :  c) pour les appareils distributeurs :  - par la surface cylindrique située à « x » mètres autour de l'appareil « x » étant égal à la longueur du flexible de chargement majorée de 1 m et par le plan horizontal tangent au sommet de l'appareil si celui-ci est à l'extérieur, et par le plan horizontal situé à 2 m au- dessus du sommet si celui-ci est situé à l'intérieur.</a:t>
            </a:r>
          </a:p>
        </p:txBody>
      </p:sp>
    </p:spTree>
  </p:cSld>
  <p:clrMapOvr>
    <a:masterClrMapping/>
  </p:clrMapOvr>
</p:sld>
</file>

<file path=ppt/slides/slide9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752.52 Canalisations</a:t>
            </a:r>
          </a:p>
        </p:txBody>
      </p:sp>
      <p:sp>
        <p:nvSpPr>
          <p:cNvPr id="3" name="Content Placeholder 2"/>
          <p:cNvSpPr>
            <a:spLocks noGrp="1"/>
          </p:cNvSpPr>
          <p:nvPr>
            <p:ph idx="1"/>
          </p:nvPr>
        </p:nvSpPr>
        <p:spPr/>
        <p:txBody>
          <a:bodyPr/>
          <a:lstStyle/>
          <a:p>
            <a:pPr>
              <a:defRPr sz="1600"/>
            </a:pPr>
            <a:r>
              <a:t>Les canalisations doivent être choisies et mises en œuvre conformément aux dispositions des emplacements BE3 (voir 424).</a:t>
            </a:r>
          </a:p>
          <a:p>
            <a:pPr>
              <a:defRPr sz="1600"/>
            </a:pPr>
            <a:r>
              <a:t>Les canalisations enterrées, à l'exception de celles indispensables au fonctionnement des appareils nécessaires à l'exploitation du stockage, doivent cheminer à une distance du ou des réservoir(s) de stockage supérieure à 0,50 m, comptée en projection sur le plan horizontal.</a:t>
            </a:r>
          </a:p>
        </p:txBody>
      </p:sp>
    </p:spTree>
  </p:cSld>
  <p:clrMapOvr>
    <a:masterClrMapping/>
  </p:clrMapOvr>
</p:sld>
</file>

<file path=ppt/slides/slide9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752.53 Appareillage</a:t>
            </a:r>
          </a:p>
        </p:txBody>
      </p:sp>
      <p:sp>
        <p:nvSpPr>
          <p:cNvPr id="3" name="Content Placeholder 2"/>
          <p:cNvSpPr>
            <a:spLocks noGrp="1"/>
          </p:cNvSpPr>
          <p:nvPr>
            <p:ph idx="1"/>
          </p:nvPr>
        </p:nvSpPr>
        <p:spPr/>
        <p:txBody>
          <a:bodyPr/>
          <a:lstStyle/>
          <a:p>
            <a:pPr>
              <a:defRPr sz="1600"/>
            </a:pPr>
            <a:r>
              <a:t>Les appareils de protection sont mis en œuvre dans des armoires situées en dehors des emplacements dangereux et des zones de lavage et de graissage.</a:t>
            </a:r>
          </a:p>
        </p:txBody>
      </p:sp>
    </p:spTree>
  </p:cSld>
  <p:clrMapOvr>
    <a:masterClrMapping/>
  </p:clrMapOvr>
</p:sld>
</file>

<file path=ppt/slides/slide9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752.542 Installation de mise à la terre</a:t>
            </a:r>
          </a:p>
        </p:txBody>
      </p:sp>
      <p:sp>
        <p:nvSpPr>
          <p:cNvPr id="3" name="Content Placeholder 2"/>
          <p:cNvSpPr>
            <a:spLocks noGrp="1"/>
          </p:cNvSpPr>
          <p:nvPr>
            <p:ph idx="1"/>
          </p:nvPr>
        </p:nvSpPr>
        <p:spPr/>
        <p:txBody>
          <a:bodyPr/>
          <a:lstStyle/>
          <a:p>
            <a:pPr>
              <a:defRPr sz="1600"/>
            </a:pPr>
            <a:r>
              <a:t>Pour un même établissement, il ne doit y avoir qu'une seule prise de terre ou un ensemble de  prises de terre interconnectées pour assurer la mise à la terre des réservoirs et celle des masses de l'installation électrique.</a:t>
            </a:r>
          </a:p>
          <a:p>
            <a:pPr>
              <a:defRPr sz="1600"/>
            </a:pPr>
            <a:r>
              <a:t>Les prises de terre sont situées en dehors des volumes situés au-dessous des zones 0 et 1 ; il en est de même pour les circuits de mise à la terre des masses de l'installation.</a:t>
            </a:r>
          </a:p>
          <a:p>
            <a:pPr>
              <a:defRPr sz="1600"/>
            </a:pPr>
            <a:r>
              <a:t>- 416 -.</a:t>
            </a:r>
          </a:p>
        </p:txBody>
      </p:sp>
    </p:spTree>
  </p:cSld>
  <p:clrMapOvr>
    <a:masterClrMapping/>
  </p:clrMapOvr>
</p:sld>
</file>

<file path=ppt/slides/slide9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752.55 Autres matériels</a:t>
            </a:r>
          </a:p>
        </p:txBody>
      </p:sp>
      <p:sp>
        <p:nvSpPr>
          <p:cNvPr id="3" name="Content Placeholder 2"/>
          <p:cNvSpPr>
            <a:spLocks noGrp="1"/>
          </p:cNvSpPr>
          <p:nvPr>
            <p:ph idx="1"/>
          </p:nvPr>
        </p:nvSpPr>
        <p:spPr/>
        <p:txBody>
          <a:bodyPr/>
          <a:lstStyle/>
          <a:p>
            <a:pPr>
              <a:defRPr sz="1600"/>
            </a:pPr>
            <a:r>
              <a:t>Les appareils de distribution doivent être conformes à la Directive 94/9/CE.</a:t>
            </a:r>
          </a:p>
          <a:p>
            <a:pPr>
              <a:defRPr sz="1600"/>
            </a:pPr>
            <a:r>
              <a:t>Les autres matériels installés dans les emplacements dangereux doivent répondre aux conditions d'influences externes BE3 (voir 424).</a:t>
            </a:r>
          </a:p>
          <a:p>
            <a:pPr>
              <a:defRPr sz="1600"/>
            </a:pPr>
            <a:r>
              <a:t>L’appareillage et les foyers lumineux sont placés hors d'atteinte des véhicules, compte tenu du plus grand gabarit admissible.</a:t>
            </a:r>
          </a:p>
          <a:p>
            <a:pPr>
              <a:defRPr sz="1600"/>
            </a:pPr>
            <a:r>
              <a:t>Il est recommandé que les foyers lumineux respectent en tout point une hauteur libre de 2 mètres.</a:t>
            </a:r>
          </a:p>
          <a:p>
            <a:pPr>
              <a:defRPr sz="1600"/>
            </a:pPr>
            <a:r>
              <a:t>Cette prescription n'exclut pas l'emploi de foyers de balisage des obstacles ou de cheminement des aires de circulation, sous réserve qu'ils soient protégés convenablement contre les dommages méca niques (IK07) (512.</a:t>
            </a:r>
          </a:p>
        </p:txBody>
      </p:sp>
    </p:spTree>
  </p:cSld>
  <p:clrMapOvr>
    <a:masterClrMapping/>
  </p:clrMapOvr>
</p:sld>
</file>

<file path=ppt/slides/slide9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753.5 Equipements de chauffage électrique installés en</a:t>
            </a:r>
          </a:p>
        </p:txBody>
      </p:sp>
      <p:sp>
        <p:nvSpPr>
          <p:cNvPr id="3" name="Content Placeholder 2"/>
          <p:cNvSpPr>
            <a:spLocks noGrp="1"/>
          </p:cNvSpPr>
          <p:nvPr>
            <p:ph idx="1"/>
          </p:nvPr>
        </p:nvSpPr>
        <p:spPr/>
        <p:txBody>
          <a:bodyPr/>
          <a:lstStyle/>
          <a:p>
            <a:pPr>
              <a:defRPr sz="1600"/>
            </a:pPr>
            <a:r>
              <a:t>plafond.</a:t>
            </a:r>
          </a:p>
          <a:p>
            <a:pPr>
              <a:defRPr sz="1600"/>
            </a:pPr>
            <a:r>
              <a:t>423.</a:t>
            </a:r>
          </a:p>
        </p:txBody>
      </p:sp>
    </p:spTree>
  </p:cSld>
  <p:clrMapOvr>
    <a:masterClrMapping/>
  </p:clrMapOvr>
</p:sld>
</file>

<file path=ppt/slides/slide9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753.6 Chauffage avec émetteurs muraux (convecteur, panneau rayonnant et</a:t>
            </a:r>
          </a:p>
        </p:txBody>
      </p:sp>
      <p:sp>
        <p:nvSpPr>
          <p:cNvPr id="3" name="Content Placeholder 2"/>
          <p:cNvSpPr>
            <a:spLocks noGrp="1"/>
          </p:cNvSpPr>
          <p:nvPr>
            <p:ph idx="1"/>
          </p:nvPr>
        </p:nvSpPr>
        <p:spPr/>
        <p:txBody>
          <a:bodyPr/>
          <a:lstStyle/>
          <a:p>
            <a:pPr>
              <a:defRPr sz="1600"/>
            </a:pPr>
            <a:r>
              <a:t>émetteurs à accumulation).</a:t>
            </a:r>
          </a:p>
          <a:p>
            <a:pPr>
              <a:defRPr sz="1600"/>
            </a:pPr>
            <a:r>
              <a:t>424  Les prescriptions de la présente partie complètent, modifient ou remplacent les prescriptions générales des autres parties de la NF C 15-100.</a:t>
            </a:r>
          </a:p>
          <a:p>
            <a:pPr>
              <a:defRPr sz="1600"/>
            </a:pPr>
            <a:r>
              <a:t>- 419 -.</a:t>
            </a:r>
          </a:p>
        </p:txBody>
      </p:sp>
    </p:spTree>
  </p:cSld>
  <p:clrMapOvr>
    <a:masterClrMapping/>
  </p:clrMapOvr>
</p:sld>
</file>

<file path=ppt/slides/slide9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753.1 Domaine d’application et règles communes</a:t>
            </a:r>
          </a:p>
        </p:txBody>
      </p:sp>
      <p:sp>
        <p:nvSpPr>
          <p:cNvPr id="3" name="Content Placeholder 2"/>
          <p:cNvSpPr>
            <a:spLocks noGrp="1"/>
          </p:cNvSpPr>
          <p:nvPr>
            <p:ph idx="1"/>
          </p:nvPr>
        </p:nvSpPr>
        <p:spPr/>
        <p:txBody>
          <a:bodyPr/>
          <a:lstStyle/>
          <a:p>
            <a:pPr>
              <a:defRPr sz="1600"/>
            </a:pPr>
            <a:r>
              <a:t>La présente partie traite de l’installation :  -  -  -  des éléments chauffants pour planchers rayonnants ;  des équipements de chauffage électriques installés en ou au plafond ;  des appareils de chauffage muraux directs et des appareils de chauffage à accumulation.</a:t>
            </a:r>
          </a:p>
        </p:txBody>
      </p:sp>
    </p:spTree>
  </p:cSld>
  <p:clrMapOvr>
    <a:masterClrMapping/>
  </p:clrMapOvr>
</p:sld>
</file>

<file path=ppt/slides/slide9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753.2.1 Eléments chauffants pour planchers rayonnants</a:t>
            </a:r>
          </a:p>
        </p:txBody>
      </p:sp>
      <p:sp>
        <p:nvSpPr>
          <p:cNvPr id="3" name="Content Placeholder 2"/>
          <p:cNvSpPr>
            <a:spLocks noGrp="1"/>
          </p:cNvSpPr>
          <p:nvPr>
            <p:ph idx="1"/>
          </p:nvPr>
        </p:nvSpPr>
        <p:spPr/>
        <p:txBody>
          <a:bodyPr/>
          <a:lstStyle/>
          <a:p>
            <a:pPr>
              <a:defRPr sz="1600"/>
            </a:pPr>
            <a:r>
              <a:t>•  •  •  Elément chauffant Elément composé d’un câble ou d’un film souple chauffant, et de sa ou ses liaison(s) froide(s) destinée(s) à relier ce câble ou ce film chauffant au point de connexion à l’installation de l’alimentation.</a:t>
            </a:r>
          </a:p>
          <a:p>
            <a:pPr>
              <a:defRPr sz="1600"/>
            </a:pPr>
            <a:r>
              <a:t>Plancher rayonnant à accumulation Chauffage électrique à inertie, à basse température, par le plancher composé d’un élément chauffant enrobé dans une dalle épaisse armée.</a:t>
            </a:r>
          </a:p>
          <a:p>
            <a:pPr>
              <a:defRPr sz="1600"/>
            </a:pPr>
            <a:r>
              <a:t>Plancher rayonnant direct Chauffage électrique direct, à basse température, par le plancher composé d’un élément chauffant au-dessus d’un isolant thermique et d’une chape flottante armée de faible épaisseur.</a:t>
            </a:r>
          </a:p>
          <a:p>
            <a:pPr>
              <a:defRPr sz="1600"/>
            </a:pPr>
            <a:r>
              <a:t>Ce type de chauffage est généralement appelé Plancher Rayonnant Electrique (PRE).</a:t>
            </a:r>
          </a:p>
        </p:txBody>
      </p:sp>
    </p:spTree>
  </p:cSld>
  <p:clrMapOvr>
    <a:masterClrMapping/>
  </p:clrMapOvr>
</p:sld>
</file>

<file path=ppt/slides/slide9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753.2.2 Equipements de chauffage électriques installés en ou au plafond</a:t>
            </a:r>
          </a:p>
        </p:txBody>
      </p:sp>
      <p:sp>
        <p:nvSpPr>
          <p:cNvPr id="3" name="Content Placeholder 2"/>
          <p:cNvSpPr>
            <a:spLocks noGrp="1"/>
          </p:cNvSpPr>
          <p:nvPr>
            <p:ph idx="1"/>
          </p:nvPr>
        </p:nvSpPr>
        <p:spPr/>
        <p:txBody>
          <a:bodyPr/>
          <a:lstStyle/>
          <a:p>
            <a:pPr>
              <a:defRPr sz="1600"/>
            </a:pPr>
            <a:r>
              <a:t>•  •  Plafond rayonnant plâtre Plafond rapporté en plaque de plâtre spécifique équipé de panneaux chauffants et de panneaux non chauffants.</a:t>
            </a:r>
          </a:p>
          <a:p>
            <a:pPr>
              <a:defRPr sz="1600"/>
            </a:pPr>
            <a:r>
              <a:t>Le panneau chauffant comprend un élément chauffant collé sous un panneau rigide de laine minérale et équipé d’un cordon et d’une prise spécifique.</a:t>
            </a:r>
          </a:p>
          <a:p>
            <a:pPr>
              <a:defRPr sz="1600"/>
            </a:pPr>
            <a:r>
              <a:t>Ce type de chauffage est généralement appelé PRP.</a:t>
            </a:r>
          </a:p>
          <a:p>
            <a:pPr>
              <a:defRPr sz="1600"/>
            </a:pPr>
            <a:r>
              <a:t>Plafond rayonnant modulaire Plafond suspendu composé d’une association de modules rayonnants et de modules non chauffants préfabriqués en usine:  Un module rayonnant est une unité chauffante préfabriquée se présentant sous la forme d’un panneau sandwich assemblé par collage et composé d’un isolant thermique, d’une sous face décorative, d’un élément chauffant disposé entre l’isolant et la sous face décorative et équipé d’un cordon et d’une prise spécifique.</a:t>
            </a:r>
          </a:p>
          <a:p>
            <a:pPr>
              <a:defRPr sz="1600"/>
            </a:pPr>
            <a:r>
              <a:t>Ce type de chauffage est généralement appelé PRM.</a:t>
            </a:r>
          </a:p>
        </p:txBody>
      </p:sp>
    </p:spTree>
  </p:cSld>
  <p:clrMapOvr>
    <a:masterClrMapping/>
  </p:clrMapOvr>
</p:sld>
</file>

<file path=ppt/slides/slide9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753.2.3 Emetteur mural direct</a:t>
            </a:r>
          </a:p>
        </p:txBody>
      </p:sp>
      <p:sp>
        <p:nvSpPr>
          <p:cNvPr id="3" name="Content Placeholder 2"/>
          <p:cNvSpPr>
            <a:spLocks noGrp="1"/>
          </p:cNvSpPr>
          <p:nvPr>
            <p:ph idx="1"/>
          </p:nvPr>
        </p:nvSpPr>
        <p:spPr/>
        <p:txBody>
          <a:bodyPr/>
          <a:lstStyle/>
          <a:p>
            <a:pPr>
              <a:defRPr sz="1600"/>
            </a:pPr>
            <a:r>
              <a:t>• Convecteur  Appareil fixé à une paroi verticale, équipé d’une résistance électrique permettant le chauffage du local par convection naturelle de l’air au travers d'une ou plusieurs bouches de sortie.</a:t>
            </a:r>
          </a:p>
          <a:p>
            <a:pPr>
              <a:defRPr sz="1600"/>
            </a:pPr>
            <a:r>
              <a:t>•  Panneau rayonnant Appareil fixé à une paroi verticale, équipé d’une résistance électrique permettant le chauffage du local, principalement par l’échauffement de la face visible de l’appareil.</a:t>
            </a:r>
          </a:p>
        </p:txBody>
      </p:sp>
    </p:spTree>
  </p:cSld>
  <p:clrMapOvr>
    <a:masterClrMapping/>
  </p:clrMapOvr>
</p:sld>
</file>

<file path=ppt/slides/slide9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753.2.4 Emetteur à accumulation</a:t>
            </a:r>
          </a:p>
        </p:txBody>
      </p:sp>
      <p:sp>
        <p:nvSpPr>
          <p:cNvPr id="3" name="Content Placeholder 2"/>
          <p:cNvSpPr>
            <a:spLocks noGrp="1"/>
          </p:cNvSpPr>
          <p:nvPr>
            <p:ph idx="1"/>
          </p:nvPr>
        </p:nvSpPr>
        <p:spPr/>
        <p:txBody>
          <a:bodyPr/>
          <a:lstStyle/>
          <a:p>
            <a:pPr>
              <a:defRPr sz="1600"/>
            </a:pPr>
            <a:r>
              <a:t>• Appareil de chauffage à accumulation  Appareil de chauffage dont la chaleur emmagasinée est obtenue en chargeant un noyau accumulateur, la chaleur pouvant être restituée à tout moment.</a:t>
            </a:r>
          </a:p>
        </p:txBody>
      </p:sp>
    </p:spTree>
  </p:cSld>
  <p:clrMapOvr>
    <a:masterClrMapping/>
  </p:clrMapOvr>
</p:sld>
</file>

<file path=ppt/slides/slide9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753.3 Dossier technique</a:t>
            </a:r>
          </a:p>
        </p:txBody>
      </p:sp>
      <p:sp>
        <p:nvSpPr>
          <p:cNvPr id="3" name="Content Placeholder 2"/>
          <p:cNvSpPr>
            <a:spLocks noGrp="1"/>
          </p:cNvSpPr>
          <p:nvPr>
            <p:ph idx="1"/>
          </p:nvPr>
        </p:nvSpPr>
        <p:spPr/>
        <p:txBody>
          <a:bodyPr/>
          <a:lstStyle/>
          <a:p>
            <a:pPr>
              <a:defRPr sz="1600"/>
            </a:pPr>
            <a:r>
              <a:t>Dans le cas de chauffage par plancher rayonnant ou par équipements installés en plafond, un dossier technique doit contenir, selon le cas, les indications suivantes :  -  -  -  -  -  -  -  -  -  -  -  -  -  le type d’éléments chauffants ;  la tension assignée ;  la résistance assignée ;  le nombre d’éléments chauffants installés ;  la longueur / zone des éléments chauffants ;  les caractéristiques relatives aux conducteurs, écrans ;  la densité de puissance par surface ;  les zones installées / chauffées ;  la disposition des éléments chauffants ;  l’emplacement des éléments chauffants ;  l’emplacement des boîtes de jonction ;  le courant assigné des dispositifs de protection contre les surintensités ;  le courant assigné des dispositifs différentiels.</a:t>
            </a:r>
          </a:p>
        </p:txBody>
      </p:sp>
    </p:spTree>
  </p:cSld>
  <p:clrMapOvr>
    <a:masterClrMapping/>
  </p:clrMapOvr>
</p:sld>
</file>

<file path=ppt/slides/slide9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753.4.1.1 Les équipements de chauffage électrique comportant des éléments chauffants isolés,</a:t>
            </a:r>
          </a:p>
        </p:txBody>
      </p:sp>
      <p:sp>
        <p:nvSpPr>
          <p:cNvPr id="3" name="Content Placeholder 2"/>
          <p:cNvSpPr>
            <a:spLocks noGrp="1"/>
          </p:cNvSpPr>
          <p:nvPr>
            <p:ph idx="1"/>
          </p:nvPr>
        </p:nvSpPr>
        <p:spPr/>
        <p:txBody>
          <a:bodyPr/>
          <a:lstStyle/>
          <a:p>
            <a:pPr>
              <a:defRPr sz="1600"/>
            </a:pPr>
            <a:r>
              <a:t>avec armure, gaine ou autre revêtement métallique mis à la terre doivent être protégés par des dispositifs à courant différentiel -résiduel de courant différentiel-résiduel assigné au plus égal à 500 mA.</a:t>
            </a:r>
          </a:p>
          <a:p>
            <a:pPr>
              <a:defRPr sz="1600"/>
            </a:pPr>
            <a:r>
              <a:t>Dans le cas où l'installation est réalisée en schéma IT, l'impédance du contrôleur permanent d'isolement (CPI) et les caractéristiques des dispositifs à courant différentiel- résiduel doivent être choisies de manière à assurer la coupure lors de l'apparition du premier défaut à la masse ou à la terre.</a:t>
            </a:r>
          </a:p>
          <a:p>
            <a:pPr>
              <a:defRPr sz="1600"/>
            </a:pPr>
            <a:r>
              <a:t>Quel que soit le schéma des liaisons à la terre, la coupure au premier défaut réalisée par le dispositif de protection ayant un courant différentiel-résiduel assigné au plus égal à 500 mA a pour but d'éviter la destruction des revêtements métalliques par la circulation de courants de défaut de valeur importante pendant une trop longue durée.</a:t>
            </a:r>
          </a:p>
        </p:txBody>
      </p:sp>
    </p:spTree>
  </p:cSld>
  <p:clrMapOvr>
    <a:masterClrMapping/>
  </p:clrMapOvr>
</p:sld>
</file>

<file path=ppt/slides/slide9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753.4.1.2 Les équipements de chauffage comportant des conducteurs isolés, sans armure,</a:t>
            </a:r>
          </a:p>
        </p:txBody>
      </p:sp>
      <p:sp>
        <p:nvSpPr>
          <p:cNvPr id="3" name="Content Placeholder 2"/>
          <p:cNvSpPr>
            <a:spLocks noGrp="1"/>
          </p:cNvSpPr>
          <p:nvPr>
            <p:ph idx="1"/>
          </p:nvPr>
        </p:nvSpPr>
        <p:spPr/>
        <p:txBody>
          <a:bodyPr/>
          <a:lstStyle/>
          <a:p>
            <a:pPr>
              <a:defRPr sz="1600"/>
            </a:pPr>
            <a:r>
              <a:t>gaine ou autre revêtement métallique doivent être protégés par des dispositifs à courant différentiel-résiduel de courant différentiel-résiduel assigné au plus égal à 30 mA, chaque DDR 30 mA étant prévu pour une puissance assignée des éléments chauffants au plus égale à 13 kW (400 V) ou 7,5 kW (230 V).</a:t>
            </a:r>
          </a:p>
          <a:p>
            <a:pPr>
              <a:defRPr sz="1600"/>
            </a:pPr>
            <a:r>
              <a:t>- 421 -   Dans le cas d’une installation triphasée, il est recommandé de mettre en œuvre un dispositif différentiel par circuit à deux conducteurs actifs.</a:t>
            </a:r>
          </a:p>
          <a:p>
            <a:pPr>
              <a:defRPr sz="1600"/>
            </a:pPr>
            <a:r>
              <a:t>Exemples de raccordement :  Disjoncteur  N L1 L2 L3  DDR 30 mA  DDR 30 mA  DDR 30 mA  Figure 753A – Exemple de protection d’une installation triphasée : alimentation entre phases  Elément  Disjoncteur général  N L1 L2 L3  DDR 30 mA  DDR 30 mA  DDR 30 mA  Figure 753B – Exemple de protection d’une installation triphasée : alimentation entre phase et neutre  Elément chauffant.</a:t>
            </a:r>
          </a:p>
        </p:txBody>
      </p:sp>
    </p:spTree>
  </p:cSld>
  <p:clrMapOvr>
    <a:masterClrMapping/>
  </p:clrMapOvr>
</p:sld>
</file>

<file path=ppt/slides/slide9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753.4.1.3 L'armure, la gaine ou le revêtement métallique de tout élément chauffant lorsqu’il</a:t>
            </a:r>
          </a:p>
        </p:txBody>
      </p:sp>
      <p:sp>
        <p:nvSpPr>
          <p:cNvPr id="3" name="Content Placeholder 2"/>
          <p:cNvSpPr>
            <a:spLocks noGrp="1"/>
          </p:cNvSpPr>
          <p:nvPr>
            <p:ph idx="1"/>
          </p:nvPr>
        </p:nvSpPr>
        <p:spPr/>
        <p:txBody>
          <a:bodyPr/>
          <a:lstStyle/>
          <a:p>
            <a:pPr>
              <a:defRPr sz="1600"/>
            </a:pPr>
            <a:r>
              <a:t>existe, doit être relié à chaque extrémité au conducteur de protection du circuit d'alimentation.</a:t>
            </a:r>
          </a:p>
          <a:p>
            <a:pPr>
              <a:defRPr sz="1600"/>
            </a:pPr>
            <a:r>
              <a:t>Le conducteur de protection a la même section que les conducteurs d’alimentation.</a:t>
            </a:r>
          </a:p>
        </p:txBody>
      </p:sp>
    </p:spTree>
  </p:cSld>
  <p:clrMapOvr>
    <a:masterClrMapping/>
  </p:clrMapOvr>
</p:sld>
</file>

<file path=ppt/slides/slide9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753.4.1.4 Des éléments électriques chauffants noyés dans le sol, destinés au chauffage d’un</a:t>
            </a:r>
          </a:p>
        </p:txBody>
      </p:sp>
      <p:sp>
        <p:nvSpPr>
          <p:cNvPr id="3" name="Content Placeholder 2"/>
          <p:cNvSpPr>
            <a:spLocks noGrp="1"/>
          </p:cNvSpPr>
          <p:nvPr>
            <p:ph idx="1"/>
          </p:nvPr>
        </p:nvSpPr>
        <p:spPr/>
        <p:txBody>
          <a:bodyPr/>
          <a:lstStyle/>
          <a:p>
            <a:pPr>
              <a:defRPr sz="1600"/>
            </a:pPr>
            <a:r>
              <a:t>local ou emplacement autre que AD1, peuvent être installés sous réserve qu'ils soient recouverts d'un grillage métallique mis à la terre ou comportent un revêtement métallique mis à la terre.</a:t>
            </a:r>
          </a:p>
        </p:txBody>
      </p:sp>
    </p:spTree>
  </p:cSld>
  <p:clrMapOvr>
    <a:masterClrMapping/>
  </p:clrMapOvr>
</p:sld>
</file>

<file path=ppt/slides/slide9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753.4.1.5 Des conducteurs nus ou légèrement isolés incorporés dans un matériau ou dans le</a:t>
            </a:r>
          </a:p>
        </p:txBody>
      </p:sp>
      <p:sp>
        <p:nvSpPr>
          <p:cNvPr id="3" name="Content Placeholder 2"/>
          <p:cNvSpPr>
            <a:spLocks noGrp="1"/>
          </p:cNvSpPr>
          <p:nvPr>
            <p:ph idx="1"/>
          </p:nvPr>
        </p:nvSpPr>
        <p:spPr/>
        <p:txBody>
          <a:bodyPr/>
          <a:lstStyle/>
          <a:p>
            <a:pPr>
              <a:defRPr sz="1600"/>
            </a:pPr>
            <a:r>
              <a:t>TBTS (414.</a:t>
            </a:r>
          </a:p>
          <a:p>
            <a:pPr>
              <a:defRPr sz="1600"/>
            </a:pPr>
            <a:r>
              <a:t>4) plancher, pour le chauffage de celui-ci, sont admis à et que la plus grande tension entre parties actives ou entre parties actives et la terre, ne soit pas supérieure à 25 V en courant alternatif ou 60 V en courant continu.</a:t>
            </a:r>
          </a:p>
          <a:p>
            <a:pPr>
              <a:defRPr sz="1600"/>
            </a:pPr>
            <a:r>
              <a:t>condition que la source soit  Par conducteurs légèrement isolés, il faut entendre des conducteurs possédant un revêtement en matériau non conducteur destiné à assurer une protection contre la corrosion chimique ou électrochimique ou une protection mécanique, mais pour lequel aucune caractéristique électrique n'est exigée.</a:t>
            </a:r>
          </a:p>
          <a:p>
            <a:pPr>
              <a:defRPr sz="1600"/>
            </a:pPr>
            <a:r>
              <a:t>C'est pourquoi, du point de vue de la protection contre les chocs électriques, de tels conducteurs sont considérés comme des conducteurs nus.</a:t>
            </a:r>
          </a:p>
          <a:p>
            <a:pPr>
              <a:defRPr sz="1600"/>
            </a:pPr>
            <a:r>
              <a:t>- 422 -.</a:t>
            </a:r>
          </a:p>
        </p:txBody>
      </p:sp>
    </p:spTree>
  </p:cSld>
  <p:clrMapOvr>
    <a:masterClrMapping/>
  </p:clrMapOvr>
</p:sld>
</file>

<file path=ppt/slides/slide9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753.4.2 Protection contre les surintensités</a:t>
            </a:r>
          </a:p>
        </p:txBody>
      </p:sp>
      <p:sp>
        <p:nvSpPr>
          <p:cNvPr id="3" name="Content Placeholder 2"/>
          <p:cNvSpPr>
            <a:spLocks noGrp="1"/>
          </p:cNvSpPr>
          <p:nvPr>
            <p:ph idx="1"/>
          </p:nvPr>
        </p:nvSpPr>
        <p:spPr/>
        <p:txBody>
          <a:bodyPr/>
          <a:lstStyle/>
          <a:p>
            <a:pPr>
              <a:defRPr sz="1600"/>
            </a:pPr>
            <a:r>
              <a:t>Si la protection contre les surintensités des circuits d’alimentation des éléments chauffants est  et assurée par des fusibles, ceux-ci doivent être du type gG conforme à la norme en vigueur non des fusibles domestiques.</a:t>
            </a:r>
          </a:p>
          <a:p>
            <a:pPr>
              <a:defRPr sz="1600"/>
            </a:pPr>
            <a:r>
              <a:t>Dans les locaux d’habitation, seuls les disjoncteurs sont autorisés.</a:t>
            </a:r>
          </a:p>
          <a:p>
            <a:pPr>
              <a:defRPr sz="1600"/>
            </a:pPr>
            <a:r>
              <a:t>(1)  Dans le cas de plancher à accumulation ou direct équipé de câbles autorégulants, les intensités annoncées par le constructeur de câbles doivent être majorées de 30 % pour tenir compte principalement des mises sous tension à froid.</a:t>
            </a:r>
          </a:p>
          <a:p>
            <a:pPr>
              <a:defRPr sz="1600"/>
            </a:pPr>
            <a:r>
              <a:t>En outre, le courant assigné des dispositifs de protection doit tenir compte des températures pouvant être atteintes tant dans les gaines d'alimentation du chauffage qu'à l'intérieur des armoires ou coffrets.</a:t>
            </a:r>
          </a:p>
          <a:p>
            <a:pPr>
              <a:defRPr sz="1600"/>
            </a:pPr>
            <a:r>
              <a:t>Le tableau ci-dessous, relatif aux planchers à accumulation ou directs équipés de câbles autorégulants, prend en compte les dispositions précédentes pour le choix des dispositifs de protection.</a:t>
            </a:r>
          </a:p>
        </p:txBody>
      </p:sp>
    </p:spTree>
  </p:cSld>
  <p:clrMapOvr>
    <a:masterClrMapping/>
  </p:clrMapOvr>
</p:sld>
</file>

<file path=ppt/slides/slide9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753.4.3 Mise en œuvre des éléments chauffants</a:t>
            </a:r>
          </a:p>
        </p:txBody>
      </p:sp>
      <p:sp>
        <p:nvSpPr>
          <p:cNvPr id="3" name="Content Placeholder 2"/>
          <p:cNvSpPr>
            <a:spLocks noGrp="1"/>
          </p:cNvSpPr>
          <p:nvPr>
            <p:ph idx="1"/>
          </p:nvPr>
        </p:nvSpPr>
        <p:spPr/>
        <p:txBody>
          <a:bodyPr/>
          <a:lstStyle/>
          <a:p>
            <a:pPr>
              <a:defRPr sz="1600"/>
            </a:pPr>
            <a:r>
              <a:t>Les éléments chauffants doivent satisfaire aux normes en vigueur  (2).</a:t>
            </a:r>
          </a:p>
          <a:p>
            <a:pPr>
              <a:defRPr sz="1600"/>
            </a:pPr>
            <a:r>
              <a:t>Les éléments de chauffage destinés à être noyés dans un plancher en béton ou autre matériau analogue doivent être IPX7.</a:t>
            </a:r>
          </a:p>
          <a:p>
            <a:pPr>
              <a:defRPr sz="1600"/>
            </a:pPr>
            <a:r>
              <a:t>Leur mise en œuvre doit satisfaire à la norme NF P 52-302-1 (ex DTU 65.</a:t>
            </a:r>
          </a:p>
          <a:p>
            <a:pPr>
              <a:defRPr sz="1600"/>
            </a:pPr>
            <a:r>
              <a:t>7 ), au Cahier des Prescriptions Techniques communes (CPT PRE 06/96 et ses additifs) et à l’avis technique du procédé.</a:t>
            </a:r>
          </a:p>
          <a:p>
            <a:pPr>
              <a:defRPr sz="1600"/>
            </a:pPr>
            <a:r>
              <a:t>(1) NF C 63-213 (2) ) C 32-330 ; UTE C 73-999  - 423 -    L’installateur doit informer les autres corps de métiers qu’aucun moyen de fixation pénétrant tel que vis pour arrêt de porte ne doit être utilisé dans des zones où des systèmes de chauffage sont mis en œuvre.</a:t>
            </a:r>
          </a:p>
        </p:txBody>
      </p:sp>
    </p:spTree>
  </p:cSld>
  <p:clrMapOvr>
    <a:masterClrMapping/>
  </p:clrMapOvr>
</p:sld>
</file>

<file path=ppt/slides/slide9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753.5.1 Protection contre les courants de défaut</a:t>
            </a:r>
          </a:p>
        </p:txBody>
      </p:sp>
      <p:sp>
        <p:nvSpPr>
          <p:cNvPr id="3" name="Content Placeholder 2"/>
          <p:cNvSpPr>
            <a:spLocks noGrp="1"/>
          </p:cNvSpPr>
          <p:nvPr>
            <p:ph idx="1"/>
          </p:nvPr>
        </p:nvSpPr>
        <p:spPr/>
        <p:txBody>
          <a:bodyPr/>
          <a:lstStyle/>
          <a:p>
            <a:pPr>
              <a:defRPr sz="1600"/>
            </a:pPr>
            <a:r>
              <a:t>Les circuits alimentant les équipements de chauffage plafond rayonnant plâtre (PRP) ou plafond rayonnant modulaire (PRM) doivent être :  -  -  soit alimentés en TBTS ou TBTP et   répondre aux prescriptions du paragraphe 414.</a:t>
            </a:r>
          </a:p>
          <a:p>
            <a:pPr>
              <a:defRPr sz="1600"/>
            </a:pPr>
            <a:r>
              <a:t>4 ;    différe ntiel-résiduel (voir 531.</a:t>
            </a:r>
          </a:p>
          <a:p>
            <a:pPr>
              <a:defRPr sz="1600"/>
            </a:pPr>
            <a:r>
              <a:t>2) de courant soit protégés par des dispositifs à courant différentiel-résiduel assigné au plus égal à 30 mA, chaque DDR 30 mA étant prévu pour une puissance assignée des éléments chauffants au plus égale à 13 kW (400 V) ou 7,5 kW (230 V).</a:t>
            </a:r>
          </a:p>
          <a:p>
            <a:pPr>
              <a:defRPr sz="1600"/>
            </a:pPr>
            <a:r>
              <a:t>Disjoncteur général  N L1 L2 L3  DDR 30 mA  DDR 30 mA  DDR 30 mA  Figure 753C – Exemple de protection d’une installation triphasée : alimentation entre phases et neutre  Elément chauffant  Si l’équipement de chauffage est protégé par un écran ou une grille métallique, et qu’il n’est pas de classe II, l’écran ou la grille métallique doivent être mis à la terre.</a:t>
            </a:r>
          </a:p>
          <a:p>
            <a:pPr>
              <a:defRPr sz="1600"/>
            </a:pPr>
            <a:r>
              <a:t>Lorsque les appareils à réflecteurs et les cassettes rayonnantes ne sont pas de classe I, les circuits les alimentant sont protégés par des DDR (voir 531.</a:t>
            </a:r>
          </a:p>
        </p:txBody>
      </p:sp>
    </p:spTree>
  </p:cSld>
  <p:clrMapOvr>
    <a:masterClrMapping/>
  </p:clrMapOvr>
</p:sld>
</file>

<file path=ppt/slides/slide9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753.5.2 Mise en œuvre des équipements de plafond rayonnant plâtre ou modulaire</a:t>
            </a:r>
          </a:p>
        </p:txBody>
      </p:sp>
      <p:sp>
        <p:nvSpPr>
          <p:cNvPr id="3" name="Content Placeholder 2"/>
          <p:cNvSpPr>
            <a:spLocks noGrp="1"/>
          </p:cNvSpPr>
          <p:nvPr>
            <p:ph idx="1"/>
          </p:nvPr>
        </p:nvSpPr>
        <p:spPr/>
        <p:txBody>
          <a:bodyPr/>
          <a:lstStyle/>
          <a:p>
            <a:pPr>
              <a:defRPr sz="1600"/>
            </a:pPr>
            <a:r>
              <a:t>Les émetteurs doivent satisfaire aux normes et guides en vigueur  (3).</a:t>
            </a:r>
          </a:p>
          <a:p>
            <a:pPr>
              <a:defRPr sz="1600"/>
            </a:pPr>
            <a:r>
              <a:t>Leur mise en œuvre doit satisfaire au cahier des prescriptions techniques communes (CPT PEC 12/33), aux cahiers des prescriptions techniques (PT PRM 10/97) et à l’avis technique du procédé.</a:t>
            </a:r>
          </a:p>
          <a:p>
            <a:pPr>
              <a:defRPr sz="1600"/>
            </a:pPr>
            <a:r>
              <a:t>Dans le cas d’établissements recevant du public (ERP), Il convient d’appliquer en outre les dispositions du règlement ERP.</a:t>
            </a:r>
          </a:p>
          <a:p>
            <a:pPr>
              <a:defRPr sz="1600"/>
            </a:pPr>
            <a:r>
              <a:t>(3) UTE C 73-999 pour les plafonds rayonnants (PRP et PRM) ; NF EN 60335-2 -30 (C 73-830) pour les appareils à  réflecteur et cassettes rayonnantes  - 424 -.</a:t>
            </a:r>
          </a:p>
        </p:txBody>
      </p:sp>
    </p:spTree>
  </p:cSld>
  <p:clrMapOvr>
    <a:masterClrMapping/>
  </p:clrMapOvr>
</p:sld>
</file>

<file path=ppt/slides/slide9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753.6 Chauffage avec émetteurs muraux (convecteur, panneau rayonnant et émetteurs à</a:t>
            </a:r>
          </a:p>
        </p:txBody>
      </p:sp>
      <p:sp>
        <p:nvSpPr>
          <p:cNvPr id="3" name="Content Placeholder 2"/>
          <p:cNvSpPr>
            <a:spLocks noGrp="1"/>
          </p:cNvSpPr>
          <p:nvPr>
            <p:ph idx="1"/>
          </p:nvPr>
        </p:nvSpPr>
        <p:spPr/>
        <p:txBody>
          <a:bodyPr/>
          <a:lstStyle/>
          <a:p>
            <a:pPr>
              <a:defRPr sz="1600"/>
            </a:pPr>
            <a:r>
              <a:t>accumulation).</a:t>
            </a:r>
          </a:p>
        </p:txBody>
      </p:sp>
    </p:spTree>
  </p:cSld>
  <p:clrMapOvr>
    <a:masterClrMapping/>
  </p:clrMapOvr>
</p:sld>
</file>

<file path=ppt/slides/slide9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753.6.1 Généralités</a:t>
            </a:r>
          </a:p>
        </p:txBody>
      </p:sp>
      <p:sp>
        <p:nvSpPr>
          <p:cNvPr id="3" name="Content Placeholder 2"/>
          <p:cNvSpPr>
            <a:spLocks noGrp="1"/>
          </p:cNvSpPr>
          <p:nvPr>
            <p:ph idx="1"/>
          </p:nvPr>
        </p:nvSpPr>
        <p:spPr/>
        <p:txBody>
          <a:bodyPr/>
          <a:lstStyle/>
          <a:p>
            <a:pPr>
              <a:defRPr sz="1600"/>
            </a:pPr>
            <a:r>
              <a:t>Les appareils ou équipements de chauffage sont répartis sur des circuits spécifiques.</a:t>
            </a:r>
          </a:p>
          <a:p>
            <a:pPr>
              <a:defRPr sz="1600"/>
            </a:pPr>
            <a:r>
              <a:t>terminaux  Le règlement de sécurité des ERP impose que les appareils de chauffage des écoles maternelles ne soient pas directement accessibles si leur température de surface est supérieure à 60 °C en régime normal.</a:t>
            </a:r>
          </a:p>
        </p:txBody>
      </p:sp>
    </p:spTree>
  </p:cSld>
  <p:clrMapOvr>
    <a:masterClrMapping/>
  </p:clrMapOvr>
</p:sld>
</file>

<file path=ppt/slides/slide9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753.6.2 Sectionnement</a:t>
            </a:r>
          </a:p>
        </p:txBody>
      </p:sp>
      <p:sp>
        <p:nvSpPr>
          <p:cNvPr id="3" name="Content Placeholder 2"/>
          <p:cNvSpPr>
            <a:spLocks noGrp="1"/>
          </p:cNvSpPr>
          <p:nvPr>
            <p:ph idx="1"/>
          </p:nvPr>
        </p:nvSpPr>
        <p:spPr/>
        <p:txBody>
          <a:bodyPr/>
          <a:lstStyle/>
          <a:p>
            <a:pPr>
              <a:defRPr sz="1600"/>
            </a:pPr>
            <a:r>
              <a:t>Dans le cas de chauffage avec fil pilote, le sectionnement du fil pilote doit être prévu.</a:t>
            </a:r>
          </a:p>
          <a:p>
            <a:pPr>
              <a:defRPr sz="1600"/>
            </a:pPr>
            <a:r>
              <a:t>Ce sectionnement est réalisé à l’origine de chacun des circuits de chauffage par un dispositif de sectionnement associé au dispositif de protection.</a:t>
            </a:r>
          </a:p>
          <a:p>
            <a:pPr>
              <a:defRPr sz="1600"/>
            </a:pPr>
            <a:r>
              <a:t>Cependant, il est admis de prévoir un sectionnement général du fil pilote :  - -  soit par un dispositif de sectionnement associé à un interrupteur général du chauffage ; soit par un dispositif de sectionnement indépendant, le dispositif de protection dédié à la gestion d’énergie pouvant remplir cette fonction.</a:t>
            </a:r>
          </a:p>
          <a:p>
            <a:pPr>
              <a:defRPr sz="1600"/>
            </a:pPr>
            <a:r>
              <a:t>Lorsque le sectionnement du fil pilote est indépendant, un marquage doit être disposé sur le tableau de répartition et à l’intérieur de la boîte de connexion de l’équipement de chauffage « Attention, fil pilote à sectionner ».</a:t>
            </a:r>
          </a:p>
          <a:p>
            <a:pPr>
              <a:defRPr sz="1600"/>
            </a:pPr>
            <a:r>
              <a:t>______________  - 425 -   Partie 7-771 – Locaux d’habitation.</a:t>
            </a:r>
          </a:p>
        </p:txBody>
      </p:sp>
    </p:spTree>
  </p:cSld>
  <p:clrMapOvr>
    <a:masterClrMapping/>
  </p:clrMapOvr>
</p:sld>
</file>

<file path=ppt/slides/slide9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771.443 Protection contre les surtensions d'origine at</a:t>
            </a:r>
          </a:p>
        </p:txBody>
      </p:sp>
      <p:sp>
        <p:nvSpPr>
          <p:cNvPr id="3" name="Content Placeholder 2"/>
          <p:cNvSpPr>
            <a:spLocks noGrp="1"/>
          </p:cNvSpPr>
          <p:nvPr>
            <p:ph idx="1"/>
          </p:nvPr>
        </p:nvSpPr>
        <p:spPr/>
        <p:txBody>
          <a:bodyPr/>
          <a:lstStyle/>
          <a:p>
            <a:pPr>
              <a:defRPr sz="1600"/>
            </a:pPr>
            <a:r>
              <a:t>mosphérique (parafoudre).</a:t>
            </a:r>
          </a:p>
          <a:p>
            <a:pPr>
              <a:defRPr sz="1600"/>
            </a:pPr>
            <a:r>
              <a:t>432.</a:t>
            </a:r>
          </a:p>
        </p:txBody>
      </p:sp>
    </p:spTree>
  </p:cSld>
  <p:clrMapOvr>
    <a:masterClrMapping/>
  </p:clrMapOvr>
</p:sld>
</file>

<file path=ppt/slides/slide9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 Panneaux de contrôle, tableaux de répartition et de communication - Gaine</a:t>
            </a:r>
          </a:p>
        </p:txBody>
      </p:sp>
      <p:sp>
        <p:nvSpPr>
          <p:cNvPr id="3" name="Content Placeholder 2"/>
          <p:cNvSpPr>
            <a:spLocks noGrp="1"/>
          </p:cNvSpPr>
          <p:nvPr>
            <p:ph idx="1"/>
          </p:nvPr>
        </p:nvSpPr>
        <p:spPr/>
        <p:txBody>
          <a:bodyPr/>
          <a:lstStyle/>
          <a:p>
            <a:pPr>
              <a:defRPr sz="1600"/>
            </a:pPr>
            <a:r>
              <a:t>technique logement (GTL).</a:t>
            </a:r>
          </a:p>
          <a:p>
            <a:pPr>
              <a:defRPr sz="1600"/>
            </a:pPr>
            <a:r>
              <a:t>438.</a:t>
            </a:r>
          </a:p>
        </p:txBody>
      </p:sp>
    </p:spTree>
  </p:cSld>
  <p:clrMapOvr>
    <a:masterClrMapping/>
  </p:clrMapOvr>
</p:sld>
</file>

<file path=ppt/slides/slide9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B – (normative) – Installations électriques alimentées par une source d’énergie</a:t>
            </a:r>
          </a:p>
        </p:txBody>
      </p:sp>
      <p:sp>
        <p:nvSpPr>
          <p:cNvPr id="3" name="Content Placeholder 2"/>
          <p:cNvSpPr>
            <a:spLocks noGrp="1"/>
          </p:cNvSpPr>
          <p:nvPr>
            <p:ph idx="1"/>
          </p:nvPr>
        </p:nvSpPr>
        <p:spPr/>
        <p:txBody>
          <a:bodyPr/>
          <a:lstStyle/>
          <a:p>
            <a:pPr>
              <a:defRPr sz="1600"/>
            </a:pPr>
            <a:r>
              <a:t>autonome de faible puissance ( ≤ 6 kVA), non raccordées au réseau.</a:t>
            </a:r>
          </a:p>
          <a:p>
            <a:pPr>
              <a:defRPr sz="1600"/>
            </a:pPr>
            <a:r>
              <a:t>450.</a:t>
            </a:r>
          </a:p>
        </p:txBody>
      </p:sp>
    </p:spTree>
  </p:cSld>
  <p:clrMapOvr>
    <a:masterClrMapping/>
  </p:clrMapOvr>
</p:sld>
</file>

<file path=ppt/slides/slide9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C – (informative) – Exemple de lett</a:t>
            </a:r>
          </a:p>
        </p:txBody>
      </p:sp>
      <p:sp>
        <p:nvSpPr>
          <p:cNvPr id="3" name="Content Placeholder 2"/>
          <p:cNvSpPr>
            <a:spLocks noGrp="1"/>
          </p:cNvSpPr>
          <p:nvPr>
            <p:ph idx="1"/>
          </p:nvPr>
        </p:nvSpPr>
        <p:spPr/>
        <p:txBody>
          <a:bodyPr/>
          <a:lstStyle/>
          <a:p>
            <a:pPr>
              <a:defRPr sz="1600"/>
            </a:pPr>
            <a:r>
              <a:t>leurs responsabilités.</a:t>
            </a:r>
          </a:p>
          <a:p>
            <a:pPr>
              <a:defRPr sz="1600"/>
            </a:pPr>
            <a:r>
              <a:t>451  re pour sensibiliser les différents acteurs à.</a:t>
            </a:r>
          </a:p>
        </p:txBody>
      </p:sp>
    </p:spTree>
  </p:cSld>
  <p:clrMapOvr>
    <a:masterClrMapping/>
  </p:clrMapOvr>
</p:sld>
</file>

<file path=ppt/slides/slide9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D – (informative) – Système de gestion ou appareillage utilisant les</a:t>
            </a:r>
          </a:p>
        </p:txBody>
      </p:sp>
      <p:sp>
        <p:nvSpPr>
          <p:cNvPr id="3" name="Content Placeholder 2"/>
          <p:cNvSpPr>
            <a:spLocks noGrp="1"/>
          </p:cNvSpPr>
          <p:nvPr>
            <p:ph idx="1"/>
          </p:nvPr>
        </p:nvSpPr>
        <p:spPr/>
        <p:txBody>
          <a:bodyPr/>
          <a:lstStyle/>
          <a:p>
            <a:pPr>
              <a:defRPr sz="1600"/>
            </a:pPr>
            <a:r>
              <a:t>informations délivrées sur le circuit de téléinformation du compteur électronique du distributeur.</a:t>
            </a:r>
          </a:p>
          <a:p>
            <a:pPr>
              <a:defRPr sz="1600"/>
            </a:pPr>
            <a:r>
              <a:t>452  ____________  Les prescriptions de la présente partie complètent, modifient ou remplacent les prescriptions générales des autres parties de la NF C 15-100.</a:t>
            </a:r>
          </a:p>
          <a:p>
            <a:pPr>
              <a:defRPr sz="1600"/>
            </a:pPr>
            <a:r>
              <a:t>Les numéros suivant le numéro particulier de la partie 7-771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- 427 -.</a:t>
            </a:r>
          </a:p>
        </p:txBody>
      </p:sp>
    </p:spTree>
  </p:cSld>
  <p:clrMapOvr>
    <a:masterClrMapping/>
  </p:clrMapOvr>
</p:sld>
</file>

<file path=ppt/slides/slide9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771.11 Domaine d'application</a:t>
            </a:r>
          </a:p>
        </p:txBody>
      </p:sp>
      <p:sp>
        <p:nvSpPr>
          <p:cNvPr id="3" name="Content Placeholder 2"/>
          <p:cNvSpPr>
            <a:spLocks noGrp="1"/>
          </p:cNvSpPr>
          <p:nvPr>
            <p:ph idx="1"/>
          </p:nvPr>
        </p:nvSpPr>
        <p:spPr/>
        <p:txBody>
          <a:bodyPr/>
          <a:lstStyle/>
          <a:p>
            <a:pPr>
              <a:defRPr sz="1600"/>
            </a:pPr>
            <a:r>
              <a:t>La présente partie s'applique aux installations électriques des locaux privatifs à usage d'habitation.</a:t>
            </a:r>
          </a:p>
          <a:p>
            <a:pPr>
              <a:defRPr sz="1600"/>
            </a:pPr>
            <a:r>
              <a:t>En plus des règles de la présente partie, d'autres parties du titre 7 sont également applicables aux locaux à usage d'habitation, telles que :  - - - -  la partie 7-701 pour les locaux contenant une baignoire ou une douche ; la partie 7-702 pour les piscines privées ; la partie 7-703 pour les saunas ; la partie 7-753 pour les équipements de chauffage électrique.</a:t>
            </a:r>
          </a:p>
          <a:p>
            <a:pPr>
              <a:defRPr sz="1600"/>
            </a:pPr>
            <a:r>
              <a:t>Elle ne s'applique pas aux installations électriques des services généraux et parties communes des bâtiments collectifs à usage d'habitation auxquels sont applicables les règles des titres 1 à 6 de la présente norme, les règles de la partie 7-772 et éventuellement d’autres parties du titre 7.</a:t>
            </a:r>
          </a:p>
          <a:p>
            <a:pPr>
              <a:defRPr sz="1600"/>
            </a:pPr>
            <a:r>
              <a:t>Les bureaux et locaux professionnels intégrés aux logements sont en principe soumis aux dispositions du décret du 14 novembre 1988 relatif à la protection des travailleurs dans les établissements qui mettent en œuvre des courants électriques.</a:t>
            </a:r>
          </a:p>
          <a:p>
            <a:pPr>
              <a:defRPr sz="1600"/>
            </a:pPr>
            <a:r>
              <a:t>les  installations électriques alimentées par une source d’énergie autonome Pour (photovoltaïque, éolienne, etc.</a:t>
            </a:r>
          </a:p>
        </p:txBody>
      </p:sp>
    </p:spTree>
  </p:cSld>
  <p:clrMapOvr>
    <a:masterClrMapping/>
  </p:clrMapOvr>
</p:sld>
</file>

<file path=ppt/slides/slide9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771.14 Alimentation</a:t>
            </a:r>
          </a:p>
        </p:txBody>
      </p:sp>
      <p:sp>
        <p:nvSpPr>
          <p:cNvPr id="3" name="Content Placeholder 2"/>
          <p:cNvSpPr>
            <a:spLocks noGrp="1"/>
          </p:cNvSpPr>
          <p:nvPr>
            <p:ph idx="1"/>
          </p:nvPr>
        </p:nvSpPr>
        <p:spPr/>
        <p:txBody>
          <a:bodyPr/>
          <a:lstStyle/>
          <a:p>
            <a:pPr>
              <a:defRPr sz="1600"/>
            </a:pPr>
            <a:r>
              <a:t>Les installations des locaux à usage d'habitation sont généralement alimentées par un réseau de distribution publique à basse tension selon le schéma TT et sous une tension de 230 volts en monophasé ou 230/400 volts en triphasé.</a:t>
            </a:r>
          </a:p>
          <a:p>
            <a:pPr>
              <a:defRPr sz="1600"/>
            </a:pPr>
            <a:r>
              <a:t>Dans certains cas, ces installations peuvent être raccordées à une installation alimentée par un poste de transformation privé selon un schéma qui peut être TT, TN ou IT.</a:t>
            </a:r>
          </a:p>
          <a:p>
            <a:pPr>
              <a:defRPr sz="1600"/>
            </a:pPr>
            <a:r>
              <a:t>Lorsque l'installation est raccordée à une installation réalisée en schéma TN, l'installation des locaux à usage d'habitation est réalisée suivant le schéma TN-S.</a:t>
            </a:r>
          </a:p>
        </p:txBody>
      </p:sp>
    </p:spTree>
  </p:cSld>
  <p:clrMapOvr>
    <a:masterClrMapping/>
  </p:clrMapOvr>
</p:sld>
</file>

<file path=ppt/slides/slide9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771.314.2 Circuits terminaux</a:t>
            </a:r>
          </a:p>
        </p:txBody>
      </p:sp>
      <p:sp>
        <p:nvSpPr>
          <p:cNvPr id="3" name="Content Placeholder 2"/>
          <p:cNvSpPr>
            <a:spLocks noGrp="1"/>
          </p:cNvSpPr>
          <p:nvPr>
            <p:ph idx="1"/>
          </p:nvPr>
        </p:nvSpPr>
        <p:spPr/>
        <p:txBody>
          <a:bodyPr/>
          <a:lstStyle/>
          <a:p>
            <a:pPr>
              <a:defRPr sz="1600"/>
            </a:pPr>
            <a:r>
              <a:t>Une installation électrique doit pouvoir présenter un nombre suffisant de points d'utilisation pour assurer les besoins normaux des usagers, à savoir au minimum :.</a:t>
            </a:r>
          </a:p>
        </p:txBody>
      </p:sp>
    </p:spTree>
  </p:cSld>
  <p:clrMapOvr>
    <a:masterClrMapping/>
  </p:clrMapOvr>
</p:sld>
</file>

<file path=ppt/slides/slide9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771.314.2.1 Socles de prise de courant</a:t>
            </a:r>
          </a:p>
        </p:txBody>
      </p:sp>
      <p:sp>
        <p:nvSpPr>
          <p:cNvPr id="3" name="Content Placeholder 2"/>
          <p:cNvSpPr>
            <a:spLocks noGrp="1"/>
          </p:cNvSpPr>
          <p:nvPr>
            <p:ph idx="1"/>
          </p:nvPr>
        </p:nvSpPr>
        <p:spPr/>
        <p:txBody>
          <a:bodyPr/>
          <a:lstStyle/>
          <a:p>
            <a:pPr>
              <a:defRPr sz="1600"/>
            </a:pPr>
            <a:r>
              <a:t>-  -  pour une chambre, trois socles de prise de courant 16 A + T, répartis en périphérie ;  pour le séjour, un socle de prise de courant 16 A + T par tranche de 4 m2 de surface, répartis en périphérie avec un minimum de cinq socles ;  Ainsi, pour un séjour de 27 m2, il est nécessaire de prévoir 7 socles.</a:t>
            </a:r>
          </a:p>
          <a:p>
            <a:pPr>
              <a:defRPr sz="1600"/>
            </a:pPr>
            <a:r>
              <a:t>- Pour une cuisine, quatres socles de prise de courant 16 A + T non spécialisés dont deux           sont à répartir au-dessus du (ou des) plan(s) de travail.</a:t>
            </a:r>
          </a:p>
          <a:p>
            <a:pPr>
              <a:defRPr sz="1600"/>
            </a:pPr>
            <a:r>
              <a:t>Ces socles ne sont installés ni  au-dessus du bac d'un évier, ni au-dessus des feux ou plaques de cuisson ;  Toutefois, l’exception est admise pour un socle supplémentaire au-dessus des plaques de cuisson sous condition que ce socle soit identifié pour la hotte et qu’il soit placé au minimum à 1,80 m du sol fini.</a:t>
            </a:r>
          </a:p>
          <a:p>
            <a:pPr>
              <a:defRPr sz="1600"/>
            </a:pPr>
            <a:r>
              <a:t>- 428 -   Lorsque les plaques de cuisson et l’évier sont disposés de manière à laisser plusieurs surfaces de travail, les socles de prise de courant sont répartis au mieux pour éviter la circulation des câbles des appareils ménagers au-dessus de l’évier ou de la plaque de cuisson.</a:t>
            </a:r>
          </a:p>
          <a:p>
            <a:pPr>
              <a:defRPr sz="1600"/>
            </a:pPr>
            <a:r>
              <a:t>-  Un socle de prise de courant 16 A + T au moins dans les autres locaux d’une surface supérieure à 4 m2 et les circulations.</a:t>
            </a:r>
          </a:p>
        </p:txBody>
      </p:sp>
    </p:spTree>
  </p:cSld>
  <p:clrMapOvr>
    <a:masterClrMapping/>
  </p:clrMapOvr>
</p:sld>
</file>

<file path=ppt/slides/slide9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771.314.2.2 Circuits spécialisés</a:t>
            </a:r>
          </a:p>
        </p:txBody>
      </p:sp>
      <p:sp>
        <p:nvSpPr>
          <p:cNvPr id="3" name="Content Placeholder 2"/>
          <p:cNvSpPr>
            <a:spLocks noGrp="1"/>
          </p:cNvSpPr>
          <p:nvPr>
            <p:ph idx="1"/>
          </p:nvPr>
        </p:nvSpPr>
        <p:spPr/>
        <p:txBody>
          <a:bodyPr/>
          <a:lstStyle/>
          <a:p>
            <a:pPr>
              <a:defRPr sz="1600"/>
            </a:pPr>
            <a:r>
              <a:t>Chaque appareil électroménager de forte puissance doit être alimenté par un circuit spécialisé.</a:t>
            </a:r>
          </a:p>
          <a:p>
            <a:pPr>
              <a:defRPr sz="1600"/>
            </a:pPr>
            <a:r>
              <a:t>Quatre circuits spécialisés au moins doivent être prévus : • un circuit spécialisé pour l'alimentation de la cuisinière ou de la plaque de cuisson seule (boîte de connexion ou socle de prise de courant 32 A en monophasé ou 20 A en triphasé) ;  •  trois circuits spécialisés 16 A au moins en prévision de l’alimentation d’appareils du type : - -  lave-linge, lave-vaisselle, Il convient d'installer les socles de prises de courant spécialisés destinés au lave- vaisselle et au lave-linge à proximité des arrivées et évacuations d'eau nécessaires à ces appareils.</a:t>
            </a:r>
          </a:p>
          <a:p>
            <a:pPr>
              <a:defRPr sz="1600"/>
            </a:pPr>
            <a:r>
              <a:t>sèche-linge, four, congélateur.</a:t>
            </a:r>
          </a:p>
          <a:p>
            <a:pPr>
              <a:defRPr sz="1600"/>
            </a:pPr>
            <a:r>
              <a:t>Lorsque l’emplacement du congélateur est défini, il convient de prévoir un circuit spécialisé soit protégé par DDR 30 mA, de préférence à immunité renforcée (voir 531.</a:t>
            </a:r>
          </a:p>
          <a:p>
            <a:pPr>
              <a:defRPr sz="1600"/>
            </a:pPr>
            <a:r>
              <a:t>2.</a:t>
            </a:r>
          </a:p>
        </p:txBody>
      </p:sp>
    </p:spTree>
  </p:cSld>
  <p:clrMapOvr>
    <a:masterClrMapping/>
  </p:clrMapOvr>
</p:sld>
</file>

<file path=ppt/slides/slide9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771.314.2.3 Eclairage</a:t>
            </a:r>
          </a:p>
        </p:txBody>
      </p:sp>
      <p:sp>
        <p:nvSpPr>
          <p:cNvPr id="3" name="Content Placeholder 2"/>
          <p:cNvSpPr>
            <a:spLocks noGrp="1"/>
          </p:cNvSpPr>
          <p:nvPr>
            <p:ph idx="1"/>
          </p:nvPr>
        </p:nvSpPr>
        <p:spPr/>
        <p:txBody>
          <a:bodyPr/>
          <a:lstStyle/>
          <a:p>
            <a:pPr>
              <a:defRPr sz="1600"/>
            </a:pPr>
            <a:r>
              <a:t>Chaque local doit comporter au minimum un point d’éclairage alimenté par un circuit d’éclairage.</a:t>
            </a:r>
          </a:p>
          <a:p>
            <a:pPr>
              <a:defRPr sz="1600"/>
            </a:pPr>
            <a:r>
              <a:t>a) Dans les chambres, séjours et cuisines, ce point d’éclairage doit être placé en plafond.</a:t>
            </a:r>
          </a:p>
          <a:p>
            <a:pPr>
              <a:defRPr sz="1600"/>
            </a:pPr>
            <a:r>
              <a:t>S’il n’est pas utilisé, un point d’éclairage pourra être complètement dissimulé.</a:t>
            </a:r>
          </a:p>
          <a:p>
            <a:pPr>
              <a:defRPr sz="1600"/>
            </a:pPr>
            <a:r>
              <a:t>Le point d’éclairage peut être complété par une ou plusieurs appliques ou un ou plusieurs socles de prise de courant commandés ne se substituant pas aux socles spécialisés et non spécialisés.</a:t>
            </a:r>
          </a:p>
          <a:p>
            <a:pPr>
              <a:defRPr sz="1600"/>
            </a:pPr>
            <a:r>
              <a:t>Dans le cas de rénovation totale ou lorsque des impossibilités techniques ne permettent pas la réalisation de points d’éclairage placés en plafond, l’éclairage du local peut être réalisé par deux points en applique ou par deux socles de prise de courant commandés.</a:t>
            </a:r>
          </a:p>
        </p:txBody>
      </p:sp>
    </p:spTree>
  </p:cSld>
  <p:clrMapOvr>
    <a:masterClrMapping/>
  </p:clrMapOvr>
</p:sld>
</file>

<file path=ppt/slides/slide9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771.314.2.4 Points d’utilisation extérieurs</a:t>
            </a:r>
          </a:p>
        </p:txBody>
      </p:sp>
      <p:sp>
        <p:nvSpPr>
          <p:cNvPr id="3" name="Content Placeholder 2"/>
          <p:cNvSpPr>
            <a:spLocks noGrp="1"/>
          </p:cNvSpPr>
          <p:nvPr>
            <p:ph idx="1"/>
          </p:nvPr>
        </p:nvSpPr>
        <p:spPr/>
        <p:txBody>
          <a:bodyPr/>
          <a:lstStyle/>
          <a:p>
            <a:pPr>
              <a:defRPr sz="1600"/>
            </a:pPr>
            <a:r>
              <a:t>Afin d’assurer les besoins normaux des usagers, une installation électrique doit présenter un nombre minimal de points d’utilisation dans le domaine privatif extérieur attenants au bâtiment, à savoir : -  un point d’éclairage par entrée principale ou de service ;  Ce point d’éclairage peut être alimenté depuis un circuit d’éclairage intérieur.</a:t>
            </a:r>
          </a:p>
          <a:p>
            <a:pPr>
              <a:defRPr sz="1600"/>
            </a:pPr>
            <a:r>
              <a:t>-  des points d’alimentation de stores « bannes » électriques s’ils sont prévus.</a:t>
            </a:r>
          </a:p>
          <a:p>
            <a:pPr>
              <a:defRPr sz="1600"/>
            </a:pPr>
            <a:r>
              <a:t>Lorsqu’un socle de prise de courant 16 A, 2P+T est installé à l’extérieur, il est conseillé de placer à l’intérieur du logement un dispositif de mise hors tension couplé à un voyant de présence tension.</a:t>
            </a:r>
          </a:p>
        </p:txBody>
      </p:sp>
    </p:spTree>
  </p:cSld>
  <p:clrMapOvr>
    <a:masterClrMapping/>
  </p:clrMapOvr>
</p:sld>
</file>

<file path=ppt/slides/slide9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771.314.2.5 Appareils de chauffage</a:t>
            </a:r>
          </a:p>
        </p:txBody>
      </p:sp>
      <p:sp>
        <p:nvSpPr>
          <p:cNvPr id="3" name="Content Placeholder 2"/>
          <p:cNvSpPr>
            <a:spLocks noGrp="1"/>
          </p:cNvSpPr>
          <p:nvPr>
            <p:ph idx="1"/>
          </p:nvPr>
        </p:nvSpPr>
        <p:spPr/>
        <p:txBody>
          <a:bodyPr/>
          <a:lstStyle/>
          <a:p>
            <a:pPr>
              <a:defRPr sz="1600"/>
            </a:pPr>
            <a:r>
              <a:t>Les appareils ou équipements de chauffage sont répartis sur des circuits terminaux distincts de telle façon que la puissance de chaque circuit ne soit pas supérieure aux valeurs données dans les tableaux 771B et 771C.</a:t>
            </a:r>
          </a:p>
          <a:p>
            <a:pPr>
              <a:defRPr sz="1600"/>
            </a:pPr>
            <a:r>
              <a:t>Le tableau s’applique à tous les systèmes de chauffage autres que les planchers à accumulation ou directs équipés de câbles autorégulants pour lesquels un tableau est donné dans la partie 7-753.</a:t>
            </a:r>
          </a:p>
          <a:p>
            <a:pPr>
              <a:defRPr sz="1600"/>
            </a:pPr>
            <a:r>
              <a:t>Tableau 771B – Protection par disjoncteurs  Puissance maximale  (W)  400 V  4 000  8 000  230 V  2 250  4 500  5 750  7 250  Courant assigné maximal du dispositif de protection (A) Disjoncteur  10  20  25  32  Tableau 771C – Protection par fusibles  Puissance maximale  (W)  230 V  2 250  3 500  4 500  7 250  400 V  4 000  6 400  8 000  Courant assigné maximal du dispositif de protection (A) Fusible  10  16  20  25  Section minimale des conducteurs (mm²)  Cuivre  1,5  2,5  4  6  Section minimale des conducteurs (mm²)  Cuivre  1,5  2,5  4  6  Dans certains bâtiments, le chauffage est assuré par des appareils alimentés par l'installation électrique des services généraux.</a:t>
            </a:r>
          </a:p>
          <a:p>
            <a:pPr>
              <a:defRPr sz="1600"/>
            </a:pPr>
            <a:r>
              <a:t>Les circuits alimentant ces appareils sont alors réalisés et protégés conformément aux dispositions indiquées dans le guide UTE C 15-755.</a:t>
            </a:r>
          </a:p>
          <a:p>
            <a:pPr>
              <a:defRPr sz="1600"/>
            </a:pPr>
            <a:r>
              <a:t>- 431 -.</a:t>
            </a:r>
          </a:p>
        </p:txBody>
      </p:sp>
    </p:spTree>
  </p:cSld>
  <p:clrMapOvr>
    <a:masterClrMapping/>
  </p:clrMapOvr>
</p:sld>
</file>

<file path=ppt/slides/slide9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771.411.3.2 Coupure automatique de l’alimentation</a:t>
            </a:r>
          </a:p>
        </p:txBody>
      </p:sp>
      <p:sp>
        <p:nvSpPr>
          <p:cNvPr id="3" name="Content Placeholder 2"/>
          <p:cNvSpPr>
            <a:spLocks noGrp="1"/>
          </p:cNvSpPr>
          <p:nvPr>
            <p:ph idx="1"/>
          </p:nvPr>
        </p:nvSpPr>
        <p:spPr/>
        <p:txBody>
          <a:bodyPr/>
          <a:lstStyle/>
          <a:p>
            <a:pPr>
              <a:defRPr sz="1600"/>
            </a:pPr>
            <a:r>
              <a:t>La résistance de la prise de terre à laquelle sont reliées les masses de l'installation doit être au plus égale à 100 ohms.</a:t>
            </a:r>
          </a:p>
          <a:p>
            <a:pPr>
              <a:defRPr sz="1600"/>
            </a:pPr>
            <a:r>
              <a:t>En général, la distribution publique à basse tension est prévue en France pour des installations alimentées suivant le schéma TT et la règle du présent paragraphe est conforme à celles des paragraphes 411.</a:t>
            </a:r>
          </a:p>
          <a:p>
            <a:pPr>
              <a:defRPr sz="1600"/>
            </a:pPr>
            <a:r>
              <a:t>5.</a:t>
            </a:r>
          </a:p>
          <a:p>
            <a:pPr>
              <a:defRPr sz="1600"/>
            </a:pPr>
            <a:r>
              <a:t>3 et 531.</a:t>
            </a:r>
          </a:p>
          <a:p>
            <a:pPr>
              <a:defRPr sz="1600"/>
            </a:pPr>
            <a:r>
              <a:t>2.</a:t>
            </a:r>
          </a:p>
        </p:txBody>
      </p:sp>
    </p:spTree>
  </p:cSld>
  <p:clrMapOvr>
    <a:masterClrMapping/>
  </p:clrMapOvr>
</p:sld>
</file>

<file path=ppt/slides/slide9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771.411.3.3 Tous</a:t>
            </a:r>
          </a:p>
        </p:txBody>
      </p:sp>
      <p:sp>
        <p:nvSpPr>
          <p:cNvPr id="3" name="Content Placeholder 2"/>
          <p:cNvSpPr>
            <a:spLocks noGrp="1"/>
          </p:cNvSpPr>
          <p:nvPr>
            <p:ph idx="1"/>
          </p:nvPr>
        </p:nvSpPr>
        <p:spPr/>
        <p:txBody>
          <a:bodyPr/>
          <a:lstStyle/>
          <a:p>
            <a:pPr>
              <a:defRPr sz="1600"/>
            </a:pPr>
            <a:r>
              <a:t>conducteurs de protection doivent être reliés :  les circuits doivent comporter un conducteur de protection.</a:t>
            </a:r>
          </a:p>
          <a:p>
            <a:pPr>
              <a:defRPr sz="1600"/>
            </a:pPr>
            <a:r>
              <a:t>Ces  - -  d'une part à la borne principale de terre de l'installation (voir 542.</a:t>
            </a:r>
          </a:p>
          <a:p>
            <a:pPr>
              <a:defRPr sz="1600"/>
            </a:pPr>
            <a:r>
              <a:t>4) ; d'autre part aux contacts de terre des socles de prise de courant et aux bornes de terre des appareils de la classe I.</a:t>
            </a:r>
          </a:p>
          <a:p>
            <a:pPr>
              <a:defRPr sz="1600"/>
            </a:pPr>
            <a:r>
              <a:t>Les socles de prise de courant doivent comporter un contact de terre, à moins d'être alimentés par l'intermédiaire d'un transformateur de séparation conformément aux règles de l'article 413.</a:t>
            </a:r>
          </a:p>
          <a:p>
            <a:pPr>
              <a:defRPr sz="1600"/>
            </a:pPr>
            <a:r>
              <a:t>La présence d'un conducteur de protection dans tous les circuits ne s'oppose pas à l'emploi de matériels d'utilisation de la classe Il.</a:t>
            </a:r>
          </a:p>
        </p:txBody>
      </p:sp>
    </p:spTree>
  </p:cSld>
  <p:clrMapOvr>
    <a:masterClrMapping/>
  </p:clrMapOvr>
</p:sld>
</file>

<file path=ppt/slides/slide9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771.443 Protection contre les surtensions d'origine atmosphérique (parafoudre)</a:t>
            </a:r>
          </a:p>
        </p:txBody>
      </p:sp>
      <p:sp>
        <p:nvSpPr>
          <p:cNvPr id="3" name="Content Placeholder 2"/>
          <p:cNvSpPr>
            <a:spLocks noGrp="1"/>
          </p:cNvSpPr>
          <p:nvPr>
            <p:ph idx="1"/>
          </p:nvPr>
        </p:nvSpPr>
        <p:spPr/>
        <p:txBody>
          <a:bodyPr/>
          <a:lstStyle/>
          <a:p>
            <a:pPr>
              <a:defRPr sz="1600"/>
            </a:pPr>
            <a:r>
              <a:t>Les conditions dans lesquelles les parafoudres doivent être mis en œuvre sont définies en 443.</a:t>
            </a:r>
          </a:p>
          <a:p>
            <a:pPr>
              <a:defRPr sz="1600"/>
            </a:pPr>
            <a:r>
              <a:t>Le tableau 771D ci-dessous résume ces conditions.</a:t>
            </a:r>
          </a:p>
          <a:p>
            <a:pPr>
              <a:defRPr sz="1600"/>
            </a:pPr>
            <a:r>
              <a:t>Tableau 771D – Conditions de mise en œuvre des parafoudres  Alimentation du bâtiment  Niveau kéraunique (Nk)  Nk ≤≤≤≤ 25 (AQ1)  Nk &gt; 25 (AQ2)  Bâtiment équipé d’un paratonnerre  Obligatoire  Obligatoire  Alimentation BT par une ligne entièrement ou partiellement aérienne (1) Alimentation BT par une ligne entièrement souterraine (1) Cette disposition n’est pas applicable lorsque les lignes aériennes sont constituées de conducteurs isolés avec écran métallique relié à la terre ou comportant un conducteur relié à la terre.</a:t>
            </a:r>
          </a:p>
          <a:p>
            <a:pPr>
              <a:defRPr sz="1600"/>
            </a:pPr>
            <a:r>
              <a:t>Obligatoire (2)  Non obligatoire  Non obligatoire  Non obligatoire  (2) Toutefois, l’absence d’un parafoudre est admise si elle est justifiée par l’analyse du risque définie dans le guide UTE C 15-443.</a:t>
            </a:r>
          </a:p>
          <a:p>
            <a:pPr>
              <a:defRPr sz="1600"/>
            </a:pPr>
            <a:r>
              <a:t>Lorsque le parafoudre n’est pas obligatoire, une analyse du risque peut être effectuée qui, si le coût des matériels mis en œuvre et leur indisponibilité sont vitaux dans l’installation, pourra le justifier.</a:t>
            </a:r>
          </a:p>
        </p:txBody>
      </p:sp>
    </p:spTree>
  </p:cSld>
  <p:clrMapOvr>
    <a:masterClrMapping/>
  </p:clrMapOvr>
</p:sld>
</file>

<file path=ppt/slides/slide9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771.462.1 Sectionnement à l’origine des circuits</a:t>
            </a:r>
          </a:p>
        </p:txBody>
      </p:sp>
      <p:sp>
        <p:nvSpPr>
          <p:cNvPr id="3" name="Content Placeholder 2"/>
          <p:cNvSpPr>
            <a:spLocks noGrp="1"/>
          </p:cNvSpPr>
          <p:nvPr>
            <p:ph idx="1"/>
          </p:nvPr>
        </p:nvSpPr>
        <p:spPr/>
        <p:txBody>
          <a:bodyPr/>
          <a:lstStyle/>
          <a:p>
            <a:pPr>
              <a:defRPr sz="1600"/>
            </a:pPr>
            <a:r>
              <a:t>Tout circuit doit posséder à son origine un dispositif de sectionnement sur tous les conducteurs actifs, y compris le conducteur neutre.</a:t>
            </a:r>
          </a:p>
        </p:txBody>
      </p:sp>
    </p:spTree>
  </p:cSld>
  <p:clrMapOvr>
    <a:masterClrMapping/>
  </p:clrMapOvr>
</p:sld>
</file>

<file path=ppt/slides/slide9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771.462.2 Sectionnement du fil pilote des installations individuelles de chauffage</a:t>
            </a:r>
          </a:p>
        </p:txBody>
      </p:sp>
      <p:sp>
        <p:nvSpPr>
          <p:cNvPr id="3" name="Content Placeholder 2"/>
          <p:cNvSpPr>
            <a:spLocks noGrp="1"/>
          </p:cNvSpPr>
          <p:nvPr>
            <p:ph idx="1"/>
          </p:nvPr>
        </p:nvSpPr>
        <p:spPr/>
        <p:txBody>
          <a:bodyPr/>
          <a:lstStyle/>
          <a:p>
            <a:pPr>
              <a:defRPr sz="1600"/>
            </a:pPr>
            <a:r>
              <a:t>électrique  Dans le cas de chauffage avec fil pilote, le sectionnement du fil pilote doit être prévu.</a:t>
            </a:r>
          </a:p>
          <a:p>
            <a:pPr>
              <a:defRPr sz="1600"/>
            </a:pPr>
            <a:r>
              <a:t>Ce sectionnement est réalisé à l’origine de chacun des circuits de chauffage par un dispositif de sectionnement associé au dispositif de protection.</a:t>
            </a:r>
          </a:p>
          <a:p>
            <a:pPr>
              <a:defRPr sz="1600"/>
            </a:pPr>
            <a:r>
              <a:t>Cependant, il est admis de prévoir un sectionnement général du fil pilote :  -  -  soit par un dispositif de sectionnement associé à un interrupteur général du chauffage ;  soit par un dispositif de sectionnement indépendant ; le dispositif de protection dédié à la gestion d’énergie pouvant remplir cette fonction.</a:t>
            </a:r>
          </a:p>
          <a:p>
            <a:pPr>
              <a:defRPr sz="1600"/>
            </a:pPr>
            <a:r>
              <a:t>Lorsque le sectionnement du fil pilote est indépendant, un marquage doit être disposé sur le tableau de répartition et à l’intérieur de la boîte de connexion de l’équipement de chauffage « Attention, fil pilote à sectionner ».</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771.463 Coupure d’urgence</a:t>
            </a:r>
          </a:p>
        </p:txBody>
      </p:sp>
      <p:sp>
        <p:nvSpPr>
          <p:cNvPr id="3" name="Content Placeholder 2"/>
          <p:cNvSpPr>
            <a:spLocks noGrp="1"/>
          </p:cNvSpPr>
          <p:nvPr>
            <p:ph idx="1"/>
          </p:nvPr>
        </p:nvSpPr>
        <p:spPr/>
        <p:txBody>
          <a:bodyPr/>
          <a:lstStyle/>
          <a:p>
            <a:pPr>
              <a:defRPr sz="1600"/>
            </a:pPr>
            <a:r>
              <a:t>Le dispositif général de commande et de protection (AGCP) prévu à l'origine de l'installation peut assurer les fonctions de coupure d'urgence définies en 463 s'il es t situé à l'intérieur des locaux d'habitation.</a:t>
            </a:r>
          </a:p>
          <a:p>
            <a:pPr>
              <a:defRPr sz="1600"/>
            </a:pPr>
            <a:r>
              <a:t>S’il est situé dans un garage ou un local annexe, il doit exister un accès direct entre ce local et le logement.</a:t>
            </a:r>
          </a:p>
          <a:p>
            <a:pPr>
              <a:defRPr sz="1600"/>
            </a:pPr>
            <a:r>
              <a:t>Dans le cas contraire, un autre dispositif à action directe assurant les fonctions de coupure en charge et de sectionnement doit être placé à l'intérieur du logement (voir 771.</a:t>
            </a:r>
          </a:p>
          <a:p>
            <a:pPr>
              <a:defRPr sz="1600"/>
            </a:pPr>
            <a:r>
              <a:t>558.</a:t>
            </a:r>
          </a:p>
          <a:p>
            <a:pPr>
              <a:defRPr sz="1600"/>
            </a:pPr>
            <a:r>
              <a:t>2.</a:t>
            </a:r>
          </a:p>
        </p:txBody>
      </p:sp>
    </p:spTree>
  </p:cSld>
  <p:clrMapOvr>
    <a:masterClrMapping/>
  </p:clrMapOvr>
</p:sld>
</file>

<file path=ppt/slides/slide10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771.465.1 Socles de prise de courant commandés</a:t>
            </a:r>
          </a:p>
        </p:txBody>
      </p:sp>
      <p:sp>
        <p:nvSpPr>
          <p:cNvPr id="3" name="Content Placeholder 2"/>
          <p:cNvSpPr>
            <a:spLocks noGrp="1"/>
          </p:cNvSpPr>
          <p:nvPr>
            <p:ph idx="1"/>
          </p:nvPr>
        </p:nvSpPr>
        <p:spPr/>
        <p:txBody>
          <a:bodyPr/>
          <a:lstStyle/>
          <a:p>
            <a:pPr>
              <a:defRPr sz="1600"/>
            </a:pPr>
            <a:r>
              <a:t>Les installations électriques des logements comportent souvent des socles de prises de courant commandés, destinés à alimenter exclusivement des appareils d'éclairage mobiles, tels que lampadaires ou lampes de chevet.</a:t>
            </a:r>
          </a:p>
          <a:p>
            <a:pPr>
              <a:defRPr sz="1600"/>
            </a:pPr>
            <a:r>
              <a:t>Ces socles de prises de courant ont un courant nominal de 16 A.</a:t>
            </a:r>
          </a:p>
          <a:p>
            <a:pPr>
              <a:defRPr sz="1600"/>
            </a:pPr>
            <a:r>
              <a:t>Les socles de prises de courant commandés sont considérés, du point de vue de leur utilisation, comme des points d'éclairage fixes.</a:t>
            </a:r>
          </a:p>
          <a:p>
            <a:pPr>
              <a:defRPr sz="1600"/>
            </a:pPr>
            <a:r>
              <a:t>Ils sont alors alimentés par les circuits d'éclairage de l'installation.</a:t>
            </a:r>
          </a:p>
          <a:p>
            <a:pPr>
              <a:defRPr sz="1600"/>
            </a:pPr>
            <a:r>
              <a:t>Un interrupteur peut commander au plus deux socles de prise de courant à condition que ces socles soient dans la même pièce du logement.</a:t>
            </a:r>
          </a:p>
        </p:txBody>
      </p:sp>
    </p:spTree>
  </p:cSld>
  <p:clrMapOvr>
    <a:masterClrMapping/>
  </p:clrMapOvr>
</p:sld>
</file>

<file path=ppt/slides/slide10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771.465.2 Commande de la ventilation mécanique contrôlée (VMC) et de ventilation</a:t>
            </a:r>
          </a:p>
        </p:txBody>
      </p:sp>
      <p:sp>
        <p:nvSpPr>
          <p:cNvPr id="3" name="Content Placeholder 2"/>
          <p:cNvSpPr>
            <a:spLocks noGrp="1"/>
          </p:cNvSpPr>
          <p:nvPr>
            <p:ph idx="1"/>
          </p:nvPr>
        </p:nvSpPr>
        <p:spPr/>
        <p:txBody>
          <a:bodyPr/>
          <a:lstStyle/>
          <a:p>
            <a:pPr>
              <a:defRPr sz="1600"/>
            </a:pPr>
            <a:r>
              <a:t>mécanique répartie (VMR)  Le circuit d’alimentation de la VMC ou de la VMR doit comporter un dispositif d’arrêt.</a:t>
            </a:r>
          </a:p>
          <a:p>
            <a:pPr>
              <a:defRPr sz="1600"/>
            </a:pPr>
            <a:r>
              <a:t>Ce dispositif peut être placé dans le tableau de répartition principal.</a:t>
            </a:r>
          </a:p>
          <a:p>
            <a:pPr>
              <a:defRPr sz="1600"/>
            </a:pPr>
            <a:r>
              <a:t>Le disjoncteur dédié à la protection de ce circuit peut assurer la fonction « Arrêt ».</a:t>
            </a:r>
          </a:p>
          <a:p>
            <a:pPr>
              <a:defRPr sz="1600"/>
            </a:pPr>
            <a:r>
              <a:t>Cette dernière disposition permet d’éviter que l’usager utilise de manière fréquente la fonction l’humidité « Arrêt », ce qui est susceptible d’engendrer des dégradations dues à (condensation, moisissure).</a:t>
            </a:r>
          </a:p>
          <a:p>
            <a:pPr>
              <a:defRPr sz="1600"/>
            </a:pPr>
            <a:r>
              <a:t>Il est recommandé d’utiliser le dispositif de protection du circuit pour assurer la fonction « Arrêt ».</a:t>
            </a:r>
          </a:p>
        </p:txBody>
      </p:sp>
    </p:spTree>
  </p:cSld>
  <p:clrMapOvr>
    <a:masterClrMapping/>
  </p:clrMapOvr>
</p:sld>
</file>

<file path=ppt/slides/slide10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771.514 Identification des circuits</a:t>
            </a:r>
          </a:p>
        </p:txBody>
      </p:sp>
      <p:sp>
        <p:nvSpPr>
          <p:cNvPr id="3" name="Content Placeholder 2"/>
          <p:cNvSpPr>
            <a:spLocks noGrp="1"/>
          </p:cNvSpPr>
          <p:nvPr>
            <p:ph idx="1"/>
          </p:nvPr>
        </p:nvSpPr>
        <p:spPr/>
        <p:txBody>
          <a:bodyPr/>
          <a:lstStyle/>
          <a:p>
            <a:pPr>
              <a:defRPr sz="1600"/>
            </a:pPr>
            <a:r>
              <a:t>Chacun des circuits doit être repéré par une indication appropriée, correspondant aux besoins de l’usager et du professionnel.</a:t>
            </a:r>
          </a:p>
          <a:p>
            <a:pPr>
              <a:defRPr sz="1600"/>
            </a:pPr>
            <a:r>
              <a:t>Ce repérage doit préciser les locaux desservis et la fonction (par exemple au moyen de pictogrammes ou autres indications appropriées).</a:t>
            </a:r>
          </a:p>
          <a:p>
            <a:pPr>
              <a:defRPr sz="1600"/>
            </a:pPr>
            <a:r>
              <a:t>Ce repérage doit être lisible, de qualité durable et correctement fixé et doit rester visible après l’installation du tableau.</a:t>
            </a:r>
          </a:p>
          <a:p>
            <a:pPr>
              <a:defRPr sz="1600"/>
            </a:pPr>
            <a:r>
              <a:t>Il doit être compréhensible sans avoir recours aux documents définis en 771.</a:t>
            </a:r>
          </a:p>
          <a:p>
            <a:pPr>
              <a:defRPr sz="1600"/>
            </a:pPr>
            <a:r>
              <a:t>514.</a:t>
            </a:r>
          </a:p>
        </p:txBody>
      </p:sp>
    </p:spTree>
  </p:cSld>
  <p:clrMapOvr>
    <a:masterClrMapping/>
  </p:clrMapOvr>
</p:sld>
</file>

<file path=ppt/slides/slide10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771.514.5 Schémas</a:t>
            </a:r>
          </a:p>
        </p:txBody>
      </p:sp>
      <p:sp>
        <p:nvSpPr>
          <p:cNvPr id="3" name="Content Placeholder 2"/>
          <p:cNvSpPr>
            <a:spLocks noGrp="1"/>
          </p:cNvSpPr>
          <p:nvPr>
            <p:ph idx="1"/>
          </p:nvPr>
        </p:nvSpPr>
        <p:spPr/>
        <p:txBody>
          <a:bodyPr/>
          <a:lstStyle/>
          <a:p>
            <a:pPr>
              <a:defRPr sz="1600"/>
            </a:pPr>
            <a:r>
              <a:t>Pour toute installation électrique, il y a lieu d’établir des schémas, diagrammes ou tableaux à remettre à l’utilisateur.</a:t>
            </a:r>
          </a:p>
          <a:p>
            <a:pPr>
              <a:defRPr sz="1600"/>
            </a:pPr>
            <a:r>
              <a:t>Les indications que doivent comporter les schémas et documents annexés sont les suivantes : -  type des dispositifs de protection et de commande  (contacteurs,  nature et programmateurs, délesteurs, etc.</a:t>
            </a:r>
          </a:p>
          <a:p>
            <a:pPr>
              <a:defRPr sz="1600"/>
            </a:pPr>
            <a:r>
              <a:t>) ; courant de réglage et sensibilité des dispositifs de protection et de commande ; puissance prévisionnelle ; nature des canalisations pour circuits extérieurs ; nombre et section des conducteurs ; application (éclairage, prises, point d’utilisation en attente, etc.</a:t>
            </a:r>
          </a:p>
          <a:p>
            <a:pPr>
              <a:defRPr sz="1600"/>
            </a:pPr>
            <a:r>
              <a:t>) ; local desservi (chambre 1, cuisine, etc.</a:t>
            </a:r>
          </a:p>
          <a:p>
            <a:pPr>
              <a:defRPr sz="1600"/>
            </a:pPr>
            <a:r>
              <a:t>).</a:t>
            </a:r>
          </a:p>
        </p:txBody>
      </p:sp>
    </p:spTree>
  </p:cSld>
  <p:clrMapOvr>
    <a:masterClrMapping/>
  </p:clrMapOvr>
</p:sld>
</file>

<file path=ppt/slides/slide10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771.524 Section des conducteurs</a:t>
            </a:r>
          </a:p>
        </p:txBody>
      </p:sp>
      <p:sp>
        <p:nvSpPr>
          <p:cNvPr id="3" name="Content Placeholder 2"/>
          <p:cNvSpPr>
            <a:spLocks noGrp="1"/>
          </p:cNvSpPr>
          <p:nvPr>
            <p:ph idx="1"/>
          </p:nvPr>
        </p:nvSpPr>
        <p:spPr/>
        <p:txBody>
          <a:bodyPr/>
          <a:lstStyle/>
          <a:p>
            <a:pPr>
              <a:defRPr sz="1600"/>
            </a:pPr>
            <a:r>
              <a:t>Les valeurs des sections minimales imposées dans les tableaux 771B,   771C et 771F sont déterminées en fonction des puissances installées et tiennent compte des règles de.</a:t>
            </a:r>
          </a:p>
        </p:txBody>
      </p:sp>
    </p:spTree>
  </p:cSld>
  <p:clrMapOvr>
    <a:masterClrMapping/>
  </p:clrMapOvr>
</p:sld>
</file>

<file path=ppt/slides/slide10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771.314.2 concernant</a:t>
            </a:r>
          </a:p>
        </p:txBody>
      </p:sp>
      <p:sp>
        <p:nvSpPr>
          <p:cNvPr id="3" name="Content Placeholder 2"/>
          <p:cNvSpPr>
            <a:spLocks noGrp="1"/>
          </p:cNvSpPr>
          <p:nvPr>
            <p:ph idx="1"/>
          </p:nvPr>
        </p:nvSpPr>
        <p:spPr/>
        <p:txBody>
          <a:bodyPr/>
          <a:lstStyle/>
          <a:p>
            <a:pPr>
              <a:defRPr sz="1600"/>
            </a:pPr>
            <a:r>
              <a:t>terminal.</a:t>
            </a:r>
          </a:p>
          <a:p>
            <a:pPr>
              <a:defRPr sz="1600"/>
            </a:pPr>
            <a:r>
              <a:t>la limitation des points d'utilisation alimentés par chaque circuit.</a:t>
            </a:r>
          </a:p>
        </p:txBody>
      </p:sp>
    </p:spTree>
  </p:cSld>
  <p:clrMapOvr>
    <a:masterClrMapping/>
  </p:clrMapOvr>
</p:sld>
</file>

<file path=ppt/slides/slide10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771.530.4 Fixation des appareillages</a:t>
            </a:r>
          </a:p>
        </p:txBody>
      </p:sp>
      <p:sp>
        <p:nvSpPr>
          <p:cNvPr id="3" name="Content Placeholder 2"/>
          <p:cNvSpPr>
            <a:spLocks noGrp="1"/>
          </p:cNvSpPr>
          <p:nvPr>
            <p:ph idx="1"/>
          </p:nvPr>
        </p:nvSpPr>
        <p:spPr/>
        <p:txBody>
          <a:bodyPr/>
          <a:lstStyle/>
          <a:p>
            <a:pPr>
              <a:defRPr sz="1600"/>
            </a:pPr>
            <a:r>
              <a:t>Les socles de prise de courant ne doivent pas à l'usage se séparer de leur support et rendre accessibles les bornes des conducteurs ou des câbles d'alimentation.</a:t>
            </a:r>
          </a:p>
          <a:p>
            <a:pPr>
              <a:defRPr sz="1600"/>
            </a:pPr>
            <a:r>
              <a:t>- 435 -   L'appareillage à fixation par vis, pour utilisation dans des boîtes encastrées dans les parois, permet d'assurer cette prescription.</a:t>
            </a:r>
          </a:p>
          <a:p>
            <a:pPr>
              <a:defRPr sz="1600"/>
            </a:pPr>
            <a:r>
              <a:t>Compte tenu des contraintes d'utilisation et de la nature des parois recevant les boîtes encastrées dans lesquelles les socles de prises de courant sont installés, la fixation par griffes est vivement déconseillée.</a:t>
            </a:r>
          </a:p>
          <a:p>
            <a:pPr>
              <a:defRPr sz="1600"/>
            </a:pPr>
            <a:r>
              <a:t>Elle ne sera plus autorisée à partir du 1er juin 2004.</a:t>
            </a:r>
          </a:p>
          <a:p>
            <a:pPr>
              <a:defRPr sz="1600"/>
            </a:pPr>
            <a:r>
              <a:t>Pour assurer une bonne évolutivité, l’utilisation de boîtes d’encastrement mixtes est recommandée.</a:t>
            </a:r>
          </a:p>
        </p:txBody>
      </p:sp>
    </p:spTree>
  </p:cSld>
  <p:clrMapOvr>
    <a:masterClrMapping/>
  </p:clrMapOvr>
</p:sld>
</file>

<file path=ppt/slides/slide10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771.531.2.3.2.1 Tous les circuits de l’installation, quel que soit le schéma des liaisons à la</a:t>
            </a:r>
          </a:p>
        </p:txBody>
      </p:sp>
      <p:sp>
        <p:nvSpPr>
          <p:cNvPr id="3" name="Content Placeholder 2"/>
          <p:cNvSpPr>
            <a:spLocks noGrp="1"/>
          </p:cNvSpPr>
          <p:nvPr>
            <p:ph idx="1"/>
          </p:nvPr>
        </p:nvSpPr>
        <p:spPr/>
        <p:txBody>
          <a:bodyPr/>
          <a:lstStyle/>
          <a:p>
            <a:pPr>
              <a:defRPr sz="1600"/>
            </a:pPr>
            <a:r>
              <a:t>terre de l'alimentation, doivent être protégés par des dispositifs différentiels à courant différentiel-résiduel assigné au plus égal à 30 mA dont le nombre, le type et le courant assigné sont donnés dans le tableau 771E.</a:t>
            </a:r>
          </a:p>
          <a:p>
            <a:pPr>
              <a:defRPr sz="1600"/>
            </a:pPr>
            <a:r>
              <a:t>Ces dispositifs de protection doivent être placés à l’origine de tous les circuits à l’exception de ceux alimentés par un transformateur de séparation.</a:t>
            </a:r>
          </a:p>
          <a:p>
            <a:pPr>
              <a:defRPr sz="1600"/>
            </a:pPr>
            <a:r>
              <a:t>La protection des circuits extérieurs alimentant des installations et des matériels non fixés au bâtiment doit être distincte de celles des circuits intérieurs.</a:t>
            </a:r>
          </a:p>
          <a:p>
            <a:pPr>
              <a:defRPr sz="1600"/>
            </a:pPr>
            <a:r>
              <a:t>La protection par DDR 30 mA peut être : - -  soit divisionnaire pour un groupe de circuits ; soit individuelle pour un circuit spécialisé ou non.</a:t>
            </a:r>
          </a:p>
          <a:p>
            <a:pPr>
              <a:defRPr sz="1600"/>
            </a:pPr>
            <a:r>
              <a:t>L’architecture mise en œuvre tiendra compte de la continuité d’utilisation souhaitée en fonction des applications.</a:t>
            </a:r>
          </a:p>
        </p:txBody>
      </p:sp>
    </p:spTree>
  </p:cSld>
  <p:clrMapOvr>
    <a:masterClrMapping/>
  </p:clrMapOvr>
</p:sld>
</file>

<file path=ppt/slides/slide10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771.533 Dispositifs de protection contre les surintensités</a:t>
            </a:r>
          </a:p>
        </p:txBody>
      </p:sp>
      <p:sp>
        <p:nvSpPr>
          <p:cNvPr id="3" name="Content Placeholder 2"/>
          <p:cNvSpPr>
            <a:spLocks noGrp="1"/>
          </p:cNvSpPr>
          <p:nvPr>
            <p:ph idx="1"/>
          </p:nvPr>
        </p:nvSpPr>
        <p:spPr/>
        <p:txBody>
          <a:bodyPr/>
          <a:lstStyle/>
          <a:p>
            <a:pPr>
              <a:defRPr sz="1600"/>
            </a:pPr>
            <a:r>
              <a:t>Tout circuit doit être protégé par un dispositif de protection qui est soit un fusible soit un disjoncteur et dont le courant assigné maximal est égal à la valeur indiquée dans le tableau suivant :  Tableau 771F – Courant assigné des dispositifs de protection en fonction de la section des conducteurs  Nature du circuit  volets  roulants,  prises  Eclairage, commandées  VMC  Circuit d’asservissement pilote, gestionnaire d’énergie, etc.</a:t>
            </a:r>
          </a:p>
          <a:p>
            <a:pPr>
              <a:defRPr sz="1600"/>
            </a:pPr>
            <a:r>
              <a:t>tarifaire,  fil  Prises de courant 16 A :  -  -  circuit avec 5 socles maxi : ou  circuit avec 8 socles maxi :  Circuits spécialisés avec prise de courant 16 A (machine à laver, sèche-linge, four etc.</a:t>
            </a:r>
          </a:p>
          <a:p>
            <a:pPr>
              <a:defRPr sz="1600"/>
            </a:pPr>
            <a:r>
              <a:t>)  Chauffe-eau électrique non instantané  Cuisinière, plaque de cuisson  -  -  en monophasé  en triphasé  Autres circuits y compris divisionnaire : (2)  le  tableau  Section minimale des conducteurs (mm²)  Courant assigné maximal du dispositif de protection (A)  Cuivre  Disjoncteur  Fusible  1,5  1,5  1,5  1,5  2,5  2,5  2,5  6  2,5  1,5  2,5  4  6  16  2 (1)  2  16  20  20  20  32  20  16  20  25  32  10  - (3)  - (3)  - (3)  16  16  16  32  16  10  16  20  32  (1) Sauf cas particuliers où cette valeur peut être augmentée jusqu’à 16 A.</a:t>
            </a:r>
          </a:p>
          <a:p>
            <a:pPr>
              <a:defRPr sz="1600"/>
            </a:pPr>
            <a:r>
              <a:t>(2) Ces valeurs ne tiennent pas compte des (3) Non autorisé.</a:t>
            </a:r>
          </a:p>
          <a:p>
            <a:pPr>
              <a:defRPr sz="1600"/>
            </a:pPr>
            <a:r>
              <a:t>chutes de tension (voir 525).</a:t>
            </a:r>
          </a:p>
        </p:txBody>
      </p:sp>
    </p:spTree>
  </p:cSld>
  <p:clrMapOvr>
    <a:masterClrMapping/>
  </p:clrMapOvr>
</p:sld>
</file>

<file path=ppt/slides/slide10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771.536.5 Dispositifs de commande fonctionnelle</a:t>
            </a:r>
          </a:p>
        </p:txBody>
      </p:sp>
      <p:sp>
        <p:nvSpPr>
          <p:cNvPr id="3" name="Content Placeholder 2"/>
          <p:cNvSpPr>
            <a:spLocks noGrp="1"/>
          </p:cNvSpPr>
          <p:nvPr>
            <p:ph idx="1"/>
          </p:nvPr>
        </p:nvSpPr>
        <p:spPr/>
        <p:txBody>
          <a:bodyPr/>
          <a:lstStyle/>
          <a:p>
            <a:pPr>
              <a:defRPr sz="1600"/>
            </a:pPr>
            <a:r>
              <a:t>L'appareillage de commande manuel placé près d'une porte est généralement installé du côté de l'ouvrant, à portée de main, sa hauteur au-dessus du sol fini étant comprise entre 0,80 m et 1,30 m.</a:t>
            </a:r>
          </a:p>
          <a:p>
            <a:pPr>
              <a:defRPr sz="1600"/>
            </a:pPr>
            <a:r>
              <a:t>- 438 -   Les points d’allumage de l‘éclairage des couloirs et des circulations sont réalisés de la manière suivante :  -  -  -  soit à l’aide d’un dispositif de commande manuel placé à moins d’un mètre de chaque accès si ce dispositif ne comporte pas de voyant lumineux ; soit à l’aide d’un dispositif de commande manuel placé à moins de deux mètres de chaque accès si ce dispositif comporte un voyant lumineux ; soit à l’aide d’un système automatique (détection de présence).</a:t>
            </a:r>
          </a:p>
          <a:p>
            <a:pPr>
              <a:defRPr sz="1600"/>
            </a:pPr>
            <a:r>
              <a:t>Pour faciliter l’installation dans le futur de tels appareils, il est recommandé que le conducteur neutre soit disponible à chaque point de commande.</a:t>
            </a:r>
          </a:p>
        </p:txBody>
      </p:sp>
    </p:spTree>
  </p:cSld>
  <p:clrMapOvr>
    <a:masterClrMapping/>
  </p:clrMapOvr>
</p:sld>
</file>

<file path=ppt/slides/slide10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771.555.1.6 Prises de courant</a:t>
            </a:r>
          </a:p>
        </p:txBody>
      </p:sp>
      <p:sp>
        <p:nvSpPr>
          <p:cNvPr id="3" name="Content Placeholder 2"/>
          <p:cNvSpPr>
            <a:spLocks noGrp="1"/>
          </p:cNvSpPr>
          <p:nvPr>
            <p:ph idx="1"/>
          </p:nvPr>
        </p:nvSpPr>
        <p:spPr/>
        <p:txBody>
          <a:bodyPr/>
          <a:lstStyle/>
          <a:p>
            <a:pPr>
              <a:defRPr sz="1600"/>
            </a:pPr>
            <a:r>
              <a:t>Il est rappelé que les socles de prise de courant 16 A-250 V doivent être d'un type à obturation.</a:t>
            </a:r>
          </a:p>
          <a:p>
            <a:pPr>
              <a:defRPr sz="1600"/>
            </a:pPr>
            <a:r>
              <a:t>La prise spécifique « rasoir » avec transformateur de séparation n’est pas concernée.</a:t>
            </a:r>
          </a:p>
          <a:p>
            <a:pPr>
              <a:defRPr sz="1600"/>
            </a:pPr>
            <a:r>
              <a:t>Les prises de courant de courant assigné supérieur à 16 A sont :  - -  -  soit d'un type à obturation ; soit installées de manière à ce que l’axe des alvéoles soit placé à une hauteur minimale de 1,40 m du sol fini ; soit munies d’un volet de protection.</a:t>
            </a:r>
          </a:p>
          <a:p>
            <a:pPr>
              <a:defRPr sz="1600"/>
            </a:pPr>
            <a:r>
              <a:t>Au-delà du 1er juin 2004, seuls les socles à obturateurs seront admis.</a:t>
            </a:r>
          </a:p>
          <a:p>
            <a:pPr>
              <a:defRPr sz="1600"/>
            </a:pPr>
            <a:r>
              <a:t>NOTE - Pour certaines applications particulières les socles conformes à la norme NF EN 60309-1 sont admis (piscines, etc.</a:t>
            </a:r>
          </a:p>
        </p:txBody>
      </p:sp>
    </p:spTree>
  </p:cSld>
  <p:clrMapOvr>
    <a:masterClrMapping/>
  </p:clrMapOvr>
</p:sld>
</file>

<file path=ppt/slides/slide10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 Panneaux de contrôle, tableaux de répartition et de communication - Gaine</a:t>
            </a:r>
          </a:p>
        </p:txBody>
      </p:sp>
      <p:sp>
        <p:nvSpPr>
          <p:cNvPr id="3" name="Content Placeholder 2"/>
          <p:cNvSpPr>
            <a:spLocks noGrp="1"/>
          </p:cNvSpPr>
          <p:nvPr>
            <p:ph idx="1"/>
          </p:nvPr>
        </p:nvSpPr>
        <p:spPr/>
        <p:txBody>
          <a:bodyPr/>
          <a:lstStyle/>
          <a:p>
            <a:pPr>
              <a:defRPr sz="1600"/>
            </a:pPr>
            <a:r>
              <a:t>technique logement (GTL).</a:t>
            </a:r>
          </a:p>
        </p:txBody>
      </p:sp>
    </p:spTree>
  </p:cSld>
  <p:clrMapOvr>
    <a:masterClrMapping/>
  </p:clrMapOvr>
</p:sld>
</file>

<file path=ppt/slides/slide10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771.558.1 Généralités</a:t>
            </a:r>
          </a:p>
        </p:txBody>
      </p:sp>
      <p:sp>
        <p:nvSpPr>
          <p:cNvPr id="3" name="Content Placeholder 2"/>
          <p:cNvSpPr>
            <a:spLocks noGrp="1"/>
          </p:cNvSpPr>
          <p:nvPr>
            <p:ph idx="1"/>
          </p:nvPr>
        </p:nvSpPr>
        <p:spPr/>
        <p:txBody>
          <a:bodyPr/>
          <a:lstStyle/>
          <a:p>
            <a:pPr>
              <a:defRPr sz="1600"/>
            </a:pPr>
            <a:r>
              <a:t>Le panneau de contrôle et les tableaux de répartition et de communication doivent être placés dans des emplacements facilement accessibles et ne nuisant pas aux conditions de fonctionnement de l'appareillage.</a:t>
            </a:r>
          </a:p>
          <a:p>
            <a:pPr>
              <a:defRPr sz="1600"/>
            </a:pPr>
            <a:r>
              <a:t>Ces locaux ou emplacements ne doivent être ni humides, ni poussiéreux.</a:t>
            </a:r>
          </a:p>
          <a:p>
            <a:pPr>
              <a:defRPr sz="1600"/>
            </a:pPr>
            <a:r>
              <a:t>L’organe de manœuvre du dispositif de coupure d’urgence doit être situé à une hauteur comprise entre 1,00 m et 1,80 m au-dessus du sol fini.</a:t>
            </a:r>
          </a:p>
          <a:p>
            <a:pPr>
              <a:defRPr sz="1600"/>
            </a:pPr>
            <a:r>
              <a:t>Cette hauteur est limitée à 1,30 m dans les locaux pour handicapés ou personnes âgées.</a:t>
            </a:r>
          </a:p>
          <a:p>
            <a:pPr>
              <a:defRPr sz="1600"/>
            </a:pPr>
            <a:r>
              <a:t>Les organes de manœuvre des dispositifs de protection du tableau de répartition sont aussi situés à une hauteur comprise entre 1,00 m et 1,80 m sauf dans le cas de Gaine Technique Logement (GTL) fermée où l’axe de la rangée la plus basse (cas de coffret à plus de trois rangées) ne sera pas installé à une hauteur inférieure à 0,50 m.</a:t>
            </a:r>
          </a:p>
        </p:txBody>
      </p:sp>
    </p:spTree>
  </p:cSld>
  <p:clrMapOvr>
    <a:masterClrMapping/>
  </p:clrMapOvr>
</p:sld>
</file>

<file path=ppt/slides/slide10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771.558.2.1 Généralités</a:t>
            </a:r>
          </a:p>
        </p:txBody>
      </p:sp>
      <p:sp>
        <p:nvSpPr>
          <p:cNvPr id="3" name="Content Placeholder 2"/>
          <p:cNvSpPr>
            <a:spLocks noGrp="1"/>
          </p:cNvSpPr>
          <p:nvPr>
            <p:ph idx="1"/>
          </p:nvPr>
        </p:nvSpPr>
        <p:spPr/>
        <p:txBody>
          <a:bodyPr/>
          <a:lstStyle/>
          <a:p>
            <a:pPr>
              <a:defRPr sz="1600"/>
            </a:pPr>
            <a:r>
              <a:t>La GTL est prescrite pour tous les locaux d'habitation (individuels ou collectifs).</a:t>
            </a:r>
          </a:p>
          <a:p>
            <a:pPr>
              <a:defRPr sz="1600"/>
            </a:pPr>
            <a:r>
              <a:t>Pour les foyers logements, il est admis qu’elle ne soit pas prévue.</a:t>
            </a:r>
          </a:p>
          <a:p>
            <a:pPr>
              <a:defRPr sz="1600"/>
            </a:pPr>
            <a:r>
              <a:t>- 439 -   La GTL regroupe en un seul emplacement toutes les arrivées des réseaux de puissance et de communication.</a:t>
            </a:r>
          </a:p>
          <a:p>
            <a:pPr>
              <a:defRPr sz="1600"/>
            </a:pPr>
            <a:r>
              <a:t>La GTL doit permettre des extensions de l'installation électrique aussi aisées que possible et faciliter les interventions en toute sécurité.</a:t>
            </a:r>
          </a:p>
          <a:p>
            <a:pPr>
              <a:defRPr sz="1600"/>
            </a:pPr>
            <a:r>
              <a:t>En réhabilitation, la GTL n'est exigée que dans le cas de réhabilitation totale avec redistribution des cloisons des locaux d'habitation.</a:t>
            </a:r>
          </a:p>
        </p:txBody>
      </p:sp>
    </p:spTree>
  </p:cSld>
  <p:clrMapOvr>
    <a:masterClrMapping/>
  </p:clrMapOvr>
</p:sld>
</file>

<file path=ppt/slides/slide10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771.558.2.2 Emplacement</a:t>
            </a:r>
          </a:p>
        </p:txBody>
      </p:sp>
      <p:sp>
        <p:nvSpPr>
          <p:cNvPr id="3" name="Content Placeholder 2"/>
          <p:cNvSpPr>
            <a:spLocks noGrp="1"/>
          </p:cNvSpPr>
          <p:nvPr>
            <p:ph idx="1"/>
          </p:nvPr>
        </p:nvSpPr>
        <p:spPr/>
        <p:txBody>
          <a:bodyPr/>
          <a:lstStyle/>
          <a:p>
            <a:pPr>
              <a:defRPr sz="1600"/>
            </a:pPr>
            <a:r>
              <a:t>La GTL est située :  •  •  soit à l'intérieur du logement, de préférence à proximité d'une entrée (principale ou de service), soit dans un garage ou un local annexe.</a:t>
            </a:r>
          </a:p>
          <a:p>
            <a:pPr>
              <a:defRPr sz="1600"/>
            </a:pPr>
            <a:r>
              <a:t>Si la GTL comporte le dispositif de coupure d'urgence, elle doit être directement accessible à partir de l’intérieur du logement comme prescrit en 771.</a:t>
            </a:r>
          </a:p>
          <a:p>
            <a:pPr>
              <a:defRPr sz="1600"/>
            </a:pPr>
            <a:r>
              <a:t>463.</a:t>
            </a:r>
          </a:p>
          <a:p>
            <a:pPr>
              <a:defRPr sz="1600"/>
            </a:pPr>
            <a:r>
              <a:t>Cette GTL, comportant de nombreux départs vers le haut et vers le bas, ne doit pas être placée au droit des poutraisons.</a:t>
            </a:r>
          </a:p>
          <a:p>
            <a:pPr>
              <a:defRPr sz="1600"/>
            </a:pPr>
            <a:r>
              <a:t>Dans les immeubles d’habitation collectifs, la GTL doit être en communication avec les gaines des réseaux de puissance et de communication de l'immeuble.</a:t>
            </a:r>
          </a:p>
        </p:txBody>
      </p:sp>
    </p:spTree>
  </p:cSld>
  <p:clrMapOvr>
    <a:masterClrMapping/>
  </p:clrMapOvr>
</p:sld>
</file>

<file path=ppt/slides/slide10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771.558.2.3 Destination</a:t>
            </a:r>
          </a:p>
        </p:txBody>
      </p:sp>
      <p:sp>
        <p:nvSpPr>
          <p:cNvPr id="3" name="Content Placeholder 2"/>
          <p:cNvSpPr>
            <a:spLocks noGrp="1"/>
          </p:cNvSpPr>
          <p:nvPr>
            <p:ph idx="1"/>
          </p:nvPr>
        </p:nvSpPr>
        <p:spPr/>
        <p:txBody>
          <a:bodyPr/>
          <a:lstStyle/>
          <a:p>
            <a:pPr>
              <a:defRPr sz="1600"/>
            </a:pPr>
            <a:r>
              <a:t>La GTL doit contenir :  le panneau de contrôle, s’il est placé à l’intérieur du logement ;  - En conséquence, la GTL doit garantir l’installation du panneau de contrôle (NF C 14-100, 7.</a:t>
            </a:r>
          </a:p>
          <a:p>
            <a:pPr>
              <a:defRPr sz="1600"/>
            </a:pPr>
            <a:r>
              <a:t>4 et 7.</a:t>
            </a:r>
          </a:p>
          <a:p>
            <a:pPr>
              <a:defRPr sz="1600"/>
            </a:pPr>
            <a:r>
              <a:t>5).</a:t>
            </a:r>
          </a:p>
          <a:p>
            <a:pPr>
              <a:defRPr sz="1600"/>
            </a:pPr>
            <a:r>
              <a:t>toutes  les spécifications requises permettant  - - -  -  le tableau de répartition principal ; le tableau de communication ; deux socles de prise de courant 16 A 250 V 2P + T, protégés par un circuit dédié pour alimenter des appareils de communication placés dans la GTL (équipements de communication numériques etc.</a:t>
            </a:r>
          </a:p>
          <a:p>
            <a:pPr>
              <a:defRPr sz="1600"/>
            </a:pPr>
            <a:r>
              <a:t>) ; les autres applications de communication (TV, satellite, interactivité, etc.</a:t>
            </a:r>
          </a:p>
        </p:txBody>
      </p:sp>
    </p:spTree>
  </p:cSld>
  <p:clrMapOvr>
    <a:masterClrMapping/>
  </p:clrMapOvr>
</p:sld>
</file>

<file path=ppt/slides/slide10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771.558.2.4 Réalisation</a:t>
            </a:r>
          </a:p>
        </p:txBody>
      </p:sp>
      <p:sp>
        <p:nvSpPr>
          <p:cNvPr id="3" name="Content Placeholder 2"/>
          <p:cNvSpPr>
            <a:spLocks noGrp="1"/>
          </p:cNvSpPr>
          <p:nvPr>
            <p:ph idx="1"/>
          </p:nvPr>
        </p:nvSpPr>
        <p:spPr/>
        <p:txBody>
          <a:bodyPr/>
          <a:lstStyle/>
          <a:p>
            <a:pPr>
              <a:defRPr sz="1600"/>
            </a:pPr>
            <a:r>
              <a:t>La GTL peut être réalisée en tout matériau autorisé pour les locaux d'habitation (bois, PVC, maçonnerie, etc.</a:t>
            </a:r>
          </a:p>
          <a:p>
            <a:pPr>
              <a:defRPr sz="1600"/>
            </a:pPr>
            <a:r>
              <a:t>).</a:t>
            </a:r>
          </a:p>
          <a:p>
            <a:pPr>
              <a:defRPr sz="1600"/>
            </a:pPr>
            <a:r>
              <a:t>Pour ce qui concerne l'épaisseur des parois, le matériau devra permettre d'assurer la tenue mécanique des fixations des matériels ou d'incorporer les dispositifs adéquats.</a:t>
            </a:r>
          </a:p>
          <a:p>
            <a:pPr>
              <a:defRPr sz="1600"/>
            </a:pPr>
            <a:r>
              <a:t>Les faces des parois internes doivent être également : - - - -  planes ; sans rugosité excessive ; sans décrochement ; sans obstacle.</a:t>
            </a:r>
          </a:p>
          <a:p>
            <a:pPr>
              <a:defRPr sz="1600"/>
            </a:pPr>
            <a:r>
              <a:t>Cette GTL peut être également préfabriquée.</a:t>
            </a:r>
          </a:p>
        </p:txBody>
      </p:sp>
    </p:spTree>
  </p:cSld>
  <p:clrMapOvr>
    <a:masterClrMapping/>
  </p:clrMapOvr>
</p:sld>
</file>

<file path=ppt/slides/slide10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771.558.2.5 Organisation</a:t>
            </a:r>
          </a:p>
        </p:txBody>
      </p:sp>
      <p:sp>
        <p:nvSpPr>
          <p:cNvPr id="3" name="Content Placeholder 2"/>
          <p:cNvSpPr>
            <a:spLocks noGrp="1"/>
          </p:cNvSpPr>
          <p:nvPr>
            <p:ph idx="1"/>
          </p:nvPr>
        </p:nvSpPr>
        <p:spPr/>
        <p:txBody>
          <a:bodyPr/>
          <a:lstStyle/>
          <a:p>
            <a:pPr>
              <a:defRPr sz="1600"/>
            </a:pPr>
            <a:r>
              <a:t>La position des différents éléments constituant la GTL (panneau de contrôle, tableau de répartition, tableau de communication et cheminements) est libre dans la GTL, mais doit respecter les contraintes suivantes.</a:t>
            </a:r>
          </a:p>
          <a:p>
            <a:pPr>
              <a:defRPr sz="1600"/>
            </a:pPr>
            <a:r>
              <a:t>Les appareils de contrôle, de commande et de protection doivent être disposés de façon qu'il existe, entre l'un d'entre eux et une paroi latérale voisine, un espace libre, tel que :  a) dans le cas du branchement avec panneau de contrôle unique pour le compteur d’électricité et l'appareil général de commande et de protection :  -  -  on puisse avoir accès aux bornes de l'appareil général de commande et de protection et du compteur d’électricité sans dépose de ces derniers ; le capot esthétique éventuel du panneau de contrôle reste démontable ;  le retrait de la platine de branchement soit possible sans démontage du (des) tableau(x) de répartition ;  -  la distance entre les bornes du compteur d’électricité et le tableau de répartition adjacent soit d'au moins 3 cm si la paroi est en matière isolante et 8 cm si elle est en matière non isolante.</a:t>
            </a:r>
          </a:p>
          <a:p>
            <a:pPr>
              <a:defRPr sz="1600"/>
            </a:pPr>
            <a:r>
              <a:t>b) afin de tenir compte de la présence de la GTL, la distance entre le compteur d’électricité et les parois latérales de la GTL sera de 8 cm si la paroi est non isolante ou de 3 cm si la paroi est en matière isolante.</a:t>
            </a:r>
          </a:p>
          <a:p>
            <a:pPr>
              <a:defRPr sz="1600"/>
            </a:pPr>
            <a:r>
              <a:t>c) dans le cas où le panneau de contrôle se trouve dans un ensemble préfabriqué, il est admis d'avoir à démonter des pièces d'habillage de cet ensemble pour avoir accès aux appareillages à condition qu'elles ne servent pas à maintenir en place des canalisations ou des appareillages, que le nombre des pièces à démonter soit limité et que la méthode de démontage soit facilement identifiable par une personne qualifiée.</a:t>
            </a:r>
          </a:p>
          <a:p>
            <a:pPr>
              <a:defRPr sz="1600"/>
            </a:pPr>
            <a:r>
              <a:t>- 442 -   La liaison entre les barrettes de terre du tableau de répartition et le tableau de communication doit être aussi courte que possible (de préférence inférieure à 50 cm) et de section 6 mm² minimum.</a:t>
            </a:r>
          </a:p>
        </p:txBody>
      </p:sp>
    </p:spTree>
  </p:cSld>
  <p:clrMapOvr>
    <a:masterClrMapping/>
  </p:clrMapOvr>
</p:sld>
</file>

<file path=ppt/slides/slide10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771.558.3 Panneau de contrôle</a:t>
            </a:r>
          </a:p>
        </p:txBody>
      </p:sp>
      <p:sp>
        <p:nvSpPr>
          <p:cNvPr id="3" name="Content Placeholder 2"/>
          <p:cNvSpPr>
            <a:spLocks noGrp="1"/>
          </p:cNvSpPr>
          <p:nvPr>
            <p:ph idx="1"/>
          </p:nvPr>
        </p:nvSpPr>
        <p:spPr/>
        <p:txBody>
          <a:bodyPr/>
          <a:lstStyle/>
          <a:p>
            <a:pPr>
              <a:defRPr sz="1600"/>
            </a:pPr>
            <a:r>
              <a:t>Le panneau de contrôle supporte l'appareil général de commande et de protection (AGCP) et le compteur électrique.</a:t>
            </a:r>
          </a:p>
          <a:p>
            <a:pPr>
              <a:defRPr sz="1600"/>
            </a:pPr>
            <a:r>
              <a:t>Ses caractéristiques et les règles de mise en œuvre sont définies dans la norme NF C 14-100 (Installations de branchement à basse tension).</a:t>
            </a:r>
          </a:p>
        </p:txBody>
      </p:sp>
    </p:spTree>
  </p:cSld>
  <p:clrMapOvr>
    <a:masterClrMapping/>
  </p:clrMapOvr>
</p:sld>
</file>

<file path=ppt/slides/slide10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771.558.4 Tableaux de répartition</a:t>
            </a:r>
          </a:p>
        </p:txBody>
      </p:sp>
      <p:sp>
        <p:nvSpPr>
          <p:cNvPr id="3" name="Content Placeholder 2"/>
          <p:cNvSpPr>
            <a:spLocks noGrp="1"/>
          </p:cNvSpPr>
          <p:nvPr>
            <p:ph idx="1"/>
          </p:nvPr>
        </p:nvSpPr>
        <p:spPr/>
        <p:txBody>
          <a:bodyPr/>
          <a:lstStyle/>
          <a:p>
            <a:pPr>
              <a:defRPr sz="1600"/>
            </a:pPr>
            <a:r>
              <a:t>Les appareils de protection et de sectionnement des circuits divisionnaires et terminaux doivent être posés sur un tableau de répartition principal et, si nécessaire, sur un ou plusieurs tableaux divisionnaires supplémentaires répartis dans le logement.</a:t>
            </a:r>
          </a:p>
          <a:p>
            <a:pPr>
              <a:defRPr sz="1600"/>
            </a:pPr>
            <a:r>
              <a:t>Une réserve minimale de 20 % doit être respectée pour chacun des tableaux.</a:t>
            </a:r>
          </a:p>
          <a:p>
            <a:pPr>
              <a:defRPr sz="1600"/>
            </a:pPr>
            <a:r>
              <a:t>Ces tableaux sont conformes à la norme NF C 61-910 en vigueur.</a:t>
            </a:r>
          </a:p>
        </p:txBody>
      </p:sp>
    </p:spTree>
  </p:cSld>
  <p:clrMapOvr>
    <a:masterClrMapping/>
  </p:clrMapOvr>
</p:sld>
</file>

<file path=ppt/slides/slide10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771.558.4.1 Tableau de répartition principal</a:t>
            </a:r>
          </a:p>
        </p:txBody>
      </p:sp>
      <p:sp>
        <p:nvSpPr>
          <p:cNvPr id="3" name="Content Placeholder 2"/>
          <p:cNvSpPr>
            <a:spLocks noGrp="1"/>
          </p:cNvSpPr>
          <p:nvPr>
            <p:ph idx="1"/>
          </p:nvPr>
        </p:nvSpPr>
        <p:spPr/>
        <p:txBody>
          <a:bodyPr/>
          <a:lstStyle/>
          <a:p>
            <a:pPr>
              <a:defRPr sz="1600"/>
            </a:pPr>
            <a:r>
              <a:t>Le tableau de répartition principal doit être placé dans la GTL.</a:t>
            </a:r>
          </a:p>
          <a:p>
            <a:pPr>
              <a:defRPr sz="1600"/>
            </a:pPr>
            <a:r>
              <a:t>Il peut être séparé ou juxtaposé avec le panneau de contrôle.</a:t>
            </a:r>
          </a:p>
        </p:txBody>
      </p:sp>
    </p:spTree>
  </p:cSld>
  <p:clrMapOvr>
    <a:masterClrMapping/>
  </p:clrMapOvr>
</p:sld>
</file>

<file path=ppt/slides/slide10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771.558.4.2 Tableaux de répartition divisionnaires</a:t>
            </a:r>
          </a:p>
        </p:txBody>
      </p:sp>
      <p:sp>
        <p:nvSpPr>
          <p:cNvPr id="3" name="Content Placeholder 2"/>
          <p:cNvSpPr>
            <a:spLocks noGrp="1"/>
          </p:cNvSpPr>
          <p:nvPr>
            <p:ph idx="1"/>
          </p:nvPr>
        </p:nvSpPr>
        <p:spPr/>
        <p:txBody>
          <a:bodyPr/>
          <a:lstStyle/>
          <a:p>
            <a:pPr>
              <a:defRPr sz="1600"/>
            </a:pPr>
            <a:r>
              <a:t>Leur installation dans les salles d'eau est déconseillée.</a:t>
            </a:r>
          </a:p>
          <a:p>
            <a:pPr>
              <a:defRPr sz="1600"/>
            </a:pPr>
            <a:r>
              <a:t>Elle est interdite dans les volumes 0, 1, 2 et 3 définis dans la partie 7-701.</a:t>
            </a:r>
          </a:p>
          <a:p>
            <a:pPr>
              <a:defRPr sz="1600"/>
            </a:pPr>
            <a:r>
              <a:t>Ils ne sont pas placés dans des placards ou penderies où les objets entreposés peuvent rendre leur accès difficile, gêner la ventilation et être la cause d'échauffements anormaux ou d'incendie (aérosols).</a:t>
            </a:r>
          </a:p>
          <a:p>
            <a:pPr>
              <a:defRPr sz="1600"/>
            </a:pPr>
            <a:r>
              <a:t>De tels emplacements sont toutefois admis si des dispositions sont prises pour en assurer une aération correcte, ne pas empêcher le libre accès et ne pas pouvoir entreposer d'objets devant les appareils.</a:t>
            </a:r>
          </a:p>
          <a:p>
            <a:pPr>
              <a:defRPr sz="1600"/>
            </a:pPr>
            <a:r>
              <a:t>Ils ne sont installés ni au-dessus ni en dessous du bac d'un évier, d'un lavabo, d'un poste d'eau, d'un appareil de cuisson ou de chauffage.</a:t>
            </a:r>
          </a:p>
        </p:txBody>
      </p:sp>
    </p:spTree>
  </p:cSld>
  <p:clrMapOvr>
    <a:masterClrMapping/>
  </p:clrMapOvr>
</p:sld>
</file>

<file path=ppt/slides/slide10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771.558.5 Tableau de communication</a:t>
            </a:r>
          </a:p>
        </p:txBody>
      </p:sp>
      <p:sp>
        <p:nvSpPr>
          <p:cNvPr id="3" name="Content Placeholder 2"/>
          <p:cNvSpPr>
            <a:spLocks noGrp="1"/>
          </p:cNvSpPr>
          <p:nvPr>
            <p:ph idx="1"/>
          </p:nvPr>
        </p:nvSpPr>
        <p:spPr/>
        <p:txBody>
          <a:bodyPr/>
          <a:lstStyle/>
          <a:p>
            <a:pPr>
              <a:defRPr sz="1600"/>
            </a:pPr>
            <a:r>
              <a:t>Le tableau de communication doit être placé dans la GTL.</a:t>
            </a:r>
          </a:p>
          <a:p>
            <a:pPr>
              <a:defRPr sz="1600"/>
            </a:pPr>
            <a:r>
              <a:t>Le tableau de communication de dimensions minimales 250x225x70 mm est destiné à recevoir le point de livraison de l’opérateur et doit comporter au moins une barrette de terre et au moins un rail.</a:t>
            </a:r>
          </a:p>
          <a:p>
            <a:pPr>
              <a:defRPr sz="1600"/>
            </a:pPr>
            <a:r>
              <a:t>La liaison fonctionnelle entre les barrettes de terre du tableau de répartition et le tableau de communication doit être aussi courte que possible (de préférence inférieure à 50 cm) et de section 6 mm² minimum.</a:t>
            </a:r>
          </a:p>
          <a:p>
            <a:pPr>
              <a:defRPr sz="1600"/>
            </a:pPr>
            <a:r>
              <a:t>Moyennant le respect des règles propres à chaque tableau, le tableau de communication peut être incorporé dans le tableau de répartition.</a:t>
            </a:r>
          </a:p>
          <a:p>
            <a:pPr>
              <a:defRPr sz="1600"/>
            </a:pPr>
            <a:r>
              <a:t>Un Dispositif de Terminaison Intérieur (DTI) ou équivalent matérialise la limite de responsabilité entre le réseau de l’opérateur et les installations internes des utilisateurs.</a:t>
            </a:r>
          </a:p>
        </p:txBody>
      </p:sp>
    </p:spTree>
  </p:cSld>
  <p:clrMapOvr>
    <a:masterClrMapping/>
  </p:clrMapOvr>
</p:sld>
</file>

<file path=ppt/slides/slide10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771.559.6.1.1 Circuits de communication (téléphonie incluse)</a:t>
            </a:r>
          </a:p>
        </p:txBody>
      </p:sp>
      <p:sp>
        <p:nvSpPr>
          <p:cNvPr id="3" name="Content Placeholder 2"/>
          <p:cNvSpPr>
            <a:spLocks noGrp="1"/>
          </p:cNvSpPr>
          <p:nvPr>
            <p:ph idx="1"/>
          </p:nvPr>
        </p:nvSpPr>
        <p:spPr/>
        <p:txBody>
          <a:bodyPr/>
          <a:lstStyle/>
          <a:p>
            <a:pPr>
              <a:defRPr sz="1600"/>
            </a:pPr>
            <a:r>
              <a:t>L’équipement minimal consiste en la pose d’au moins un socle de prise de communication par pièce principale et dans la cuisine avec un minimum de deux prises.</a:t>
            </a:r>
          </a:p>
          <a:p>
            <a:pPr>
              <a:defRPr sz="1600"/>
            </a:pPr>
            <a:r>
              <a:t>L’un de ces socles est placé dans la salle de séjour, près de la prise télévision, en un emplacement non occulté par une porte.</a:t>
            </a:r>
          </a:p>
          <a:p>
            <a:pPr>
              <a:defRPr sz="1600"/>
            </a:pPr>
            <a:r>
              <a:t>Chacun de ces socles est desservi par une canalisation provenant du communication (TC) de la gaine technique logement (GTL).</a:t>
            </a:r>
          </a:p>
          <a:p>
            <a:pPr>
              <a:defRPr sz="1600"/>
            </a:pPr>
            <a:r>
              <a:t>tableau de  Les câbles utilisés sont des câbles à 4 paires.</a:t>
            </a:r>
          </a:p>
          <a:p>
            <a:pPr>
              <a:defRPr sz="1600"/>
            </a:pPr>
            <a:r>
              <a:t>Ils devront être conformes à la norme NF C 93- 531-12 en cours d’élaboration.</a:t>
            </a:r>
          </a:p>
        </p:txBody>
      </p:sp>
    </p:spTree>
  </p:cSld>
  <p:clrMapOvr>
    <a:masterClrMapping/>
  </p:clrMapOvr>
</p:sld>
</file>

<file path=ppt/slides/slide10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771.559.6.1.2 Radiodiffusion / Télévision</a:t>
            </a:r>
          </a:p>
        </p:txBody>
      </p:sp>
      <p:sp>
        <p:nvSpPr>
          <p:cNvPr id="3" name="Content Placeholder 2"/>
          <p:cNvSpPr>
            <a:spLocks noGrp="1"/>
          </p:cNvSpPr>
          <p:nvPr>
            <p:ph idx="1"/>
          </p:nvPr>
        </p:nvSpPr>
        <p:spPr/>
        <p:txBody>
          <a:bodyPr/>
          <a:lstStyle/>
          <a:p>
            <a:pPr>
              <a:defRPr sz="1600"/>
            </a:pPr>
            <a:r>
              <a:t>Lorsque les réseaux de communication n’assurent pas la fonction de distribution de la télévision (voir UTE C 90-483 – à l’étude), l'équipement minimum consiste en la pose d’au moins :  • Deux prises télévision dans les logements de surface jusqu’à 100 m² ; • Trois prises télévision dans les logements de surface supérieure à 100 m².</a:t>
            </a:r>
          </a:p>
          <a:p>
            <a:pPr>
              <a:defRPr sz="1600"/>
            </a:pPr>
            <a:r>
              <a:t>L’une de ces prises doit être placée dans un endroit adéquat de la salle de séjour, près d’un socle de prise de communication.</a:t>
            </a:r>
          </a:p>
          <a:p>
            <a:pPr>
              <a:defRPr sz="1600"/>
            </a:pPr>
            <a:r>
              <a:t>Chacune de ces prises doit être desservie par une canalisation issue de la gaine technique logement (GTL).</a:t>
            </a:r>
          </a:p>
          <a:p>
            <a:pPr>
              <a:defRPr sz="1600"/>
            </a:pPr>
            <a:r>
              <a:t>Dans les logements jusqu’à 35 m², il est admis de n’avoir qu’une seule prise télévision.</a:t>
            </a:r>
          </a:p>
          <a:p>
            <a:pPr>
              <a:defRPr sz="1600"/>
            </a:pPr>
            <a:r>
              <a:t>En France, les postes de télévision sont généralement prévus pour être raccordés à des prises coaxiales alimentées par des câbles coaxiaux conformes au guide UTE C 90-130.</a:t>
            </a:r>
          </a:p>
        </p:txBody>
      </p:sp>
    </p:spTree>
  </p:cSld>
  <p:clrMapOvr>
    <a:masterClrMapping/>
  </p:clrMapOvr>
</p:sld>
</file>

<file path=ppt/slides/slide10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771.559.6.2 Position et emplacement des prises de communication</a:t>
            </a:r>
          </a:p>
        </p:txBody>
      </p:sp>
      <p:sp>
        <p:nvSpPr>
          <p:cNvPr id="3" name="Content Placeholder 2"/>
          <p:cNvSpPr>
            <a:spLocks noGrp="1"/>
          </p:cNvSpPr>
          <p:nvPr>
            <p:ph idx="1"/>
          </p:nvPr>
        </p:nvSpPr>
        <p:spPr/>
        <p:txBody>
          <a:bodyPr/>
          <a:lstStyle/>
          <a:p>
            <a:pPr>
              <a:defRPr sz="1600"/>
            </a:pPr>
            <a:r>
              <a:t>Au moins un socle de prise de courant 16 A doit être placé à proximité de chaque prise de communication ou de télévision.</a:t>
            </a:r>
          </a:p>
          <a:p>
            <a:pPr>
              <a:defRPr sz="1600"/>
            </a:pPr>
            <a:r>
              <a:t>L’axe des socles de ces prises de communication doit être à une hauteur minimale de 50 mm au-dessus du sol fini.</a:t>
            </a:r>
          </a:p>
          <a:p>
            <a:pPr>
              <a:defRPr sz="1600"/>
            </a:pPr>
            <a:r>
              <a:t>Pour les prises mixtes [BT + communications], quel que soit le type [saillie ou encastré], une cloison doit séparer les deux socles.</a:t>
            </a:r>
          </a:p>
          <a:p>
            <a:pPr>
              <a:defRPr sz="1600"/>
            </a:pPr>
            <a:r>
              <a:t>L'intervention sur un socle doit pouvoir être effectuée sans intervention sur l'autre.</a:t>
            </a:r>
          </a:p>
          <a:p>
            <a:pPr>
              <a:defRPr sz="1600"/>
            </a:pPr>
            <a:r>
              <a:t>Les fixations à griffes ne sont pas admises pour les prises de communication.</a:t>
            </a:r>
          </a:p>
        </p:txBody>
      </p:sp>
    </p:spTree>
  </p:cSld>
  <p:clrMapOvr>
    <a:masterClrMapping/>
  </p:clrMapOvr>
</p:sld>
</file>

<file path=ppt/slides/slide10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771.559.6.3 Passage des câbles.</a:t>
            </a:r>
          </a:p>
        </p:txBody>
      </p:sp>
      <p:sp>
        <p:nvSpPr>
          <p:cNvPr id="3" name="Content Placeholder 2"/>
          <p:cNvSpPr>
            <a:spLocks noGrp="1"/>
          </p:cNvSpPr>
          <p:nvPr>
            <p:ph idx="1"/>
          </p:nvPr>
        </p:nvSpPr>
        <p:spPr/>
        <p:txBody>
          <a:bodyPr/>
          <a:lstStyle/>
          <a:p>
            <a:pPr>
              <a:defRPr sz="1600"/>
            </a:pPr>
            <a:r>
              <a:t>Les câbles de communication doivent emprunter des cheminements qui leur sont exclusivement réservés, d'une section minimale de 300 mm² (la plus petite dimension ne pouvant être inférieure à 10 mm) ou un conduit de diamètre minimal intérieur de 20 mm.</a:t>
            </a:r>
          </a:p>
          <a:p>
            <a:pPr>
              <a:defRPr sz="1600"/>
            </a:pPr>
            <a:r>
              <a:t>Dans les systèmes de goulottes, des alvéoles doivent leur être exclusivement réservées.</a:t>
            </a:r>
          </a:p>
          <a:p>
            <a:pPr>
              <a:defRPr sz="1600"/>
            </a:pPr>
            <a:r>
              <a:t>Les conducteurs d’un circuit de communication doivent être de préférence séparés matériellement de ceux d’un circuit énergie.</a:t>
            </a:r>
          </a:p>
          <a:p>
            <a:pPr>
              <a:defRPr sz="1600"/>
            </a:pPr>
            <a:r>
              <a:t>Afin de répondre aux exigences de performances de transmission et donc de garantir la qualité de service, il est recommandé de poser les câbles de communication conformément aux guides UTE C 90-483 (à l’étude) et UTE C 15-900.</a:t>
            </a:r>
          </a:p>
          <a:p>
            <a:pPr>
              <a:defRPr sz="1600"/>
            </a:pPr>
            <a:r>
              <a:t>- 449 -.</a:t>
            </a:r>
          </a:p>
        </p:txBody>
      </p:sp>
    </p:spTree>
  </p:cSld>
  <p:clrMapOvr>
    <a:masterClrMapping/>
  </p:clrMapOvr>
</p:sld>
</file>

<file path=ppt/slides/slide10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B – (normative) – Installations électriques alimentées par une source</a:t>
            </a:r>
          </a:p>
        </p:txBody>
      </p:sp>
      <p:sp>
        <p:nvSpPr>
          <p:cNvPr id="3" name="Content Placeholder 2"/>
          <p:cNvSpPr>
            <a:spLocks noGrp="1"/>
          </p:cNvSpPr>
          <p:nvPr>
            <p:ph idx="1"/>
          </p:nvPr>
        </p:nvSpPr>
        <p:spPr/>
        <p:txBody>
          <a:bodyPr/>
          <a:lstStyle/>
          <a:p>
            <a:pPr>
              <a:defRPr sz="1600"/>
            </a:pPr>
            <a:r>
              <a:t>d’énergie autonome de faible puissance ( ≤≤≤≤ 6 kVA), non raccordées au réseau  Le schéma de distribution doit être de type TN-S.</a:t>
            </a:r>
          </a:p>
          <a:p>
            <a:pPr>
              <a:defRPr sz="1600"/>
            </a:pPr>
            <a:r>
              <a:t>Une telle installation ne pouvant être appelée à un accroissement de puissance, certaines règles de la présente partie ne sont pas applicables et sont à adapter.</a:t>
            </a:r>
          </a:p>
          <a:p>
            <a:pPr>
              <a:defRPr sz="1600"/>
            </a:pPr>
            <a:r>
              <a:t>En particulier, -  le disjoncteur général (25 A) constitue le dispositif de coupure d’urgence et est équipé d’un déclencheur magnétique d’une valeur adaptée à la puissance de court-circuit de la source.</a:t>
            </a:r>
          </a:p>
          <a:p>
            <a:pPr>
              <a:defRPr sz="1600"/>
            </a:pPr>
            <a:r>
              <a:t>Ce disjoncteur doit être placé dans un coffret cache-bornes pouvant être plombé ;  Au minimum, l’installation comprend : -  un DDR de courant différentiel-résiduel assigné égal au plus à 30 mA protégeant l’ensemble de l’installation ; un circuit prise de courant 16 A de section minimale de 1,5 mm² protégé par un disjoncteur de courant assigné maximal 10 A ; un circuit éclairage de section 1,5 mm² protégé par un disjoncteur de courant assigné maximal 6 A.</a:t>
            </a:r>
          </a:p>
          <a:p>
            <a:pPr>
              <a:defRPr sz="1600"/>
            </a:pPr>
            <a:r>
              <a:t>Ne sont pas prescrits : - -  la GTL ; le nombre minimal de socles de prises de courant et des circuits de prises de courant spécialisés ; le parafoudre éventuel ; les circuits de communication.</a:t>
            </a:r>
          </a:p>
        </p:txBody>
      </p:sp>
    </p:spTree>
  </p:cSld>
  <p:clrMapOvr>
    <a:masterClrMapping/>
  </p:clrMapOvr>
</p:sld>
</file>

<file path=ppt/slides/slide10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C – (informative) – Exemple de lettre pour sensibiliser les différents</a:t>
            </a:r>
          </a:p>
        </p:txBody>
      </p:sp>
      <p:sp>
        <p:nvSpPr>
          <p:cNvPr id="3" name="Content Placeholder 2"/>
          <p:cNvSpPr>
            <a:spLocks noGrp="1"/>
          </p:cNvSpPr>
          <p:nvPr>
            <p:ph idx="1"/>
          </p:nvPr>
        </p:nvSpPr>
        <p:spPr/>
        <p:txBody>
          <a:bodyPr/>
          <a:lstStyle/>
          <a:p>
            <a:pPr>
              <a:defRPr sz="1600"/>
            </a:pPr>
            <a:r>
              <a:t>acteurs à leurs responsabilités.</a:t>
            </a:r>
          </a:p>
          <a:p>
            <a:pPr>
              <a:defRPr sz="1600"/>
            </a:pPr>
            <a:r>
              <a:t>Sécurité électrique habitat existant  Adresse du Syndic de copropriété, ou du.</a:t>
            </a:r>
          </a:p>
          <a:p>
            <a:pPr>
              <a:defRPr sz="1600"/>
            </a:pPr>
            <a:r>
              <a:t>de l'installation électrique réalisés chez :.</a:t>
            </a:r>
          </a:p>
          <a:p>
            <a:pPr>
              <a:defRPr sz="1600"/>
            </a:pPr>
            <a:r>
              <a:t>Propriétaire, ou du gérant :.</a:t>
            </a:r>
          </a:p>
          <a:p>
            <a:pPr>
              <a:defRPr sz="1600"/>
            </a:pPr>
            <a:r>
              <a:t>Concerne les travaux de mise en sécurité M.</a:t>
            </a:r>
          </a:p>
        </p:txBody>
      </p:sp>
    </p:spTree>
  </p:cSld>
  <p:clrMapOvr>
    <a:masterClrMapping/>
  </p:clrMapOvr>
</p:sld>
</file>

<file path=ppt/slides/slide10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 D – (informative) – Raccordement d'un système de gestion ou</a:t>
            </a:r>
          </a:p>
        </p:txBody>
      </p:sp>
      <p:sp>
        <p:nvSpPr>
          <p:cNvPr id="3" name="Content Placeholder 2"/>
          <p:cNvSpPr>
            <a:spLocks noGrp="1"/>
          </p:cNvSpPr>
          <p:nvPr>
            <p:ph idx="1"/>
          </p:nvPr>
        </p:nvSpPr>
        <p:spPr/>
        <p:txBody>
          <a:bodyPr/>
          <a:lstStyle/>
          <a:p>
            <a:pPr>
              <a:defRPr sz="1600"/>
            </a:pPr>
            <a:r>
              <a:t>d'appareillage sur les circuits d'asservissement ou de téléinformation du compteur du distributeur  D1 Généralités et descriptions  Le comptage du distributeur, électromécanique ou électronique, peut mettre à disposition de l'utilisateur des informations d'aide à la gestion de ses usages sous la forme de contacts d'asservissement ou d'informations numériques.</a:t>
            </a:r>
          </a:p>
          <a:p>
            <a:pPr>
              <a:defRPr sz="1600"/>
            </a:pPr>
            <a:r>
              <a:t>Le compteur électronique du distributeur délivre des informations numériques en flux continu sur un bornier à disposition de l'utilisateur sur lequel peut être raccordé un "circuit téléinformation".</a:t>
            </a:r>
          </a:p>
          <a:p>
            <a:pPr>
              <a:defRPr sz="1600"/>
            </a:pPr>
            <a:r>
              <a:t>Les matériels comme les afficheurs de consommation, gestionnaires d'énergie ou les délesteurs électroniques reliés à ce circuit décodent ces informations et les traduisent en affichage et/ou commande (marche, arrêt, confort, réduit, enclenchement…) sur l'installation de l'utilisateur.</a:t>
            </a:r>
          </a:p>
          <a:p>
            <a:pPr>
              <a:defRPr sz="1600"/>
            </a:pPr>
            <a:r>
              <a:t>D1.</a:t>
            </a:r>
          </a:p>
          <a:p>
            <a:pPr>
              <a:defRPr sz="1600"/>
            </a:pPr>
            <a:r>
              <a:t>1 Caractéristiques physiques exigées du câble de télé information :    paire torsadée constituée de deux conducteurs monobrins en cuivre nu de diamètre 0,5 mm ou 0,8 mm isolant polyéthylène, écran aluminium, conducteur servant de drain de continuité et gaine PVC.</a:t>
            </a:r>
          </a:p>
        </p:txBody>
      </p:sp>
    </p:spTree>
  </p:cSld>
  <p:clrMapOvr>
    <a:masterClrMapping/>
  </p:clrMapOvr>
</p:sld>
</file>

<file path=ppt/slides/slide10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 Choix et mise en œuvre des matériels électr</a:t>
            </a:r>
          </a:p>
        </p:txBody>
      </p:sp>
      <p:sp>
        <p:nvSpPr>
          <p:cNvPr id="3" name="Content Placeholder 2"/>
          <p:cNvSpPr>
            <a:spLocks noGrp="1"/>
          </p:cNvSpPr>
          <p:nvPr>
            <p:ph idx="1"/>
          </p:nvPr>
        </p:nvSpPr>
        <p:spPr/>
        <p:txBody>
          <a:bodyPr/>
          <a:lstStyle/>
          <a:p>
            <a:pPr>
              <a:defRPr sz="1600"/>
            </a:pPr>
            <a:r>
              <a:t>iques.</a:t>
            </a:r>
          </a:p>
          <a:p>
            <a:pPr>
              <a:defRPr sz="1600"/>
            </a:pPr>
            <a:r>
              <a:t>458.</a:t>
            </a:r>
          </a:p>
        </p:txBody>
      </p:sp>
    </p:spTree>
  </p:cSld>
  <p:clrMapOvr>
    <a:masterClrMapping/>
  </p:clrMapOvr>
</p:sld>
</file>

<file path=ppt/slides/slide10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 Prescriptions spéciales aux locaux techniques des services généraux,</a:t>
            </a:r>
          </a:p>
        </p:txBody>
      </p:sp>
      <p:sp>
        <p:nvSpPr>
          <p:cNvPr id="3" name="Content Placeholder 2"/>
          <p:cNvSpPr>
            <a:spLocks noGrp="1"/>
          </p:cNvSpPr>
          <p:nvPr>
            <p:ph idx="1"/>
          </p:nvPr>
        </p:nvSpPr>
        <p:spPr/>
        <p:txBody>
          <a:bodyPr/>
          <a:lstStyle/>
          <a:p>
            <a:pPr>
              <a:defRPr sz="1600"/>
            </a:pPr>
            <a:r>
              <a:t>ascenseurs, chaufferies, surpresseurs, etc.</a:t>
            </a:r>
          </a:p>
          <a:p>
            <a:pPr>
              <a:defRPr sz="1600"/>
            </a:pPr>
            <a:r>
              <a:t>462.</a:t>
            </a:r>
          </a:p>
        </p:txBody>
      </p:sp>
    </p:spTree>
  </p:cSld>
  <p:clrMapOvr>
    <a:masterClrMapping/>
  </p:clrMapOvr>
</p:sld>
</file>

<file path=ppt/slides/slide10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772.4 Installation d'alarme et de signalisation .....................................................................465</a:t>
            </a:r>
          </a:p>
        </p:txBody>
      </p:sp>
      <p:sp>
        <p:nvSpPr>
          <p:cNvPr id="3" name="Content Placeholder 2"/>
          <p:cNvSpPr>
            <a:spLocks noGrp="1"/>
          </p:cNvSpPr>
          <p:nvPr>
            <p:ph idx="1"/>
          </p:nvPr>
        </p:nvSpPr>
        <p:spPr/>
        <p:txBody>
          <a:bodyPr/>
          <a:lstStyle/>
          <a:p>
            <a:pPr>
              <a:defRPr sz="1600"/>
            </a:pPr>
            <a:r>
              <a:t>Anne xe – (normative ) – Installation de mise à la terre.</a:t>
            </a:r>
          </a:p>
          <a:p>
            <a:pPr>
              <a:defRPr sz="1600"/>
            </a:pPr>
            <a:r>
              <a:t>466  Les prescriptions de la présente partie complètent, modifient ou remplacent les prescriptions générales des autres parties de la NF C 15-100.</a:t>
            </a:r>
          </a:p>
          <a:p>
            <a:pPr>
              <a:defRPr sz="1600"/>
            </a:pPr>
            <a:r>
              <a:t>Les numéros suivant le numéro particulier de la partie 7-772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__________.</a:t>
            </a:r>
          </a:p>
        </p:txBody>
      </p:sp>
    </p:spTree>
  </p:cSld>
  <p:clrMapOvr>
    <a:masterClrMapping/>
  </p:clrMapOvr>
</p:sld>
</file>

<file path=ppt/slides/slide10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772.1.1 Domaine d'application</a:t>
            </a:r>
          </a:p>
        </p:txBody>
      </p:sp>
      <p:sp>
        <p:nvSpPr>
          <p:cNvPr id="3" name="Content Placeholder 2"/>
          <p:cNvSpPr>
            <a:spLocks noGrp="1"/>
          </p:cNvSpPr>
          <p:nvPr>
            <p:ph idx="1"/>
          </p:nvPr>
        </p:nvSpPr>
        <p:spPr/>
        <p:txBody>
          <a:bodyPr/>
          <a:lstStyle/>
          <a:p>
            <a:pPr>
              <a:defRPr sz="1600"/>
            </a:pPr>
            <a:r>
              <a:t>La présente partie s'applique aux installations électriques des locaux des parties communes et des services généraux d'immeubles collectifs.</a:t>
            </a:r>
          </a:p>
          <a:p>
            <a:pPr>
              <a:defRPr sz="1600"/>
            </a:pPr>
            <a:r>
              <a:t>La partie cahier des clauses spéciales (CCS) de l’ancien DTU 70.</a:t>
            </a:r>
          </a:p>
          <a:p>
            <a:pPr>
              <a:defRPr sz="1600"/>
            </a:pPr>
            <a:r>
              <a:t>1 est la norme NF P 80-201- 2.</a:t>
            </a:r>
          </a:p>
          <a:p>
            <a:pPr>
              <a:defRPr sz="1600"/>
            </a:pPr>
            <a:r>
              <a:t>Toutefois, dans le cas d'un bâtiment individuel d'une importance telle que certains services généraux existent, les règles de 772.</a:t>
            </a:r>
          </a:p>
          <a:p>
            <a:pPr>
              <a:defRPr sz="1600"/>
            </a:pPr>
            <a:r>
              <a:t>3 sont applicables.</a:t>
            </a:r>
          </a:p>
        </p:txBody>
      </p:sp>
    </p:spTree>
  </p:cSld>
  <p:clrMapOvr>
    <a:masterClrMapping/>
  </p:clrMapOvr>
</p:sld>
</file>

<file path=ppt/slides/slide10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772.1.2 Structure des installations</a:t>
            </a:r>
          </a:p>
        </p:txBody>
      </p:sp>
      <p:sp>
        <p:nvSpPr>
          <p:cNvPr id="3" name="Content Placeholder 2"/>
          <p:cNvSpPr>
            <a:spLocks noGrp="1"/>
          </p:cNvSpPr>
          <p:nvPr>
            <p:ph idx="1"/>
          </p:nvPr>
        </p:nvSpPr>
        <p:spPr/>
        <p:txBody>
          <a:bodyPr/>
          <a:lstStyle/>
          <a:p>
            <a:pPr>
              <a:defRPr sz="1600"/>
            </a:pPr>
            <a:r>
              <a:t>Les parties communes et les services généraux peuvent, le cas échéant, comprendre :  -  -  -  -  les services d'éclairage,  les services "ascenseur",  les services chauffage des locaux, de l'eau chaude sanitaire (ECS),  les services contrôle commande,  Exemples : les systèmes d'alarme, les portiers, la domotique, etc.</a:t>
            </a:r>
          </a:p>
          <a:p>
            <a:pPr>
              <a:defRPr sz="1600"/>
            </a:pPr>
            <a:r>
              <a:t>-  les services "autres usages".</a:t>
            </a:r>
          </a:p>
          <a:p>
            <a:pPr>
              <a:defRPr sz="1600"/>
            </a:pPr>
            <a:r>
              <a:t>Exemples : les locaux surpresseurs d'eau, poste de détente, gaz, relevage des eaux, alimentation d'antennes, etc.</a:t>
            </a:r>
          </a:p>
          <a:p>
            <a:pPr>
              <a:defRPr sz="1600"/>
            </a:pPr>
            <a:r>
              <a:t>Les locaux des parties communes comprennent :  -  -  -  les surfaces de circulation : halls d'entrée, couloirs, coursives, escaliers, etc.</a:t>
            </a:r>
          </a:p>
          <a:p>
            <a:pPr>
              <a:defRPr sz="1600"/>
            </a:pPr>
            <a:r>
              <a:t>,  les loges de concierges  (1)  ,  les locaux mis à la disposition collective des occupants des immeubles, les pièces de service, les dépôts, les remises à bicyclettes, à cyclomoteurs et à voitures d'enfant, les , les locaux de vide-ordures, les locaux collectifs résidentiels, les salles de réunion buanderies et séchoirs collectifs, etc.</a:t>
            </a:r>
          </a:p>
        </p:txBody>
      </p:sp>
    </p:spTree>
  </p:cSld>
  <p:clrMapOvr>
    <a:masterClrMapping/>
  </p:clrMapOvr>
</p:sld>
</file>

<file path=ppt/slides/slide10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772.2.1 Circuits divisionnaires</a:t>
            </a:r>
          </a:p>
        </p:txBody>
      </p:sp>
      <p:sp>
        <p:nvSpPr>
          <p:cNvPr id="3" name="Content Placeholder 2"/>
          <p:cNvSpPr>
            <a:spLocks noGrp="1"/>
          </p:cNvSpPr>
          <p:nvPr>
            <p:ph idx="1"/>
          </p:nvPr>
        </p:nvSpPr>
        <p:spPr/>
        <p:txBody>
          <a:bodyPr/>
          <a:lstStyle/>
          <a:p>
            <a:pPr>
              <a:defRPr sz="1600"/>
            </a:pPr>
            <a:r>
              <a:t>Il est prévu autant de circuits divisionnaires qu'il y a d’applications différentes à alimenter.</a:t>
            </a:r>
          </a:p>
          <a:p>
            <a:pPr>
              <a:defRPr sz="1600"/>
            </a:pPr>
            <a:r>
              <a:t>Ceci concerne, en particulier, l'ensemble des équipements des parties communes.</a:t>
            </a:r>
          </a:p>
        </p:txBody>
      </p:sp>
    </p:spTree>
  </p:cSld>
  <p:clrMapOvr>
    <a:masterClrMapping/>
  </p:clrMapOvr>
</p:sld>
</file>

<file path=ppt/slides/slide10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772.2.2 Canalisations</a:t>
            </a:r>
          </a:p>
        </p:txBody>
      </p:sp>
      <p:sp>
        <p:nvSpPr>
          <p:cNvPr id="3" name="Content Placeholder 2"/>
          <p:cNvSpPr>
            <a:spLocks noGrp="1"/>
          </p:cNvSpPr>
          <p:nvPr>
            <p:ph idx="1"/>
          </p:nvPr>
        </p:nvSpPr>
        <p:spPr/>
        <p:txBody>
          <a:bodyPr/>
          <a:lstStyle/>
          <a:p>
            <a:pPr>
              <a:defRPr sz="1600"/>
            </a:pPr>
            <a:r>
              <a:t>Les prescriptions de la partie 5-52 de la présente norme sont applicables.</a:t>
            </a:r>
          </a:p>
          <a:p>
            <a:pPr>
              <a:defRPr sz="1600"/>
            </a:pPr>
            <a:r>
              <a:t>En outre, les canalisations ne doivent pas traverser des locaux privatifs.</a:t>
            </a:r>
          </a:p>
          <a:p>
            <a:pPr>
              <a:defRPr sz="1600"/>
            </a:pPr>
            <a:r>
              <a:t>Il convient aussi de se reporter au guide UTE C 15-520.</a:t>
            </a:r>
          </a:p>
          <a:p>
            <a:pPr>
              <a:defRPr sz="1600"/>
            </a:pPr>
            <a:r>
              <a:t>Tableau 772A  Eclairement moyen à maintenir (en lux).</a:t>
            </a:r>
          </a:p>
        </p:txBody>
      </p:sp>
    </p:spTree>
  </p:cSld>
  <p:clrMapOvr>
    <a:masterClrMapping/>
  </p:clrMapOvr>
</p:sld>
</file>

<file path=ppt/slides/slide10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772.2.3.1 Eclairement</a:t>
            </a:r>
          </a:p>
        </p:txBody>
      </p:sp>
      <p:sp>
        <p:nvSpPr>
          <p:cNvPr id="3" name="Content Placeholder 2"/>
          <p:cNvSpPr>
            <a:spLocks noGrp="1"/>
          </p:cNvSpPr>
          <p:nvPr>
            <p:ph idx="1"/>
          </p:nvPr>
        </p:nvSpPr>
        <p:spPr/>
        <p:txBody>
          <a:bodyPr/>
          <a:lstStyle/>
          <a:p>
            <a:pPr>
              <a:defRPr sz="1600"/>
            </a:pPr>
            <a:r>
              <a:t>Parties communes : Entrée, escalier, palier (zones d'ombre)  Garages couverts : Rampe d'accès (zones d'ombre)  Ascenseurs : Local de machines (au sol) Local de poulie (à la ou les poulies) Paliers (au sol sur le seuil des portes palières)  Chaufferies : Appareillage Tableau (dans le plan du tableau) Autres Surpresseurs : Local Tableau (dans le plan du tableau)  40 10  60 60 15  200 100 50  100 200 60  100 200  L'éclairement moyen sur une surface de référence est la moyenne arithmétique de la somme des éclairements en différents points de cette surface.</a:t>
            </a:r>
          </a:p>
          <a:p>
            <a:pPr>
              <a:defRPr sz="1600"/>
            </a:pPr>
            <a:r>
              <a:t>- 459 -   Il est rappelé que, selon la "recommandation relative à l'éclairage intérieur des lieux de travail" (édition octobre 1993) de l'AFE*, le niveau d'éclairement s'exprime désormais en termes d'"éclairement moyen à maintenir".</a:t>
            </a:r>
          </a:p>
          <a:p>
            <a:pPr>
              <a:defRPr sz="1600"/>
            </a:pPr>
            <a:r>
              <a:t>Il s'agit du niveau d'éclairement, encore juste acceptable, avant intervention d'entretien.</a:t>
            </a:r>
          </a:p>
        </p:txBody>
      </p:sp>
    </p:spTree>
  </p:cSld>
  <p:clrMapOvr>
    <a:masterClrMapping/>
  </p:clrMapOvr>
</p:sld>
</file>

<file path=ppt/slides/slide10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772.2.3.2 Foyer lumineux et appareils d'éclairage</a:t>
            </a:r>
          </a:p>
        </p:txBody>
      </p:sp>
      <p:sp>
        <p:nvSpPr>
          <p:cNvPr id="3" name="Content Placeholder 2"/>
          <p:cNvSpPr>
            <a:spLocks noGrp="1"/>
          </p:cNvSpPr>
          <p:nvPr>
            <p:ph idx="1"/>
          </p:nvPr>
        </p:nvSpPr>
        <p:spPr/>
        <p:txBody>
          <a:bodyPr/>
          <a:lstStyle/>
          <a:p>
            <a:pPr>
              <a:defRPr sz="1600"/>
            </a:pPr>
            <a:r>
              <a:t>Les règles de 772.</a:t>
            </a:r>
          </a:p>
          <a:p>
            <a:pPr>
              <a:defRPr sz="1600"/>
            </a:pPr>
            <a:r>
              <a:t>2.</a:t>
            </a:r>
          </a:p>
          <a:p>
            <a:pPr>
              <a:defRPr sz="1600"/>
            </a:pPr>
            <a:r>
              <a:t>3 doivent être respectées, en particulier pour direction ou de niveau.</a:t>
            </a:r>
          </a:p>
          <a:p>
            <a:pPr>
              <a:defRPr sz="1600"/>
            </a:pPr>
            <a:r>
              <a:t>Il y a lieu de tenir compte de cette prescription pour le choix, le nombre et l'emplacement de ces appareils d'éclairage.</a:t>
            </a:r>
          </a:p>
          <a:p>
            <a:pPr>
              <a:defRPr sz="1600"/>
            </a:pPr>
            <a:r>
              <a:t>tout changement de.</a:t>
            </a:r>
          </a:p>
        </p:txBody>
      </p:sp>
    </p:spTree>
  </p:cSld>
  <p:clrMapOvr>
    <a:masterClrMapping/>
  </p:clrMapOvr>
</p:sld>
</file>

<file path=ppt/slides/slide10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772.2.3.3 Dispositifs de commande des appareils d'éclairage</a:t>
            </a:r>
          </a:p>
        </p:txBody>
      </p:sp>
      <p:sp>
        <p:nvSpPr>
          <p:cNvPr id="3" name="Content Placeholder 2"/>
          <p:cNvSpPr>
            <a:spLocks noGrp="1"/>
          </p:cNvSpPr>
          <p:nvPr>
            <p:ph idx="1"/>
          </p:nvPr>
        </p:nvSpPr>
        <p:spPr/>
        <p:txBody>
          <a:bodyPr/>
          <a:lstStyle/>
          <a:p>
            <a:pPr>
              <a:defRPr sz="1600"/>
            </a:pPr>
            <a:r>
              <a:t>a) Appareillages de commande manuelle  Quel que soit le type de local, chaque appareillage de commande manuelle doit comporter un voyant lumineux de repérage.</a:t>
            </a:r>
          </a:p>
          <a:p>
            <a:pPr>
              <a:defRPr sz="1600"/>
            </a:pPr>
            <a:r>
              <a:t>b) Dispositifs automatiques  Ces dispositifs sont disposés de manière que la détection couvre toutes les zones d'accès des circulations commandées.</a:t>
            </a:r>
          </a:p>
        </p:txBody>
      </p:sp>
    </p:spTree>
  </p:cSld>
  <p:clrMapOvr>
    <a:masterClrMapping/>
  </p:clrMapOvr>
</p:sld>
</file>

<file path=ppt/slides/slide10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772.2.3.4.1 Vestibules d'entrée d'immeubles, escaliers, coursives, couloirs</a:t>
            </a:r>
          </a:p>
        </p:txBody>
      </p:sp>
      <p:sp>
        <p:nvSpPr>
          <p:cNvPr id="3" name="Content Placeholder 2"/>
          <p:cNvSpPr>
            <a:spLocks noGrp="1"/>
          </p:cNvSpPr>
          <p:nvPr>
            <p:ph idx="1"/>
          </p:nvPr>
        </p:nvSpPr>
        <p:spPr/>
        <p:txBody>
          <a:bodyPr/>
          <a:lstStyle/>
          <a:p>
            <a:pPr>
              <a:defRPr sz="1600"/>
            </a:pPr>
            <a:r>
              <a:t>de caves, locaux techniques  a) Dispositions des dispositifs de commande  Les circuits d'éclairage des entrées d'immeubles, escaliers, coursives et couloirs sont commandés par minuterie avec un dispositif permettant le fonctionnement permanent ou par dispositif automatique.</a:t>
            </a:r>
          </a:p>
          <a:p>
            <a:pPr>
              <a:defRPr sz="1600"/>
            </a:pPr>
            <a:r>
              <a:t>Une minuterie ne doit pas commander une tranche de plus de cinq niveaux.</a:t>
            </a:r>
          </a:p>
          <a:p>
            <a:pPr>
              <a:defRPr sz="1600"/>
            </a:pPr>
            <a:r>
              <a:t>En plus des commandes installées aux niveaux de chaque tranche, une commande supplémentaire doit être prévue aux niveaux situés de part et d'autre de chaque tranche, pour permettre de l'éclairer avant de l'aborder.</a:t>
            </a:r>
          </a:p>
          <a:p>
            <a:pPr>
              <a:defRPr sz="1600"/>
            </a:pPr>
            <a:r>
              <a:t>L'éclairage d'une coursive ou d'un couloir intérieur peut être commandé par la même minuterie que celle d'un escalier la desservant.</a:t>
            </a:r>
          </a:p>
          <a:p>
            <a:pPr>
              <a:defRPr sz="1600"/>
            </a:pPr>
            <a:r>
              <a:t>Toutefois, si le nombre de luminaires nécessaires à l'éclairage d'une coursive ou d'un couloir intérieur est supérieur à trois, une minuterie indépendante est nécessaire.</a:t>
            </a:r>
          </a:p>
        </p:txBody>
      </p:sp>
    </p:spTree>
  </p:cSld>
  <p:clrMapOvr>
    <a:masterClrMapping/>
  </p:clrMapOvr>
</p:sld>
</file>

<file path=ppt/slides/slide10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772.2.3.4.2 Garages et parcs couverts collectifs, pour voitures automobiles</a:t>
            </a:r>
          </a:p>
        </p:txBody>
      </p:sp>
      <p:sp>
        <p:nvSpPr>
          <p:cNvPr id="3" name="Content Placeholder 2"/>
          <p:cNvSpPr>
            <a:spLocks noGrp="1"/>
          </p:cNvSpPr>
          <p:nvPr>
            <p:ph idx="1"/>
          </p:nvPr>
        </p:nvSpPr>
        <p:spPr/>
        <p:txBody>
          <a:bodyPr/>
          <a:lstStyle/>
          <a:p>
            <a:pPr>
              <a:defRPr sz="1600"/>
            </a:pPr>
            <a:r>
              <a:t>et rampes d'accès  Par garages ou parcs couverts, on entend les locaux servant exclusivement au stationnement des véhicules automobiles, c'est-à-dire ne comportant pas de station de distribution de carburant.</a:t>
            </a:r>
          </a:p>
          <a:p>
            <a:pPr>
              <a:defRPr sz="1600"/>
            </a:pPr>
            <a:r>
              <a:t>Pour les garages, le guide UTE C 15-103 précise les influences externes.</a:t>
            </a:r>
          </a:p>
          <a:p>
            <a:pPr>
              <a:defRPr sz="1600"/>
            </a:pPr>
            <a:r>
              <a:t>Pour les garages dont la surface est supérieure à 100 m² et dont la capacité ne dépasse pas 250 véhicules, les dispositions de l’arrêté du 31 janvier 1986 relatif à la protection contre l’incendie des bâtiments d’habitation doivent être appliquées.</a:t>
            </a:r>
          </a:p>
          <a:p>
            <a:pPr>
              <a:defRPr sz="1600"/>
            </a:pPr>
            <a:r>
              <a:t>Ceux dont la capacité est supérieure à 250 véhicules sont classés au titre de la rubrique 2935 de la législation sur les installations classées et doivent respecter les dispositions imposées par leur classement.</a:t>
            </a:r>
          </a:p>
          <a:p>
            <a:pPr>
              <a:defRPr sz="1600"/>
            </a:pPr>
            <a:r>
              <a:t>a) Emplacement des appareils d'éclairage  Les appareils d'éclairage sont placés de façon à obtenir un éclairage des aires de circulation conforme au tableau 772A.</a:t>
            </a:r>
          </a:p>
        </p:txBody>
      </p:sp>
    </p:spTree>
  </p:cSld>
  <p:clrMapOvr>
    <a:masterClrMapping/>
  </p:clrMapOvr>
</p:sld>
</file>

<file path=ppt/slides/slide10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772.2.3.4.3 Alimentation des caves, boxes ou garages, individuels</a:t>
            </a:r>
          </a:p>
        </p:txBody>
      </p:sp>
      <p:sp>
        <p:nvSpPr>
          <p:cNvPr id="3" name="Content Placeholder 2"/>
          <p:cNvSpPr>
            <a:spLocks noGrp="1"/>
          </p:cNvSpPr>
          <p:nvPr>
            <p:ph idx="1"/>
          </p:nvPr>
        </p:nvSpPr>
        <p:spPr/>
        <p:txBody>
          <a:bodyPr/>
          <a:lstStyle/>
          <a:p>
            <a:pPr>
              <a:defRPr sz="1600"/>
            </a:pPr>
            <a:r>
              <a:t>Par box, on entend un emplacement fermé, placé en général en sous-sol.</a:t>
            </a:r>
          </a:p>
          <a:p>
            <a:pPr>
              <a:defRPr sz="1600"/>
            </a:pPr>
            <a:r>
              <a:t>Selon les conditions particulières du marché, les dispositions suivantes peuvent être prises :  a) Alimentation électrique issue des services généraux.</a:t>
            </a:r>
          </a:p>
          <a:p>
            <a:pPr>
              <a:defRPr sz="1600"/>
            </a:pPr>
            <a:r>
              <a:t>Un exemple est l'installation d'éclairage d'une cave ou d'un box par hublot et interrupteusitué à l'extérieur de la cave ou du box.</a:t>
            </a:r>
          </a:p>
          <a:p>
            <a:pPr>
              <a:defRPr sz="1600"/>
            </a:pPr>
            <a:r>
              <a:t>- 461 -   b) Alimentation électrique (éclairage et prise de courant 16 A + T) d'une cave ou d'un box par une canalisation issue d'une installation privative.</a:t>
            </a:r>
          </a:p>
          <a:p>
            <a:pPr>
              <a:defRPr sz="1600"/>
            </a:pPr>
            <a:r>
              <a:t>Dans ce cas, le circuit doit être protégé par un dispositif différentiel de courant différentiel résiduel assigné au plus égal à 30 mA et doit comporter un voyant de présence de tension placé sur le tableau de distribution de l’installation du logement.</a:t>
            </a:r>
          </a:p>
        </p:txBody>
      </p:sp>
    </p:spTree>
  </p:cSld>
  <p:clrMapOvr>
    <a:masterClrMapping/>
  </p:clrMapOvr>
</p:sld>
</file>

<file path=ppt/slides/slide10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772.2.3.4.4 Installations de sécurité</a:t>
            </a:r>
          </a:p>
        </p:txBody>
      </p:sp>
      <p:sp>
        <p:nvSpPr>
          <p:cNvPr id="3" name="Content Placeholder 2"/>
          <p:cNvSpPr>
            <a:spLocks noGrp="1"/>
          </p:cNvSpPr>
          <p:nvPr>
            <p:ph idx="1"/>
          </p:nvPr>
        </p:nvSpPr>
        <p:spPr/>
        <p:txBody>
          <a:bodyPr/>
          <a:lstStyle/>
          <a:p>
            <a:pPr>
              <a:defRPr sz="1600"/>
            </a:pPr>
            <a:r>
              <a:t>Les prescriptions relatives aux installations de sécurité et notamment l'éclairage de sécurité des parties communes d'immeubles sont indiquées dans la réglementation relative à la protection contre l'incendie dans les bâtiments d'habitation.</a:t>
            </a:r>
          </a:p>
          <a:p>
            <a:pPr>
              <a:defRPr sz="1600"/>
            </a:pPr>
            <a:r>
              <a:t>Ces prescriptions font l'objet de l'arrêté du 31 janvier 1986.</a:t>
            </a:r>
          </a:p>
        </p:txBody>
      </p:sp>
    </p:spTree>
  </p:cSld>
  <p:clrMapOvr>
    <a:masterClrMapping/>
  </p:clrMapOvr>
</p:sld>
</file>

<file path=ppt/slides/slide10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772.2.3.5 Circuits issus des parties communes alimentant des installations privatives</a:t>
            </a:r>
          </a:p>
        </p:txBody>
      </p:sp>
      <p:sp>
        <p:nvSpPr>
          <p:cNvPr id="3" name="Content Placeholder 2"/>
          <p:cNvSpPr>
            <a:spLocks noGrp="1"/>
          </p:cNvSpPr>
          <p:nvPr>
            <p:ph idx="1"/>
          </p:nvPr>
        </p:nvSpPr>
        <p:spPr/>
        <p:txBody>
          <a:bodyPr/>
          <a:lstStyle/>
          <a:p>
            <a:pPr>
              <a:defRPr sz="1600"/>
            </a:pPr>
            <a:r>
              <a:t>Des exemples sont des portiers d’immeubles, des installations de surveillance vidéo, des applications domotiques, etc, pour des petites puissances.</a:t>
            </a:r>
          </a:p>
          <a:p>
            <a:pPr>
              <a:defRPr sz="1600"/>
            </a:pPr>
            <a:r>
              <a:t>D’autres applications de plus forte puissance concernent le chauffage électrique.</a:t>
            </a:r>
          </a:p>
          <a:p>
            <a:pPr>
              <a:defRPr sz="1600"/>
            </a:pPr>
            <a:r>
              <a:t>Pour des applications autres que le chauffage électrique, lorsqu’un circuit d’une installation issu des parties communes pénètre dans un local privatif, il doit être réalisé en TBTS ou en TBTP en respectant le paragraphe 414.</a:t>
            </a:r>
          </a:p>
          <a:p>
            <a:pPr>
              <a:defRPr sz="1600"/>
            </a:pPr>
            <a:r>
              <a:t>4 de la présente norme.</a:t>
            </a:r>
          </a:p>
          <a:p>
            <a:pPr>
              <a:defRPr sz="1600"/>
            </a:pPr>
            <a:r>
              <a:t>Pour les applications relatives au chauffage électrique, il y a lieu de se reporter au guide UTE C 15-755.</a:t>
            </a:r>
          </a:p>
        </p:txBody>
      </p:sp>
    </p:spTree>
  </p:cSld>
  <p:clrMapOvr>
    <a:masterClrMapping/>
  </p:clrMapOvr>
</p:sld>
</file>

<file path=ppt/slides/slide10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772.2.3.6 Circuits issus des installations privatives alimentant des appareils électriques</a:t>
            </a:r>
          </a:p>
        </p:txBody>
      </p:sp>
      <p:sp>
        <p:nvSpPr>
          <p:cNvPr id="3" name="Content Placeholder 2"/>
          <p:cNvSpPr>
            <a:spLocks noGrp="1"/>
          </p:cNvSpPr>
          <p:nvPr>
            <p:ph idx="1"/>
          </p:nvPr>
        </p:nvSpPr>
        <p:spPr/>
        <p:txBody>
          <a:bodyPr/>
          <a:lstStyle/>
          <a:p>
            <a:pPr>
              <a:defRPr sz="1600"/>
            </a:pPr>
            <a:r>
              <a:t>dans les parties communes  Des exemples sont des chauffe-eau installés en gaines palières ou des organes de régulation de chauffage, VMC, etc.</a:t>
            </a:r>
          </a:p>
          <a:p>
            <a:pPr>
              <a:defRPr sz="1600"/>
            </a:pPr>
            <a:r>
              <a:t>Lorsqu’un circuit d’une installation ayant son origine dans un local privatif dessert des appareils d’utilisation appartenant à l’utilisateur de ce local privatif et situées dans les parties communes, ce circuit doit présenter une isolation double ou renforcée ou équivalente par rapport aux circuits électriques et aux masses de l’installation électrique des parties communes ou d’autres installations électriques.</a:t>
            </a:r>
          </a:p>
          <a:p>
            <a:pPr>
              <a:defRPr sz="1600"/>
            </a:pPr>
            <a:r>
              <a:t>Se reporter aussi au guide UTE C 15-755.</a:t>
            </a:r>
          </a:p>
        </p:txBody>
      </p:sp>
    </p:spTree>
  </p:cSld>
  <p:clrMapOvr>
    <a:masterClrMapping/>
  </p:clrMapOvr>
</p:sld>
</file>

<file path=ppt/slides/slide10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 Prescriptions spéciales aux locaux techniques des services généraux,</a:t>
            </a:r>
          </a:p>
        </p:txBody>
      </p:sp>
      <p:sp>
        <p:nvSpPr>
          <p:cNvPr id="3" name="Content Placeholder 2"/>
          <p:cNvSpPr>
            <a:spLocks noGrp="1"/>
          </p:cNvSpPr>
          <p:nvPr>
            <p:ph idx="1"/>
          </p:nvPr>
        </p:nvSpPr>
        <p:spPr/>
        <p:txBody>
          <a:bodyPr/>
          <a:lstStyle/>
          <a:p>
            <a:pPr>
              <a:defRPr sz="1600"/>
            </a:pPr>
            <a:r>
              <a:t>ascenseurs, chaufferies, surpresseurs, etc.</a:t>
            </a:r>
          </a:p>
        </p:txBody>
      </p:sp>
    </p:spTree>
  </p:cSld>
  <p:clrMapOvr>
    <a:masterClrMapping/>
  </p:clrMapOvr>
</p:sld>
</file>

<file path=ppt/slides/slide10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772.3.0 Domaine d'application</a:t>
            </a:r>
          </a:p>
        </p:txBody>
      </p:sp>
      <p:sp>
        <p:nvSpPr>
          <p:cNvPr id="3" name="Content Placeholder 2"/>
          <p:cNvSpPr>
            <a:spLocks noGrp="1"/>
          </p:cNvSpPr>
          <p:nvPr>
            <p:ph idx="1"/>
          </p:nvPr>
        </p:nvSpPr>
        <p:spPr/>
        <p:txBody>
          <a:bodyPr/>
          <a:lstStyle/>
          <a:p>
            <a:pPr>
              <a:defRPr sz="1600"/>
            </a:pPr>
            <a:r>
              <a:t>Les prescriptions du présent paragraphe s'appliquent aux techniques : ascenseurs, chaufferies, surpresseurs, dans les bâtiments collectifs.</a:t>
            </a:r>
          </a:p>
          <a:p>
            <a:pPr>
              <a:defRPr sz="1600"/>
            </a:pPr>
            <a:r>
              <a:t>installations des  locaux  Lorsqu'il existe un poste de détente gaz, les règles relatives aux influences externes BE3 (risque d'explosion) sont applicables au local correspondant   (voir 424).</a:t>
            </a:r>
          </a:p>
          <a:p>
            <a:pPr>
              <a:defRPr sz="1600"/>
            </a:pPr>
            <a:r>
              <a:t>Les règles imposées par les distributeurs de gaz n'autorisent pas les prises de courant.</a:t>
            </a:r>
          </a:p>
        </p:txBody>
      </p:sp>
    </p:spTree>
  </p:cSld>
  <p:clrMapOvr>
    <a:masterClrMapping/>
  </p:clrMapOvr>
</p:sld>
</file>

<file path=ppt/slides/slide10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772.3.1.1 Alimentation principale</a:t>
            </a:r>
          </a:p>
        </p:txBody>
      </p:sp>
      <p:sp>
        <p:nvSpPr>
          <p:cNvPr id="3" name="Content Placeholder 2"/>
          <p:cNvSpPr>
            <a:spLocks noGrp="1"/>
          </p:cNvSpPr>
          <p:nvPr>
            <p:ph idx="1"/>
          </p:nvPr>
        </p:nvSpPr>
        <p:spPr/>
        <p:txBody>
          <a:bodyPr/>
          <a:lstStyle/>
          <a:p>
            <a:pPr>
              <a:defRPr sz="1600"/>
            </a:pPr>
            <a:r>
              <a:t>Un circuit divisionnaire, indépendant des autres circuits, dessert le tableau d'arrivée du local ou du service.</a:t>
            </a:r>
          </a:p>
          <a:p>
            <a:pPr>
              <a:defRPr sz="1600"/>
            </a:pPr>
            <a:r>
              <a:t>Ce circuit est issu du tableau général de répartition des services généraux.</a:t>
            </a:r>
          </a:p>
        </p:txBody>
      </p:sp>
    </p:spTree>
  </p:cSld>
  <p:clrMapOvr>
    <a:masterClrMapping/>
  </p:clrMapOvr>
</p:sld>
</file>

<file path=ppt/slides/slide10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772.3.1.2 Alimentation éclairage</a:t>
            </a:r>
          </a:p>
        </p:txBody>
      </p:sp>
      <p:sp>
        <p:nvSpPr>
          <p:cNvPr id="3" name="Content Placeholder 2"/>
          <p:cNvSpPr>
            <a:spLocks noGrp="1"/>
          </p:cNvSpPr>
          <p:nvPr>
            <p:ph idx="1"/>
          </p:nvPr>
        </p:nvSpPr>
        <p:spPr/>
        <p:txBody>
          <a:bodyPr/>
          <a:lstStyle/>
          <a:p>
            <a:pPr>
              <a:defRPr sz="1600"/>
            </a:pPr>
            <a:r>
              <a:t>L'éclairage de ces locaux techniques est assuré par un circuit divisionnaire distinct de leur alimentation principale et issu du tableau des services généraux.</a:t>
            </a:r>
          </a:p>
          <a:p>
            <a:pPr>
              <a:defRPr sz="1600"/>
            </a:pPr>
            <a:r>
              <a:t>Toutefois, si la puissance totale nécessaire pour l'alimentation principale et l'éclairage est au plus égale à 2 kVA, l'éclairage ne nécessite pas de circuit distinct, sauf spécifications particulières indiquées dans cette section.</a:t>
            </a:r>
          </a:p>
        </p:txBody>
      </p:sp>
    </p:spTree>
  </p:cSld>
  <p:clrMapOvr>
    <a:masterClrMapping/>
  </p:clrMapOvr>
</p:sld>
</file>

<file path=ppt/slides/slide10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772.3.1.3 Eclairage</a:t>
            </a:r>
          </a:p>
        </p:txBody>
      </p:sp>
      <p:sp>
        <p:nvSpPr>
          <p:cNvPr id="3" name="Content Placeholder 2"/>
          <p:cNvSpPr>
            <a:spLocks noGrp="1"/>
          </p:cNvSpPr>
          <p:nvPr>
            <p:ph idx="1"/>
          </p:nvPr>
        </p:nvSpPr>
        <p:spPr/>
        <p:txBody>
          <a:bodyPr/>
          <a:lstStyle/>
          <a:p>
            <a:pPr>
              <a:defRPr sz="1600"/>
            </a:pPr>
            <a:r>
              <a:t>Les appareils de commande manuelle sont placés de façon qu'au moins l'un d'eux soit accessible à chaque entrée dans les locaux.</a:t>
            </a:r>
          </a:p>
          <a:p>
            <a:pPr>
              <a:defRPr sz="1600"/>
            </a:pPr>
            <a:r>
              <a:t>L'éclairement moyen à maintenir est précisé au tableau 772A.</a:t>
            </a:r>
          </a:p>
        </p:txBody>
      </p:sp>
    </p:spTree>
  </p:cSld>
  <p:clrMapOvr>
    <a:masterClrMapping/>
  </p:clrMapOvr>
</p:sld>
</file>

<file path=ppt/slides/slide10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772.3.1.4 Socles de prises de courant</a:t>
            </a:r>
          </a:p>
        </p:txBody>
      </p:sp>
      <p:sp>
        <p:nvSpPr>
          <p:cNvPr id="3" name="Content Placeholder 2"/>
          <p:cNvSpPr>
            <a:spLocks noGrp="1"/>
          </p:cNvSpPr>
          <p:nvPr>
            <p:ph idx="1"/>
          </p:nvPr>
        </p:nvSpPr>
        <p:spPr/>
        <p:txBody>
          <a:bodyPr/>
          <a:lstStyle/>
          <a:p>
            <a:pPr>
              <a:defRPr sz="1600"/>
            </a:pPr>
            <a:r>
              <a:t>Tout local technique ou de service doit comporter au moins un socle de prise de courant 2P + T, 16 A.</a:t>
            </a:r>
          </a:p>
        </p:txBody>
      </p:sp>
    </p:spTree>
  </p:cSld>
  <p:clrMapOvr>
    <a:masterClrMapping/>
  </p:clrMapOvr>
</p:sld>
</file>

<file path=ppt/slides/slide10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772.3.1.5 Réseau d'alarmes techniques et de signalisation</a:t>
            </a:r>
          </a:p>
        </p:txBody>
      </p:sp>
      <p:sp>
        <p:nvSpPr>
          <p:cNvPr id="3" name="Content Placeholder 2"/>
          <p:cNvSpPr>
            <a:spLocks noGrp="1"/>
          </p:cNvSpPr>
          <p:nvPr>
            <p:ph idx="1"/>
          </p:nvPr>
        </p:nvSpPr>
        <p:spPr/>
        <p:txBody>
          <a:bodyPr/>
          <a:lstStyle/>
          <a:p>
            <a:pPr>
              <a:defRPr sz="1600"/>
            </a:pPr>
            <a:r>
              <a:t>L'installation de ce réseau doit être réalisée conformément au paragraphe 772.</a:t>
            </a:r>
          </a:p>
          <a:p>
            <a:pPr>
              <a:defRPr sz="1600"/>
            </a:pPr>
            <a:r>
              <a:t>4.</a:t>
            </a:r>
          </a:p>
        </p:txBody>
      </p:sp>
    </p:spTree>
  </p:cSld>
  <p:clrMapOvr>
    <a:masterClrMapping/>
  </p:clrMapOvr>
</p:sld>
</file>

<file path=ppt/slides/slide10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772.3.2 Ascenseurs</a:t>
            </a:r>
          </a:p>
        </p:txBody>
      </p:sp>
      <p:sp>
        <p:nvSpPr>
          <p:cNvPr id="3" name="Content Placeholder 2"/>
          <p:cNvSpPr>
            <a:spLocks noGrp="1"/>
          </p:cNvSpPr>
          <p:nvPr>
            <p:ph idx="1"/>
          </p:nvPr>
        </p:nvSpPr>
        <p:spPr/>
        <p:txBody>
          <a:bodyPr/>
          <a:lstStyle/>
          <a:p>
            <a:pPr>
              <a:defRPr sz="1600"/>
            </a:pPr>
            <a:r>
              <a:t>L'installation des ascenseurs est régie par la série des normes EN 81-X : Règles de sécurité pour la construction et l'installation des élévateurs.</a:t>
            </a:r>
          </a:p>
        </p:txBody>
      </p:sp>
    </p:spTree>
  </p:cSld>
  <p:clrMapOvr>
    <a:masterClrMapping/>
  </p:clrMapOvr>
</p:sld>
</file>

<file path=ppt/slides/slide10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772.3.2.1 Caractéristiques des locaux et choix des matériels électriques en fonction des</a:t>
            </a:r>
          </a:p>
        </p:txBody>
      </p:sp>
      <p:sp>
        <p:nvSpPr>
          <p:cNvPr id="3" name="Content Placeholder 2"/>
          <p:cNvSpPr>
            <a:spLocks noGrp="1"/>
          </p:cNvSpPr>
          <p:nvPr>
            <p:ph idx="1"/>
          </p:nvPr>
        </p:nvSpPr>
        <p:spPr/>
        <p:txBody>
          <a:bodyPr/>
          <a:lstStyle/>
          <a:p>
            <a:pPr>
              <a:defRPr sz="1600"/>
            </a:pPr>
            <a:r>
              <a:t>influences externes  Voir le guide UTE C 15-103.</a:t>
            </a:r>
          </a:p>
          <a:p>
            <a:pPr>
              <a:defRPr sz="1600"/>
            </a:pPr>
            <a:r>
              <a:t>- 463 -.</a:t>
            </a:r>
          </a:p>
        </p:txBody>
      </p:sp>
    </p:spTree>
  </p:cSld>
  <p:clrMapOvr>
    <a:masterClrMapping/>
  </p:clrMapOvr>
</p:sld>
</file>

<file path=ppt/slides/slide10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772.3.2.2 Canalisations</a:t>
            </a:r>
          </a:p>
        </p:txBody>
      </p:sp>
      <p:sp>
        <p:nvSpPr>
          <p:cNvPr id="3" name="Content Placeholder 2"/>
          <p:cNvSpPr>
            <a:spLocks noGrp="1"/>
          </p:cNvSpPr>
          <p:nvPr>
            <p:ph idx="1"/>
          </p:nvPr>
        </p:nvSpPr>
        <p:spPr/>
        <p:txBody>
          <a:bodyPr/>
          <a:lstStyle/>
          <a:p>
            <a:pPr>
              <a:defRPr sz="1600"/>
            </a:pPr>
            <a:r>
              <a:t>a) Nature des canalisations  L'alimentation principale a son origine au tableau principal des services généraux.</a:t>
            </a:r>
          </a:p>
          <a:p>
            <a:pPr>
              <a:defRPr sz="1600"/>
            </a:pPr>
            <a:r>
              <a:t>Il est rappelé que les canalisations d'alimentation des ascenseurs peuvent être placées, sous certaines conditions, dans les gaines réservées aux installations de branchement sous réserve de l'accord préalable du Service de Distribution (NF C 14-100).</a:t>
            </a:r>
          </a:p>
          <a:p>
            <a:pPr>
              <a:defRPr sz="1600"/>
            </a:pPr>
            <a:r>
              <a:t>b) Passage dans la gaine de l'ascenseur  Aucune canalisation ne doit passer à l’intérieur de la gaine d’ascenseur à l’exception de celles dédiées à l’ascenseur.</a:t>
            </a:r>
          </a:p>
          <a:p>
            <a:pPr>
              <a:defRPr sz="1600"/>
            </a:pPr>
            <a:r>
              <a:t>c) Section des conducteurs d'alimentation  En l'absence d'indications plus précises de la part de l'installateur des ascenseurs, les dispositions suivantes pourront être retenues :  Le courant servant au calcul de la section des conducteurs d'alimentation d'un moteur d'ascenseur est pris au moins égal à :  I =I + n  I d 3  In = courant en marche normale Id = courant de démarrage  L'attention est attirée sur le fait que la puissance à souscrire auprès du Service de Distribution pour l'alimentation principale doit tenir compte de l'appel de courant au démarrage.</a:t>
            </a:r>
          </a:p>
          <a:p>
            <a:pPr>
              <a:defRPr sz="1600"/>
            </a:pPr>
            <a:r>
              <a:t>Si l'installation comporte plusieurs ascenseurs alimentés par une même canalisation et susceptibles de démarrer simultanément, la section des conducteurs de la canalisation commune qui les alimente doit être choisie, du point de vue des échauffements, en tenant compte de la somme des courants calculés comme ci-dessus pour chacun des moteurs dans le rapport de 100 % pour le moteur le plus puissant, 75 % pour le suivant et 60 % pour les autres.</a:t>
            </a:r>
          </a:p>
        </p:txBody>
      </p:sp>
    </p:spTree>
  </p:cSld>
  <p:clrMapOvr>
    <a:masterClrMapping/>
  </p:clrMapOvr>
</p:sld>
</file>

<file path=ppt/slides/slide10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772.3.2.3 Local des machines</a:t>
            </a:r>
          </a:p>
        </p:txBody>
      </p:sp>
      <p:sp>
        <p:nvSpPr>
          <p:cNvPr id="3" name="Content Placeholder 2"/>
          <p:cNvSpPr>
            <a:spLocks noGrp="1"/>
          </p:cNvSpPr>
          <p:nvPr>
            <p:ph idx="1"/>
          </p:nvPr>
        </p:nvSpPr>
        <p:spPr/>
        <p:txBody>
          <a:bodyPr/>
          <a:lstStyle/>
          <a:p>
            <a:pPr>
              <a:defRPr sz="1600"/>
            </a:pPr>
            <a:r>
              <a:t>a) Tableau ascenseur  Le tableau de répartition est situé le plus près possible de la porte d'entrée du local, à l'intérieur de celui-ci.</a:t>
            </a:r>
          </a:p>
          <a:p>
            <a:pPr>
              <a:defRPr sz="1600"/>
            </a:pPr>
            <a:r>
              <a:t>Sa composition est spécifiée au chapitre 13 de l'EN 81.</a:t>
            </a:r>
          </a:p>
          <a:p>
            <a:pPr>
              <a:defRPr sz="1600"/>
            </a:pPr>
            <a:r>
              <a:t>Interrupteur général  DDR 30 mA  DDR 30 mA  I  P  P  P  P  P  P  (*)  Eclairage cabine 1  PC toit de cabine 1  Eclairage gaine 1  PC cuvette 1  Ascenseur 1  Ascenseur 1  PC local des machineries d’ascenseur  Eclairage local des machineries d’ascenseur  Vers tableau de moteur Ascenseur 1  I : Interrupteur principal moteur cadenassable  P : Dispositif de protection (disjoncteur ou fusible)  (*) : Prévoir un télérupteur  Figure 772A – Exemple de schéma de principe du tableau du local des machineries d’ascenseurs  b) Eclairage  L'éclairement moyen à maintenir est précisé au tableau 772A.</a:t>
            </a:r>
          </a:p>
          <a:p>
            <a:pPr>
              <a:defRPr sz="1600"/>
            </a:pPr>
            <a:r>
              <a:t>La réalisation de l'éclairage de la gaine est du domaine de l'installation d'ascenseurs.</a:t>
            </a:r>
          </a:p>
          <a:p>
            <a:pPr>
              <a:defRPr sz="1600"/>
            </a:pPr>
            <a:r>
              <a:t>c) Canalisations étrangères à la machinerie  Aucune canalisation, ni appareil, s'ils sont étrangers à l'exploitation ou à la sécurité du local des machines, ne doivent y être installés.</a:t>
            </a:r>
          </a:p>
        </p:txBody>
      </p:sp>
    </p:spTree>
  </p:cSld>
  <p:clrMapOvr>
    <a:masterClrMapping/>
  </p:clrMapOvr>
</p:sld>
</file>

<file path=ppt/slides/slide10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772.3.2.4 Eclairage des paliers d'ascenseurs des bâtiments collectifs</a:t>
            </a:r>
          </a:p>
        </p:txBody>
      </p:sp>
      <p:sp>
        <p:nvSpPr>
          <p:cNvPr id="3" name="Content Placeholder 2"/>
          <p:cNvSpPr>
            <a:spLocks noGrp="1"/>
          </p:cNvSpPr>
          <p:nvPr>
            <p:ph idx="1"/>
          </p:nvPr>
        </p:nvSpPr>
        <p:spPr/>
        <p:txBody>
          <a:bodyPr/>
          <a:lstStyle/>
          <a:p>
            <a:pPr>
              <a:defRPr sz="1600"/>
            </a:pPr>
            <a:r>
              <a:t>Si la commande automatique de l’éclairage des paliers par l'ouverture des portes palières d'ascenseurs est requise, cette commande ne doit pas s'effectuer directement par des dispositifs placés sur ces portes palières.</a:t>
            </a:r>
          </a:p>
          <a:p>
            <a:pPr>
              <a:defRPr sz="1600"/>
            </a:pPr>
            <a:r>
              <a:t>L’éclairage peut être commandé :  -  -  soit par détecteur de présence ;  soit avec l'accord du constructeur d'ascenseurs, par l'intermédiaire de contacts prévus à cet effet, dans l'armoire de manœuvre des machines, sous réserve de prémunir le personnel intervenant en machinerie contre les risques de toute tension provenant de ligne l'installation électrique du bâtiment.</a:t>
            </a:r>
          </a:p>
          <a:p>
            <a:pPr>
              <a:defRPr sz="1600"/>
            </a:pPr>
            <a:r>
              <a:t>Ceci doit être réalisé en ramenant d’alimentation générale de l’ensemble des minuteries sur le tableau d’arrivée de courant de l’ascenseur.</a:t>
            </a:r>
          </a:p>
          <a:p>
            <a:pPr>
              <a:defRPr sz="1600"/>
            </a:pPr>
            <a:r>
              <a:t>Les conditions de sécurité du personnel sont satisfaites par l'emploi d'un dispositif de sectionnement général coupant tous les pôles des circuits de commande des bobines de minuterie et placé, à cet effet, sur le tableau de répartition prévu en.</a:t>
            </a:r>
          </a:p>
        </p:txBody>
      </p:sp>
    </p:spTree>
  </p:cSld>
  <p:clrMapOvr>
    <a:masterClrMapping/>
  </p:clrMapOvr>
</p:sld>
</file>

<file path=ppt/slides/slide10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772.3.2.3 a).</a:t>
            </a:r>
          </a:p>
        </p:txBody>
      </p:sp>
      <p:sp>
        <p:nvSpPr>
          <p:cNvPr id="3" name="Content Placeholder 2"/>
          <p:cNvSpPr>
            <a:spLocks noGrp="1"/>
          </p:cNvSpPr>
          <p:nvPr>
            <p:ph idx="1"/>
          </p:nvPr>
        </p:nvSpPr>
        <p:spPr/>
        <p:txBody>
          <a:bodyPr/>
          <a:lstStyle/>
          <a:p>
            <a:pPr>
              <a:defRPr sz="1600"/>
            </a:pPr>
            <a:r>
              <a:t>la.</a:t>
            </a:r>
          </a:p>
        </p:txBody>
      </p:sp>
    </p:spTree>
  </p:cSld>
  <p:clrMapOvr>
    <a:masterClrMapping/>
  </p:clrMapOvr>
</p:sld>
</file>

<file path=ppt/slides/slide10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772.3.2.5 Local des poulies</a:t>
            </a:r>
          </a:p>
        </p:txBody>
      </p:sp>
      <p:sp>
        <p:nvSpPr>
          <p:cNvPr id="3" name="Content Placeholder 2"/>
          <p:cNvSpPr>
            <a:spLocks noGrp="1"/>
          </p:cNvSpPr>
          <p:nvPr>
            <p:ph idx="1"/>
          </p:nvPr>
        </p:nvSpPr>
        <p:spPr/>
        <p:txBody>
          <a:bodyPr/>
          <a:lstStyle/>
          <a:p>
            <a:pPr>
              <a:defRPr sz="1600"/>
            </a:pPr>
            <a:r>
              <a:t>Le local des poulies doit être équipé d'un tableau de répartition.</a:t>
            </a:r>
          </a:p>
          <a:p>
            <a:pPr>
              <a:defRPr sz="1600"/>
            </a:pPr>
            <a:r>
              <a:t>Le circuit d'alimentation du local des poulies peut être pris sur l'un des circuits d'éclairage des services généraux.</a:t>
            </a:r>
          </a:p>
        </p:txBody>
      </p:sp>
    </p:spTree>
  </p:cSld>
  <p:clrMapOvr>
    <a:masterClrMapping/>
  </p:clrMapOvr>
</p:sld>
</file>

<file path=ppt/slides/slide10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772.3.2.6 Eclairage de remplacement ou de sécurité</a:t>
            </a:r>
          </a:p>
        </p:txBody>
      </p:sp>
      <p:sp>
        <p:nvSpPr>
          <p:cNvPr id="3" name="Content Placeholder 2"/>
          <p:cNvSpPr>
            <a:spLocks noGrp="1"/>
          </p:cNvSpPr>
          <p:nvPr>
            <p:ph idx="1"/>
          </p:nvPr>
        </p:nvSpPr>
        <p:spPr/>
        <p:txBody>
          <a:bodyPr/>
          <a:lstStyle/>
          <a:p>
            <a:pPr>
              <a:defRPr sz="1600"/>
            </a:pPr>
            <a:r>
              <a:t>Chaque fois que l'immeuble dispose d'une alimentation de remplacement ou de sécurité, le local des machines doit posséder un éclairage raccordé à cette alimentation.</a:t>
            </a:r>
          </a:p>
          <a:p>
            <a:pPr>
              <a:defRPr sz="1600"/>
            </a:pPr>
            <a:r>
              <a:t>Dans le cas contraire, un éclairage de sécurité par bloc autonome non permanent à commande manuelle doit être prévu.</a:t>
            </a:r>
          </a:p>
          <a:p>
            <a:pPr>
              <a:defRPr sz="1600"/>
            </a:pPr>
            <a:r>
              <a:t>L'éclairage de remplacement ou de sécurité peut utiliser l'un au moins des appareils de l'éclairage normal.</a:t>
            </a:r>
          </a:p>
          <a:p>
            <a:pPr>
              <a:defRPr sz="1600"/>
            </a:pPr>
            <a:r>
              <a:t>L'attention est attirée sur la nécessité d'un entretien régulier des blocs autonomes d'éclairage de sécurité (BAES).</a:t>
            </a:r>
          </a:p>
        </p:txBody>
      </p:sp>
    </p:spTree>
  </p:cSld>
  <p:clrMapOvr>
    <a:masterClrMapping/>
  </p:clrMapOvr>
</p:sld>
</file>

<file path=ppt/slides/slide10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772.3.3 Chaufferie</a:t>
            </a:r>
          </a:p>
        </p:txBody>
      </p:sp>
      <p:sp>
        <p:nvSpPr>
          <p:cNvPr id="3" name="Content Placeholder 2"/>
          <p:cNvSpPr>
            <a:spLocks noGrp="1"/>
          </p:cNvSpPr>
          <p:nvPr>
            <p:ph idx="1"/>
          </p:nvPr>
        </p:nvSpPr>
        <p:spPr/>
        <p:txBody>
          <a:bodyPr/>
          <a:lstStyle/>
          <a:p>
            <a:pPr>
              <a:defRPr sz="1600"/>
            </a:pPr>
            <a:r>
              <a:t>Les chaufferies comportant un appareil de production de chaleur de puissance utile supérieure à 70 kW doivent respecter les dispositions de l’arrêté interministériel du 23 juin 1978.</a:t>
            </a:r>
          </a:p>
        </p:txBody>
      </p:sp>
    </p:spTree>
  </p:cSld>
  <p:clrMapOvr>
    <a:masterClrMapping/>
  </p:clrMapOvr>
</p:sld>
</file>

<file path=ppt/slides/slide10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772.4.1 Les installations d'alarme et/ou de signalisation sont demandées soit par un texte</a:t>
            </a:r>
          </a:p>
        </p:txBody>
      </p:sp>
      <p:sp>
        <p:nvSpPr>
          <p:cNvPr id="3" name="Content Placeholder 2"/>
          <p:cNvSpPr>
            <a:spLocks noGrp="1"/>
          </p:cNvSpPr>
          <p:nvPr>
            <p:ph idx="1"/>
          </p:nvPr>
        </p:nvSpPr>
        <p:spPr/>
        <p:txBody>
          <a:bodyPr/>
          <a:lstStyle/>
          <a:p>
            <a:pPr>
              <a:defRPr sz="1600"/>
            </a:pPr>
            <a:r>
              <a:t>réglementaire ou normatif, soit par un texte contractuel.</a:t>
            </a:r>
          </a:p>
          <a:p>
            <a:pPr>
              <a:defRPr sz="1600"/>
            </a:pPr>
            <a:r>
              <a:t>Elles sont soit du domaine de la sécurité, soit du domaine du confort.</a:t>
            </a:r>
          </a:p>
          <a:p>
            <a:pPr>
              <a:defRPr sz="1600"/>
            </a:pPr>
            <a:r>
              <a:t>Les installations d'alarme sont destinées à prévenir les personnes chargées de prendre les mesures nécessaires en cas d'incident ou de défaut de fonctionnement du matériel ou des installations, afin d'en limiter les effets et de rétablir la situation normale dans les meilleurs délais.</a:t>
            </a:r>
          </a:p>
          <a:p>
            <a:pPr>
              <a:defRPr sz="1600"/>
            </a:pPr>
            <a:r>
              <a:t>Les installations de détection d'incendie doivent être conformes aux normes en vigueur.</a:t>
            </a:r>
          </a:p>
        </p:txBody>
      </p:sp>
    </p:spTree>
  </p:cSld>
  <p:clrMapOvr>
    <a:masterClrMapping/>
  </p:clrMapOvr>
</p:sld>
</file>

<file path=ppt/slides/slide10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772.4.2 Les alarmes et signalisations du domaine de la sécurité nécessitent, en général, une</a:t>
            </a:r>
          </a:p>
        </p:txBody>
      </p:sp>
      <p:sp>
        <p:nvSpPr>
          <p:cNvPr id="3" name="Content Placeholder 2"/>
          <p:cNvSpPr>
            <a:spLocks noGrp="1"/>
          </p:cNvSpPr>
          <p:nvPr>
            <p:ph idx="1"/>
          </p:nvPr>
        </p:nvSpPr>
        <p:spPr/>
        <p:txBody>
          <a:bodyPr/>
          <a:lstStyle/>
          <a:p>
            <a:pPr>
              <a:defRPr sz="1600"/>
            </a:pPr>
            <a:r>
              <a:t>source autonome (batteries, etc.</a:t>
            </a:r>
          </a:p>
          <a:p>
            <a:pPr>
              <a:defRPr sz="1600"/>
            </a:pPr>
            <a:r>
              <a:t>).</a:t>
            </a:r>
          </a:p>
          <a:p>
            <a:pPr>
              <a:defRPr sz="1600"/>
            </a:pPr>
            <a:r>
              <a:t>Ces alimentations peuvent être spécifiques ou communes à plusieurs installations.</a:t>
            </a:r>
          </a:p>
          <a:p>
            <a:pPr>
              <a:defRPr sz="1600"/>
            </a:pPr>
            <a:r>
              <a:t>- 466 -   Les reports de signalisation éventuels sont généralement regroupés sur un tableau dans le local de gardiennage.</a:t>
            </a:r>
          </a:p>
          <a:p>
            <a:pPr>
              <a:defRPr sz="1600"/>
            </a:pPr>
            <a:r>
              <a:t>Annexe – (normative) – Installation de mise à la terre  1  2  2  2  2  B  4  3  P  T  1 2 3 4 B P T  Conducteur principal de protection (colonne montante de terre) Conducteur de protection de la dérivation individuelle Conducteur de la liaison équipotentielle principale Conducteur de terre Borne principale Canalisations métalliques, par exemple eau, gaz, chauffage central Prise de terre  Figure 772B – Exemple d’installation de mise à la terre  a) conducteur de terre :  2  sa section minimale doit être de : - 25 mm  en cuivre nu, 2 - 35 mm en aluminium (voir NF C 15 -100, 542.</a:t>
            </a:r>
          </a:p>
        </p:txBody>
      </p:sp>
    </p:spTree>
  </p:cSld>
  <p:clrMapOvr>
    <a:masterClrMapping/>
  </p:clrMapOvr>
</p:sld>
</file>

<file path=ppt/slides/slide10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773.411.3 Protection contre les contacts indirects</a:t>
            </a:r>
          </a:p>
        </p:txBody>
      </p:sp>
      <p:sp>
        <p:nvSpPr>
          <p:cNvPr id="3" name="Content Placeholder 2"/>
          <p:cNvSpPr>
            <a:spLocks noGrp="1"/>
          </p:cNvSpPr>
          <p:nvPr>
            <p:ph idx="1"/>
          </p:nvPr>
        </p:nvSpPr>
        <p:spPr/>
        <p:txBody>
          <a:bodyPr/>
          <a:lstStyle/>
          <a:p>
            <a:pPr>
              <a:defRPr sz="1600"/>
            </a:pPr>
            <a:r>
              <a:t>L a protection contre les contacts indirects d'installations non surveillées en permanence et alimentées par le réseau de distribution publique à basse tension, est assurée par l'une des mesures suivantes :  a) Alimentation de l'installation ou partie d'installation par l'intermédiaire d’un transformateur de séparation conforme à la norme en vigueur (*).</a:t>
            </a:r>
          </a:p>
          <a:p>
            <a:pPr>
              <a:defRPr sz="1600"/>
            </a:pPr>
            <a:r>
              <a:t>Le transformateur de séparation, qui doit être de classe 2, est alimenté immédiatement en aval du disjoncteur de branchement qui ne comporte pas de fonction différentielle.</a:t>
            </a:r>
          </a:p>
          <a:p>
            <a:pPr>
              <a:defRPr sz="1600"/>
            </a:pPr>
            <a:r>
              <a:t>L a partie d'installation située en aval du transformateur de séparation est protégée : -  soit suivant la mesure par séparation électrique conformément aux règles du 413, si cette partie n'alimente qu'un seul matériel d’utilisation, soit suivant les règles du schéma TN ou IT.</a:t>
            </a:r>
          </a:p>
          <a:p>
            <a:pPr>
              <a:defRPr sz="1600"/>
            </a:pPr>
            <a:r>
              <a:t>-  L a protection différentielle des autres parties de l'installation est assurée suivant le schéma de la sélection des circuits définie en 535.</a:t>
            </a:r>
          </a:p>
          <a:p>
            <a:pPr>
              <a:defRPr sz="1600"/>
            </a:pPr>
            <a:r>
              <a:t>4.</a:t>
            </a:r>
          </a:p>
        </p:txBody>
      </p:sp>
    </p:spTree>
  </p:cSld>
  <p:clrMapOvr>
    <a:masterClrMapping/>
  </p:clrMapOvr>
</p:sld>
</file>

<file path=ppt/slides/slide10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781.5 Dispositions concernant les locaux de service électrique............................................474</a:t>
            </a:r>
          </a:p>
        </p:txBody>
      </p:sp>
      <p:sp>
        <p:nvSpPr>
          <p:cNvPr id="3" name="Content Placeholder 2"/>
          <p:cNvSpPr>
            <a:spLocks noGrp="1"/>
          </p:cNvSpPr>
          <p:nvPr>
            <p:ph idx="1"/>
          </p:nvPr>
        </p:nvSpPr>
        <p:spPr/>
        <p:txBody>
          <a:bodyPr/>
          <a:lstStyle/>
          <a:p>
            <a:pPr>
              <a:defRPr sz="1600"/>
            </a:pPr>
            <a:r>
              <a:t>Les prescriptions de la présente partie complètent les prescriptions générales des autres parties de la NF C 15-100.</a:t>
            </a:r>
          </a:p>
          <a:p>
            <a:pPr>
              <a:defRPr sz="1600"/>
            </a:pPr>
            <a:r>
              <a:t>Les numéros suivant le numéro particulier de la partie 7-781 sont ceux des parties, articles ou paragraphes correspondants de la présente norme.</a:t>
            </a:r>
          </a:p>
          <a:p>
            <a:pPr>
              <a:defRPr sz="1600"/>
            </a:pPr>
            <a:r>
              <a:t>L'absence de référence à une partie, à un article ou à un paragraphe signifie que les prescriptions générales correspondantes sont applicables.</a:t>
            </a:r>
          </a:p>
          <a:p>
            <a:pPr>
              <a:defRPr sz="1600"/>
            </a:pPr>
            <a:r>
              <a:t>- 471 -   C.</a:t>
            </a:r>
          </a:p>
        </p:txBody>
      </p:sp>
    </p:spTree>
  </p:cSld>
  <p:clrMapOvr>
    <a:masterClrMapping/>
  </p:clrMapOvr>
</p:sld>
</file>

<file path=ppt/slides/slide10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781.0 Domaine d'application</a:t>
            </a:r>
          </a:p>
        </p:txBody>
      </p:sp>
      <p:sp>
        <p:nvSpPr>
          <p:cNvPr id="3" name="Content Placeholder 2"/>
          <p:cNvSpPr>
            <a:spLocks noGrp="1"/>
          </p:cNvSpPr>
          <p:nvPr>
            <p:ph idx="1"/>
          </p:nvPr>
        </p:nvSpPr>
        <p:spPr/>
        <p:txBody>
          <a:bodyPr/>
          <a:lstStyle/>
          <a:p>
            <a:pPr>
              <a:defRPr sz="1600"/>
            </a:pPr>
            <a:r>
              <a:t>La présente partie traite des dispositions particulières des locaux ou emplacements de service électrique.</a:t>
            </a:r>
          </a:p>
        </p:txBody>
      </p:sp>
    </p:spTree>
  </p:cSld>
  <p:clrMapOvr>
    <a:masterClrMapping/>
  </p:clrMapOvr>
</p:sld>
</file>

<file path=ppt/slides/slide10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781.1 Généralités</a:t>
            </a:r>
          </a:p>
        </p:txBody>
      </p:sp>
      <p:sp>
        <p:nvSpPr>
          <p:cNvPr id="3" name="Content Placeholder 2"/>
          <p:cNvSpPr>
            <a:spLocks noGrp="1"/>
          </p:cNvSpPr>
          <p:nvPr>
            <p:ph idx="1"/>
          </p:nvPr>
        </p:nvSpPr>
        <p:spPr/>
        <p:txBody>
          <a:bodyPr/>
          <a:lstStyle/>
          <a:p>
            <a:pPr>
              <a:defRPr sz="1600"/>
            </a:pPr>
            <a:r>
              <a:t>Les locaux ou emplacements de service électrique sont des locaux ou emplacements renfermant des matériels électriques et dont l'accès est réservé aux personnes qualifiées, chargées de l'entretien et de la surveillance des matériels.</a:t>
            </a:r>
          </a:p>
          <a:p>
            <a:pPr>
              <a:defRPr sz="1600"/>
            </a:pPr>
            <a:r>
              <a:t>De ce fait, il est admis que, dans ces locaux ou emplacements, la protection contre les contacts directs soit assurée au moyen d'obstacles (voir annexe B1 de la partie 4-41), ou par mise hors de portée par éloignement (voir annexe B2 de la partie 4-41), et en respectant les conditions de 781.</a:t>
            </a:r>
          </a:p>
          <a:p>
            <a:pPr>
              <a:defRPr sz="1600"/>
            </a:pPr>
            <a:r>
              <a:t>2.</a:t>
            </a:r>
          </a:p>
          <a:p>
            <a:pPr>
              <a:defRPr sz="1600"/>
            </a:pPr>
            <a:r>
              <a:t>La protection contre les contacts directs peut même être absente, en respectant les conditions de 781.</a:t>
            </a:r>
          </a:p>
          <a:p>
            <a:pPr>
              <a:defRPr sz="1600"/>
            </a:pPr>
            <a:r>
              <a:t>3.</a:t>
            </a:r>
          </a:p>
        </p:txBody>
      </p:sp>
    </p:spTree>
  </p:cSld>
  <p:clrMapOvr>
    <a:masterClrMapping/>
  </p:clrMapOvr>
</p:sld>
</file>

<file path=ppt/slides/slide10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781.2 Protection au moyen d'obstacles ou par mise hors de portée par éloignement</a:t>
            </a:r>
          </a:p>
        </p:txBody>
      </p:sp>
      <p:sp>
        <p:nvSpPr>
          <p:cNvPr id="3" name="Content Placeholder 2"/>
          <p:cNvSpPr>
            <a:spLocks noGrp="1"/>
          </p:cNvSpPr>
          <p:nvPr>
            <p:ph idx="1"/>
          </p:nvPr>
        </p:nvSpPr>
        <p:spPr/>
        <p:txBody>
          <a:bodyPr/>
          <a:lstStyle/>
          <a:p>
            <a:pPr>
              <a:defRPr sz="1600"/>
            </a:pPr>
            <a:r>
              <a:t>Les mesures de protection au moyen d'obstacles selon l'annexe B1 à la partie 4-41 ou par mise hors de portée par éloignement selon l'annexe B2 à la partie 4-41 sont admises seulement dans les locaux où n'ont accès, conformément aux instructions de manœuvre, que des personnes averties (BA 4) ou qualifiées (BA 5) (*) et si les conditions suivantes sont simultanément remplies :  -  -  -  la tension nominale qui se présente dans de tels locaux (ou emplacements) ne doit pas être supérieure à 1000 V en courant alternatif ou 1500 V en courant continu ;  les règles énoncées en 781.</a:t>
            </a:r>
          </a:p>
          <a:p>
            <a:pPr>
              <a:defRPr sz="1600"/>
            </a:pPr>
            <a:r>
              <a:t>4.</a:t>
            </a:r>
          </a:p>
          <a:p>
            <a:pPr>
              <a:defRPr sz="1600"/>
            </a:pPr>
            <a:r>
              <a:t>1 et 781.</a:t>
            </a:r>
          </a:p>
          <a:p>
            <a:pPr>
              <a:defRPr sz="1600"/>
            </a:pPr>
            <a:r>
              <a:t>4.</a:t>
            </a:r>
          </a:p>
          <a:p>
            <a:pPr>
              <a:defRPr sz="1600"/>
            </a:pPr>
            <a:r>
              <a:t>3 doivent être observées dans les cas considérés ;  les locaux (ou emplacements) doivent être signalés de façon claire et visible par des repères appropriés.</a:t>
            </a:r>
          </a:p>
        </p:txBody>
      </p:sp>
    </p:spTree>
  </p:cSld>
  <p:clrMapOvr>
    <a:masterClrMapping/>
  </p:clrMapOvr>
</p:sld>
</file>

<file path=ppt/slides/slide10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781.3 Absence de protection contre les contacts directs</a:t>
            </a:r>
          </a:p>
        </p:txBody>
      </p:sp>
      <p:sp>
        <p:nvSpPr>
          <p:cNvPr id="3" name="Content Placeholder 2"/>
          <p:cNvSpPr>
            <a:spLocks noGrp="1"/>
          </p:cNvSpPr>
          <p:nvPr>
            <p:ph idx="1"/>
          </p:nvPr>
        </p:nvSpPr>
        <p:spPr/>
        <p:txBody>
          <a:bodyPr/>
          <a:lstStyle/>
          <a:p>
            <a:pPr>
              <a:defRPr sz="1600"/>
            </a:pPr>
            <a:r>
              <a:t>U ne protection contre les contacts directs n'est pas requise dans les locaux accessibles seulement à des personnes averties (BA 4) ou qualifiées (BA 5) (*) dûment instruites pour le besoin particulier et si les conditions suivantes sont simultanément remplies :  -  la tension nominale n'est pas supérieure à 500 volts en courant alternatif et 750V en courant continu lisse (domaine BTA) ;  C  Cette limitation n'est pas prescrite par les normes internationales et résulte de la réglementation pour la protection des travailleurs.</a:t>
            </a:r>
          </a:p>
          <a:p>
            <a:pPr>
              <a:defRPr sz="1600"/>
            </a:pPr>
            <a:r>
              <a:t>-  -  -  -  -  les locaux (ou emplacements) doivent être signalés de façon claire et visible par des repères appropriés ;  les portes d'entrée des locaux (ou emplacements) doivent permettre une sortie facile vers l'extérieur.</a:t>
            </a:r>
          </a:p>
          <a:p>
            <a:pPr>
              <a:defRPr sz="1600"/>
            </a:pPr>
            <a:r>
              <a:t>Elles doivent pouvoir être ouvertes sans clé de l'intérieur, même si elles sont fermées à clé de l'extérieur ;  pour les passages, les cotes minima les fixées en 781.</a:t>
            </a:r>
          </a:p>
          <a:p>
            <a:pPr>
              <a:defRPr sz="1600"/>
            </a:pPr>
            <a:r>
              <a:t>4.</a:t>
            </a:r>
          </a:p>
          <a:p>
            <a:pPr>
              <a:defRPr sz="1600"/>
            </a:pPr>
            <a:r>
              <a:t>2 et 781.</a:t>
            </a:r>
          </a:p>
        </p:txBody>
      </p:sp>
    </p:spTree>
  </p:cSld>
  <p:clrMapOvr>
    <a:masterClrMapping/>
  </p:clrMapOvr>
</p:sld>
</file>

<file path=ppt/slides/slide10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781.4 Distances minimales à respecter dans les passages de service</a:t>
            </a:r>
          </a:p>
        </p:txBody>
      </p:sp>
      <p:sp>
        <p:nvSpPr>
          <p:cNvPr id="3" name="Content Placeholder 2"/>
          <p:cNvSpPr>
            <a:spLocks noGrp="1"/>
          </p:cNvSpPr>
          <p:nvPr>
            <p:ph idx="1"/>
          </p:nvPr>
        </p:nvSpPr>
        <p:spPr/>
        <p:txBody>
          <a:bodyPr/>
          <a:lstStyle/>
          <a:p>
            <a:pPr>
              <a:defRPr sz="1600"/>
            </a:pPr>
            <a:r>
              <a:t>NOTE - Les cotes indiquées ci-après sont des valeurs minimales rigoureuses.</a:t>
            </a:r>
          </a:p>
          <a:p>
            <a:pPr>
              <a:defRPr sz="1600"/>
            </a:pPr>
            <a:r>
              <a:t>Dans des circonstances particulières, il peut être indiqué, dans l'intérêt de la sécurité, d'adopter des valeurs plus élevées.</a:t>
            </a:r>
          </a:p>
          <a:p>
            <a:pPr>
              <a:defRPr sz="1600"/>
            </a:pPr>
            <a:r>
              <a:t>D'autres considérations, telles que positions de travail, facilités d'évacuation, etc.</a:t>
            </a:r>
          </a:p>
          <a:p>
            <a:pPr>
              <a:defRPr sz="1600"/>
            </a:pPr>
            <a:r>
              <a:t>peuvent nécessiter des valeurs plus grandes.</a:t>
            </a:r>
          </a:p>
        </p:txBody>
      </p:sp>
    </p:spTree>
  </p:cSld>
  <p:clrMapOvr>
    <a:masterClrMapping/>
  </p:clrMapOvr>
</p:sld>
</file>

<file path=ppt/slides/slide10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781.4.1 Les distances indiquées ci-après doivent être observées lorsqu'une protection au moyen</a:t>
            </a:r>
          </a:p>
        </p:txBody>
      </p:sp>
      <p:sp>
        <p:nvSpPr>
          <p:cNvPr id="3" name="Content Placeholder 2"/>
          <p:cNvSpPr>
            <a:spLocks noGrp="1"/>
          </p:cNvSpPr>
          <p:nvPr>
            <p:ph idx="1"/>
          </p:nvPr>
        </p:nvSpPr>
        <p:spPr/>
        <p:txBody>
          <a:bodyPr/>
          <a:lstStyle/>
          <a:p>
            <a:pPr>
              <a:defRPr sz="1600"/>
            </a:pPr>
            <a:r>
              <a:t>d’obstacles est assurée :  a) Largeur du passage entre obstacles ou entre organes de commande  ou entre obstacles et organes de commande :.</a:t>
            </a:r>
          </a:p>
          <a:p>
            <a:pPr>
              <a:defRPr sz="1600"/>
            </a:pPr>
            <a:r>
              <a:t>700 mm min.</a:t>
            </a:r>
          </a:p>
          <a:p>
            <a:pPr>
              <a:defRPr sz="1600"/>
            </a:pPr>
            <a:r>
              <a:t>b) Largeur du passage entre organes de commande ou obstacles et paroi :.</a:t>
            </a:r>
          </a:p>
          <a:p>
            <a:pPr>
              <a:defRPr sz="1600"/>
            </a:pPr>
            <a:r>
              <a:t>700 mm min.</a:t>
            </a:r>
          </a:p>
          <a:p>
            <a:pPr>
              <a:defRPr sz="1600"/>
            </a:pPr>
            <a:r>
              <a:t>c) Hauteur de passage sous obstacle :.</a:t>
            </a:r>
          </a:p>
        </p:txBody>
      </p:sp>
    </p:spTree>
  </p:cSld>
  <p:clrMapOvr>
    <a:masterClrMapping/>
  </p:clrMapOvr>
</p:sld>
</file>

<file path=ppt/slides/slide10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781.4.2 Dans les locaux dans lesquels aucune mesure de protection n'est prévue, les cotes</a:t>
            </a:r>
          </a:p>
        </p:txBody>
      </p:sp>
      <p:sp>
        <p:nvSpPr>
          <p:cNvPr id="3" name="Content Placeholder 2"/>
          <p:cNvSpPr>
            <a:spLocks noGrp="1"/>
          </p:cNvSpPr>
          <p:nvPr>
            <p:ph idx="1"/>
          </p:nvPr>
        </p:nvSpPr>
        <p:spPr/>
        <p:txBody>
          <a:bodyPr/>
          <a:lstStyle/>
          <a:p>
            <a:pPr>
              <a:defRPr sz="1600"/>
            </a:pPr>
            <a:r>
              <a:t>suivantes doivent être respectées pour les passages de service :  a) Lorsque le passage est bordé d'un seul côté par des parties actives non protégées :  a1)  largeur du passage entre la paroi et les parties actives non protégées :.</a:t>
            </a:r>
          </a:p>
          <a:p>
            <a:pPr>
              <a:defRPr sz="1600"/>
            </a:pPr>
            <a:r>
              <a:t>1 000 mm min.</a:t>
            </a:r>
          </a:p>
          <a:p>
            <a:pPr>
              <a:defRPr sz="1600"/>
            </a:pPr>
            <a:r>
              <a:t>a2) passage libre devant les organes de commande (poignées, etc.</a:t>
            </a:r>
          </a:p>
          <a:p>
            <a:pPr>
              <a:defRPr sz="1600"/>
            </a:pPr>
            <a:r>
              <a:t>) :.</a:t>
            </a:r>
          </a:p>
          <a:p>
            <a:pPr>
              <a:defRPr sz="1600"/>
            </a:pPr>
            <a:r>
              <a:t>700 mm min.</a:t>
            </a:r>
          </a:p>
        </p:txBody>
      </p:sp>
    </p:spTree>
  </p:cSld>
  <p:clrMapOvr>
    <a:masterClrMapping/>
  </p:clrMapOvr>
</p:sld>
</file>

<file path=ppt/slides/slide10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781.4.3 Les passages de service d'une longueur supérieure à 20 m doivent être accessibles aux</a:t>
            </a:r>
          </a:p>
        </p:txBody>
      </p:sp>
      <p:sp>
        <p:nvSpPr>
          <p:cNvPr id="3" name="Content Placeholder 2"/>
          <p:cNvSpPr>
            <a:spLocks noGrp="1"/>
          </p:cNvSpPr>
          <p:nvPr>
            <p:ph idx="1"/>
          </p:nvPr>
        </p:nvSpPr>
        <p:spPr/>
        <p:txBody>
          <a:bodyPr/>
          <a:lstStyle/>
          <a:p>
            <a:pPr>
              <a:defRPr sz="1600"/>
            </a:pPr>
            <a:r>
              <a:t>deux extrémités.</a:t>
            </a:r>
          </a:p>
          <a:p>
            <a:pPr>
              <a:defRPr sz="1600"/>
            </a:pPr>
            <a:r>
              <a:t>Pour des passages plus courts, mais de longueur supérieure à 6 m, l'accessibilité aux deux extrémités est recommandée.</a:t>
            </a:r>
          </a:p>
        </p:txBody>
      </p:sp>
    </p:spTree>
  </p:cSld>
  <p:clrMapOvr>
    <a:masterClrMapping/>
  </p:clrMapOvr>
</p:sld>
</file>

<file path=ppt/slides/slide10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781.5.1 Emplacement</a:t>
            </a:r>
          </a:p>
        </p:txBody>
      </p:sp>
      <p:sp>
        <p:nvSpPr>
          <p:cNvPr id="3" name="Content Placeholder 2"/>
          <p:cNvSpPr>
            <a:spLocks noGrp="1"/>
          </p:cNvSpPr>
          <p:nvPr>
            <p:ph idx="1"/>
          </p:nvPr>
        </p:nvSpPr>
        <p:spPr/>
        <p:txBody>
          <a:bodyPr/>
          <a:lstStyle/>
          <a:p>
            <a:pPr>
              <a:defRPr sz="1600"/>
            </a:pPr>
            <a:r>
              <a:t>Le tableau général basse tension doit être situé au plus près du centre de gravité des charges électriques.</a:t>
            </a:r>
          </a:p>
          <a:p>
            <a:pPr>
              <a:defRPr sz="1600"/>
            </a:pPr>
            <a:r>
              <a:t>Le centre de gravité des charges électriques (barycentre des puissances) est l’emplacement qui tient compte de la situation des unités de consommation de forte puissance, afin de réduire la longueur et la section des canalisations.</a:t>
            </a:r>
          </a:p>
          <a:p>
            <a:pPr>
              <a:defRPr sz="1600"/>
            </a:pPr>
            <a:r>
              <a:t>Le ou les transformateur(s) doi(ven)t être situé(s) le plus près possible du tableau général basse tension.</a:t>
            </a:r>
          </a:p>
          <a:p>
            <a:pPr>
              <a:defRPr sz="1600"/>
            </a:pPr>
            <a:r>
              <a:t>Il est recommandé que le local de service électrique comportant le tableau général basse tension se situe au plus près des canalisations verticales de distribution.</a:t>
            </a:r>
          </a:p>
        </p:txBody>
      </p:sp>
    </p:spTree>
  </p:cSld>
  <p:clrMapOvr>
    <a:masterClrMapping/>
  </p:clrMapOvr>
</p:sld>
</file>

<file path=ppt/slides/slide10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781.5.2 Dimensions</a:t>
            </a:r>
          </a:p>
        </p:txBody>
      </p:sp>
      <p:sp>
        <p:nvSpPr>
          <p:cNvPr id="3" name="Content Placeholder 2"/>
          <p:cNvSpPr>
            <a:spLocks noGrp="1"/>
          </p:cNvSpPr>
          <p:nvPr>
            <p:ph idx="1"/>
          </p:nvPr>
        </p:nvSpPr>
        <p:spPr/>
        <p:txBody>
          <a:bodyPr/>
          <a:lstStyle/>
          <a:p>
            <a:pPr>
              <a:defRPr sz="1600"/>
            </a:pPr>
            <a:r>
              <a:t>Les dimensions des locaux de service électrique dans lesquels sont appliquées les mesures particulières contre les contacts directs répondent à 781.</a:t>
            </a:r>
          </a:p>
          <a:p>
            <a:pPr>
              <a:defRPr sz="1600"/>
            </a:pPr>
            <a:r>
              <a:t>2 à 781.</a:t>
            </a:r>
          </a:p>
          <a:p>
            <a:pPr>
              <a:defRPr sz="1600"/>
            </a:pPr>
            <a:r>
              <a:t>4.</a:t>
            </a:r>
          </a:p>
          <a:p>
            <a:pPr>
              <a:defRPr sz="1600"/>
            </a:pPr>
            <a:r>
              <a:t>Les locaux renfermant les postes de transformation, les groupes électrogènes, les ASI, le tableau principal de distribution électrique ont des dimensions minimales imposées par les dimensions des matériels.</a:t>
            </a:r>
          </a:p>
          <a:p>
            <a:pPr>
              <a:defRPr sz="1600"/>
            </a:pPr>
            <a:r>
              <a:t>Les locaux renfermant simplement des tableaux électriques sous enveloppes (armoires ou coffrets) doivent satisfaire aux dimensions minimales données dans le tableau 781A.</a:t>
            </a:r>
          </a:p>
        </p:txBody>
      </p:sp>
    </p:spTree>
  </p:cSld>
  <p:clrMapOvr>
    <a:masterClrMapping/>
  </p:clrMapOvr>
</p:sld>
</file>

<file path=ppt/slides/slide10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781.5.3 Ventilation et conditionnement</a:t>
            </a:r>
          </a:p>
        </p:txBody>
      </p:sp>
      <p:sp>
        <p:nvSpPr>
          <p:cNvPr id="3" name="Content Placeholder 2"/>
          <p:cNvSpPr>
            <a:spLocks noGrp="1"/>
          </p:cNvSpPr>
          <p:nvPr>
            <p:ph idx="1"/>
          </p:nvPr>
        </p:nvSpPr>
        <p:spPr/>
        <p:txBody>
          <a:bodyPr/>
          <a:lstStyle/>
          <a:p>
            <a:pPr>
              <a:defRPr sz="1600"/>
            </a:pPr>
            <a:r>
              <a:t>Les locaux de service électrique doivent : -  soit être ventilés sur l’extérieur soit directement soit par l’intermédiaire d’un conduit de manière naturelle ou mécanique ; la mise en oeuvre de la ventilation doit être assortie de précautions contre l’introduction de poussières dans le matériel ;  -  soit être climatisés.</a:t>
            </a:r>
          </a:p>
          <a:p>
            <a:pPr>
              <a:defRPr sz="1600"/>
            </a:pPr>
            <a:r>
              <a:t>L’emploi d’une climatisation permet de garantir le maintien des températures ; l’appareillage des armoires de distribution est généralement conçu pour un fonctionnement normal à une température maxi de 40 °C, les batteries d’accumulateurs pour avoir leur autonomie nominale à 20 °C.</a:t>
            </a:r>
          </a:p>
          <a:p>
            <a:pPr>
              <a:defRPr sz="1600"/>
            </a:pPr>
            <a:r>
              <a:t>Voi régalement l’article 554.</a:t>
            </a:r>
          </a:p>
          <a:p>
            <a:pPr>
              <a:defRPr sz="1600"/>
            </a:pPr>
            <a:r>
              <a:t>2.</a:t>
            </a:r>
          </a:p>
          <a:p>
            <a:pPr>
              <a:defRPr sz="1600"/>
            </a:pPr>
            <a:r>
              <a:t>______________  - 476 -.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