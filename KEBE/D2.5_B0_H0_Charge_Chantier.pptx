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Module B0 - H0 - H0V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B8860B"/>
                </a:solidFill>
              </a:defRPr>
            </a:pPr>
            <a:r>
              <a:t>Chargé de chantier d’ordre non électrique</a:t>
            </a:r>
          </a:p>
          <a:p>
            <a:r>
              <a:t>Conforme Norme NF C 18-510 (Annexe D)</a:t>
            </a:r>
          </a:p>
          <a:p>
            <a:r>
              <a:t>Expertise PROQUELEC - Sénégal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Grandeurs et Dangers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Grandeurs électriques (Tension, Courant, Résistance).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Dangers de l’électricité : Électrisation, Électrocution, Brûlures.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Statistiques et mécanismes du risque.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Environnement et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Domaines de tension (TBT, BT, HT).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d'environnement et leurs limites (DLV, DMA).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en champ libre et locaux réservés.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Principes de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buts de l’habilitation.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Les symboles d’habilitation (Codes et indices).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des EPC (Nappes, Balisage, Écrans).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individuelle (EPI).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Conduite à tenir : Accident (Sécourisme) et Incendie.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Chargé de chantier Non-Électricien (B0/H0)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Rôle et responsabilités du chargé de chantier.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Limites et zone de travail.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balisage de la zone.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Surveillance constante des intervenants.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Échange de documents (Avis de fin de travaux).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Évaluation et Validation (Annexe D.3)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Évaluation Théorique (QCM) : 15 questions minimum.</a:t>
            </a:r>
          </a:p>
          <a:p>
            <a:pPr lvl="1"/>
            <a:r>
              <a:t>Seuil de réussite : 70% / Zéro erreur sur les questions fondamentales.</a:t>
            </a:r>
          </a:p>
          <a:p>
            <a:pPr>
              <a:defRPr b="1"/>
            </a:pPr>
            <a:r>
              <a:t>Évaluation Pratique (Mises en situation) :</a:t>
            </a:r>
          </a:p>
          <a:p>
            <a:pPr lvl="1"/>
            <a:r>
              <a:t>Analyse de zone</a:t>
            </a:r>
          </a:p>
          <a:p>
            <a:pPr lvl="1"/>
            <a:r>
              <a:t>Surveillance des tiers</a:t>
            </a:r>
          </a:p>
          <a:p>
            <a:pPr lvl="1"/>
            <a:r>
              <a:t>Instructions de sécurité</a:t>
            </a:r>
          </a:p>
          <a:p>
            <a:pPr>
              <a:defRPr i="1">
                <a:solidFill>
                  <a:srgbClr val="C80000"/>
                </a:solidFill>
              </a:defRPr>
            </a:pPr>
            <a:r>
              <a:t>Notation A/B/C/D : Réussite si (Aucun D et max un 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